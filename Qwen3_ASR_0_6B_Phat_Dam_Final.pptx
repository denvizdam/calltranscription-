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37f26325d34b3b" /><Relationship Type="http://schemas.openxmlformats.org/officeDocument/2006/relationships/extended-properties" Target="/docProps/app.xml" Id="R7678cd32642f478a" /><Relationship Type="http://schemas.openxmlformats.org/officeDocument/2006/relationships/officeDocument" Target="/ppt/presentation.xml" Id="Reb22ed3fca004545" /></Relationships>
</file>

<file path=ppt/presentation.xml><?xml version="1.0" encoding="utf-8"?>
<p:presentation xmlns:p="http://schemas.openxmlformats.org/presentationml/2006/main">
  <p:sldMasterIdLst>
    <p:sldMasterId xmlns:r="http://schemas.openxmlformats.org/officeDocument/2006/relationships" id="2147483648" r:id="Rd499b4b821b34aba"/>
  </p:sldMasterIdLst>
  <p:notesMasterIdLst>
    <p:notesMasterId xmlns:r="http://schemas.openxmlformats.org/officeDocument/2006/relationships" r:id="R940cd20611f247d3"/>
  </p:notesMasterIdLst>
  <p:sldIdLst>
    <p:sldId xmlns:r="http://schemas.openxmlformats.org/officeDocument/2006/relationships" id="256" r:id="R2e98b7a887594b91"/>
    <p:sldId xmlns:r="http://schemas.openxmlformats.org/officeDocument/2006/relationships" id="257" r:id="R050c053cd6a642d0"/>
    <p:sldId xmlns:r="http://schemas.openxmlformats.org/officeDocument/2006/relationships" id="258" r:id="Rabf43dc1741d4fc4"/>
    <p:sldId xmlns:r="http://schemas.openxmlformats.org/officeDocument/2006/relationships" id="259" r:id="Ra50c1cd71e1f4d3a"/>
    <p:sldId xmlns:r="http://schemas.openxmlformats.org/officeDocument/2006/relationships" id="260" r:id="R435e8d30a64d48aa"/>
    <p:sldId xmlns:r="http://schemas.openxmlformats.org/officeDocument/2006/relationships" id="261" r:id="R082ee847e8d34525"/>
    <p:sldId xmlns:r="http://schemas.openxmlformats.org/officeDocument/2006/relationships" id="262" r:id="Rb1cbbb046e3240af"/>
    <p:sldId xmlns:r="http://schemas.openxmlformats.org/officeDocument/2006/relationships" id="263" r:id="Rfada963b07c948e9"/>
    <p:sldId xmlns:r="http://schemas.openxmlformats.org/officeDocument/2006/relationships" id="264" r:id="R4b620d8b97184be5"/>
    <p:sldId xmlns:r="http://schemas.openxmlformats.org/officeDocument/2006/relationships" id="265" r:id="Re08530a04c61441a"/>
    <p:sldId xmlns:r="http://schemas.openxmlformats.org/officeDocument/2006/relationships" id="266" r:id="R3dddf23278ac4f71"/>
    <p:sldId xmlns:r="http://schemas.openxmlformats.org/officeDocument/2006/relationships" id="267" r:id="R73fb16915840424a"/>
    <p:sldId xmlns:r="http://schemas.openxmlformats.org/officeDocument/2006/relationships" id="268" r:id="Rc4f8d6298db44a26"/>
    <p:sldId xmlns:r="http://schemas.openxmlformats.org/officeDocument/2006/relationships" id="269" r:id="Rc4fad82cbea64931"/>
    <p:sldId xmlns:r="http://schemas.openxmlformats.org/officeDocument/2006/relationships" id="270" r:id="R751810d8fbab47fa"/>
    <p:sldId xmlns:r="http://schemas.openxmlformats.org/officeDocument/2006/relationships" id="271" r:id="Rb6b079e1ab70421e"/>
    <p:sldId xmlns:r="http://schemas.openxmlformats.org/officeDocument/2006/relationships" id="272" r:id="Rd56a59da938e4d44"/>
    <p:sldId xmlns:r="http://schemas.openxmlformats.org/officeDocument/2006/relationships" id="273" r:id="R367aaaa64e8a4e63"/>
    <p:sldId xmlns:r="http://schemas.openxmlformats.org/officeDocument/2006/relationships" id="274" r:id="Rfed88f68e78d421f"/>
    <p:sldId xmlns:r="http://schemas.openxmlformats.org/officeDocument/2006/relationships" id="275" r:id="Rf1b862ed4f154a26"/>
    <p:sldId xmlns:r="http://schemas.openxmlformats.org/officeDocument/2006/relationships" id="276" r:id="Re3201eca7627472e"/>
    <p:sldId xmlns:r="http://schemas.openxmlformats.org/officeDocument/2006/relationships" id="277" r:id="R50483360cbb94ce2"/>
    <p:sldId xmlns:r="http://schemas.openxmlformats.org/officeDocument/2006/relationships" id="278" r:id="R4962f14ffaf3473d"/>
    <p:sldId xmlns:r="http://schemas.openxmlformats.org/officeDocument/2006/relationships" id="279" r:id="Ra89ae141b24145d6"/>
    <p:sldId xmlns:r="http://schemas.openxmlformats.org/officeDocument/2006/relationships" id="280" r:id="R2d86cccbdd3c46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7341fb6a2541d1" /><Relationship Type="http://schemas.openxmlformats.org/officeDocument/2006/relationships/slideMaster" Target="/ppt/slideMasters/slideMaster1.xml" Id="Rd499b4b821b34aba" /><Relationship Type="http://schemas.openxmlformats.org/officeDocument/2006/relationships/notesMaster" Target="/ppt/notesMasters/notesMaster1.xml" Id="R940cd20611f247d3" /><Relationship Type="http://schemas.openxmlformats.org/officeDocument/2006/relationships/presProps" Target="/ppt/presProps.xml" Id="Rc0a503e0f29740f4" /><Relationship Type="http://schemas.openxmlformats.org/officeDocument/2006/relationships/tableStyles" Target="/ppt/tableStyles.xml" Id="Rba3d6d28b6d3402a" /><Relationship Type="http://schemas.openxmlformats.org/officeDocument/2006/relationships/slide" Target="/ppt/slides/slide1.xml" Id="R2e98b7a887594b91" /><Relationship Type="http://schemas.openxmlformats.org/officeDocument/2006/relationships/slide" Target="/ppt/slides/slide2.xml" Id="R050c053cd6a642d0" /><Relationship Type="http://schemas.openxmlformats.org/officeDocument/2006/relationships/slide" Target="/ppt/slides/slide3.xml" Id="Rabf43dc1741d4fc4" /><Relationship Type="http://schemas.openxmlformats.org/officeDocument/2006/relationships/slide" Target="/ppt/slides/slide4.xml" Id="Ra50c1cd71e1f4d3a" /><Relationship Type="http://schemas.openxmlformats.org/officeDocument/2006/relationships/slide" Target="/ppt/slides/slide5.xml" Id="R435e8d30a64d48aa" /><Relationship Type="http://schemas.openxmlformats.org/officeDocument/2006/relationships/slide" Target="/ppt/slides/slide6.xml" Id="R082ee847e8d34525" /><Relationship Type="http://schemas.openxmlformats.org/officeDocument/2006/relationships/slide" Target="/ppt/slides/slide7.xml" Id="Rb1cbbb046e3240af" /><Relationship Type="http://schemas.openxmlformats.org/officeDocument/2006/relationships/slide" Target="/ppt/slides/slide8.xml" Id="Rfada963b07c948e9" /><Relationship Type="http://schemas.openxmlformats.org/officeDocument/2006/relationships/slide" Target="/ppt/slides/slide9.xml" Id="R4b620d8b97184be5" /><Relationship Type="http://schemas.openxmlformats.org/officeDocument/2006/relationships/slide" Target="/ppt/slides/slide10.xml" Id="Re08530a04c61441a" /><Relationship Type="http://schemas.openxmlformats.org/officeDocument/2006/relationships/slide" Target="/ppt/slides/slide11.xml" Id="R3dddf23278ac4f71" /><Relationship Type="http://schemas.openxmlformats.org/officeDocument/2006/relationships/slide" Target="/ppt/slides/slide12.xml" Id="R73fb16915840424a" /><Relationship Type="http://schemas.openxmlformats.org/officeDocument/2006/relationships/slide" Target="/ppt/slides/slide13.xml" Id="Rc4f8d6298db44a26" /><Relationship Type="http://schemas.openxmlformats.org/officeDocument/2006/relationships/slide" Target="/ppt/slides/slide14.xml" Id="Rc4fad82cbea64931" /><Relationship Type="http://schemas.openxmlformats.org/officeDocument/2006/relationships/slide" Target="/ppt/slides/slide15.xml" Id="R751810d8fbab47fa" /><Relationship Type="http://schemas.openxmlformats.org/officeDocument/2006/relationships/slide" Target="/ppt/slides/slide16.xml" Id="Rb6b079e1ab70421e" /><Relationship Type="http://schemas.openxmlformats.org/officeDocument/2006/relationships/slide" Target="/ppt/slides/slide17.xml" Id="Rd56a59da938e4d44" /><Relationship Type="http://schemas.openxmlformats.org/officeDocument/2006/relationships/slide" Target="/ppt/slides/slide18.xml" Id="R367aaaa64e8a4e63" /><Relationship Type="http://schemas.openxmlformats.org/officeDocument/2006/relationships/slide" Target="/ppt/slides/slide19.xml" Id="Rfed88f68e78d421f" /><Relationship Type="http://schemas.openxmlformats.org/officeDocument/2006/relationships/slide" Target="/ppt/slides/slide20.xml" Id="Rf1b862ed4f154a26" /><Relationship Type="http://schemas.openxmlformats.org/officeDocument/2006/relationships/slide" Target="/ppt/slides/slide21.xml" Id="Re3201eca7627472e" /><Relationship Type="http://schemas.openxmlformats.org/officeDocument/2006/relationships/slide" Target="/ppt/slides/slide22.xml" Id="R50483360cbb94ce2" /><Relationship Type="http://schemas.openxmlformats.org/officeDocument/2006/relationships/slide" Target="/ppt/slides/slide23.xml" Id="R4962f14ffaf3473d" /><Relationship Type="http://schemas.openxmlformats.org/officeDocument/2006/relationships/slide" Target="/ppt/slides/slide24.xml" Id="Ra89ae141b24145d6" /><Relationship Type="http://schemas.openxmlformats.org/officeDocument/2006/relationships/slide" Target="/ppt/slides/slide25.xml" Id="R2d86cccbdd3c46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ffeafbe2cf44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2eb4ea7bee4a28" /><Relationship Type="http://schemas.openxmlformats.org/officeDocument/2006/relationships/notesMaster" Target="/ppt/notesMasters/notesMaster1.xml" Id="Rb63ffd68216a46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cc172cd5314574" /><Relationship Type="http://schemas.openxmlformats.org/officeDocument/2006/relationships/notesMaster" Target="/ppt/notesMasters/notesMaster1.xml" Id="R00784109caee45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3f00b820cc41b3" /><Relationship Type="http://schemas.openxmlformats.org/officeDocument/2006/relationships/notesMaster" Target="/ppt/notesMasters/notesMaster1.xml" Id="R53bbe2378f0949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211a3ace334cd5" /><Relationship Type="http://schemas.openxmlformats.org/officeDocument/2006/relationships/notesMaster" Target="/ppt/notesMasters/notesMaster1.xml" Id="Re4ef5d9ef91341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278511e2924d65" /><Relationship Type="http://schemas.openxmlformats.org/officeDocument/2006/relationships/notesMaster" Target="/ppt/notesMasters/notesMaster1.xml" Id="R6fd24853318b46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65b5ffc384503" /><Relationship Type="http://schemas.openxmlformats.org/officeDocument/2006/relationships/notesMaster" Target="/ppt/notesMasters/notesMaster1.xml" Id="R288cabd58d2940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22b62d7b2b447b" /><Relationship Type="http://schemas.openxmlformats.org/officeDocument/2006/relationships/notesMaster" Target="/ppt/notesMasters/notesMaster1.xml" Id="R132d28c8086e4a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d5e3b4e47c41ce" /><Relationship Type="http://schemas.openxmlformats.org/officeDocument/2006/relationships/notesMaster" Target="/ppt/notesMasters/notesMaster1.xml" Id="Raa6ffd6575c64f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2283eb3c0e4db5" /><Relationship Type="http://schemas.openxmlformats.org/officeDocument/2006/relationships/notesMaster" Target="/ppt/notesMasters/notesMaster1.xml" Id="R90e128c6004641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fb49356e844d65" /><Relationship Type="http://schemas.openxmlformats.org/officeDocument/2006/relationships/notesMaster" Target="/ppt/notesMasters/notesMaster1.xml" Id="R29e84864620b48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eeba18ea5546da" /><Relationship Type="http://schemas.openxmlformats.org/officeDocument/2006/relationships/notesMaster" Target="/ppt/notesMasters/notesMaster1.xml" Id="R9051a4ce4f7d4b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dd2cad89c1497c" /><Relationship Type="http://schemas.openxmlformats.org/officeDocument/2006/relationships/notesMaster" Target="/ppt/notesMasters/notesMaster1.xml" Id="R5a5bd504f35143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69ebca9e9948b7" /><Relationship Type="http://schemas.openxmlformats.org/officeDocument/2006/relationships/notesMaster" Target="/ppt/notesMasters/notesMaster1.xml" Id="Rdc17566c0f1f46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52cfc0b8ba4c09" /><Relationship Type="http://schemas.openxmlformats.org/officeDocument/2006/relationships/notesMaster" Target="/ppt/notesMasters/notesMaster1.xml" Id="Rcc8f3fd213c147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892384f5d14a32" /><Relationship Type="http://schemas.openxmlformats.org/officeDocument/2006/relationships/notesMaster" Target="/ppt/notesMasters/notesMaster1.xml" Id="R8a29aac28d2444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61314b06aa4d8c" /><Relationship Type="http://schemas.openxmlformats.org/officeDocument/2006/relationships/notesMaster" Target="/ppt/notesMasters/notesMaster1.xml" Id="R3ee39401803949f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1a95995f374999" /><Relationship Type="http://schemas.openxmlformats.org/officeDocument/2006/relationships/notesMaster" Target="/ppt/notesMasters/notesMaster1.xml" Id="R22e23a68f5984b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a57e212cb342d5" /><Relationship Type="http://schemas.openxmlformats.org/officeDocument/2006/relationships/notesMaster" Target="/ppt/notesMasters/notesMaster1.xml" Id="R151199be628649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9c64e4c0bf4f78" /><Relationship Type="http://schemas.openxmlformats.org/officeDocument/2006/relationships/notesMaster" Target="/ppt/notesMasters/notesMaster1.xml" Id="Rbba2e528d03748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f0414bf9484706" /><Relationship Type="http://schemas.openxmlformats.org/officeDocument/2006/relationships/notesMaster" Target="/ppt/notesMasters/notesMaster1.xml" Id="Rbbd954025e9f497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7d96ae98ebb4cc6" /><Relationship Type="http://schemas.openxmlformats.org/officeDocument/2006/relationships/notesMaster" Target="/ppt/notesMasters/notesMaster1.xml" Id="Rdba0245fad5648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d0570bc9874fa8" /><Relationship Type="http://schemas.openxmlformats.org/officeDocument/2006/relationships/notesMaster" Target="/ppt/notesMasters/notesMaster1.xml" Id="R74453b274ef54d5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841534d3ac40a9" /><Relationship Type="http://schemas.openxmlformats.org/officeDocument/2006/relationships/notesMaster" Target="/ppt/notesMasters/notesMaster1.xml" Id="Rb4f505ac7a6d40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0d60e5f03a4aa9" /><Relationship Type="http://schemas.openxmlformats.org/officeDocument/2006/relationships/notesMaster" Target="/ppt/notesMasters/notesMaster1.xml" Id="Rfe551a21d89e45b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b8eed269014fdb" /><Relationship Type="http://schemas.openxmlformats.org/officeDocument/2006/relationships/notesMaster" Target="/ppt/notesMasters/notesMaster1.xml" Id="Rf5bf8863a43843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Chào mọi người, hôm nay tôi trình bày về Qwen3-ASR-0.6B, một mô hình tự động nhận dạng giọng nói. Mục tiêu của bài là hiểu điều gì xảy ra bên trong mạng khi một câu nói biến thành chữ. Chúng ta sẽ theo dõi câu “tôi muốn kiểm tra hợp đồng” qua từng dạng dữ liệu. Trước hết âm thanh là một dãy số. Sau đó mạng tạo đặc trưng, kết hợp bối cảnh âm thanh, chuyển các vector sang không gian đầu vào của mô hình ngôn ngữ và sinh văn bản từng token. Bài trình bày sử dụng đúng checkpoint được ghi trên màn hình. Các ví dụ kích thước là tính toán minh họa theo cấu hình và mã nguồn, không phải kết quả nhận dạng từ một bản ghi thật. Chúng ta bắt đầu bằng lộ trình của bài.</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chia thành bốn phần. Phần đầu đặt nền tảng về dạng dữ liệu: một mẫu âm thanh khác với một frame đặc trưng, và cả hai khác với một token văn bản. Phần thứ hai đi sâu vào các khối của mạng. Tôi sẽ chỉ rõ khối nào làm giảm chiều thời gian, khối nào thay đổi chiều đặc trưng, và khối nào kết hợp thông tin giữa các vị trí. Phần thứ ba giải thích vì sao decoder phải sinh chữ nhiều lượt, cách mô hình học với transcript và cách streaming cập nhật kết quả. Phần cuối làm rõ các giới hạn để chúng ta không gán cho checkpoint những tính năng thuộc về phần mềm hoặc mô hình khác. Các sơ đồ sẽ giữ cùng quy ước: chiều ngang biểu thị luồng dữ liệu, nhãn trong khối cho biết dạng biểu diễn. Tiếp theo là định danh chính xác mô hình.</a:t>
            </a:r>
          </a:p>
          <a:p xmlns:a="http://schemas.openxmlformats.org/drawingml/2006/main">
            <a:r>
              <a:t/>
            </a:r>
          </a:p>
          <a:p xmlns:a="http://schemas.openxmlformats.org/drawingml/2006/main">
            <a:r>
              <a:t>Nguồn đối chiếu (truy cập 07/10/2026):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Checkpoint là bộ trọng số cùng cấu hình và tài nguyên đi kèm, chứ không chỉ tên của một kiến trúc. Qwen3-0.6B là nền văn bản. Qwen3-ASR-0.6B bổ sung bộ mã hóa âm thanh và cầu nối để tạo transcript. Tên 0.6B là nhãn biến thể, không nên hiểu đó là phép đếm chính xác toàn bộ hệ thống audio và text. Báo cáo nêu bộ mã hóa AuT của biến thể nhỏ có khoảng 180 triệu tham số. Bản hậu tố hf tích hợp vào Transformers native và có cấu trúc config khác bản gốc; trong bài này, thông số lấy từ bản gốc có thinker_config. ForcedAligner là một checkpoint riêng, nhận cả audio và transcript để tìm mốc thời gian. Model card liệt kê tiếng Việt cho ASR. Giấy phép checkpoint là Apache 2.0, cho phép sử dụng thương mại theo điều kiện giấy phép, gồm việc giữ thông báo cần thiết khi phân phối. Bây giờ chúng ta xem toàn bộ đường nhận dạng.</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a:t>
            </a:r>
          </a:p>
          <a:p xmlns:a="http://schemas.openxmlformats.org/drawingml/2006/main">
            <a:r>
              <a:t>https://huggingface.co/Qwen/Qwen3-ASR-0.6B/blob/main/config.json</a:t>
            </a:r>
          </a:p>
          <a:p xmlns:a="http://schemas.openxmlformats.org/drawingml/2006/main">
            <a:r>
              <a:t>https://arxiv.org/html/2601.21337v2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này cho thấy hai nhánh gặp nhau tại decoder. Nhánh audio bắt đầu từ waveform, sau đó bộ tiền xử lý tính đặc trưng Log-Mel. CNN giảm độ dài biểu diễn. AuT encoder dùng attention để tạo vector có bối cảnh. Projector chuyển chiều rộng từ 896 sang 1024. Nhánh văn bản của prompt đi qua tokenizer rồi bảng embedding, cũng cho vector 1024 chiều. Processor dành các vị trí cho audio trong chuỗi đầu vào, và forward thay embedding placeholder bằng vector audio thật. Decoder đọc chuỗi kết hợp đó để dự đoán token tiếp theo. LM head tạo điểm cho các token trong từ vựng, rồi tokenizer giải mã ID thành chữ. Đây là cơ chế ghép embeddings, nên không cần vẽ thêm một khối cross-attention như kiến trúc encoder-decoder cổ điển. Transcript chưa xuất hiện ở giữa encoder và projector. Để hiểu đường này, trước hết cần phân biệt các đơn vị dữ liệu.</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https://github.com/QwenLM/Qwen3-ASR/blob/main/qwen_asr/core/transformers_backend/processing_qwen3_asr.py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Hãy xem câu “tôi muốn kiểm tra hợp đồng”. Nó có sáu đơn vị được ngăn bằng khoảng trắng. Nhưng tiếng Việt có từ nhiều âm tiết, nên đếm theo khoảng trắng chưa chắc là đếm từ theo nghĩa ngôn ngữ. Tokenizer lại có quy tắc riêng, có thể tách một âm tiết thành nhiều phần hoặc dùng một token cho một phần chuỗi. Vì vậy ta không suy số token từ số từ hoặc số frame audio. Mẫu waveform là số đo biên độ ở một thời điểm rất ngắn. Frame Log-Mel chứa thông tin năng lượng của một cửa sổ âm thanh. Sau CNN, mỗi bước audio mang một vector đã học. Khi decoder sinh token, đơn vị đó thuộc từ vựng văn bản. Mối liên hệ giữa các đơn vị được mạng học, chứ không có ánh xạ một mẫu sang một chữ. Tiếp theo ta chuẩn bị đầu vào waveform.</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https://huggingface.co/Qwen/Qwen3-ASR-0.6B/blob/main/preprocessor_config.json</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WAV hoặc MP3 là dạng lưu trữ. Khi giải mã, ta lấy được các mẫu biên độ. Toolkit đưa audio về mono và 16 kHz. Nếu nguồn có nhiều kênh, cần hiểu nội dung từng kênh trước khi gộp, vì stereo không tự động tương ứng với hai người nói. Ở ví dụ này, tôi giả định câu nói dài ba giây. Một kênh ở 16.000 mẫu mỗi giây tạo 48.000 mẫu. Ký hiệu [1, N] là một cách biểu diễn batch gồm một audio, không khẳng định mọi hàm trong toolkit giữ nguyên dạng này. Nếu ghi âm ở 8 kHz rồi resample lên 16 kHz, tín hiệu chỉ được nội suy để phù hợp tốc độ lấy mẫu. Các tần số không được thu ban đầu vẫn không trở lại. Tương tự, giảm âm lượng sau clipping không phục hồi đỉnh sóng đã bị cắt. Sau bước này ta chuyển sang đặc trưng thời gian và tần số.</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https://github.com/QwenLM/Qwen3-ASR/blob/main/qwen_asr/inference/utils.py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trích đặc trưng dùng cửa sổ dài 400 mẫu. Với 16 kHz, đó là 25 mili giây. Cửa sổ dịch 160 mẫu mỗi lần, tương ứng 10 mili giây, nên các cửa sổ chồng lấn. Fourier phân tích những thành phần tần số có mặt trong cửa sổ. Ta tính phổ công suất, gom vào 128 dải Mel rồi lấy log và chuẩn hóa theo bộ trích đặc trưng. Mel là thang tổ chức tần số gần hơn với cảm nhận âm thanh. Mục đích của log là giảm chênh lệch quá lớn giữa năng lượng mạnh và yếu. Với F frame, ta có bản đồ 128 nhân F, và với batch có thể viết [batch, 128, F]. F chính xác phụ thuộc cắt biên, đệm và cách trích đặc trưng. Preprocessor config dùng lớp WhisperFeatureExtractor, nhưng phía sau vẫn là kiến trúc Qwen3-ASR. Bây giờ ta sẽ đặt một giả định rõ ràng cho ví dụ tensor.</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https://huggingface.co/Qwen/Qwen3-ASR-0.6B/blob/main/preprocessor_config.json</a:t>
            </a:r>
          </a:p>
          <a:p xmlns:a="http://schemas.openxmlformats.org/drawingml/2006/main">
            <a:r>
              <a:t>https://github.com/QwenLM/Qwen3-ASR/blob/main/qwen_asr/core/transformers_backend/processing_qwen3_asr.py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Để theo dõi số chiều mà không lẫn với một kết quả chạy thật, tôi đặt F bằng 300 frame hợp lệ. Đây là giả định minh họa, dù nó gần với ba giây ở tốc độ khoảng 100 frame mỗi giây. Mã nguồn bản gốc chia đặc trưng thành chunk 100 frame khi n_window bằng 50. Ba trăm frame vì vậy tạo ba chunk. Thêm trục kênh đầu vào cho Conv2D, ta có [3, 1, 128, 100]. Số ba ở đây là batch của các chunk nội bộ, không phải ba file audio độc lập. Sau ba lớp convolution, ta có [3, 480, 16, 13]. Bảng này giữ các trục theo đúng thứ tự ở điểm được mô tả. Khi sang bước tiếp theo, mã nguồn chuyển trục và gộp chiều. Toàn bộ phép tính dựa trên cấu hình và đoạn code đã đọc; chưa có inference trên câu mẫu. Chúng ta xem vì sao CNN tạo kích thước này.</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https://huggingface.co/Qwen/Qwen3-ASR-0.6B/blob/main/config.json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Convolution là phép áp một bộ lọc đã học lên vùng nhỏ của bản đồ đặc trưng. Kernel ba nhân ba xem vùng lân cận theo cả thời gian và tần số. Stride hai khiến vị trí đầu ra cách nhau hai bước ở đầu vào. Padding một thêm vùng biên để kiểm soát kích thước. Với công thức của Conv2D, độ dài đầu ra ở mỗi chiều trong thiết lập này bằng làm tròn lên một nửa đầu vào. Vì vậy 100 thành 50, rồi 25, rồi 13. Chiều Mel 128 thành 64, 32 và 16. Số kênh 480 là số loại đặc trưng mà các bộ lọc học, không phải số dải Mel gốc. Sau mỗi convolution, GELU thêm phép biến đổi phi tuyến. Mỗi bước sau CNN tổng hợp một vùng tín hiệu, và vùng nhìn thực tế lớn hơn một ô đầu vào. Ta chưa có chữ ở đây. Bước kế tiếp gộp đặc trưng thành vector.</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CNN, ở mỗi vị trí thời gian ta có 480 kênh và 16 vị trí tần số. Mã nguồn đổi trục để đưa thời gian ra trước, rồi gộp 480 nhân 16 thành 7.680 giá trị. Linear conv_out chiếu vector này về 896 chiều. Kích thước 896 là chiều rộng biểu diễn của encoder. Sau đó mạng cộng biểu diễn vị trí tạo bởi sin và cos. Vị trí giúp mạng phân biệt thứ tự các bước trong chunk. Việc cộng không thay đổi số chiều. Khi loại padding và gộp các vị trí hợp lệ, ba chunk mỗi chunk 13 bước tạo 39 vector. Đây là chi tiết implementation đáng chú ý: báo cáo mô tả tốc độ danh nghĩa 12,5 Hz, nhưng code chia 100 frame và làm tròn trong mỗi chunk nên ví dụ này có 39 bước. Không nên áp công thức chia tám duy nhất cho toàn file. Tiếp theo encoder tạo bối cảnh cho các vector này.</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 là bộ mã hóa âm thanh sử dụng Transformer. Trong checkpoint nhỏ, audio_config đặt 18 lớp, hidden size 896, 14 attention heads và FFN dimension 3.584. Một lớp không phải một lần nhận dạng độc lập. Các lớp lần lượt biến đổi cùng chuỗi vector, với trọng số riêng. Attention kết hợp thông tin giữa các vị trí trong vùng cho phép, còn FFN biến đổi từng vector. Các kết nối residual giữ đường truyền từ biểu diễn trước. Normalization giúp kiểm soát độ lớn tín hiệu. Trong ví dụ, chuỗi có 39 vị trí và mỗi vị trí 896 giá trị trước và sau lớp, mặc dù nội dung đã khác. Cuối stack có LayerNorm trước projector. Những thông tin như âm sắc hoặc bối cảnh ngữ âm có thể được mã hóa phân tán trong vector, nên không nên gán một chiều riêng cho một từ hoặc một thanh điệu. Chúng ta sẽ mở cơ chế attention ở slide tiếp theo.</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https://huggingface.co/Qwen/Qwen3-ASR-0.6B/blob/main/config.json</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Self-attention là một phép tổng hợp giữa các vị trí của cùng chuỗi. Mỗi vector được chiếu thành Query, Key và Value. Ta có thể ví Query là thông tin vị trí đang tìm, Key là đặc điểm dùng để so khớp và Value là nội dung được lấy về. Đây chỉ là cách giải thích chức năng, cả ba vẫn là vector học từ dữ liệu. Tích Q nhân K chuyển vị tạo điểm tương quan. Chia căn bậc hai của d kiểm soát độ lớn điểm. Mask chặn những cặp vị trí không được phép tương tác. Softmax chuyển điểm thành trọng số, rồi mạng cộng các Value theo trọng số đó. Với audio, một đoạn mơ hồ có thể cần thông tin ở phía trước và phía sau trong cửa sổ. Một trọng số attention lớn không phải xác suất một từ đúng. Nhiều heads học nhiều kiểu quan hệ, sau đó ghép kết quả và chiếu lại chiều rộng. Cửa sổ nào được phép nhìn là phần tiếp theo.</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khối encoder có hai nhánh biến đổi chính. Nhánh đầu chuẩn hóa vector rồi chạy self-attention, sau đó cộng lại đầu vào qua residual. Nhánh thứ hai chuẩn hóa rồi dùng FFN: Linear mở rộng từ 896 lên 3.584, GELU tạo phi tuyến, Linear thu về 896 và lại cộng residual. Vì vậy chiều rộng cuối khối vẫn là 896. Encoder dùng attention hai hướng trong từng block cho phép, không nhìn tùy ý toàn file. Báo cáo mô tả cửa sổ động từ một đến tám giây trong huấn luyện. Trong code bản gốc, n_window và n_window_infer tham gia cách chia block sau CNN. Cửa sổ attention là phạm vi trao đổi thông tin, chunk CNN là đơn vị xử lý convolution, còn chunk streaming là lượng audio mới gom cho một lượt cập nhật. Ba thông số không dùng thay thế nhau. Sau khi có bối cảnh âm thanh, projector nối sang decoder.</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https://arxiv.org/html/2601.21337v2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Projector là một phép biến đổi học được để đưa biểu diễn audio đến kích thước mà decoder sử dụng. Mã nguồn đặt nó ở cuối lớp audio encoder, với tên proj1, act và proj2. Sơ đồ tách projector thành một khối riêng vì vai trò của nó rất rõ. Linear đầu giữ chiều 896 nhưng biến đổi nội dung thông qua ma trận trọng số và bias. GELU cho phép biến đổi phi tuyến. Linear sau đổi chiều từ 896 sang 1.024. Số vị trí thời gian không thay đổi, nên [39, 896] thành [39, 1.024]. Cùng chiều rộng với text embedding là điều kiện giao diện, nhưng khả năng phối hợp giữa audio và ngôn ngữ còn đến từ huấn luyện. Vector audio vẫn liên tục, không phải một chuỗi từ đã nhận dạng và cũng không phải codebook token rời rạc. Ta sẽ xem cách những vector này được đặt vào chuỗi của decoder.</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https://huggingface.co/Qwen/Qwen3-ASR-0.6B/blob/main/config.json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Tokenizer xử lý phần văn bản của prompt thành ID. Bảng embedding đổi mỗi ID thành vector 1.024 chiều. Processor đồng thời tính số vị trí dành cho audio từ độ dài đặc trưng. Trong ví dụ, có 39 vị trí audio. Forward dùng masked_scatter để thay embedding tại các vị trí placeholder bằng audio embeddings thật. Nhờ vậy decoder nhận một chuỗi thống nhất với cùng chiều rộng. ID audio placeholder 151676 là token đặc biệt trong config, nhưng đó không phải ID của một âm tiết được nhận dạng. Các vector audio thật chứa giá trị liên tục. Sơ đồ trên màn hình lược bỏ một số token bao định dạng để dễ hiểu; thứ tự chính xác theo chat template của checkpoint. Nếu có context, phần đó cung cấp nền ngữ cảnh và có thể ảnh hưởng lựa chọn chữ. Context sai cũng có thể tạo thiên lệch. Bây giờ ta mở bộ sinh văn bản.</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https://github.com/QwenLM/Qwen3-ASR/blob/main/qwen_asr/core/transformers_backend/processing_qwen3_asr.py</a:t>
            </a:r>
          </a:p>
          <a:p xmlns:a="http://schemas.openxmlformats.org/drawingml/2006/main">
            <a:r>
              <a:t>https://github.com/QwenLM/Qwen3-ASR/blob/main/qwen_asr/core/transformers_backend/modeling_qwen3_asr.py</a:t>
            </a:r>
          </a:p>
          <a:p xmlns:a="http://schemas.openxmlformats.org/drawingml/2006/main">
            <a:r>
              <a:t>https://huggingface.co/Qwen/Qwen3-ASR-0.6B/blob/main/config.json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Decoder Qwen3 có 28 lớp. Mỗi vị trí đầu vào có hidden size 1.024. Attention nhân quả đảm bảo một token đầu ra không nhìn thấy đáp án tương lai. Nó dùng audio và các token ở tiền tố theo mask của chuỗi kết hợp. Cấu hình đặt 16 query heads và 8 key/value heads. Đây là grouped-query attention: các query heads chia sẻ nhóm key/value, giúp giảm tài nguyên lưu KV. Head dimension được đặt riêng là 128, nên không tính bằng hidden size chia 16. Phép chiếu Q có độ rộng riêng và phép chiếu đầu ra đưa kết quả về hidden size. Decoder dùng biểu diễn vị trí quay, với cấu hình MRoPE, để đưa thứ tự vào Query và Key. Với audio và text, chỉ số vị trí được chuẩn bị theo implementation. Decoder không chứa một bộ chuyển transcript trung gian của encoder sang câu hoàn chỉnh; nó sử dụng trực tiếp chuỗi embeddings để dự đoán. Tiếp theo là một lớp decoder cụ thể.</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https://huggingface.co/Qwen/Qwen3-ASR-0.6B/blob/main/config.json</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RMSNorm chuẩn hóa theo độ lớn căn trung bình bình phương của vector, với hệ số học được. Attention kết hợp thông tin của những vị trí được phép nhìn, rồi residual cộng biểu diễn đầu vào trở lại. Sau RMSNorm tiếp theo, MLP dùng cơ chế SwiGLU. Có thể hình dung một nhánh tạo nội dung, một nhánh qua SiLU làm cổng điều khiển, hai nhánh nhân từng phần tử rồi chiếu về chiều 1.024. Intermediate size 3.072 thuộc chiều mở rộng bên trong MLP, không phải số vị trí thời gian. Mô hình lặp cấu trúc này với trọng số khác nhau ở 28 lớp. Khi sinh token, KV cache có thể giữ các Key và Value của tiền tố để giảm tính toán lặp trong decoder. Cache đó không tự động chứng minh rằng audio mới chỉ được encode đúng một lần trong streaming wrapper. Muốn hiểu hiệu năng phải tách hai loại xử lý. Cuối decoder, LM head tạo điểm cho từ vựng.</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https://huggingface.co/Qwen/Qwen3-ASR-0.6B/blob/main/config.json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LM head chiếu hidden state tại vị trí dự đoán sang 151.936 điểm, tương ứng kích thước từ vựng trong config. Các điểm này gọi là logits, chưa phải xác suất. Softmax có thể chuyển chúng thành phân bố. Với greedy decoding, ta chọn token có điểm cao nhất ở mỗi bước. Sampling chọn theo phân bố, còn beam search giữ nhiều chuỗi ứng viên nếu backend và cấu hình hỗ trợ. Chúng là chiến lược giải mã, không thay đổi trọng số model. Token được chọn được thêm vào tiền tố, và lượt tiếp theo dự đoán có điều kiện trên tiền tố mới. Quá trình dừng khi model phát token kết thúc hoặc khi đạt max_new_tokens. Một giới hạn quá thấp có thể làm transcript cụt. Từ vựng 151.936 không có nghĩa model biết từng ấy từ tiếng Việt. Nó chứa đơn vị nhiều ngôn ngữ và token đặc biệt. Bây giờ ta xem câu mẫu xuất hiện như thế nào mà không giả mạo tokenization.</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https://huggingface.co/Qwen/Qwen3-ASR-0.6B/blob/main/config.json</a:t>
            </a:r>
          </a:p>
          <a:p xmlns:a="http://schemas.openxmlformats.org/drawingml/2006/main">
            <a:r>
              <a:t>https://github.com/QwenLM/Qwen3-ASR/blob/main/qwen_asr/core/transformers_backend/modeling_qwen3_asr.py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Hãy đọc lại đường đi của câu mẫu. Audio giả định ba giây có 48.000 mẫu. Ta đặt 300 frame hợp lệ để tính kích thước, chia thành ba chunk, mỗi chunk tạo 13 bước. Encoder và projector cho 39 vector, mỗi vector 1.024 chiều. Decoder nhận chúng cùng prompt rồi sinh một chuỗi token. Sau khi giải mã các token, phần mềm có thể hiển thị những tiền tố như “tôi”, rồi “tôi muốn”, rồi câu hoàn chỉnh. Các mốc trên slide là minh họa ở cấp văn bản, không khẳng định mỗi mốc ứng với một token. Tokenizer xác định ranh giới token theo từ vựng và quy tắc của checkpoint. Không thể suy ID token chỉ bằng cách nhìn từ tiếng Việt. Ở mỗi bước sinh, model tạo phân bố trên từ vựng rồi chọn một ID. Nếu muốn đo thực tế, cần audio thật, processor thật và ghi nhận token IDs của lượt chạy. Tiếp theo ta phân biệt quá trình tạo trọng số với việc sử dụng chúng.</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https://github.com/QwenLM/Qwen3-ASR/blob/main/qwen_asr/core/transformers_backend/processing_qwen3_asr.py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Pretraining là giai đoạn xây nền biểu diễn. Báo cáo Qwen3-ASR mô tả AuT pretraining dưới khung AED, dùng dữ liệu ASR gán nhãn giả ở quy mô lớn. Đây không phải mặc định cơ chế masking, quantization và contrastive learning của wav2vec 2.0. Tiếp theo Omni pretraining huấn luyện nền với dữ liệu audio, hình ảnh và văn bản. Sau đó ASR supervised fine-tuning chuyển mô hình sang định dạng nhận dạng chuyên biệt, với dữ liệu đa ngôn ngữ và những tình huống chức năng như streaming hoặc context biasing. Giai đoạn reinforcement learning dùng GSPO để cải thiện chất lượng nhận dạng. Ở inference, không có bước optimizer cập nhật trọng số. Ta cung cấp audio mới và sinh đầu ra. Có nguồn gốc đa phương thức không đồng nghĩa checkpoint ASR cung cấp mọi tính năng của mô hình Omni. Việc đọc tài liệu này là tìm hiểu model; đánh giá chất lượng trên dữ liệu thực tế là giai đoạn riêng. Tiếp theo ta xem mục tiêu SFT.</a:t>
            </a:r>
          </a:p>
          <a:p xmlns:a="http://schemas.openxmlformats.org/drawingml/2006/main">
            <a:r>
              <a:t/>
            </a:r>
          </a:p>
          <a:p xmlns:a="http://schemas.openxmlformats.org/drawingml/2006/main">
            <a:r>
              <a:t>Nguồn đối chiếu (truy cập 07/10/2026):</a:t>
            </a:r>
          </a:p>
          <a:p xmlns:a="http://schemas.openxmlformats.org/drawingml/2006/main">
            <a:r>
              <a:t>https://arxiv.org/html/2601.21337v2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Ở supervised fine-tuning, transcript chuẩn cung cấp chuỗi token mục tiêu. Model dự đoán token tiếp theo dựa trên audio và tiền tố, thường dùng các token chuẩn đã xuất hiện trước vị trí đó, gọi là teacher forcing. Cross-entropy phạt việc gán xác suất thấp cho token mục tiêu. Trong mã nguồn, loss dùng logits và labels dịch lệch một vị trí cho dự đoán token kế tiếp. Vị trí bị đánh dấu bỏ qua không tham gia loss. Backpropagation tính gradient, optimizer dùng gradient để cập nhật trọng số. Loss, gradient và optimizer chỉ phục vụ huấn luyện. Khi inference, decoder phải tiếp tục từ token do chính nó sinh, nên một lỗi sớm có thể ảnh hưởng phần sau. Trong RL, quy trình tối ưu và tín hiệu chất lượng khác SFT; ta không vẽ RL như chỉ tính lại cross-entropy với transcript chuẩn. Luồng ASR của checkpoint này không dùng CTC head và bước gộp blank. Tiếp theo là audio nhận dần trong streaming.</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https://arxiv.org/html/2601.21337v2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Streaming nhận audio theo thời gian, nên ở mỗi lượt model có thêm bằng chứng. Trong wrapper qwen-asr được đối chiếu, audio mới vào buffer và được ghép vào audio_accum khi đủ chunk. Model được gọi với audio tích lũy và tiền tố văn bản phù hợp. Một phần token cuối có thể bỏ khỏi tiền tố để cho phép sửa. Vì vậy không nên mô tả implementation này là mỗi chunk chạy một lần rồi không bao giờ xem lại. Bảng dùng văn bản hiển thị giả định để minh họa, không phải token thật và cũng không phải kết quả inference. chunk_size_sec điều khiển chu kỳ gom audio, unfixed_token_num điều khiển phần cuối chưa chốt. Những tham số này khác cửa sổ attention encoder. Theo toolkit chính thức đang đọc, streaming dùng vLLM và không trả timestamps trong giao diện streaming. Người dùng phần mềm cần thấy rõ kết quả tạm và kết quả đã chốt, vì phần đuôi có thể thay đổi. Tiếp theo là giới hạn và tính năng ngoài model.</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https://github.com/QwenLM/Qwen3-ASR/blob/main/qwen_asr/inference/qwen3_asr.py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Dấu câu và viết hoa có thể được decoder tạo như một phần của văn bản, nhưng cách dùng không chắc luôn phù hợp. Timestamp từng từ là một nhiệm vụ khác: forced alignment dùng audio cùng transcript để tìm thời gian. Qwen3-ForcedAligner là checkpoint riêng và danh sách hỗ trợ chính thức chưa có tiếng Việt. Điều đó không đồng nghĩa ASR thiếu tiếng Việt, vì hai model có danh sách khác nhau. Diarization trả lời ai nói khi nào và cần thành phần bên ngoài. Audio dài còn chịu giới hạn số token đầu ra, bộ nhớ và cách wrapper chia đoạn hoặc tích lũy phiên. Báo cáo nêu khả năng nhận một audio đến 20 phút trong phạm vi công bố, nhưng không nên biến thành bảo đảm mọi cấu hình xử lý tốt độ dài đó. Với tiếng Việt, thanh điệu, phụ âm cuối, tên riêng, giọng vùng miền và từ xen tiếng Anh có thể làm khó hệ thống. Một transcript trôi chảy chưa chứng minh nó bám đúng audio. Chúng ta kết thúc bằng câu hỏi kiểm tra.</a:t>
            </a:r>
          </a:p>
          <a:p xmlns:a="http://schemas.openxmlformats.org/drawingml/2006/main">
            <a:r>
              <a:t/>
            </a:r>
          </a:p>
          <a:p xmlns:a="http://schemas.openxmlformats.org/drawingml/2006/main">
            <a:r>
              <a:t>Nguồn đối chiếu (truy cập 07/10/2026):</a:t>
            </a:r>
          </a:p>
          <a:p xmlns:a="http://schemas.openxmlformats.org/drawingml/2006/main">
            <a:r>
              <a:t>https://huggingface.co/Qwen/Qwen3-ASR-0.6B</a:t>
            </a:r>
          </a:p>
          <a:p xmlns:a="http://schemas.openxmlformats.org/drawingml/2006/main">
            <a:r>
              <a:t>https://github.com/QwenLM/Qwen3-ASR/blob/main/qwen_asr/inference/qwen3_asr.py</a:t>
            </a:r>
          </a:p>
          <a:p xmlns:a="http://schemas.openxmlformats.org/drawingml/2006/main">
            <a:r>
              <a:t>https://arxiv.org/html/2601.21337v2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Tôi sẽ dừng khoảng mười lăm giây để mọi người chọn đáp án. Sau đó mời một người giải thích sự khác nhau giữa vector audio và token văn bản. [Dừng 15 giây.] Đáp án là B. Projector nhận biểu diễn audio 896 chiều và đưa về 1.024 chiều. Nó giữ số vị trí audio và chưa tạo transcript. Vector này được ghép vào chuỗi đầu vào của decoder. A sai vì encoder tạo vector liên tục, không tạo bản chép lời trung gian. C sai vì đường nhận dạng Qwen3-ASR dùng decoder tự hồi quy, không phải CTC với blank và collapse. Nếu cần kiểm tra thêm, hãy hỏi: trong ví dụ 300 frame của implementation này, ta có bao nhiêu vector audio? Đáp án là 39, do ba chunk 100 frame mỗi chunk tạo 13 bước. Điều quan trọng cần nhớ là âm thanh thay đổi dạng biểu diễn nhiều lần trước khi có token văn bản. Slide cuối cung cấp nguồn để đọc sâu.</a:t>
            </a:r>
          </a:p>
          <a:p xmlns:a="http://schemas.openxmlformats.org/drawingml/2006/main">
            <a:r>
              <a:t/>
            </a:r>
          </a:p>
          <a:p xmlns:a="http://schemas.openxmlformats.org/drawingml/2006/main">
            <a:r>
              <a:t>Nguồn đối chiếu (truy cập 07/10/2026):</a:t>
            </a:r>
          </a:p>
          <a:p xmlns:a="http://schemas.openxmlformats.org/drawingml/2006/main">
            <a:r>
              <a:t>https://github.com/QwenLM/Qwen3-ASR/blob/main/qwen_asr/core/transformers_backend/modeling_qwen3_asr.py</a:t>
            </a:r>
          </a:p>
          <a:p xmlns:a="http://schemas.openxmlformats.org/drawingml/2006/main">
            <a:r>
              <a:t>https://github.com/QwenLM/Qwen3-ASR/blob/main/qwen_asr/core/transformers_backend/processing_qwen3_asr.py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để hiểu cấu trúc là báo cáo kỹ thuật, nhưng khi cần số lớp, số chiều và cách làm tròn độ dài, phải xem thêm config và mã nguồn đúng checkpoint. Báo cáo cho cái nhìn tổng thể, config cho tham số, processing cho cách chuẩn bị placeholder, modeling cho phép biến đổi tensor và sinh logits. Wrapper cho hành vi offline và streaming của phần mềm. Bài này dùng báo cáo phiên bản v2 và bản checkpoint gốc, không trộn config native hf vào thông số của bản gốc. Ví dụ 39 bước là tính toán theo code chia chunk, còn tốc độ 12,5 Hz là mô tả danh nghĩa của kiến trúc. Đường đi cần ghi nhớ là waveform, đặc trưng Log-Mel, vector AuT, projector, chuỗi kết hợp, decoder và token. Cảm ơn mọi người. Nếu có câu hỏi, chúng ta có thể quay lại khối cụ thể trong sơ đồ và xem đầu vào, đầu ra cũng như phép biến đổi của nó.</a:t>
            </a:r>
          </a:p>
          <a:p xmlns:a="http://schemas.openxmlformats.org/drawingml/2006/main">
            <a:r>
              <a:t/>
            </a:r>
          </a:p>
          <a:p xmlns:a="http://schemas.openxmlformats.org/drawingml/2006/main">
            <a:r>
              <a:t>Nguồn đối chiếu (truy cập 07/10/2026):</a:t>
            </a:r>
          </a:p>
          <a:p xmlns:a="http://schemas.openxmlformats.org/drawingml/2006/main">
            <a:r>
              <a:t>https://arxiv.org/html/2601.21337v2</a:t>
            </a:r>
          </a:p>
          <a:p xmlns:a="http://schemas.openxmlformats.org/drawingml/2006/main">
            <a:r>
              <a:t>https://huggingface.co/Qwen/Qwen3-ASR-0.6B</a:t>
            </a:r>
          </a:p>
          <a:p xmlns:a="http://schemas.openxmlformats.org/drawingml/2006/main">
            <a:r>
              <a:t>https://huggingface.co/Qwen/Qwen3-ASR-0.6B/blob/main/config.json</a:t>
            </a:r>
          </a:p>
          <a:p xmlns:a="http://schemas.openxmlformats.org/drawingml/2006/main">
            <a:r>
              <a:t>https://huggingface.co/Qwen/Qwen3-ASR-0.6B/blob/main/preprocessor_config.json</a:t>
            </a:r>
          </a:p>
          <a:p xmlns:a="http://schemas.openxmlformats.org/drawingml/2006/main">
            <a:r>
              <a:t>https://github.com/QwenLM/Qwen3-ASR/blob/main/qwen_asr/core/transformers_backend/processing_qwen3_asr.py</a:t>
            </a:r>
          </a:p>
          <a:p xmlns:a="http://schemas.openxmlformats.org/drawingml/2006/main">
            <a:r>
              <a:t>https://github.com/QwenLM/Qwen3-ASR/blob/main/qwen_asr/core/transformers_backend/modeling_qwen3_asr.py</a:t>
            </a:r>
          </a:p>
          <a:p xmlns:a="http://schemas.openxmlformats.org/drawingml/2006/main">
            <a:r>
              <a:t>https://github.com/QwenLM/Qwen3-ASR/blob/main/qwen_asr/inference/qwen3_asr.py</a:t>
            </a:r>
          </a:p>
          <a:p xmlns:a="http://schemas.openxmlformats.org/drawingml/2006/main">
            <a:r>
              <a:t>https://github.com/QwenLM/Qwen3-ASR/blob/main/qwen_asr/inference/utils.py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c05cbcefa64b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ee196df5ed46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db13f158084d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7d98053e6044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28b15be5a243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368f34406040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9C639FA-C197-434A-A662-553A118E79EC}"/>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7504C4C-E2D1-4C08-ADB1-17C7774D63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CF6E74F-85FE-494E-9F1D-B44EA9E828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0BE6C5C-02C6-4839-B271-38A910B01585}"/>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A680C51-2804-40CA-AEB0-C3A3114E5D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FD0A593-EFFF-43F3-ABF8-7D869EB35D8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0390C64-4D40-49E6-8C7C-A3A3C873E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5B3E3035-28F2-4C63-9F98-A3F49DFA0BD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574F929-2D75-478F-ADA1-0AB234D2DF6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02A3C22-1BA7-4F4C-A156-83FCB22117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4A4B35F-1FC0-479C-882D-09E7671CDF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6DFA5AC-9CF0-4990-BAA7-4AF5485C57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6E2918D-FB9C-4AD5-A13D-1ED91349F46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FAC4B80-C6CE-43E9-8EDA-E559E479A3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2221F7D-EAC3-4DB2-9BDC-1A75EA8EEB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9316a36e704743" /><Relationship Type="http://schemas.openxmlformats.org/officeDocument/2006/relationships/slideLayout" Target="/ppt/slideLayouts/slideLayout1.xml" Id="Re14df14130474889" /><Relationship Type="http://schemas.openxmlformats.org/officeDocument/2006/relationships/slideLayout" Target="/ppt/slideLayouts/slideLayout2.xml" Id="R47a91036593149a9" /><Relationship Type="http://schemas.openxmlformats.org/officeDocument/2006/relationships/slideLayout" Target="/ppt/slideLayouts/slideLayout3.xml" Id="R527078c879244706" /><Relationship Type="http://schemas.openxmlformats.org/officeDocument/2006/relationships/slideLayout" Target="/ppt/slideLayouts/slideLayout4.xml" Id="R39544cc4e2104552" /><Relationship Type="http://schemas.openxmlformats.org/officeDocument/2006/relationships/slideLayout" Target="/ppt/slideLayouts/slideLayout5.xml" Id="R8e2a511ad335429e" /><Relationship Type="http://schemas.openxmlformats.org/officeDocument/2006/relationships/slideLayout" Target="/ppt/slideLayouts/slideLayout6.xml" Id="R4ed964ddf13b48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4df14130474889"/>
    <p:sldLayoutId xmlns:r="http://schemas.openxmlformats.org/officeDocument/2006/relationships" id="2147483650" r:id="R47a91036593149a9"/>
    <p:sldLayoutId xmlns:r="http://schemas.openxmlformats.org/officeDocument/2006/relationships" id="2147483651" r:id="R527078c879244706"/>
    <p:sldLayoutId xmlns:r="http://schemas.openxmlformats.org/officeDocument/2006/relationships" id="2147483652" r:id="R39544cc4e2104552"/>
    <p:sldLayoutId xmlns:r="http://schemas.openxmlformats.org/officeDocument/2006/relationships" id="2147483653" r:id="R8e2a511ad335429e"/>
    <p:sldLayoutId xmlns:r="http://schemas.openxmlformats.org/officeDocument/2006/relationships" id="2147483654" r:id="R4ed964ddf13b48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bd321fc699475a" /><Relationship Type="http://schemas.openxmlformats.org/officeDocument/2006/relationships/notesSlide" Target="/ppt/notesSlides/notesSlide1.xml" Id="R6d99a7911d0b47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f7d3990354421b" /><Relationship Type="http://schemas.openxmlformats.org/officeDocument/2006/relationships/notesSlide" Target="/ppt/notesSlides/notesSlide2.xml" Id="R683758fa62944c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ee3acd98014d56" /><Relationship Type="http://schemas.openxmlformats.org/officeDocument/2006/relationships/notesSlide" Target="/ppt/notesSlides/notesSlide3.xml" Id="R7f4ac2b71af343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dbc718a4c64855" /><Relationship Type="http://schemas.openxmlformats.org/officeDocument/2006/relationships/notesSlide" Target="/ppt/notesSlides/notesSlide4.xml" Id="Rc434689ba5f84b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b99465832f4d61" /><Relationship Type="http://schemas.openxmlformats.org/officeDocument/2006/relationships/notesSlide" Target="/ppt/notesSlides/notesSlide5.xml" Id="R05dd2dee4bc543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c5bce2a94b465b" /><Relationship Type="http://schemas.openxmlformats.org/officeDocument/2006/relationships/notesSlide" Target="/ppt/notesSlides/notesSlide6.xml" Id="R6c500b3bca8f44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01227449154738" /><Relationship Type="http://schemas.openxmlformats.org/officeDocument/2006/relationships/notesSlide" Target="/ppt/notesSlides/notesSlide7.xml" Id="R01b6c665c6b34d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e7c46b694544c3" /><Relationship Type="http://schemas.openxmlformats.org/officeDocument/2006/relationships/notesSlide" Target="/ppt/notesSlides/notesSlide8.xml" Id="R86c8925a26d542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8d450e04d14c5b" /><Relationship Type="http://schemas.openxmlformats.org/officeDocument/2006/relationships/notesSlide" Target="/ppt/notesSlides/notesSlide9.xml" Id="Rab53d18ec69c4a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5197bccf714f66" /><Relationship Type="http://schemas.openxmlformats.org/officeDocument/2006/relationships/notesSlide" Target="/ppt/notesSlides/notesSlide10.xml" Id="Rcda47dd3b2664e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2c6a5bd6314617" /><Relationship Type="http://schemas.openxmlformats.org/officeDocument/2006/relationships/notesSlide" Target="/ppt/notesSlides/notesSlide11.xml" Id="Re1dd1a1ba67e4d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cb66dbec45d4a5e" /><Relationship Type="http://schemas.openxmlformats.org/officeDocument/2006/relationships/notesSlide" Target="/ppt/notesSlides/notesSlide12.xml" Id="R9ef99fd3346543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cd2527fb3664d65" /><Relationship Type="http://schemas.openxmlformats.org/officeDocument/2006/relationships/notesSlide" Target="/ppt/notesSlides/notesSlide13.xml" Id="Rda1e8a8e8eb142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e5273749cf14d82" /><Relationship Type="http://schemas.openxmlformats.org/officeDocument/2006/relationships/notesSlide" Target="/ppt/notesSlides/notesSlide14.xml" Id="Rfea7d3e61f6746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dedc6450ded432f" /><Relationship Type="http://schemas.openxmlformats.org/officeDocument/2006/relationships/notesSlide" Target="/ppt/notesSlides/notesSlide15.xml" Id="R6ca5e3e59ab345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d73799513f34092" /><Relationship Type="http://schemas.openxmlformats.org/officeDocument/2006/relationships/notesSlide" Target="/ppt/notesSlides/notesSlide16.xml" Id="R7b511d95a6f347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6e02a62aa594450" /><Relationship Type="http://schemas.openxmlformats.org/officeDocument/2006/relationships/notesSlide" Target="/ppt/notesSlides/notesSlide17.xml" Id="Rf4e6aea0e25947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a6e590c447543f8" /><Relationship Type="http://schemas.openxmlformats.org/officeDocument/2006/relationships/notesSlide" Target="/ppt/notesSlides/notesSlide18.xml" Id="R123fadef884f43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b7814a750114635" /><Relationship Type="http://schemas.openxmlformats.org/officeDocument/2006/relationships/notesSlide" Target="/ppt/notesSlides/notesSlide19.xml" Id="Re48ffafec6fb45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eaf4b0d52204248" /><Relationship Type="http://schemas.openxmlformats.org/officeDocument/2006/relationships/notesSlide" Target="/ppt/notesSlides/notesSlide20.xml" Id="R4d3ac5fc21764b9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2b97dffd0394aae" /><Relationship Type="http://schemas.openxmlformats.org/officeDocument/2006/relationships/notesSlide" Target="/ppt/notesSlides/notesSlide21.xml" Id="Re133ee0a1af64b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8b486928b564950" /><Relationship Type="http://schemas.openxmlformats.org/officeDocument/2006/relationships/notesSlide" Target="/ppt/notesSlides/notesSlide22.xml" Id="R0058962d970943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2a2f49ec03a4370" /><Relationship Type="http://schemas.openxmlformats.org/officeDocument/2006/relationships/notesSlide" Target="/ppt/notesSlides/notesSlide23.xml" Id="Reac0adcb4a424be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9a2fa5c1e76430b" /><Relationship Type="http://schemas.openxmlformats.org/officeDocument/2006/relationships/notesSlide" Target="/ppt/notesSlides/notesSlide24.xml" Id="R97a2076032ea4a4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832c0d6855e4376" /><Relationship Type="http://schemas.openxmlformats.org/officeDocument/2006/relationships/notesSlide" Target="/ppt/notesSlides/notesSlide25.xml" Id="Rfe5e5e54d5724e8b" /></Relationships>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C47140-22C4-4419-8C4A-83C3582B5622}"/>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Qwen3-ASR-0.6B</a:t>
            </a:r>
          </a:p>
        </p:txBody>
      </p:sp>
      <p:sp>
        <p:nvSpPr>
          <p:cNvPr id="2" name="">
            <a:extLst xmlns:a="http://schemas.openxmlformats.org/drawingml/2006/main">
              <a:ext uri="{FF2B5EF4-FFF2-40B4-BE49-F238E27FC236}">
                <a16:creationId xmlns:a16="http://schemas.microsoft.com/office/drawing/2014/main" id="{05612D7E-756D-42EB-A3FC-BC0B49379989}"/>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0420573E-4230-427C-B1B3-90BD08BD3818}"/>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3B1A92AE-FDD5-407D-B704-FFF86D504429}"/>
              </a:ext>
            </a:extLst>
          </p:cNvPr>
          <p:cNvSpPr>
            <a:spLocks xmlns:a="http://schemas.openxmlformats.org/drawingml/2006/main" noGrp="1"/>
          </p:cNvSpPr>
          <p:nvPr/>
        </p:nvSpPr>
        <p:spPr>
          <a:xfrm xmlns:a="http://schemas.openxmlformats.org/drawingml/2006/main">
            <a:off x="609600" y="18097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02C3A"/>
                </a:solidFill>
                <a:latin typeface="DejaVu Sans"/>
                <a:ea typeface="DejaVu Sans"/>
                <a:cs typeface="DejaVu Sans"/>
              </a:defRPr>
            </a:pPr>
            <a:r>
              <a:rPr sz="3600" b="0">
                <a:solidFill>
                  <a:srgbClr val="102C3A"/>
                </a:solidFill>
                <a:latin typeface="DejaVu Sans"/>
                <a:ea typeface="DejaVu Sans"/>
                <a:cs typeface="DejaVu Sans"/>
              </a:rPr>
              <a:t>Cấu trúc bên trong và cơ chế</a:t>
            </a:r>
          </a:p>
          <a:p xmlns:a="http://schemas.openxmlformats.org/drawingml/2006/main">
            <a:pPr>
              <a:defRPr sz="3600" b="0">
                <a:solidFill>
                  <a:srgbClr val="102C3A"/>
                </a:solidFill>
                <a:latin typeface="DejaVu Sans"/>
                <a:ea typeface="DejaVu Sans"/>
                <a:cs typeface="DejaVu Sans"/>
              </a:defRPr>
            </a:pPr>
            <a:r>
              <a:rPr sz="3600" b="0">
                <a:solidFill>
                  <a:srgbClr val="102C3A"/>
                </a:solidFill>
                <a:latin typeface="DejaVu Sans"/>
                <a:ea typeface="DejaVu Sans"/>
                <a:cs typeface="DejaVu Sans"/>
              </a:rPr>
              <a:t>chuyển giọng nói thành văn bản</a:t>
            </a:r>
          </a:p>
        </p:txBody>
      </p:sp>
      <p:sp>
        <p:nvSpPr>
          <p:cNvPr id="5" name="">
            <a:extLst xmlns:a="http://schemas.openxmlformats.org/drawingml/2006/main">
              <a:ext uri="{FF2B5EF4-FFF2-40B4-BE49-F238E27FC236}">
                <a16:creationId xmlns:a16="http://schemas.microsoft.com/office/drawing/2014/main" id="{CDF26406-E434-4376-A82D-BACB3AD3B4AF}"/>
              </a:ext>
            </a:extLst>
          </p:cNvPr>
          <p:cNvSpPr>
            <a:spLocks xmlns:a="http://schemas.openxmlformats.org/drawingml/2006/main" noGrp="1"/>
          </p:cNvSpPr>
          <p:nvPr/>
        </p:nvSpPr>
        <p:spPr>
          <a:xfrm xmlns:a="http://schemas.openxmlformats.org/drawingml/2006/main">
            <a:off x="609600" y="4095750"/>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976"/>
                </a:solidFill>
                <a:latin typeface="DejaVu Sans"/>
                <a:ea typeface="DejaVu Sans"/>
                <a:cs typeface="DejaVu Sans"/>
              </a:defRPr>
            </a:pPr>
            <a:r>
              <a:rPr sz="2100" b="0">
                <a:solidFill>
                  <a:srgbClr val="526976"/>
                </a:solidFill>
                <a:latin typeface="DejaVu Sans"/>
                <a:ea typeface="DejaVu Sans"/>
                <a:cs typeface="DejaVu Sans"/>
              </a:rPr>
              <a:t>Phát Đàm</a:t>
            </a:r>
          </a:p>
          <a:p xmlns:a="http://schemas.openxmlformats.org/drawingml/2006/main">
            <a:pPr>
              <a:defRPr sz="2100" b="0">
                <a:solidFill>
                  <a:srgbClr val="526976"/>
                </a:solidFill>
                <a:latin typeface="DejaVu Sans"/>
                <a:ea typeface="DejaVu Sans"/>
                <a:cs typeface="DejaVu Sans"/>
              </a:defRPr>
            </a:pPr>
            <a:r>
              <a:rPr sz="2100" b="0">
                <a:solidFill>
                  <a:srgbClr val="526976"/>
                </a:solidFill>
                <a:latin typeface="DejaVu Sans"/>
                <a:ea typeface="DejaVu Sans"/>
                <a:cs typeface="DejaVu Sans"/>
              </a:rPr>
              <a:t>07 tháng 10 năm 2026</a:t>
            </a:r>
          </a:p>
        </p:txBody>
      </p:sp>
      <p:sp>
        <p:nvSpPr>
          <p:cNvPr id="6" name="">
            <a:extLst xmlns:a="http://schemas.openxmlformats.org/drawingml/2006/main">
              <a:ext uri="{FF2B5EF4-FFF2-40B4-BE49-F238E27FC236}">
                <a16:creationId xmlns:a16="http://schemas.microsoft.com/office/drawing/2014/main" id="{FBB1CC58-E582-40E3-A748-77D2E9A340DC}"/>
              </a:ext>
            </a:extLst>
          </p:cNvPr>
          <p:cNvSpPr>
            <a:spLocks xmlns:a="http://schemas.openxmlformats.org/drawingml/2006/main" noGrp="1"/>
          </p:cNvSpPr>
          <p:nvPr/>
        </p:nvSpPr>
        <p:spPr>
          <a:xfrm xmlns:a="http://schemas.openxmlformats.org/drawingml/2006/main">
            <a:off x="609600" y="54292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86"/>
                </a:solidFill>
                <a:latin typeface="DejaVu Sans"/>
                <a:ea typeface="DejaVu Sans"/>
                <a:cs typeface="DejaVu Sans"/>
              </a:defRPr>
            </a:pPr>
            <a:r>
              <a:rPr sz="1875" b="1">
                <a:solidFill>
                  <a:srgbClr val="087F86"/>
                </a:solidFill>
                <a:latin typeface="DejaVu Sans"/>
                <a:ea typeface="DejaVu Sans"/>
                <a:cs typeface="DejaVu Sans"/>
              </a:rPr>
              <a:t>Checkpoint: Qwen/Qwen3-ASR-0.6B</a:t>
            </a:r>
          </a:p>
        </p:txBody>
      </p:sp>
    </p:spTree>
    <p:extLst>
      <p:ext uri="{BB962C8B-B14F-4D97-AF65-F5344CB8AC3E}">
        <p14:creationId xmlns:p14="http://schemas.microsoft.com/office/powerpoint/2010/main" val="951881075"/>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EFF098-65DC-419D-A358-1BF5EFD1B450}"/>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Lộ trình khám phá</a:t>
            </a:r>
          </a:p>
        </p:txBody>
      </p:sp>
      <p:sp>
        <p:nvSpPr>
          <p:cNvPr id="2" name="">
            <a:extLst xmlns:a="http://schemas.openxmlformats.org/drawingml/2006/main">
              <a:ext uri="{FF2B5EF4-FFF2-40B4-BE49-F238E27FC236}">
                <a16:creationId xmlns:a16="http://schemas.microsoft.com/office/drawing/2014/main" id="{1F92A47F-664E-4E4D-BD20-E6A97D47E5E1}"/>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939E6B18-0000-4CB3-825D-4A863E85EFC7}"/>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BBD236D1-6685-47F3-98B7-90895DB2554D}"/>
              </a:ext>
            </a:extLst>
          </p:cNvPr>
          <p:cNvSpPr>
            <a:spLocks xmlns:a="http://schemas.openxmlformats.org/drawingml/2006/main" noGrp="1"/>
          </p:cNvSpPr>
          <p:nvPr/>
        </p:nvSpPr>
        <p:spPr>
          <a:xfrm xmlns:a="http://schemas.openxmlformats.org/drawingml/2006/main">
            <a:off x="609600" y="176212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01  Âm thanh thành số</a:t>
            </a:r>
          </a:p>
        </p:txBody>
      </p:sp>
      <p:sp>
        <p:nvSpPr>
          <p:cNvPr id="5" name="">
            <a:extLst xmlns:a="http://schemas.openxmlformats.org/drawingml/2006/main">
              <a:ext uri="{FF2B5EF4-FFF2-40B4-BE49-F238E27FC236}">
                <a16:creationId xmlns:a16="http://schemas.microsoft.com/office/drawing/2014/main" id="{93FB757D-A187-4426-B815-1668F08D7A0A}"/>
              </a:ext>
            </a:extLst>
          </p:cNvPr>
          <p:cNvSpPr>
            <a:spLocks xmlns:a="http://schemas.openxmlformats.org/drawingml/2006/main" noGrp="1"/>
          </p:cNvSpPr>
          <p:nvPr/>
        </p:nvSpPr>
        <p:spPr>
          <a:xfrm xmlns:a="http://schemas.openxmlformats.org/drawingml/2006/main">
            <a:off x="400050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Waveform, Log-Mel và kích thước tensor</a:t>
            </a:r>
          </a:p>
        </p:txBody>
      </p:sp>
      <p:sp>
        <p:nvSpPr>
          <p:cNvPr id="6" name="">
            <a:extLst xmlns:a="http://schemas.openxmlformats.org/drawingml/2006/main">
              <a:ext uri="{FF2B5EF4-FFF2-40B4-BE49-F238E27FC236}">
                <a16:creationId xmlns:a16="http://schemas.microsoft.com/office/drawing/2014/main" id="{568D7AA6-4725-424C-BD87-50D5697B7DF3}"/>
              </a:ext>
            </a:extLst>
          </p:cNvPr>
          <p:cNvSpPr>
            <a:spLocks xmlns:a="http://schemas.openxmlformats.org/drawingml/2006/main" noGrp="1"/>
          </p:cNvSpPr>
          <p:nvPr/>
        </p:nvSpPr>
        <p:spPr>
          <a:xfrm xmlns:a="http://schemas.openxmlformats.org/drawingml/2006/main">
            <a:off x="609600" y="28098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02  Bên trong mạng</a:t>
            </a:r>
          </a:p>
        </p:txBody>
      </p:sp>
      <p:sp>
        <p:nvSpPr>
          <p:cNvPr id="7" name="">
            <a:extLst xmlns:a="http://schemas.openxmlformats.org/drawingml/2006/main">
              <a:ext uri="{FF2B5EF4-FFF2-40B4-BE49-F238E27FC236}">
                <a16:creationId xmlns:a16="http://schemas.microsoft.com/office/drawing/2014/main" id="{4B754BA8-4C7C-4580-A7DE-54EC90DAAF15}"/>
              </a:ext>
            </a:extLst>
          </p:cNvPr>
          <p:cNvSpPr>
            <a:spLocks xmlns:a="http://schemas.openxmlformats.org/drawingml/2006/main" noGrp="1"/>
          </p:cNvSpPr>
          <p:nvPr/>
        </p:nvSpPr>
        <p:spPr>
          <a:xfrm xmlns:a="http://schemas.openxmlformats.org/drawingml/2006/main">
            <a:off x="4000500" y="280987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CNN, AuT encoder, projector và Qwen3 decoder</a:t>
            </a:r>
          </a:p>
        </p:txBody>
      </p:sp>
      <p:sp>
        <p:nvSpPr>
          <p:cNvPr id="8" name="">
            <a:extLst xmlns:a="http://schemas.openxmlformats.org/drawingml/2006/main">
              <a:ext uri="{FF2B5EF4-FFF2-40B4-BE49-F238E27FC236}">
                <a16:creationId xmlns:a16="http://schemas.microsoft.com/office/drawing/2014/main" id="{FF5480AF-316F-4BA4-9357-12EB7D43627C}"/>
              </a:ext>
            </a:extLst>
          </p:cNvPr>
          <p:cNvSpPr>
            <a:spLocks xmlns:a="http://schemas.openxmlformats.org/drawingml/2006/main" noGrp="1"/>
          </p:cNvSpPr>
          <p:nvPr/>
        </p:nvSpPr>
        <p:spPr>
          <a:xfrm xmlns:a="http://schemas.openxmlformats.org/drawingml/2006/main">
            <a:off x="609600" y="385762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03  Sinh chữ và học</a:t>
            </a:r>
          </a:p>
        </p:txBody>
      </p:sp>
      <p:sp>
        <p:nvSpPr>
          <p:cNvPr id="9" name="">
            <a:extLst xmlns:a="http://schemas.openxmlformats.org/drawingml/2006/main">
              <a:ext uri="{FF2B5EF4-FFF2-40B4-BE49-F238E27FC236}">
                <a16:creationId xmlns:a16="http://schemas.microsoft.com/office/drawing/2014/main" id="{0E3F6E13-1E88-4783-9B80-F4B8E2F5CBE4}"/>
              </a:ext>
            </a:extLst>
          </p:cNvPr>
          <p:cNvSpPr>
            <a:spLocks xmlns:a="http://schemas.openxmlformats.org/drawingml/2006/main" noGrp="1"/>
          </p:cNvSpPr>
          <p:nvPr/>
        </p:nvSpPr>
        <p:spPr>
          <a:xfrm xmlns:a="http://schemas.openxmlformats.org/drawingml/2006/main">
            <a:off x="4000500" y="38576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Giải mã, huấn luyện và streaming</a:t>
            </a:r>
          </a:p>
        </p:txBody>
      </p:sp>
      <p:sp>
        <p:nvSpPr>
          <p:cNvPr id="10" name="">
            <a:extLst xmlns:a="http://schemas.openxmlformats.org/drawingml/2006/main">
              <a:ext uri="{FF2B5EF4-FFF2-40B4-BE49-F238E27FC236}">
                <a16:creationId xmlns:a16="http://schemas.microsoft.com/office/drawing/2014/main" id="{2971085C-C63E-42AB-827D-7CDC36EA804B}"/>
              </a:ext>
            </a:extLst>
          </p:cNvPr>
          <p:cNvSpPr>
            <a:spLocks xmlns:a="http://schemas.openxmlformats.org/drawingml/2006/main" noGrp="1"/>
          </p:cNvSpPr>
          <p:nvPr/>
        </p:nvSpPr>
        <p:spPr>
          <a:xfrm xmlns:a="http://schemas.openxmlformats.org/drawingml/2006/main">
            <a:off x="609600" y="49053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04  Phạm vi sử dụng</a:t>
            </a:r>
          </a:p>
        </p:txBody>
      </p:sp>
      <p:sp>
        <p:nvSpPr>
          <p:cNvPr id="11" name="">
            <a:extLst xmlns:a="http://schemas.openxmlformats.org/drawingml/2006/main">
              <a:ext uri="{FF2B5EF4-FFF2-40B4-BE49-F238E27FC236}">
                <a16:creationId xmlns:a16="http://schemas.microsoft.com/office/drawing/2014/main" id="{0026D096-834D-455D-B08D-CFF94A62B978}"/>
              </a:ext>
            </a:extLst>
          </p:cNvPr>
          <p:cNvSpPr>
            <a:spLocks xmlns:a="http://schemas.openxmlformats.org/drawingml/2006/main" noGrp="1"/>
          </p:cNvSpPr>
          <p:nvPr/>
        </p:nvSpPr>
        <p:spPr>
          <a:xfrm xmlns:a="http://schemas.openxmlformats.org/drawingml/2006/main">
            <a:off x="4000500" y="490537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Tiếng Việt, tính năng bổ sung và giới hạn</a:t>
            </a:r>
          </a:p>
        </p:txBody>
      </p:sp>
    </p:spTree>
    <p:extLst>
      <p:ext uri="{BB962C8B-B14F-4D97-AF65-F5344CB8AC3E}">
        <p14:creationId xmlns:p14="http://schemas.microsoft.com/office/powerpoint/2010/main" val="2111238484"/>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75A9F0-5CCE-4AF0-B28A-536067B40C6D}"/>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Checkpoint đang nghiên cứu</a:t>
            </a:r>
          </a:p>
        </p:txBody>
      </p:sp>
      <p:sp>
        <p:nvSpPr>
          <p:cNvPr id="2" name="">
            <a:extLst xmlns:a="http://schemas.openxmlformats.org/drawingml/2006/main">
              <a:ext uri="{FF2B5EF4-FFF2-40B4-BE49-F238E27FC236}">
                <a16:creationId xmlns:a16="http://schemas.microsoft.com/office/drawing/2014/main" id="{CF088144-39D9-4306-83E1-007320B8E153}"/>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7E9DCB7-9B6A-422F-BDB9-61F032346F4C}"/>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03</a:t>
            </a:r>
          </a:p>
        </p:txBody>
      </p:sp>
      <p:graphicFrame>
        <p:nvGraphicFramePr>
          <p:cNvPr id="9" name=""/>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3048000"/>
                <a:gridCol w="2857500"/>
                <a:gridCol w="5067300"/>
              </a:tblGrid>
              <a:tr h="666750">
                <a:tc>
                  <a:txBody>
                    <a:bodyPr/>
                    <a:lstStyle/>
                    <a:p>
                      <a:r>
                        <a:rPr sz="1800" b="1">
                          <a:solidFill>
                            <a:srgbClr val="FFFFFF"/>
                          </a:solidFill>
                          <a:latin typeface="DejaVu Sans"/>
                          <a:ea typeface="DejaVu Sans"/>
                          <a:cs typeface="DejaVu Sans"/>
                        </a:rPr>
                        <a:t>Tên</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Vai trò</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Điểm cần phân biệt</a:t>
                      </a:r>
                    </a:p>
                  </a:txBody>
                  <a:tcPr marL="91440" marR="91440" marT="45720" marB="45720">
                    <a:solidFill>
                      <a:srgbClr val="102C3A"/>
                    </a:solidFill>
                  </a:tcPr>
                </a:tc>
              </a:tr>
              <a:tr h="666750">
                <a:tc>
                  <a:txBody>
                    <a:bodyPr/>
                    <a:lstStyle/>
                    <a:p>
                      <a:r>
                        <a:rPr sz="1800" b="0">
                          <a:solidFill>
                            <a:srgbClr val="102C3A"/>
                          </a:solidFill>
                          <a:latin typeface="DejaVu Sans"/>
                          <a:ea typeface="DejaVu Sans"/>
                          <a:cs typeface="DejaVu Sans"/>
                        </a:rPr>
                        <a:t>Qwen3-0.6B</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Mô hình nền văn bản</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Chưa có đường nhận audio của ASR</a:t>
                      </a:r>
                    </a:p>
                  </a:txBody>
                  <a:tcPr marL="91440" marR="91440" marT="45720" marB="45720">
                    <a:solidFill>
                      <a:srgbClr val="FFFFFF"/>
                    </a:solidFill>
                  </a:tcPr>
                </a:tc>
              </a:tr>
              <a:tr h="666750">
                <a:tc>
                  <a:txBody>
                    <a:bodyPr/>
                    <a:lstStyle/>
                    <a:p>
                      <a:r>
                        <a:rPr sz="1800" b="0">
                          <a:solidFill>
                            <a:srgbClr val="102C3A"/>
                          </a:solidFill>
                          <a:latin typeface="DejaVu Sans"/>
                          <a:ea typeface="DejaVu Sans"/>
                          <a:cs typeface="DejaVu Sans"/>
                        </a:rPr>
                        <a:t>Qwen3-ASR-0.6B</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Nhận dạng giọng nói</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AuT + projector + Qwen3</a:t>
                      </a:r>
                    </a:p>
                  </a:txBody>
                  <a:tcPr marL="91440" marR="91440" marT="45720" marB="45720">
                    <a:solidFill>
                      <a:srgbClr val="DEECEB"/>
                    </a:solidFill>
                  </a:tcPr>
                </a:tc>
              </a:tr>
              <a:tr h="666750">
                <a:tc>
                  <a:txBody>
                    <a:bodyPr/>
                    <a:lstStyle/>
                    <a:p>
                      <a:r>
                        <a:rPr sz="1800" b="0">
                          <a:solidFill>
                            <a:srgbClr val="102C3A"/>
                          </a:solidFill>
                          <a:latin typeface="DejaVu Sans"/>
                          <a:ea typeface="DejaVu Sans"/>
                          <a:cs typeface="DejaVu Sans"/>
                        </a:rPr>
                        <a:t>Qwen3-ASR-0.6B-hf</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Bản tích hợp native HF</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Tên lớp và cấu trúc config khác</a:t>
                      </a:r>
                    </a:p>
                  </a:txBody>
                  <a:tcPr marL="91440" marR="91440" marT="45720" marB="45720">
                    <a:solidFill>
                      <a:srgbClr val="FFFFFF"/>
                    </a:solidFill>
                  </a:tcPr>
                </a:tc>
              </a:tr>
              <a:tr h="666750">
                <a:tc>
                  <a:txBody>
                    <a:bodyPr/>
                    <a:lstStyle/>
                    <a:p>
                      <a:r>
                        <a:rPr sz="1800" b="0">
                          <a:solidFill>
                            <a:srgbClr val="102C3A"/>
                          </a:solidFill>
                          <a:latin typeface="DejaVu Sans"/>
                          <a:ea typeface="DejaVu Sans"/>
                          <a:cs typeface="DejaVu Sans"/>
                        </a:rPr>
                        <a:t>Qwen3-ForcedAligner</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Căn chỉnh audio với chữ</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Checkpoint khác, nhiệm vụ khác</a:t>
                      </a:r>
                    </a:p>
                  </a:txBody>
                  <a:tcPr marL="91440" marR="91440" marT="45720" marB="45720">
                    <a:solidFill>
                      <a:srgbClr val="DEECEB"/>
                    </a:solidFill>
                  </a:tcPr>
                </a:tc>
              </a:tr>
            </a:tbl>
          </a:graphicData>
        </a:graphic>
      </p:graphicFrame>
      <p:sp>
        <p:nvSpPr>
          <p:cNvPr id="5" name="">
            <a:extLst xmlns:a="http://schemas.openxmlformats.org/drawingml/2006/main">
              <a:ext uri="{FF2B5EF4-FFF2-40B4-BE49-F238E27FC236}">
                <a16:creationId xmlns:a16="http://schemas.microsoft.com/office/drawing/2014/main" id="{A3A61B63-DC6F-4C2B-8773-0AA6E17902DC}"/>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Tiếng Việt nằm trong danh sách hỗ trợ của checkpoint ASR</a:t>
            </a:r>
          </a:p>
        </p:txBody>
      </p:sp>
    </p:spTree>
    <p:extLst>
      <p:ext uri="{BB962C8B-B14F-4D97-AF65-F5344CB8AC3E}">
        <p14:creationId xmlns:p14="http://schemas.microsoft.com/office/powerpoint/2010/main" val="1008243954"/>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7AF756-ECAD-40A5-BD35-3C2D06BF3FD6}"/>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Luồng nhận dạng tổng thể</a:t>
            </a:r>
          </a:p>
        </p:txBody>
      </p:sp>
      <p:sp>
        <p:nvSpPr>
          <p:cNvPr id="2" name="">
            <a:extLst xmlns:a="http://schemas.openxmlformats.org/drawingml/2006/main">
              <a:ext uri="{FF2B5EF4-FFF2-40B4-BE49-F238E27FC236}">
                <a16:creationId xmlns:a16="http://schemas.microsoft.com/office/drawing/2014/main" id="{F790A973-9262-4759-AC4F-F1DA11A6EBA7}"/>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11C7D61B-1C96-4CC7-8A39-8B5AD22B2D9B}"/>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ABFD34F2-16EA-43B4-AA08-5DA4E540EEEC}"/>
              </a:ext>
            </a:extLst>
          </p:cNvPr>
          <p:cNvSpPr>
            <a:spLocks xmlns:a="http://schemas.openxmlformats.org/drawingml/2006/main" noGrp="1"/>
          </p:cNvSpPr>
          <p:nvPr/>
        </p:nvSpPr>
        <p:spPr>
          <a:xfrm xmlns:a="http://schemas.openxmlformats.org/drawingml/2006/main">
            <a:off x="666750" y="1857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Waveform</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16 kHz</a:t>
            </a:r>
          </a:p>
        </p:txBody>
      </p:sp>
      <p:sp>
        <p:nvSpPr>
          <p:cNvPr id="5" name="">
            <a:extLst xmlns:a="http://schemas.openxmlformats.org/drawingml/2006/main">
              <a:ext uri="{FF2B5EF4-FFF2-40B4-BE49-F238E27FC236}">
                <a16:creationId xmlns:a16="http://schemas.microsoft.com/office/drawing/2014/main" id="{0E800548-930A-4375-BFF4-27CC416BFAA9}"/>
              </a:ext>
            </a:extLst>
          </p:cNvPr>
          <p:cNvSpPr>
            <a:spLocks xmlns:a="http://schemas.openxmlformats.org/drawingml/2006/main" noGrp="1"/>
          </p:cNvSpPr>
          <p:nvPr/>
        </p:nvSpPr>
        <p:spPr>
          <a:xfrm xmlns:a="http://schemas.openxmlformats.org/drawingml/2006/main" rot="0">
            <a:off x="3043238" y="2447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8A6361-7B29-40EA-8A5F-75BFAE680D0F}"/>
              </a:ext>
            </a:extLst>
          </p:cNvPr>
          <p:cNvSpPr>
            <a:spLocks xmlns:a="http://schemas.openxmlformats.org/drawingml/2006/main" noGrp="1"/>
          </p:cNvSpPr>
          <p:nvPr/>
        </p:nvSpPr>
        <p:spPr>
          <a:xfrm xmlns:a="http://schemas.openxmlformats.org/drawingml/2006/main">
            <a:off x="3452813" y="1857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Log-Mel</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128 dải</a:t>
            </a:r>
          </a:p>
        </p:txBody>
      </p:sp>
      <p:sp>
        <p:nvSpPr>
          <p:cNvPr id="7" name="">
            <a:extLst xmlns:a="http://schemas.openxmlformats.org/drawingml/2006/main">
              <a:ext uri="{FF2B5EF4-FFF2-40B4-BE49-F238E27FC236}">
                <a16:creationId xmlns:a16="http://schemas.microsoft.com/office/drawing/2014/main" id="{D90D2E38-A638-4E0A-BFDC-56AE7A9600BD}"/>
              </a:ext>
            </a:extLst>
          </p:cNvPr>
          <p:cNvSpPr>
            <a:spLocks xmlns:a="http://schemas.openxmlformats.org/drawingml/2006/main" noGrp="1"/>
          </p:cNvSpPr>
          <p:nvPr/>
        </p:nvSpPr>
        <p:spPr>
          <a:xfrm xmlns:a="http://schemas.openxmlformats.org/drawingml/2006/main" rot="0">
            <a:off x="5829300" y="2447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E2EFE5-4082-4E97-AB7C-BC2B6E5E8F87}"/>
              </a:ext>
            </a:extLst>
          </p:cNvPr>
          <p:cNvSpPr>
            <a:spLocks xmlns:a="http://schemas.openxmlformats.org/drawingml/2006/main" noGrp="1"/>
          </p:cNvSpPr>
          <p:nvPr/>
        </p:nvSpPr>
        <p:spPr>
          <a:xfrm xmlns:a="http://schemas.openxmlformats.org/drawingml/2006/main">
            <a:off x="6238875" y="1857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CNN + AuT</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vector 896</a:t>
            </a:r>
          </a:p>
        </p:txBody>
      </p:sp>
      <p:sp>
        <p:nvSpPr>
          <p:cNvPr id="9" name="">
            <a:extLst xmlns:a="http://schemas.openxmlformats.org/drawingml/2006/main">
              <a:ext uri="{FF2B5EF4-FFF2-40B4-BE49-F238E27FC236}">
                <a16:creationId xmlns:a16="http://schemas.microsoft.com/office/drawing/2014/main" id="{FA122783-2C7A-4680-8234-1CD95C4AAF5B}"/>
              </a:ext>
            </a:extLst>
          </p:cNvPr>
          <p:cNvSpPr>
            <a:spLocks xmlns:a="http://schemas.openxmlformats.org/drawingml/2006/main" noGrp="1"/>
          </p:cNvSpPr>
          <p:nvPr/>
        </p:nvSpPr>
        <p:spPr>
          <a:xfrm xmlns:a="http://schemas.openxmlformats.org/drawingml/2006/main" rot="0">
            <a:off x="8615363" y="2447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6F87FC-0C75-4AA0-BC43-D75A532E64CB}"/>
              </a:ext>
            </a:extLst>
          </p:cNvPr>
          <p:cNvSpPr>
            <a:spLocks xmlns:a="http://schemas.openxmlformats.org/drawingml/2006/main" noGrp="1"/>
          </p:cNvSpPr>
          <p:nvPr/>
        </p:nvSpPr>
        <p:spPr>
          <a:xfrm xmlns:a="http://schemas.openxmlformats.org/drawingml/2006/main">
            <a:off x="9024938" y="1857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Projector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vector 1024</a:t>
            </a:r>
          </a:p>
        </p:txBody>
      </p:sp>
      <p:sp>
        <p:nvSpPr>
          <p:cNvPr id="11" name="">
            <a:extLst xmlns:a="http://schemas.openxmlformats.org/drawingml/2006/main">
              <a:ext uri="{FF2B5EF4-FFF2-40B4-BE49-F238E27FC236}">
                <a16:creationId xmlns:a16="http://schemas.microsoft.com/office/drawing/2014/main" id="{999AE212-2D59-43A6-8262-56F435B18044}"/>
              </a:ext>
            </a:extLst>
          </p:cNvPr>
          <p:cNvSpPr>
            <a:spLocks xmlns:a="http://schemas.openxmlformats.org/drawingml/2006/main" noGrp="1"/>
          </p:cNvSpPr>
          <p:nvPr/>
        </p:nvSpPr>
        <p:spPr>
          <a:xfrm xmlns:a="http://schemas.openxmlformats.org/drawingml/2006/main">
            <a:off x="762000" y="3857625"/>
            <a:ext cx="3048000" cy="90487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Prompt văn bản</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embedding 1024</a:t>
            </a:r>
          </a:p>
        </p:txBody>
      </p:sp>
      <p:sp>
        <p:nvSpPr>
          <p:cNvPr id="12" name="">
            <a:extLst xmlns:a="http://schemas.openxmlformats.org/drawingml/2006/main">
              <a:ext uri="{FF2B5EF4-FFF2-40B4-BE49-F238E27FC236}">
                <a16:creationId xmlns:a16="http://schemas.microsoft.com/office/drawing/2014/main" id="{FA776459-3502-4362-BB82-25364BF6F138}"/>
              </a:ext>
            </a:extLst>
          </p:cNvPr>
          <p:cNvSpPr>
            <a:spLocks xmlns:a="http://schemas.openxmlformats.org/drawingml/2006/main" noGrp="1"/>
          </p:cNvSpPr>
          <p:nvPr/>
        </p:nvSpPr>
        <p:spPr>
          <a:xfrm xmlns:a="http://schemas.openxmlformats.org/drawingml/2006/main">
            <a:off x="4429125" y="3857625"/>
            <a:ext cx="3238500" cy="90487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Qwen3 decoder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 LM head</a:t>
            </a:r>
          </a:p>
        </p:txBody>
      </p:sp>
      <p:sp>
        <p:nvSpPr>
          <p:cNvPr id="13" name="">
            <a:extLst xmlns:a="http://schemas.openxmlformats.org/drawingml/2006/main">
              <a:ext uri="{FF2B5EF4-FFF2-40B4-BE49-F238E27FC236}">
                <a16:creationId xmlns:a16="http://schemas.microsoft.com/office/drawing/2014/main" id="{175C0506-CD42-4E2F-9146-EE904FB8A04D}"/>
              </a:ext>
            </a:extLst>
          </p:cNvPr>
          <p:cNvSpPr>
            <a:spLocks xmlns:a="http://schemas.openxmlformats.org/drawingml/2006/main" noGrp="1"/>
          </p:cNvSpPr>
          <p:nvPr/>
        </p:nvSpPr>
        <p:spPr>
          <a:xfrm xmlns:a="http://schemas.openxmlformats.org/drawingml/2006/main">
            <a:off x="8286750" y="3857625"/>
            <a:ext cx="3048000" cy="90487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Token IDs</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Transcript</a:t>
            </a:r>
          </a:p>
        </p:txBody>
      </p:sp>
      <p:sp>
        <p:nvSpPr>
          <p:cNvPr id="14" name="">
            <a:extLst xmlns:a="http://schemas.openxmlformats.org/drawingml/2006/main">
              <a:ext uri="{FF2B5EF4-FFF2-40B4-BE49-F238E27FC236}">
                <a16:creationId xmlns:a16="http://schemas.microsoft.com/office/drawing/2014/main" id="{027482B2-5C94-46C2-B658-CFDF06580EFC}"/>
              </a:ext>
            </a:extLst>
          </p:cNvPr>
          <p:cNvSpPr>
            <a:spLocks xmlns:a="http://schemas.openxmlformats.org/drawingml/2006/main" noGrp="1"/>
          </p:cNvSpPr>
          <p:nvPr/>
        </p:nvSpPr>
        <p:spPr>
          <a:xfrm xmlns:a="http://schemas.openxmlformats.org/drawingml/2006/main" rot="0">
            <a:off x="3905250" y="4191000"/>
            <a:ext cx="3810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C111ACB-AB34-440B-8E7E-94F3B93A6757}"/>
              </a:ext>
            </a:extLst>
          </p:cNvPr>
          <p:cNvSpPr>
            <a:spLocks xmlns:a="http://schemas.openxmlformats.org/drawingml/2006/main" noGrp="1"/>
          </p:cNvSpPr>
          <p:nvPr/>
        </p:nvSpPr>
        <p:spPr>
          <a:xfrm xmlns:a="http://schemas.openxmlformats.org/drawingml/2006/main" rot="0">
            <a:off x="7762875" y="4191000"/>
            <a:ext cx="3810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5B7665-71F8-4EEB-829F-3B371632563F}"/>
              </a:ext>
            </a:extLst>
          </p:cNvPr>
          <p:cNvSpPr>
            <a:spLocks xmlns:a="http://schemas.openxmlformats.org/drawingml/2006/main" noGrp="1"/>
          </p:cNvSpPr>
          <p:nvPr/>
        </p:nvSpPr>
        <p:spPr>
          <a:xfrm xmlns:a="http://schemas.openxmlformats.org/drawingml/2006/main">
            <a:off x="10096500" y="3238500"/>
            <a:ext cx="0" cy="304800"/>
          </a:xfrm>
          <a:prstGeom xmlns:a="http://schemas.openxmlformats.org/drawingml/2006/main" prst="line">
            <a:avLst/>
          </a:prstGeom>
          <a:noFill xmlns:a="http://schemas.openxmlformats.org/drawingml/2006/main"/>
          <a:ln xmlns:a="http://schemas.openxmlformats.org/drawingml/2006/main" w="28575">
            <a:solidFill>
              <a:srgbClr val="087F86"/>
            </a:solidFill>
          </a:ln>
        </p:spPr>
      </p:sp>
      <p:sp>
        <p:nvSpPr>
          <p:cNvPr id="17" name="">
            <a:extLst xmlns:a="http://schemas.openxmlformats.org/drawingml/2006/main">
              <a:ext uri="{FF2B5EF4-FFF2-40B4-BE49-F238E27FC236}">
                <a16:creationId xmlns:a16="http://schemas.microsoft.com/office/drawing/2014/main" id="{EB1C2F59-30AB-48D8-A0F7-C6340448695F}"/>
              </a:ext>
            </a:extLst>
          </p:cNvPr>
          <p:cNvSpPr>
            <a:spLocks xmlns:a="http://schemas.openxmlformats.org/drawingml/2006/main" noGrp="1"/>
          </p:cNvSpPr>
          <p:nvPr/>
        </p:nvSpPr>
        <p:spPr>
          <a:xfrm xmlns:a="http://schemas.openxmlformats.org/drawingml/2006/main">
            <a:off x="6048375" y="3543300"/>
            <a:ext cx="4048125" cy="0"/>
          </a:xfrm>
          <a:prstGeom xmlns:a="http://schemas.openxmlformats.org/drawingml/2006/main" prst="line">
            <a:avLst/>
          </a:prstGeom>
          <a:noFill xmlns:a="http://schemas.openxmlformats.org/drawingml/2006/main"/>
          <a:ln xmlns:a="http://schemas.openxmlformats.org/drawingml/2006/main" w="28575">
            <a:solidFill>
              <a:srgbClr val="087F86"/>
            </a:solidFill>
          </a:ln>
        </p:spPr>
      </p:sp>
      <p:sp>
        <p:nvSpPr>
          <p:cNvPr id="18" name="">
            <a:extLst xmlns:a="http://schemas.openxmlformats.org/drawingml/2006/main">
              <a:ext uri="{FF2B5EF4-FFF2-40B4-BE49-F238E27FC236}">
                <a16:creationId xmlns:a16="http://schemas.microsoft.com/office/drawing/2014/main" id="{B3DA5BAE-4455-4444-A0F8-43A8F7F133AA}"/>
              </a:ext>
            </a:extLst>
          </p:cNvPr>
          <p:cNvSpPr>
            <a:spLocks xmlns:a="http://schemas.openxmlformats.org/drawingml/2006/main" noGrp="1"/>
          </p:cNvSpPr>
          <p:nvPr/>
        </p:nvSpPr>
        <p:spPr>
          <a:xfrm xmlns:a="http://schemas.openxmlformats.org/drawingml/2006/main" rot="5400000">
            <a:off x="5857875" y="3609975"/>
            <a:ext cx="3810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5C9D60-3304-4991-9F07-90A120E5857F}"/>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Encoder tạo biểu diễn audio. Decoder tạo chuỗi văn bản</a:t>
            </a:r>
          </a:p>
        </p:txBody>
      </p:sp>
    </p:spTree>
    <p:extLst>
      <p:ext uri="{BB962C8B-B14F-4D97-AF65-F5344CB8AC3E}">
        <p14:creationId xmlns:p14="http://schemas.microsoft.com/office/powerpoint/2010/main" val="809301987"/>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BA90D9-7E09-4471-AE23-4016E5F1E959}"/>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Bốn đơn vị rất dễ nhầm</a:t>
            </a:r>
          </a:p>
        </p:txBody>
      </p:sp>
      <p:sp>
        <p:nvSpPr>
          <p:cNvPr id="2" name="">
            <a:extLst xmlns:a="http://schemas.openxmlformats.org/drawingml/2006/main">
              <a:ext uri="{FF2B5EF4-FFF2-40B4-BE49-F238E27FC236}">
                <a16:creationId xmlns:a16="http://schemas.microsoft.com/office/drawing/2014/main" id="{86DC9A07-7DAC-4999-B715-4F59453BBA67}"/>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85E40A2-8F9A-44F8-892F-E69343FABAC6}"/>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05</a:t>
            </a:r>
          </a:p>
        </p:txBody>
      </p:sp>
      <p:graphicFrame>
        <p:nvGraphicFramePr>
          <p:cNvPr id="9" name=""/>
          <p:cNvGraphicFramePr/>
          <p:nvPr/>
        </p:nvGraphicFramePr>
        <p:xfrm>
          <a:off xmlns:a="http://schemas.openxmlformats.org/drawingml/2006/main" x="609600" y="1666875"/>
          <a:ext xmlns:a="http://schemas.openxmlformats.org/drawingml/2006/main" cx="10972800" cy="3476625"/>
        </p:xfrm>
        <a:graphic xmlns:a="http://schemas.openxmlformats.org/drawingml/2006/main">
          <a:graphicData uri="http://schemas.openxmlformats.org/drawingml/2006/table">
            <a:tbl>
              <a:tblPr/>
              <a:tblGrid>
                <a:gridCol w="2667000"/>
                <a:gridCol w="4381500"/>
                <a:gridCol w="3924300"/>
              </a:tblGrid>
              <a:tr h="695325">
                <a:tc>
                  <a:txBody>
                    <a:bodyPr/>
                    <a:lstStyle/>
                    <a:p>
                      <a:r>
                        <a:rPr sz="1800" b="1">
                          <a:solidFill>
                            <a:srgbClr val="FFFFFF"/>
                          </a:solidFill>
                          <a:latin typeface="DejaVu Sans"/>
                          <a:ea typeface="DejaVu Sans"/>
                          <a:cs typeface="DejaVu Sans"/>
                        </a:rPr>
                        <a:t>Đơn vị</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Ý nghĩa</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Ví dụ minh họa</a:t>
                      </a:r>
                    </a:p>
                  </a:txBody>
                  <a:tcPr marL="91440" marR="91440" marT="45720" marB="45720">
                    <a:solidFill>
                      <a:srgbClr val="102C3A"/>
                    </a:solidFill>
                  </a:tcPr>
                </a:tc>
              </a:tr>
              <a:tr h="695325">
                <a:tc>
                  <a:txBody>
                    <a:bodyPr/>
                    <a:lstStyle/>
                    <a:p>
                      <a:r>
                        <a:rPr sz="1800" b="0">
                          <a:solidFill>
                            <a:srgbClr val="102C3A"/>
                          </a:solidFill>
                          <a:latin typeface="DejaVu Sans"/>
                          <a:ea typeface="DejaVu Sans"/>
                          <a:cs typeface="DejaVu Sans"/>
                        </a:rPr>
                        <a:t>Mẫu âm thanh</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Biên độ tại một thời điểm</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16.000 mẫu trong 1 giây</a:t>
                      </a:r>
                    </a:p>
                  </a:txBody>
                  <a:tcPr marL="91440" marR="91440" marT="45720" marB="45720">
                    <a:solidFill>
                      <a:srgbClr val="FFFFFF"/>
                    </a:solidFill>
                  </a:tcPr>
                </a:tc>
              </a:tr>
              <a:tr h="695325">
                <a:tc>
                  <a:txBody>
                    <a:bodyPr/>
                    <a:lstStyle/>
                    <a:p>
                      <a:r>
                        <a:rPr sz="1800" b="0">
                          <a:solidFill>
                            <a:srgbClr val="102C3A"/>
                          </a:solidFill>
                          <a:latin typeface="DejaVu Sans"/>
                          <a:ea typeface="DejaVu Sans"/>
                          <a:cs typeface="DejaVu Sans"/>
                        </a:rPr>
                        <a:t>Frame Log-Mel</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Năng lượng theo 128 dải</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Khoảng 100 frame trong 1 giây</a:t>
                      </a:r>
                    </a:p>
                  </a:txBody>
                  <a:tcPr marL="91440" marR="91440" marT="45720" marB="45720">
                    <a:solidFill>
                      <a:srgbClr val="DEECEB"/>
                    </a:solidFill>
                  </a:tcPr>
                </a:tc>
              </a:tr>
              <a:tr h="695325">
                <a:tc>
                  <a:txBody>
                    <a:bodyPr/>
                    <a:lstStyle/>
                    <a:p>
                      <a:r>
                        <a:rPr sz="1800" b="0">
                          <a:solidFill>
                            <a:srgbClr val="102C3A"/>
                          </a:solidFill>
                          <a:latin typeface="DejaVu Sans"/>
                          <a:ea typeface="DejaVu Sans"/>
                          <a:cs typeface="DejaVu Sans"/>
                        </a:rPr>
                        <a:t>Bước vector audio</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Biểu diễn sau CNN</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100 frame tạo 13 bước trong code này</a:t>
                      </a:r>
                    </a:p>
                  </a:txBody>
                  <a:tcPr marL="91440" marR="91440" marT="45720" marB="45720">
                    <a:solidFill>
                      <a:srgbClr val="FFFFFF"/>
                    </a:solidFill>
                  </a:tcPr>
                </a:tc>
              </a:tr>
              <a:tr h="695325">
                <a:tc>
                  <a:txBody>
                    <a:bodyPr/>
                    <a:lstStyle/>
                    <a:p>
                      <a:r>
                        <a:rPr sz="1800" b="0">
                          <a:solidFill>
                            <a:srgbClr val="102C3A"/>
                          </a:solidFill>
                          <a:latin typeface="DejaVu Sans"/>
                          <a:ea typeface="DejaVu Sans"/>
                          <a:cs typeface="DejaVu Sans"/>
                        </a:rPr>
                        <a:t>Token văn bản</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Đơn vị của tokenizer</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Có thể là một phần của từ</a:t>
                      </a:r>
                    </a:p>
                  </a:txBody>
                  <a:tcPr marL="91440" marR="91440" marT="45720" marB="45720">
                    <a:solidFill>
                      <a:srgbClr val="DEECEB"/>
                    </a:solidFill>
                  </a:tcPr>
                </a:tc>
              </a:tr>
            </a:tbl>
          </a:graphicData>
        </a:graphic>
      </p:graphicFrame>
      <p:sp>
        <p:nvSpPr>
          <p:cNvPr id="5" name="">
            <a:extLst xmlns:a="http://schemas.openxmlformats.org/drawingml/2006/main">
              <a:ext uri="{FF2B5EF4-FFF2-40B4-BE49-F238E27FC236}">
                <a16:creationId xmlns:a16="http://schemas.microsoft.com/office/drawing/2014/main" id="{A7ACB9FD-32F1-405D-8C8F-384BDBFF8FF6}"/>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6 đơn vị cách bằng khoảng trắng không đồng nghĩa 6 token</a:t>
            </a:r>
          </a:p>
        </p:txBody>
      </p:sp>
    </p:spTree>
    <p:extLst>
      <p:ext uri="{BB962C8B-B14F-4D97-AF65-F5344CB8AC3E}">
        <p14:creationId xmlns:p14="http://schemas.microsoft.com/office/powerpoint/2010/main" val="2066661613"/>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746751-D435-470B-B325-D6106B51CCDE}"/>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Waveform và tiền xử lý</a:t>
            </a:r>
          </a:p>
        </p:txBody>
      </p:sp>
      <p:sp>
        <p:nvSpPr>
          <p:cNvPr id="2" name="">
            <a:extLst xmlns:a="http://schemas.openxmlformats.org/drawingml/2006/main">
              <a:ext uri="{FF2B5EF4-FFF2-40B4-BE49-F238E27FC236}">
                <a16:creationId xmlns:a16="http://schemas.microsoft.com/office/drawing/2014/main" id="{F4AFDE8A-5DC6-4F24-86E7-8064368F2B42}"/>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1C1C6E73-BF26-42D6-A6DA-930CEF476DBE}"/>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B0A9CE3F-0081-437E-91D6-3BD732BC2757}"/>
              </a:ext>
            </a:extLst>
          </p:cNvPr>
          <p:cNvSpPr>
            <a:spLocks xmlns:a="http://schemas.openxmlformats.org/drawingml/2006/main" noGrp="1"/>
          </p:cNvSpPr>
          <p:nvPr/>
        </p:nvSpPr>
        <p:spPr>
          <a:xfrm xmlns:a="http://schemas.openxmlformats.org/drawingml/2006/main">
            <a:off x="666750"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Giải mã file</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biên độ số</a:t>
            </a:r>
          </a:p>
        </p:txBody>
      </p:sp>
      <p:sp>
        <p:nvSpPr>
          <p:cNvPr id="5" name="">
            <a:extLst xmlns:a="http://schemas.openxmlformats.org/drawingml/2006/main">
              <a:ext uri="{FF2B5EF4-FFF2-40B4-BE49-F238E27FC236}">
                <a16:creationId xmlns:a16="http://schemas.microsoft.com/office/drawing/2014/main" id="{23441109-E8DD-4FFC-B6DD-847AAE09F843}"/>
              </a:ext>
            </a:extLst>
          </p:cNvPr>
          <p:cNvSpPr>
            <a:spLocks xmlns:a="http://schemas.openxmlformats.org/drawingml/2006/main" noGrp="1"/>
          </p:cNvSpPr>
          <p:nvPr/>
        </p:nvSpPr>
        <p:spPr>
          <a:xfrm xmlns:a="http://schemas.openxmlformats.org/drawingml/2006/main" rot="0">
            <a:off x="3043238"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0748B1-C566-4F40-A888-A1C7A62D4AD0}"/>
              </a:ext>
            </a:extLst>
          </p:cNvPr>
          <p:cNvSpPr>
            <a:spLocks xmlns:a="http://schemas.openxmlformats.org/drawingml/2006/main" noGrp="1"/>
          </p:cNvSpPr>
          <p:nvPr/>
        </p:nvSpPr>
        <p:spPr>
          <a:xfrm xmlns:a="http://schemas.openxmlformats.org/drawingml/2006/main">
            <a:off x="3452813"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Gộp kênh</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mono</a:t>
            </a:r>
          </a:p>
        </p:txBody>
      </p:sp>
      <p:sp>
        <p:nvSpPr>
          <p:cNvPr id="7" name="">
            <a:extLst xmlns:a="http://schemas.openxmlformats.org/drawingml/2006/main">
              <a:ext uri="{FF2B5EF4-FFF2-40B4-BE49-F238E27FC236}">
                <a16:creationId xmlns:a16="http://schemas.microsoft.com/office/drawing/2014/main" id="{A59EA151-058C-4600-9C6D-F60F4232BAC3}"/>
              </a:ext>
            </a:extLst>
          </p:cNvPr>
          <p:cNvSpPr>
            <a:spLocks xmlns:a="http://schemas.openxmlformats.org/drawingml/2006/main" noGrp="1"/>
          </p:cNvSpPr>
          <p:nvPr/>
        </p:nvSpPr>
        <p:spPr>
          <a:xfrm xmlns:a="http://schemas.openxmlformats.org/drawingml/2006/main" rot="0">
            <a:off x="5829300"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59D121-AE72-4018-B8B8-1CF557F02FCD}"/>
              </a:ext>
            </a:extLst>
          </p:cNvPr>
          <p:cNvSpPr>
            <a:spLocks xmlns:a="http://schemas.openxmlformats.org/drawingml/2006/main" noGrp="1"/>
          </p:cNvSpPr>
          <p:nvPr/>
        </p:nvSpPr>
        <p:spPr>
          <a:xfrm xmlns:a="http://schemas.openxmlformats.org/drawingml/2006/main">
            <a:off x="6238875"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Resample</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16.000 Hz</a:t>
            </a:r>
          </a:p>
        </p:txBody>
      </p:sp>
      <p:sp>
        <p:nvSpPr>
          <p:cNvPr id="9" name="">
            <a:extLst xmlns:a="http://schemas.openxmlformats.org/drawingml/2006/main">
              <a:ext uri="{FF2B5EF4-FFF2-40B4-BE49-F238E27FC236}">
                <a16:creationId xmlns:a16="http://schemas.microsoft.com/office/drawing/2014/main" id="{92B2751E-D9D1-4EEB-A551-C977C742E573}"/>
              </a:ext>
            </a:extLst>
          </p:cNvPr>
          <p:cNvSpPr>
            <a:spLocks xmlns:a="http://schemas.openxmlformats.org/drawingml/2006/main" noGrp="1"/>
          </p:cNvSpPr>
          <p:nvPr/>
        </p:nvSpPr>
        <p:spPr>
          <a:xfrm xmlns:a="http://schemas.openxmlformats.org/drawingml/2006/main" rot="0">
            <a:off x="8615363"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04BDA1-2954-4595-BCCC-C460AEB2FA40}"/>
              </a:ext>
            </a:extLst>
          </p:cNvPr>
          <p:cNvSpPr>
            <a:spLocks xmlns:a="http://schemas.openxmlformats.org/drawingml/2006/main" noGrp="1"/>
          </p:cNvSpPr>
          <p:nvPr/>
        </p:nvSpPr>
        <p:spPr>
          <a:xfrm xmlns:a="http://schemas.openxmlformats.org/drawingml/2006/main">
            <a:off x="9024938"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Tensor float</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 N]</a:t>
            </a:r>
          </a:p>
        </p:txBody>
      </p:sp>
      <p:sp>
        <p:nvSpPr>
          <p:cNvPr id="11" name="">
            <a:extLst xmlns:a="http://schemas.openxmlformats.org/drawingml/2006/main">
              <a:ext uri="{FF2B5EF4-FFF2-40B4-BE49-F238E27FC236}">
                <a16:creationId xmlns:a16="http://schemas.microsoft.com/office/drawing/2014/main" id="{0F142480-A57D-4C65-A3B8-A69F32DEB866}"/>
              </a:ext>
            </a:extLst>
          </p:cNvPr>
          <p:cNvSpPr>
            <a:spLocks xmlns:a="http://schemas.openxmlformats.org/drawingml/2006/main" noGrp="1"/>
          </p:cNvSpPr>
          <p:nvPr/>
        </p:nvSpPr>
        <p:spPr>
          <a:xfrm xmlns:a="http://schemas.openxmlformats.org/drawingml/2006/main">
            <a:off x="666750" y="4095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75A25"/>
                </a:solidFill>
                <a:latin typeface="DejaVu Sans"/>
                <a:ea typeface="DejaVu Sans"/>
                <a:cs typeface="DejaVu Sans"/>
              </a:defRPr>
            </a:pPr>
            <a:r>
              <a:rPr sz="2400" b="1">
                <a:solidFill>
                  <a:srgbClr val="C75A25"/>
                </a:solidFill>
                <a:latin typeface="DejaVu Sans"/>
                <a:ea typeface="DejaVu Sans"/>
                <a:cs typeface="DejaVu Sans"/>
              </a:rPr>
              <a:t>Giả định câu mẫu dài 3 giây</a:t>
            </a:r>
          </a:p>
        </p:txBody>
      </p:sp>
      <p:sp>
        <p:nvSpPr>
          <p:cNvPr id="12" name="">
            <a:extLst xmlns:a="http://schemas.openxmlformats.org/drawingml/2006/main">
              <a:ext uri="{FF2B5EF4-FFF2-40B4-BE49-F238E27FC236}">
                <a16:creationId xmlns:a16="http://schemas.microsoft.com/office/drawing/2014/main" id="{CB815D67-2DE7-43C1-866A-33AF4AE9F07A}"/>
              </a:ext>
            </a:extLst>
          </p:cNvPr>
          <p:cNvSpPr>
            <a:spLocks xmlns:a="http://schemas.openxmlformats.org/drawingml/2006/main" noGrp="1"/>
          </p:cNvSpPr>
          <p:nvPr/>
        </p:nvSpPr>
        <p:spPr>
          <a:xfrm xmlns:a="http://schemas.openxmlformats.org/drawingml/2006/main">
            <a:off x="666750" y="4714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02C3A"/>
                </a:solidFill>
                <a:latin typeface="DejaVu Sans"/>
                <a:ea typeface="DejaVu Sans"/>
                <a:cs typeface="DejaVu Sans"/>
              </a:defRPr>
            </a:pPr>
            <a:r>
              <a:rPr sz="2700" b="0">
                <a:solidFill>
                  <a:srgbClr val="102C3A"/>
                </a:solidFill>
                <a:latin typeface="DejaVu Sans"/>
                <a:ea typeface="DejaVu Sans"/>
                <a:cs typeface="DejaVu Sans"/>
              </a:rPr>
              <a:t>N = 3 × 16.000 = 48.000 mẫu</a:t>
            </a:r>
          </a:p>
        </p:txBody>
      </p:sp>
      <p:sp>
        <p:nvSpPr>
          <p:cNvPr id="13" name="">
            <a:extLst xmlns:a="http://schemas.openxmlformats.org/drawingml/2006/main">
              <a:ext uri="{FF2B5EF4-FFF2-40B4-BE49-F238E27FC236}">
                <a16:creationId xmlns:a16="http://schemas.microsoft.com/office/drawing/2014/main" id="{23848B61-3629-432E-A048-4ED44703AD97}"/>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Resample khớp giao diện đầu vào, không khôi phục tần số đã mất</a:t>
            </a:r>
          </a:p>
        </p:txBody>
      </p:sp>
    </p:spTree>
    <p:extLst>
      <p:ext uri="{BB962C8B-B14F-4D97-AF65-F5344CB8AC3E}">
        <p14:creationId xmlns:p14="http://schemas.microsoft.com/office/powerpoint/2010/main" val="1746164549"/>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C450799-B6AB-4489-9F71-D8B6C75B7901}"/>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Log-Mel: âm thanh theo thời gian và tần số</a:t>
            </a:r>
          </a:p>
        </p:txBody>
      </p:sp>
      <p:sp>
        <p:nvSpPr>
          <p:cNvPr id="2" name="">
            <a:extLst xmlns:a="http://schemas.openxmlformats.org/drawingml/2006/main">
              <a:ext uri="{FF2B5EF4-FFF2-40B4-BE49-F238E27FC236}">
                <a16:creationId xmlns:a16="http://schemas.microsoft.com/office/drawing/2014/main" id="{A2C5DE38-D6B6-47D4-B2A4-B3EAC16C0196}"/>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7EA59E94-0153-4B45-84DE-0D8D5DB5A524}"/>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D3BB05AB-3B38-493D-AB30-A6A1658A25D0}"/>
              </a:ext>
            </a:extLst>
          </p:cNvPr>
          <p:cNvSpPr>
            <a:spLocks xmlns:a="http://schemas.openxmlformats.org/drawingml/2006/main" noGrp="1"/>
          </p:cNvSpPr>
          <p:nvPr/>
        </p:nvSpPr>
        <p:spPr>
          <a:xfrm xmlns:a="http://schemas.openxmlformats.org/drawingml/2006/main">
            <a:off x="666750"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Cửa sổ</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400 mẫu</a:t>
            </a:r>
          </a:p>
        </p:txBody>
      </p:sp>
      <p:sp>
        <p:nvSpPr>
          <p:cNvPr id="5" name="">
            <a:extLst xmlns:a="http://schemas.openxmlformats.org/drawingml/2006/main">
              <a:ext uri="{FF2B5EF4-FFF2-40B4-BE49-F238E27FC236}">
                <a16:creationId xmlns:a16="http://schemas.microsoft.com/office/drawing/2014/main" id="{0D2C51EC-422C-4F29-9114-EA9136CE00AC}"/>
              </a:ext>
            </a:extLst>
          </p:cNvPr>
          <p:cNvSpPr>
            <a:spLocks xmlns:a="http://schemas.openxmlformats.org/drawingml/2006/main" noGrp="1"/>
          </p:cNvSpPr>
          <p:nvPr/>
        </p:nvSpPr>
        <p:spPr>
          <a:xfrm xmlns:a="http://schemas.openxmlformats.org/drawingml/2006/main" rot="0">
            <a:off x="3043238" y="2686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35F750E-8795-4104-88D4-84C0E2922677}"/>
              </a:ext>
            </a:extLst>
          </p:cNvPr>
          <p:cNvSpPr>
            <a:spLocks xmlns:a="http://schemas.openxmlformats.org/drawingml/2006/main" noGrp="1"/>
          </p:cNvSpPr>
          <p:nvPr/>
        </p:nvSpPr>
        <p:spPr>
          <a:xfrm xmlns:a="http://schemas.openxmlformats.org/drawingml/2006/main">
            <a:off x="3452813"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Fourier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phổ công suất</a:t>
            </a:r>
          </a:p>
        </p:txBody>
      </p:sp>
      <p:sp>
        <p:nvSpPr>
          <p:cNvPr id="7" name="">
            <a:extLst xmlns:a="http://schemas.openxmlformats.org/drawingml/2006/main">
              <a:ext uri="{FF2B5EF4-FFF2-40B4-BE49-F238E27FC236}">
                <a16:creationId xmlns:a16="http://schemas.microsoft.com/office/drawing/2014/main" id="{FAB5CADE-644F-469F-8F6A-841D7E5D7AA8}"/>
              </a:ext>
            </a:extLst>
          </p:cNvPr>
          <p:cNvSpPr>
            <a:spLocks xmlns:a="http://schemas.openxmlformats.org/drawingml/2006/main" noGrp="1"/>
          </p:cNvSpPr>
          <p:nvPr/>
        </p:nvSpPr>
        <p:spPr>
          <a:xfrm xmlns:a="http://schemas.openxmlformats.org/drawingml/2006/main" rot="0">
            <a:off x="5829300" y="2686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55EC1F-EC14-49FB-A367-D3D2916998AD}"/>
              </a:ext>
            </a:extLst>
          </p:cNvPr>
          <p:cNvSpPr>
            <a:spLocks xmlns:a="http://schemas.openxmlformats.org/drawingml/2006/main" noGrp="1"/>
          </p:cNvSpPr>
          <p:nvPr/>
        </p:nvSpPr>
        <p:spPr>
          <a:xfrm xmlns:a="http://schemas.openxmlformats.org/drawingml/2006/main">
            <a:off x="6238875"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128 dải Mel</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gom năng lượng</a:t>
            </a:r>
          </a:p>
        </p:txBody>
      </p:sp>
      <p:sp>
        <p:nvSpPr>
          <p:cNvPr id="9" name="">
            <a:extLst xmlns:a="http://schemas.openxmlformats.org/drawingml/2006/main">
              <a:ext uri="{FF2B5EF4-FFF2-40B4-BE49-F238E27FC236}">
                <a16:creationId xmlns:a16="http://schemas.microsoft.com/office/drawing/2014/main" id="{C7D28355-2B15-4C57-B417-67494DDE6EBA}"/>
              </a:ext>
            </a:extLst>
          </p:cNvPr>
          <p:cNvSpPr>
            <a:spLocks xmlns:a="http://schemas.openxmlformats.org/drawingml/2006/main" noGrp="1"/>
          </p:cNvSpPr>
          <p:nvPr/>
        </p:nvSpPr>
        <p:spPr>
          <a:xfrm xmlns:a="http://schemas.openxmlformats.org/drawingml/2006/main" rot="0">
            <a:off x="8615363" y="2686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8804DE-A005-4C04-9FAF-6F8EBB200BD1}"/>
              </a:ext>
            </a:extLst>
          </p:cNvPr>
          <p:cNvSpPr>
            <a:spLocks xmlns:a="http://schemas.openxmlformats.org/drawingml/2006/main" noGrp="1"/>
          </p:cNvSpPr>
          <p:nvPr/>
        </p:nvSpPr>
        <p:spPr>
          <a:xfrm xmlns:a="http://schemas.openxmlformats.org/drawingml/2006/main">
            <a:off x="9024938"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Log</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thu hẹp độ lớn</a:t>
            </a:r>
          </a:p>
        </p:txBody>
      </p:sp>
      <p:sp>
        <p:nvSpPr>
          <p:cNvPr id="11" name="">
            <a:extLst xmlns:a="http://schemas.openxmlformats.org/drawingml/2006/main">
              <a:ext uri="{FF2B5EF4-FFF2-40B4-BE49-F238E27FC236}">
                <a16:creationId xmlns:a16="http://schemas.microsoft.com/office/drawing/2014/main" id="{0BFA6276-12B2-4A92-B8BD-610D6ED14B96}"/>
              </a:ext>
            </a:extLst>
          </p:cNvPr>
          <p:cNvSpPr>
            <a:spLocks xmlns:a="http://schemas.openxmlformats.org/drawingml/2006/main" noGrp="1"/>
          </p:cNvSpPr>
          <p:nvPr/>
        </p:nvSpPr>
        <p:spPr>
          <a:xfrm xmlns:a="http://schemas.openxmlformats.org/drawingml/2006/main">
            <a:off x="666750" y="4095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6"/>
                </a:solidFill>
                <a:latin typeface="DejaVu Sans"/>
                <a:ea typeface="DejaVu Sans"/>
                <a:cs typeface="DejaVu Sans"/>
              </a:defRPr>
            </a:pPr>
            <a:r>
              <a:rPr sz="2475" b="1">
                <a:solidFill>
                  <a:srgbClr val="087F86"/>
                </a:solidFill>
                <a:latin typeface="DejaVu Sans"/>
                <a:ea typeface="DejaVu Sans"/>
                <a:cs typeface="DejaVu Sans"/>
              </a:rPr>
              <a:t>Cửa sổ 25 ms     Bước dịch 10 ms</a:t>
            </a:r>
          </a:p>
        </p:txBody>
      </p:sp>
      <p:sp>
        <p:nvSpPr>
          <p:cNvPr id="12" name="">
            <a:extLst xmlns:a="http://schemas.openxmlformats.org/drawingml/2006/main">
              <a:ext uri="{FF2B5EF4-FFF2-40B4-BE49-F238E27FC236}">
                <a16:creationId xmlns:a16="http://schemas.microsoft.com/office/drawing/2014/main" id="{ECCD4964-7A79-4247-9954-2088DC4B9E62}"/>
              </a:ext>
            </a:extLst>
          </p:cNvPr>
          <p:cNvSpPr>
            <a:spLocks xmlns:a="http://schemas.openxmlformats.org/drawingml/2006/main" noGrp="1"/>
          </p:cNvSpPr>
          <p:nvPr/>
        </p:nvSpPr>
        <p:spPr>
          <a:xfrm xmlns:a="http://schemas.openxmlformats.org/drawingml/2006/main">
            <a:off x="666750" y="4714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02C3A"/>
                </a:solidFill>
                <a:latin typeface="DejaVu Sans"/>
                <a:ea typeface="DejaVu Sans"/>
                <a:cs typeface="DejaVu Sans"/>
              </a:defRPr>
            </a:pPr>
            <a:r>
              <a:rPr sz="2475" b="0">
                <a:solidFill>
                  <a:srgbClr val="102C3A"/>
                </a:solidFill>
                <a:latin typeface="DejaVu Sans"/>
                <a:ea typeface="DejaVu Sans"/>
                <a:cs typeface="DejaVu Sans"/>
              </a:rPr>
              <a:t>Dạng tensor quy ước: [batch, 128, F]</a:t>
            </a:r>
          </a:p>
        </p:txBody>
      </p:sp>
      <p:sp>
        <p:nvSpPr>
          <p:cNvPr id="13" name="">
            <a:extLst xmlns:a="http://schemas.openxmlformats.org/drawingml/2006/main">
              <a:ext uri="{FF2B5EF4-FFF2-40B4-BE49-F238E27FC236}">
                <a16:creationId xmlns:a16="http://schemas.microsoft.com/office/drawing/2014/main" id="{1D4EA1EE-4C76-4B6E-B261-C0019369162E}"/>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Tên WhisperFeatureExtractor chỉ nói về tiền xử lý</a:t>
            </a:r>
          </a:p>
        </p:txBody>
      </p:sp>
    </p:spTree>
    <p:extLst>
      <p:ext uri="{BB962C8B-B14F-4D97-AF65-F5344CB8AC3E}">
        <p14:creationId xmlns:p14="http://schemas.microsoft.com/office/powerpoint/2010/main" val="1153482415"/>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A17566-B51A-48FC-9A06-83E622888D71}"/>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Ví dụ xuyên suốt: giả định 300 frame</a:t>
            </a:r>
          </a:p>
        </p:txBody>
      </p:sp>
      <p:sp>
        <p:nvSpPr>
          <p:cNvPr id="2" name="">
            <a:extLst xmlns:a="http://schemas.openxmlformats.org/drawingml/2006/main">
              <a:ext uri="{FF2B5EF4-FFF2-40B4-BE49-F238E27FC236}">
                <a16:creationId xmlns:a16="http://schemas.microsoft.com/office/drawing/2014/main" id="{11C35242-F13B-439A-9BBD-6D1F4C6290FB}"/>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3FC93290-7035-4694-870E-416E35366D17}"/>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08</a:t>
            </a:r>
          </a:p>
        </p:txBody>
      </p:sp>
      <p:graphicFrame>
        <p:nvGraphicFramePr>
          <p:cNvPr id="9" name=""/>
          <p:cNvGraphicFramePr/>
          <p:nvPr/>
        </p:nvGraphicFramePr>
        <p:xfrm>
          <a:off xmlns:a="http://schemas.openxmlformats.org/drawingml/2006/main" x="609600" y="1619250"/>
          <a:ext xmlns:a="http://schemas.openxmlformats.org/drawingml/2006/main" cx="10972800" cy="3476625"/>
        </p:xfrm>
        <a:graphic xmlns:a="http://schemas.openxmlformats.org/drawingml/2006/main">
          <a:graphicData uri="http://schemas.openxmlformats.org/drawingml/2006/table">
            <a:tbl>
              <a:tblPr/>
              <a:tblGrid>
                <a:gridCol w="3619500"/>
                <a:gridCol w="3333750"/>
                <a:gridCol w="4019550"/>
              </a:tblGrid>
              <a:tr h="695325">
                <a:tc>
                  <a:txBody>
                    <a:bodyPr/>
                    <a:lstStyle/>
                    <a:p>
                      <a:r>
                        <a:rPr sz="1800" b="1">
                          <a:solidFill>
                            <a:srgbClr val="FFFFFF"/>
                          </a:solidFill>
                          <a:latin typeface="DejaVu Sans"/>
                          <a:ea typeface="DejaVu Sans"/>
                          <a:cs typeface="DejaVu Sans"/>
                        </a:rPr>
                        <a:t>Điểm theo dõi</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Kích thước</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Trạng thái ví dụ</a:t>
                      </a:r>
                    </a:p>
                  </a:txBody>
                  <a:tcPr marL="91440" marR="91440" marT="45720" marB="45720">
                    <a:solidFill>
                      <a:srgbClr val="102C3A"/>
                    </a:solidFill>
                  </a:tcPr>
                </a:tc>
              </a:tr>
              <a:tr h="695325">
                <a:tc>
                  <a:txBody>
                    <a:bodyPr/>
                    <a:lstStyle/>
                    <a:p>
                      <a:r>
                        <a:rPr sz="1800" b="0">
                          <a:solidFill>
                            <a:srgbClr val="102C3A"/>
                          </a:solidFill>
                          <a:latin typeface="DejaVu Sans"/>
                          <a:ea typeface="DejaVu Sans"/>
                          <a:cs typeface="DejaVu Sans"/>
                        </a:rPr>
                        <a:t>Waveform 3 giây</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[1, 48.000]</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Giả định thời lượng</a:t>
                      </a:r>
                    </a:p>
                  </a:txBody>
                  <a:tcPr marL="91440" marR="91440" marT="45720" marB="45720">
                    <a:solidFill>
                      <a:srgbClr val="FFFFFF"/>
                    </a:solidFill>
                  </a:tcPr>
                </a:tc>
              </a:tr>
              <a:tr h="695325">
                <a:tc>
                  <a:txBody>
                    <a:bodyPr/>
                    <a:lstStyle/>
                    <a:p>
                      <a:r>
                        <a:rPr sz="1800" b="0">
                          <a:solidFill>
                            <a:srgbClr val="102C3A"/>
                          </a:solidFill>
                          <a:latin typeface="DejaVu Sans"/>
                          <a:ea typeface="DejaVu Sans"/>
                          <a:cs typeface="DejaVu Sans"/>
                        </a:rPr>
                        <a:t>Log-Mel</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[1, 128, 300]</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Giả định F = 300 frame hợp lệ</a:t>
                      </a:r>
                    </a:p>
                  </a:txBody>
                  <a:tcPr marL="91440" marR="91440" marT="45720" marB="45720">
                    <a:solidFill>
                      <a:srgbClr val="DEECEB"/>
                    </a:solidFill>
                  </a:tcPr>
                </a:tc>
              </a:tr>
              <a:tr h="695325">
                <a:tc>
                  <a:txBody>
                    <a:bodyPr/>
                    <a:lstStyle/>
                    <a:p>
                      <a:r>
                        <a:rPr sz="1800" b="0">
                          <a:solidFill>
                            <a:srgbClr val="102C3A"/>
                          </a:solidFill>
                          <a:latin typeface="DejaVu Sans"/>
                          <a:ea typeface="DejaVu Sans"/>
                          <a:cs typeface="DejaVu Sans"/>
                        </a:rPr>
                        <a:t>Chia cho CNN</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[3, 1, 128, 100]</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3 chunk, mỗi chunk 100 frame</a:t>
                      </a:r>
                    </a:p>
                  </a:txBody>
                  <a:tcPr marL="91440" marR="91440" marT="45720" marB="45720">
                    <a:solidFill>
                      <a:srgbClr val="FFFFFF"/>
                    </a:solidFill>
                  </a:tcPr>
                </a:tc>
              </a:tr>
              <a:tr h="695325">
                <a:tc>
                  <a:txBody>
                    <a:bodyPr/>
                    <a:lstStyle/>
                    <a:p>
                      <a:r>
                        <a:rPr sz="1800" b="0">
                          <a:solidFill>
                            <a:srgbClr val="102C3A"/>
                          </a:solidFill>
                          <a:latin typeface="DejaVu Sans"/>
                          <a:ea typeface="DejaVu Sans"/>
                          <a:cs typeface="DejaVu Sans"/>
                        </a:rPr>
                        <a:t>Sau ba Conv2D</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[3, 480, 16, 13]</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Tính theo kernel, stride và padding</a:t>
                      </a:r>
                    </a:p>
                  </a:txBody>
                  <a:tcPr marL="91440" marR="91440" marT="45720" marB="45720">
                    <a:solidFill>
                      <a:srgbClr val="DEECEB"/>
                    </a:solidFill>
                  </a:tcPr>
                </a:tc>
              </a:tr>
            </a:tbl>
          </a:graphicData>
        </a:graphic>
      </p:graphicFrame>
      <p:sp>
        <p:nvSpPr>
          <p:cNvPr id="5" name="">
            <a:extLst xmlns:a="http://schemas.openxmlformats.org/drawingml/2006/main">
              <a:ext uri="{FF2B5EF4-FFF2-40B4-BE49-F238E27FC236}">
                <a16:creationId xmlns:a16="http://schemas.microsoft.com/office/drawing/2014/main" id="{E6BBF635-3895-4102-BF9E-5C73680E4667}"/>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Ví dụ tính kích thước theo code, chưa chạy audio thật</a:t>
            </a:r>
          </a:p>
        </p:txBody>
      </p:sp>
    </p:spTree>
    <p:extLst>
      <p:ext uri="{BB962C8B-B14F-4D97-AF65-F5344CB8AC3E}">
        <p14:creationId xmlns:p14="http://schemas.microsoft.com/office/powerpoint/2010/main" val="1998144950"/>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F8ECD0-5716-4171-AEAC-A7330A928AB2}"/>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CNN giảm số vị trí cần xử lý</a:t>
            </a:r>
          </a:p>
        </p:txBody>
      </p:sp>
      <p:sp>
        <p:nvSpPr>
          <p:cNvPr id="2" name="">
            <a:extLst xmlns:a="http://schemas.openxmlformats.org/drawingml/2006/main">
              <a:ext uri="{FF2B5EF4-FFF2-40B4-BE49-F238E27FC236}">
                <a16:creationId xmlns:a16="http://schemas.microsoft.com/office/drawing/2014/main" id="{73D22434-3124-4AE4-B3F6-614F1F88C344}"/>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E9B399D7-477F-46A3-814D-659B1CC18A91}"/>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324EED1D-0413-4441-9E45-07B4DD7C1604}"/>
              </a:ext>
            </a:extLst>
          </p:cNvPr>
          <p:cNvSpPr>
            <a:spLocks xmlns:a="http://schemas.openxmlformats.org/drawingml/2006/main" noGrp="1"/>
          </p:cNvSpPr>
          <p:nvPr/>
        </p:nvSpPr>
        <p:spPr>
          <a:xfrm xmlns:a="http://schemas.openxmlformats.org/drawingml/2006/main">
            <a:off x="666750" y="219075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128 × 100</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 kênh</a:t>
            </a:r>
          </a:p>
        </p:txBody>
      </p:sp>
      <p:sp>
        <p:nvSpPr>
          <p:cNvPr id="5" name="">
            <a:extLst xmlns:a="http://schemas.openxmlformats.org/drawingml/2006/main">
              <a:ext uri="{FF2B5EF4-FFF2-40B4-BE49-F238E27FC236}">
                <a16:creationId xmlns:a16="http://schemas.microsoft.com/office/drawing/2014/main" id="{ABB9B2A9-217A-4E4A-974D-2A21F830311B}"/>
              </a:ext>
            </a:extLst>
          </p:cNvPr>
          <p:cNvSpPr>
            <a:spLocks xmlns:a="http://schemas.openxmlformats.org/drawingml/2006/main" noGrp="1"/>
          </p:cNvSpPr>
          <p:nvPr/>
        </p:nvSpPr>
        <p:spPr>
          <a:xfrm xmlns:a="http://schemas.openxmlformats.org/drawingml/2006/main" rot="0">
            <a:off x="3043238" y="278130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36EBA7-7F86-450C-891F-C1D35291D39E}"/>
              </a:ext>
            </a:extLst>
          </p:cNvPr>
          <p:cNvSpPr>
            <a:spLocks xmlns:a="http://schemas.openxmlformats.org/drawingml/2006/main" noGrp="1"/>
          </p:cNvSpPr>
          <p:nvPr/>
        </p:nvSpPr>
        <p:spPr>
          <a:xfrm xmlns:a="http://schemas.openxmlformats.org/drawingml/2006/main">
            <a:off x="3452813" y="219075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64 × 50</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480 kênh</a:t>
            </a:r>
          </a:p>
        </p:txBody>
      </p:sp>
      <p:sp>
        <p:nvSpPr>
          <p:cNvPr id="7" name="">
            <a:extLst xmlns:a="http://schemas.openxmlformats.org/drawingml/2006/main">
              <a:ext uri="{FF2B5EF4-FFF2-40B4-BE49-F238E27FC236}">
                <a16:creationId xmlns:a16="http://schemas.microsoft.com/office/drawing/2014/main" id="{3F7D9BE1-39EF-45FF-AE34-A3B44C0568F8}"/>
              </a:ext>
            </a:extLst>
          </p:cNvPr>
          <p:cNvSpPr>
            <a:spLocks xmlns:a="http://schemas.openxmlformats.org/drawingml/2006/main" noGrp="1"/>
          </p:cNvSpPr>
          <p:nvPr/>
        </p:nvSpPr>
        <p:spPr>
          <a:xfrm xmlns:a="http://schemas.openxmlformats.org/drawingml/2006/main" rot="0">
            <a:off x="5829300" y="278130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D4FA16-01F8-4522-96AD-1882C781206A}"/>
              </a:ext>
            </a:extLst>
          </p:cNvPr>
          <p:cNvSpPr>
            <a:spLocks xmlns:a="http://schemas.openxmlformats.org/drawingml/2006/main" noGrp="1"/>
          </p:cNvSpPr>
          <p:nvPr/>
        </p:nvSpPr>
        <p:spPr>
          <a:xfrm xmlns:a="http://schemas.openxmlformats.org/drawingml/2006/main">
            <a:off x="6238875" y="219075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32 × 25</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480 kênh</a:t>
            </a:r>
          </a:p>
        </p:txBody>
      </p:sp>
      <p:sp>
        <p:nvSpPr>
          <p:cNvPr id="9" name="">
            <a:extLst xmlns:a="http://schemas.openxmlformats.org/drawingml/2006/main">
              <a:ext uri="{FF2B5EF4-FFF2-40B4-BE49-F238E27FC236}">
                <a16:creationId xmlns:a16="http://schemas.microsoft.com/office/drawing/2014/main" id="{FADB45F5-C621-4FD0-B9A3-A88EC66320FF}"/>
              </a:ext>
            </a:extLst>
          </p:cNvPr>
          <p:cNvSpPr>
            <a:spLocks xmlns:a="http://schemas.openxmlformats.org/drawingml/2006/main" noGrp="1"/>
          </p:cNvSpPr>
          <p:nvPr/>
        </p:nvSpPr>
        <p:spPr>
          <a:xfrm xmlns:a="http://schemas.openxmlformats.org/drawingml/2006/main" rot="0">
            <a:off x="8615363" y="278130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42599C-7FE2-4800-AADE-3DF7B6CA3387}"/>
              </a:ext>
            </a:extLst>
          </p:cNvPr>
          <p:cNvSpPr>
            <a:spLocks xmlns:a="http://schemas.openxmlformats.org/drawingml/2006/main" noGrp="1"/>
          </p:cNvSpPr>
          <p:nvPr/>
        </p:nvSpPr>
        <p:spPr>
          <a:xfrm xmlns:a="http://schemas.openxmlformats.org/drawingml/2006/main">
            <a:off x="9024938" y="219075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16 × 13</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480 kênh</a:t>
            </a:r>
          </a:p>
        </p:txBody>
      </p:sp>
      <p:sp>
        <p:nvSpPr>
          <p:cNvPr id="11" name="">
            <a:extLst xmlns:a="http://schemas.openxmlformats.org/drawingml/2006/main">
              <a:ext uri="{FF2B5EF4-FFF2-40B4-BE49-F238E27FC236}">
                <a16:creationId xmlns:a16="http://schemas.microsoft.com/office/drawing/2014/main" id="{AA57E92C-011F-47FA-BE3D-730EE7ECD185}"/>
              </a:ext>
            </a:extLst>
          </p:cNvPr>
          <p:cNvSpPr>
            <a:spLocks xmlns:a="http://schemas.openxmlformats.org/drawingml/2006/main" noGrp="1"/>
          </p:cNvSpPr>
          <p:nvPr/>
        </p:nvSpPr>
        <p:spPr>
          <a:xfrm xmlns:a="http://schemas.openxmlformats.org/drawingml/2006/main">
            <a:off x="666750" y="4191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Mỗi lớp: kernel 3 × 3, stride 2, padding 1, GELU</a:t>
            </a:r>
          </a:p>
        </p:txBody>
      </p:sp>
      <p:sp>
        <p:nvSpPr>
          <p:cNvPr id="12" name="">
            <a:extLst xmlns:a="http://schemas.openxmlformats.org/drawingml/2006/main">
              <a:ext uri="{FF2B5EF4-FFF2-40B4-BE49-F238E27FC236}">
                <a16:creationId xmlns:a16="http://schemas.microsoft.com/office/drawing/2014/main" id="{BFFDF5FF-E67F-4AB1-9B80-CFC2ACCE4D9F}"/>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Giảm thời gian gần 8 lần, đồng thời học mẫu cục bộ trên phổ</a:t>
            </a:r>
          </a:p>
        </p:txBody>
      </p:sp>
    </p:spTree>
    <p:extLst>
      <p:ext uri="{BB962C8B-B14F-4D97-AF65-F5344CB8AC3E}">
        <p14:creationId xmlns:p14="http://schemas.microsoft.com/office/powerpoint/2010/main" val="1707846315"/>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D7C4A3-F2EF-439B-AAE8-ECF7F9321F18}"/>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Gộp đặc trưng và thêm vị trí</a:t>
            </a:r>
          </a:p>
        </p:txBody>
      </p:sp>
      <p:sp>
        <p:nvSpPr>
          <p:cNvPr id="2" name="">
            <a:extLst xmlns:a="http://schemas.openxmlformats.org/drawingml/2006/main">
              <a:ext uri="{FF2B5EF4-FFF2-40B4-BE49-F238E27FC236}">
                <a16:creationId xmlns:a16="http://schemas.microsoft.com/office/drawing/2014/main" id="{F7024BF5-EAB1-41DD-889D-C8AD8BC665A5}"/>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3B04F381-EFC1-448E-8B9B-AAFF05CC6FC4}"/>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63406697-E4EB-4DB4-A65B-9F20CBE6306D}"/>
              </a:ext>
            </a:extLst>
          </p:cNvPr>
          <p:cNvSpPr>
            <a:spLocks xmlns:a="http://schemas.openxmlformats.org/drawingml/2006/main" noGrp="1"/>
          </p:cNvSpPr>
          <p:nvPr/>
        </p:nvSpPr>
        <p:spPr>
          <a:xfrm xmlns:a="http://schemas.openxmlformats.org/drawingml/2006/main">
            <a:off x="666750"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 480, 16, 13]</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đổi trục</a:t>
            </a:r>
          </a:p>
        </p:txBody>
      </p:sp>
      <p:sp>
        <p:nvSpPr>
          <p:cNvPr id="5" name="">
            <a:extLst xmlns:a="http://schemas.openxmlformats.org/drawingml/2006/main">
              <a:ext uri="{FF2B5EF4-FFF2-40B4-BE49-F238E27FC236}">
                <a16:creationId xmlns:a16="http://schemas.microsoft.com/office/drawing/2014/main" id="{6A0D5A8D-F020-4F5A-B345-D359B4561A86}"/>
              </a:ext>
            </a:extLst>
          </p:cNvPr>
          <p:cNvSpPr>
            <a:spLocks xmlns:a="http://schemas.openxmlformats.org/drawingml/2006/main" noGrp="1"/>
          </p:cNvSpPr>
          <p:nvPr/>
        </p:nvSpPr>
        <p:spPr>
          <a:xfrm xmlns:a="http://schemas.openxmlformats.org/drawingml/2006/main" rot="0">
            <a:off x="3043238"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0687463-3AE0-4844-BF38-DB726ECC8AC0}"/>
              </a:ext>
            </a:extLst>
          </p:cNvPr>
          <p:cNvSpPr>
            <a:spLocks xmlns:a="http://schemas.openxmlformats.org/drawingml/2006/main" noGrp="1"/>
          </p:cNvSpPr>
          <p:nvPr/>
        </p:nvSpPr>
        <p:spPr>
          <a:xfrm xmlns:a="http://schemas.openxmlformats.org/drawingml/2006/main">
            <a:off x="3452813"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 13, 7.680]</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gộp kênh × dải</a:t>
            </a:r>
          </a:p>
        </p:txBody>
      </p:sp>
      <p:sp>
        <p:nvSpPr>
          <p:cNvPr id="7" name="">
            <a:extLst xmlns:a="http://schemas.openxmlformats.org/drawingml/2006/main">
              <a:ext uri="{FF2B5EF4-FFF2-40B4-BE49-F238E27FC236}">
                <a16:creationId xmlns:a16="http://schemas.microsoft.com/office/drawing/2014/main" id="{448C65F5-76C8-4322-B3D5-C9B3F75CD51C}"/>
              </a:ext>
            </a:extLst>
          </p:cNvPr>
          <p:cNvSpPr>
            <a:spLocks xmlns:a="http://schemas.openxmlformats.org/drawingml/2006/main" noGrp="1"/>
          </p:cNvSpPr>
          <p:nvPr/>
        </p:nvSpPr>
        <p:spPr>
          <a:xfrm xmlns:a="http://schemas.openxmlformats.org/drawingml/2006/main" rot="0">
            <a:off x="5829300"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E84185-979F-45EF-9B6D-C872F5DFA4FF}"/>
              </a:ext>
            </a:extLst>
          </p:cNvPr>
          <p:cNvSpPr>
            <a:spLocks xmlns:a="http://schemas.openxmlformats.org/drawingml/2006/main" noGrp="1"/>
          </p:cNvSpPr>
          <p:nvPr/>
        </p:nvSpPr>
        <p:spPr>
          <a:xfrm xmlns:a="http://schemas.openxmlformats.org/drawingml/2006/main">
            <a:off x="6238875"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 13, 896]</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Linear conv_out</a:t>
            </a:r>
          </a:p>
        </p:txBody>
      </p:sp>
      <p:sp>
        <p:nvSpPr>
          <p:cNvPr id="9" name="">
            <a:extLst xmlns:a="http://schemas.openxmlformats.org/drawingml/2006/main">
              <a:ext uri="{FF2B5EF4-FFF2-40B4-BE49-F238E27FC236}">
                <a16:creationId xmlns:a16="http://schemas.microsoft.com/office/drawing/2014/main" id="{EFE341B2-5DC8-49B6-8A29-E1C8685BC058}"/>
              </a:ext>
            </a:extLst>
          </p:cNvPr>
          <p:cNvSpPr>
            <a:spLocks xmlns:a="http://schemas.openxmlformats.org/drawingml/2006/main" noGrp="1"/>
          </p:cNvSpPr>
          <p:nvPr/>
        </p:nvSpPr>
        <p:spPr>
          <a:xfrm xmlns:a="http://schemas.openxmlformats.org/drawingml/2006/main" rot="0">
            <a:off x="8615363"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5350C9-0BC4-4267-8573-40FA790F0AEA}"/>
              </a:ext>
            </a:extLst>
          </p:cNvPr>
          <p:cNvSpPr>
            <a:spLocks xmlns:a="http://schemas.openxmlformats.org/drawingml/2006/main" noGrp="1"/>
          </p:cNvSpPr>
          <p:nvPr/>
        </p:nvSpPr>
        <p:spPr>
          <a:xfrm xmlns:a="http://schemas.openxmlformats.org/drawingml/2006/main">
            <a:off x="9024938"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[39, 896]</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bỏ padding</a:t>
            </a:r>
          </a:p>
        </p:txBody>
      </p:sp>
      <p:sp>
        <p:nvSpPr>
          <p:cNvPr id="11" name="">
            <a:extLst xmlns:a="http://schemas.openxmlformats.org/drawingml/2006/main">
              <a:ext uri="{FF2B5EF4-FFF2-40B4-BE49-F238E27FC236}">
                <a16:creationId xmlns:a16="http://schemas.microsoft.com/office/drawing/2014/main" id="{CB9B044D-8944-47D7-B8FB-34225B8D2767}"/>
              </a:ext>
            </a:extLst>
          </p:cNvPr>
          <p:cNvSpPr>
            <a:spLocks xmlns:a="http://schemas.openxmlformats.org/drawingml/2006/main" noGrp="1"/>
          </p:cNvSpPr>
          <p:nvPr/>
        </p:nvSpPr>
        <p:spPr>
          <a:xfrm xmlns:a="http://schemas.openxmlformats.org/drawingml/2006/main">
            <a:off x="666750" y="4191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6"/>
                </a:solidFill>
                <a:latin typeface="DejaVu Sans"/>
                <a:ea typeface="DejaVu Sans"/>
                <a:cs typeface="DejaVu Sans"/>
              </a:defRPr>
            </a:pPr>
            <a:r>
              <a:rPr sz="2325" b="1">
                <a:solidFill>
                  <a:srgbClr val="087F86"/>
                </a:solidFill>
                <a:latin typeface="DejaVu Sans"/>
                <a:ea typeface="DejaVu Sans"/>
                <a:cs typeface="DejaVu Sans"/>
              </a:rPr>
              <a:t>Biểu diễn vị trí sin/cos cộng vào vector trước encoder</a:t>
            </a:r>
          </a:p>
        </p:txBody>
      </p:sp>
      <p:sp>
        <p:nvSpPr>
          <p:cNvPr id="12" name="">
            <a:extLst xmlns:a="http://schemas.openxmlformats.org/drawingml/2006/main">
              <a:ext uri="{FF2B5EF4-FFF2-40B4-BE49-F238E27FC236}">
                <a16:creationId xmlns:a16="http://schemas.microsoft.com/office/drawing/2014/main" id="{EEC5A338-CBBB-4285-88C6-1782D06C2791}"/>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39 bước = 3 chunk × 13 bước, làm tròn theo từng chunk</a:t>
            </a:r>
          </a:p>
        </p:txBody>
      </p:sp>
    </p:spTree>
    <p:extLst>
      <p:ext uri="{BB962C8B-B14F-4D97-AF65-F5344CB8AC3E}">
        <p14:creationId xmlns:p14="http://schemas.microsoft.com/office/powerpoint/2010/main" val="1243658161"/>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595918-5137-490B-96EB-7BE0DE677A2D}"/>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AuT encoder: biểu diễn có bối cảnh</a:t>
            </a:r>
          </a:p>
        </p:txBody>
      </p:sp>
      <p:sp>
        <p:nvSpPr>
          <p:cNvPr id="2" name="">
            <a:extLst xmlns:a="http://schemas.openxmlformats.org/drawingml/2006/main">
              <a:ext uri="{FF2B5EF4-FFF2-40B4-BE49-F238E27FC236}">
                <a16:creationId xmlns:a16="http://schemas.microsoft.com/office/drawing/2014/main" id="{9D4D023A-A550-4142-992B-EEA2DB34A0C6}"/>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26B9E99-18F7-40DC-BF07-8D6C0C70C13E}"/>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3CECD823-ED89-4271-B7DD-5D40CA6D7C6A}"/>
              </a:ext>
            </a:extLst>
          </p:cNvPr>
          <p:cNvSpPr>
            <a:spLocks xmlns:a="http://schemas.openxmlformats.org/drawingml/2006/main" noGrp="1"/>
          </p:cNvSpPr>
          <p:nvPr/>
        </p:nvSpPr>
        <p:spPr>
          <a:xfrm xmlns:a="http://schemas.openxmlformats.org/drawingml/2006/main">
            <a:off x="666750" y="2190750"/>
            <a:ext cx="3238500"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39 vector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896 chiều</a:t>
            </a:r>
          </a:p>
        </p:txBody>
      </p:sp>
      <p:sp>
        <p:nvSpPr>
          <p:cNvPr id="5" name="">
            <a:extLst xmlns:a="http://schemas.openxmlformats.org/drawingml/2006/main">
              <a:ext uri="{FF2B5EF4-FFF2-40B4-BE49-F238E27FC236}">
                <a16:creationId xmlns:a16="http://schemas.microsoft.com/office/drawing/2014/main" id="{46D70951-1449-4A0A-89A7-827B1A75BE40}"/>
              </a:ext>
            </a:extLst>
          </p:cNvPr>
          <p:cNvSpPr>
            <a:spLocks xmlns:a="http://schemas.openxmlformats.org/drawingml/2006/main" noGrp="1"/>
          </p:cNvSpPr>
          <p:nvPr/>
        </p:nvSpPr>
        <p:spPr>
          <a:xfrm xmlns:a="http://schemas.openxmlformats.org/drawingml/2006/main" rot="0">
            <a:off x="3971925" y="278130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D28D8C-D391-48BD-8424-B1A9379C71A2}"/>
              </a:ext>
            </a:extLst>
          </p:cNvPr>
          <p:cNvSpPr>
            <a:spLocks xmlns:a="http://schemas.openxmlformats.org/drawingml/2006/main" noGrp="1"/>
          </p:cNvSpPr>
          <p:nvPr/>
        </p:nvSpPr>
        <p:spPr>
          <a:xfrm xmlns:a="http://schemas.openxmlformats.org/drawingml/2006/main">
            <a:off x="4381500" y="2190750"/>
            <a:ext cx="3238500"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Transformer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18 lớp</a:t>
            </a:r>
          </a:p>
        </p:txBody>
      </p:sp>
      <p:sp>
        <p:nvSpPr>
          <p:cNvPr id="7" name="">
            <a:extLst xmlns:a="http://schemas.openxmlformats.org/drawingml/2006/main">
              <a:ext uri="{FF2B5EF4-FFF2-40B4-BE49-F238E27FC236}">
                <a16:creationId xmlns:a16="http://schemas.microsoft.com/office/drawing/2014/main" id="{428FBF0E-F852-4614-902F-07CC3CC6B2B3}"/>
              </a:ext>
            </a:extLst>
          </p:cNvPr>
          <p:cNvSpPr>
            <a:spLocks xmlns:a="http://schemas.openxmlformats.org/drawingml/2006/main" noGrp="1"/>
          </p:cNvSpPr>
          <p:nvPr/>
        </p:nvSpPr>
        <p:spPr>
          <a:xfrm xmlns:a="http://schemas.openxmlformats.org/drawingml/2006/main" rot="0">
            <a:off x="7686675" y="278130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562EAA-202A-42A9-B9B9-43BB4C7E15DC}"/>
              </a:ext>
            </a:extLst>
          </p:cNvPr>
          <p:cNvSpPr>
            <a:spLocks xmlns:a="http://schemas.openxmlformats.org/drawingml/2006/main" noGrp="1"/>
          </p:cNvSpPr>
          <p:nvPr/>
        </p:nvSpPr>
        <p:spPr>
          <a:xfrm xmlns:a="http://schemas.openxmlformats.org/drawingml/2006/main">
            <a:off x="8096250" y="2190750"/>
            <a:ext cx="3238500"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LayerNorm</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cuối encoder</a:t>
            </a:r>
          </a:p>
        </p:txBody>
      </p:sp>
      <p:sp>
        <p:nvSpPr>
          <p:cNvPr id="9" name="">
            <a:extLst xmlns:a="http://schemas.openxmlformats.org/drawingml/2006/main">
              <a:ext uri="{FF2B5EF4-FFF2-40B4-BE49-F238E27FC236}">
                <a16:creationId xmlns:a16="http://schemas.microsoft.com/office/drawing/2014/main" id="{02BF0108-5A3C-4ECC-86FD-9CB9CB693BB9}"/>
              </a:ext>
            </a:extLst>
          </p:cNvPr>
          <p:cNvSpPr>
            <a:spLocks xmlns:a="http://schemas.openxmlformats.org/drawingml/2006/main" noGrp="1"/>
          </p:cNvSpPr>
          <p:nvPr/>
        </p:nvSpPr>
        <p:spPr>
          <a:xfrm xmlns:a="http://schemas.openxmlformats.org/drawingml/2006/main">
            <a:off x="666750" y="4191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6"/>
                </a:solidFill>
                <a:latin typeface="DejaVu Sans"/>
                <a:ea typeface="DejaVu Sans"/>
                <a:cs typeface="DejaVu Sans"/>
              </a:defRPr>
            </a:pPr>
            <a:r>
              <a:rPr sz="2550" b="1">
                <a:solidFill>
                  <a:srgbClr val="087F86"/>
                </a:solidFill>
                <a:latin typeface="DejaVu Sans"/>
                <a:ea typeface="DejaVu Sans"/>
                <a:cs typeface="DejaVu Sans"/>
              </a:rPr>
              <a:t>14 attention heads     FFN rộng 3.584</a:t>
            </a:r>
          </a:p>
        </p:txBody>
      </p:sp>
      <p:sp>
        <p:nvSpPr>
          <p:cNvPr id="10" name="">
            <a:extLst xmlns:a="http://schemas.openxmlformats.org/drawingml/2006/main">
              <a:ext uri="{FF2B5EF4-FFF2-40B4-BE49-F238E27FC236}">
                <a16:creationId xmlns:a16="http://schemas.microsoft.com/office/drawing/2014/main" id="{64E8E3B2-943D-471E-BF81-5403B2538DBE}"/>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Mỗi lớp giữ [39, 896], nhưng thay đổi nội dung của các vector</a:t>
            </a:r>
          </a:p>
        </p:txBody>
      </p:sp>
    </p:spTree>
    <p:extLst>
      <p:ext uri="{BB962C8B-B14F-4D97-AF65-F5344CB8AC3E}">
        <p14:creationId xmlns:p14="http://schemas.microsoft.com/office/powerpoint/2010/main" val="1068276512"/>
      </p:ext>
    </p:extLst>
  </p:cSld>
</p:sld>
</file>

<file path=ppt/slides/slide1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358FDB-935D-423F-A1E6-C1C7EB0FB0E5}"/>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Self-attention: mỗi vị trí tổng hợp thông tin</a:t>
            </a:r>
          </a:p>
        </p:txBody>
      </p:sp>
      <p:sp>
        <p:nvSpPr>
          <p:cNvPr id="2" name="">
            <a:extLst xmlns:a="http://schemas.openxmlformats.org/drawingml/2006/main">
              <a:ext uri="{FF2B5EF4-FFF2-40B4-BE49-F238E27FC236}">
                <a16:creationId xmlns:a16="http://schemas.microsoft.com/office/drawing/2014/main" id="{45FC1F19-EF07-49F3-89FC-0DDDC717E0BE}"/>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44B5AC27-CE62-4491-9FDE-E15E33D9817B}"/>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01AE187A-E2E3-4346-9F82-1DEB7A6D6E8C}"/>
              </a:ext>
            </a:extLst>
          </p:cNvPr>
          <p:cNvSpPr>
            <a:spLocks xmlns:a="http://schemas.openxmlformats.org/drawingml/2006/main" noGrp="1"/>
          </p:cNvSpPr>
          <p:nvPr/>
        </p:nvSpPr>
        <p:spPr>
          <a:xfrm xmlns:a="http://schemas.openxmlformats.org/drawingml/2006/main">
            <a:off x="666750"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Vector đầu vào</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X</a:t>
            </a:r>
          </a:p>
        </p:txBody>
      </p:sp>
      <p:sp>
        <p:nvSpPr>
          <p:cNvPr id="5" name="">
            <a:extLst xmlns:a="http://schemas.openxmlformats.org/drawingml/2006/main">
              <a:ext uri="{FF2B5EF4-FFF2-40B4-BE49-F238E27FC236}">
                <a16:creationId xmlns:a16="http://schemas.microsoft.com/office/drawing/2014/main" id="{EC5F9B16-0D4C-49F5-B2C7-AA472D988E02}"/>
              </a:ext>
            </a:extLst>
          </p:cNvPr>
          <p:cNvSpPr>
            <a:spLocks xmlns:a="http://schemas.openxmlformats.org/drawingml/2006/main" noGrp="1"/>
          </p:cNvSpPr>
          <p:nvPr/>
        </p:nvSpPr>
        <p:spPr>
          <a:xfrm xmlns:a="http://schemas.openxmlformats.org/drawingml/2006/main" rot="0">
            <a:off x="3043238"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6EC9101-7A24-4DF4-A5C0-26DF9D35E2E2}"/>
              </a:ext>
            </a:extLst>
          </p:cNvPr>
          <p:cNvSpPr>
            <a:spLocks xmlns:a="http://schemas.openxmlformats.org/drawingml/2006/main" noGrp="1"/>
          </p:cNvSpPr>
          <p:nvPr/>
        </p:nvSpPr>
        <p:spPr>
          <a:xfrm xmlns:a="http://schemas.openxmlformats.org/drawingml/2006/main">
            <a:off x="3452813"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Ba phép chiếu</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Q, K, V</a:t>
            </a:r>
          </a:p>
        </p:txBody>
      </p:sp>
      <p:sp>
        <p:nvSpPr>
          <p:cNvPr id="7" name="">
            <a:extLst xmlns:a="http://schemas.openxmlformats.org/drawingml/2006/main">
              <a:ext uri="{FF2B5EF4-FFF2-40B4-BE49-F238E27FC236}">
                <a16:creationId xmlns:a16="http://schemas.microsoft.com/office/drawing/2014/main" id="{2B5FCCCB-5A75-4DCE-AEEE-D168A7FED69A}"/>
              </a:ext>
            </a:extLst>
          </p:cNvPr>
          <p:cNvSpPr>
            <a:spLocks xmlns:a="http://schemas.openxmlformats.org/drawingml/2006/main" noGrp="1"/>
          </p:cNvSpPr>
          <p:nvPr/>
        </p:nvSpPr>
        <p:spPr>
          <a:xfrm xmlns:a="http://schemas.openxmlformats.org/drawingml/2006/main" rot="0">
            <a:off x="5829300"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CB63A5-6B09-4D14-B630-1824161C1EC7}"/>
              </a:ext>
            </a:extLst>
          </p:cNvPr>
          <p:cNvSpPr>
            <a:spLocks xmlns:a="http://schemas.openxmlformats.org/drawingml/2006/main" noGrp="1"/>
          </p:cNvSpPr>
          <p:nvPr/>
        </p:nvSpPr>
        <p:spPr>
          <a:xfrm xmlns:a="http://schemas.openxmlformats.org/drawingml/2006/main">
            <a:off x="6238875"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Điểm QKᵀ</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 mask</a:t>
            </a:r>
          </a:p>
        </p:txBody>
      </p:sp>
      <p:sp>
        <p:nvSpPr>
          <p:cNvPr id="9" name="">
            <a:extLst xmlns:a="http://schemas.openxmlformats.org/drawingml/2006/main">
              <a:ext uri="{FF2B5EF4-FFF2-40B4-BE49-F238E27FC236}">
                <a16:creationId xmlns:a16="http://schemas.microsoft.com/office/drawing/2014/main" id="{9E1ABA29-E498-4B91-AE51-CB69370510CF}"/>
              </a:ext>
            </a:extLst>
          </p:cNvPr>
          <p:cNvSpPr>
            <a:spLocks xmlns:a="http://schemas.openxmlformats.org/drawingml/2006/main" noGrp="1"/>
          </p:cNvSpPr>
          <p:nvPr/>
        </p:nvSpPr>
        <p:spPr>
          <a:xfrm xmlns:a="http://schemas.openxmlformats.org/drawingml/2006/main" rot="0">
            <a:off x="8615363" y="273367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3F96383-6032-43CE-AD0F-6B1C55CE4A45}"/>
              </a:ext>
            </a:extLst>
          </p:cNvPr>
          <p:cNvSpPr>
            <a:spLocks xmlns:a="http://schemas.openxmlformats.org/drawingml/2006/main" noGrp="1"/>
          </p:cNvSpPr>
          <p:nvPr/>
        </p:nvSpPr>
        <p:spPr>
          <a:xfrm xmlns:a="http://schemas.openxmlformats.org/drawingml/2006/main">
            <a:off x="9024938" y="214312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Softmax</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rồi tổng V</a:t>
            </a:r>
          </a:p>
        </p:txBody>
      </p:sp>
      <p:sp>
        <p:nvSpPr>
          <p:cNvPr id="11" name="">
            <a:extLst xmlns:a="http://schemas.openxmlformats.org/drawingml/2006/main">
              <a:ext uri="{FF2B5EF4-FFF2-40B4-BE49-F238E27FC236}">
                <a16:creationId xmlns:a16="http://schemas.microsoft.com/office/drawing/2014/main" id="{21359F8B-1ECB-48A6-816C-162FBD81FA73}"/>
              </a:ext>
            </a:extLst>
          </p:cNvPr>
          <p:cNvSpPr>
            <a:spLocks xmlns:a="http://schemas.openxmlformats.org/drawingml/2006/main" noGrp="1"/>
          </p:cNvSpPr>
          <p:nvPr/>
        </p:nvSpPr>
        <p:spPr>
          <a:xfrm xmlns:a="http://schemas.openxmlformats.org/drawingml/2006/main">
            <a:off x="666750" y="4095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6"/>
                </a:solidFill>
                <a:latin typeface="DejaVu Sans"/>
                <a:ea typeface="DejaVu Sans"/>
                <a:cs typeface="DejaVu Sans"/>
              </a:defRPr>
            </a:pPr>
            <a:r>
              <a:rPr sz="2325" b="1">
                <a:solidFill>
                  <a:srgbClr val="087F86"/>
                </a:solidFill>
                <a:latin typeface="DejaVu Sans"/>
                <a:ea typeface="DejaVu Sans"/>
                <a:cs typeface="DejaVu Sans"/>
              </a:rPr>
              <a:t>Attention(Q,K,V) = softmax(QKᵀ / √d + mask)V</a:t>
            </a:r>
          </a:p>
        </p:txBody>
      </p:sp>
      <p:sp>
        <p:nvSpPr>
          <p:cNvPr id="12" name="">
            <a:extLst xmlns:a="http://schemas.openxmlformats.org/drawingml/2006/main">
              <a:ext uri="{FF2B5EF4-FFF2-40B4-BE49-F238E27FC236}">
                <a16:creationId xmlns:a16="http://schemas.microsoft.com/office/drawing/2014/main" id="{7E995393-CA1B-44AF-8B91-78206B478887}"/>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Q tìm quan hệ, K dùng để so khớp, V mang nội dung cần tổng hợp</a:t>
            </a:r>
          </a:p>
        </p:txBody>
      </p:sp>
    </p:spTree>
    <p:extLst>
      <p:ext uri="{BB962C8B-B14F-4D97-AF65-F5344CB8AC3E}">
        <p14:creationId xmlns:p14="http://schemas.microsoft.com/office/powerpoint/2010/main" val="2059146013"/>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32C110-57EB-4453-A776-120B46610C13}"/>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Cửa sổ attention và khối Transformer</a:t>
            </a:r>
          </a:p>
        </p:txBody>
      </p:sp>
      <p:sp>
        <p:nvSpPr>
          <p:cNvPr id="2" name="">
            <a:extLst xmlns:a="http://schemas.openxmlformats.org/drawingml/2006/main">
              <a:ext uri="{FF2B5EF4-FFF2-40B4-BE49-F238E27FC236}">
                <a16:creationId xmlns:a16="http://schemas.microsoft.com/office/drawing/2014/main" id="{12215591-6A66-4EE0-A70B-804B7BD419AB}"/>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3F5F9FBB-D646-4F4C-AAE3-8B7528E5FE46}"/>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8F15B189-F492-477D-85CD-A4225A3F2BB6}"/>
              </a:ext>
            </a:extLst>
          </p:cNvPr>
          <p:cNvSpPr>
            <a:spLocks xmlns:a="http://schemas.openxmlformats.org/drawingml/2006/main" noGrp="1"/>
          </p:cNvSpPr>
          <p:nvPr/>
        </p:nvSpPr>
        <p:spPr>
          <a:xfrm xmlns:a="http://schemas.openxmlformats.org/drawingml/2006/main">
            <a:off x="762000" y="1905000"/>
            <a:ext cx="2571750" cy="619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LayerNorm</a:t>
            </a:r>
          </a:p>
        </p:txBody>
      </p:sp>
      <p:sp>
        <p:nvSpPr>
          <p:cNvPr id="5" name="">
            <a:extLst xmlns:a="http://schemas.openxmlformats.org/drawingml/2006/main">
              <a:ext uri="{FF2B5EF4-FFF2-40B4-BE49-F238E27FC236}">
                <a16:creationId xmlns:a16="http://schemas.microsoft.com/office/drawing/2014/main" id="{DB65F63E-B58D-41DA-9386-45DE6A65757E}"/>
              </a:ext>
            </a:extLst>
          </p:cNvPr>
          <p:cNvSpPr>
            <a:spLocks xmlns:a="http://schemas.openxmlformats.org/drawingml/2006/main" noGrp="1"/>
          </p:cNvSpPr>
          <p:nvPr/>
        </p:nvSpPr>
        <p:spPr>
          <a:xfrm xmlns:a="http://schemas.openxmlformats.org/drawingml/2006/main">
            <a:off x="3857625" y="1905000"/>
            <a:ext cx="4000500" cy="619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Attention trong cửa sổ</a:t>
            </a:r>
          </a:p>
        </p:txBody>
      </p:sp>
      <p:sp>
        <p:nvSpPr>
          <p:cNvPr id="6" name="">
            <a:extLst xmlns:a="http://schemas.openxmlformats.org/drawingml/2006/main">
              <a:ext uri="{FF2B5EF4-FFF2-40B4-BE49-F238E27FC236}">
                <a16:creationId xmlns:a16="http://schemas.microsoft.com/office/drawing/2014/main" id="{6AD95833-ECCA-4422-A7EA-1FE9E3980D87}"/>
              </a:ext>
            </a:extLst>
          </p:cNvPr>
          <p:cNvSpPr>
            <a:spLocks xmlns:a="http://schemas.openxmlformats.org/drawingml/2006/main" noGrp="1"/>
          </p:cNvSpPr>
          <p:nvPr/>
        </p:nvSpPr>
        <p:spPr>
          <a:xfrm xmlns:a="http://schemas.openxmlformats.org/drawingml/2006/main">
            <a:off x="8382000" y="1905000"/>
            <a:ext cx="2857500" cy="619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Cộng residual</a:t>
            </a:r>
          </a:p>
        </p:txBody>
      </p:sp>
      <p:sp>
        <p:nvSpPr>
          <p:cNvPr id="7" name="">
            <a:extLst xmlns:a="http://schemas.openxmlformats.org/drawingml/2006/main">
              <a:ext uri="{FF2B5EF4-FFF2-40B4-BE49-F238E27FC236}">
                <a16:creationId xmlns:a16="http://schemas.microsoft.com/office/drawing/2014/main" id="{D694D6D9-794E-4149-B0FE-AF51DE5A752D}"/>
              </a:ext>
            </a:extLst>
          </p:cNvPr>
          <p:cNvSpPr>
            <a:spLocks xmlns:a="http://schemas.openxmlformats.org/drawingml/2006/main" noGrp="1"/>
          </p:cNvSpPr>
          <p:nvPr/>
        </p:nvSpPr>
        <p:spPr>
          <a:xfrm xmlns:a="http://schemas.openxmlformats.org/drawingml/2006/main" rot="0">
            <a:off x="3429000" y="2105025"/>
            <a:ext cx="333375"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115515-0284-47ED-8BED-49E8F76C9306}"/>
              </a:ext>
            </a:extLst>
          </p:cNvPr>
          <p:cNvSpPr>
            <a:spLocks xmlns:a="http://schemas.openxmlformats.org/drawingml/2006/main" noGrp="1"/>
          </p:cNvSpPr>
          <p:nvPr/>
        </p:nvSpPr>
        <p:spPr>
          <a:xfrm xmlns:a="http://schemas.openxmlformats.org/drawingml/2006/main" rot="0">
            <a:off x="7953375" y="2105025"/>
            <a:ext cx="333375"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073022-D07A-4262-BA48-42A3CDAA5F3B}"/>
              </a:ext>
            </a:extLst>
          </p:cNvPr>
          <p:cNvSpPr>
            <a:spLocks xmlns:a="http://schemas.openxmlformats.org/drawingml/2006/main" noGrp="1"/>
          </p:cNvSpPr>
          <p:nvPr/>
        </p:nvSpPr>
        <p:spPr>
          <a:xfrm xmlns:a="http://schemas.openxmlformats.org/drawingml/2006/main">
            <a:off x="762000" y="3286125"/>
            <a:ext cx="2571750" cy="619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LayerNorm</a:t>
            </a:r>
          </a:p>
        </p:txBody>
      </p:sp>
      <p:sp>
        <p:nvSpPr>
          <p:cNvPr id="10" name="">
            <a:extLst xmlns:a="http://schemas.openxmlformats.org/drawingml/2006/main">
              <a:ext uri="{FF2B5EF4-FFF2-40B4-BE49-F238E27FC236}">
                <a16:creationId xmlns:a16="http://schemas.microsoft.com/office/drawing/2014/main" id="{0884884A-D8DB-475A-A011-642C1AD38E0E}"/>
              </a:ext>
            </a:extLst>
          </p:cNvPr>
          <p:cNvSpPr>
            <a:spLocks xmlns:a="http://schemas.openxmlformats.org/drawingml/2006/main" noGrp="1"/>
          </p:cNvSpPr>
          <p:nvPr/>
        </p:nvSpPr>
        <p:spPr>
          <a:xfrm xmlns:a="http://schemas.openxmlformats.org/drawingml/2006/main">
            <a:off x="3857625" y="3095625"/>
            <a:ext cx="4000500" cy="1000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Linear 896 → 3.584</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GELU → Linear về 896</a:t>
            </a:r>
          </a:p>
        </p:txBody>
      </p:sp>
      <p:sp>
        <p:nvSpPr>
          <p:cNvPr id="11" name="">
            <a:extLst xmlns:a="http://schemas.openxmlformats.org/drawingml/2006/main">
              <a:ext uri="{FF2B5EF4-FFF2-40B4-BE49-F238E27FC236}">
                <a16:creationId xmlns:a16="http://schemas.microsoft.com/office/drawing/2014/main" id="{71919798-4282-49AC-BD9E-4841B9068E44}"/>
              </a:ext>
            </a:extLst>
          </p:cNvPr>
          <p:cNvSpPr>
            <a:spLocks xmlns:a="http://schemas.openxmlformats.org/drawingml/2006/main" noGrp="1"/>
          </p:cNvSpPr>
          <p:nvPr/>
        </p:nvSpPr>
        <p:spPr>
          <a:xfrm xmlns:a="http://schemas.openxmlformats.org/drawingml/2006/main">
            <a:off x="8382000" y="3286125"/>
            <a:ext cx="2857500" cy="619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Cộng residual</a:t>
            </a:r>
          </a:p>
        </p:txBody>
      </p:sp>
      <p:sp>
        <p:nvSpPr>
          <p:cNvPr id="12" name="">
            <a:extLst xmlns:a="http://schemas.openxmlformats.org/drawingml/2006/main">
              <a:ext uri="{FF2B5EF4-FFF2-40B4-BE49-F238E27FC236}">
                <a16:creationId xmlns:a16="http://schemas.microsoft.com/office/drawing/2014/main" id="{774B09F8-700A-4298-9AB4-0C0CE2C3C1DD}"/>
              </a:ext>
            </a:extLst>
          </p:cNvPr>
          <p:cNvSpPr>
            <a:spLocks xmlns:a="http://schemas.openxmlformats.org/drawingml/2006/main" noGrp="1"/>
          </p:cNvSpPr>
          <p:nvPr/>
        </p:nvSpPr>
        <p:spPr>
          <a:xfrm xmlns:a="http://schemas.openxmlformats.org/drawingml/2006/main" rot="0">
            <a:off x="3429000" y="3495675"/>
            <a:ext cx="333375"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5DA8807-1C30-4167-B42E-43CE40A72EDA}"/>
              </a:ext>
            </a:extLst>
          </p:cNvPr>
          <p:cNvSpPr>
            <a:spLocks xmlns:a="http://schemas.openxmlformats.org/drawingml/2006/main" noGrp="1"/>
          </p:cNvSpPr>
          <p:nvPr/>
        </p:nvSpPr>
        <p:spPr>
          <a:xfrm xmlns:a="http://schemas.openxmlformats.org/drawingml/2006/main" rot="0">
            <a:off x="7953375" y="3495675"/>
            <a:ext cx="333375"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B210752-ED0E-41A6-839F-3D5C4FAB2650}"/>
              </a:ext>
            </a:extLst>
          </p:cNvPr>
          <p:cNvSpPr>
            <a:spLocks xmlns:a="http://schemas.openxmlformats.org/drawingml/2006/main" noGrp="1"/>
          </p:cNvSpPr>
          <p:nvPr/>
        </p:nvSpPr>
        <p:spPr>
          <a:xfrm xmlns:a="http://schemas.openxmlformats.org/drawingml/2006/main">
            <a:off x="666750" y="4572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6"/>
                </a:solidFill>
                <a:latin typeface="DejaVu Sans"/>
                <a:ea typeface="DejaVu Sans"/>
                <a:cs typeface="DejaVu Sans"/>
              </a:defRPr>
            </a:pPr>
            <a:r>
              <a:rPr sz="2325" b="1">
                <a:solidFill>
                  <a:srgbClr val="087F86"/>
                </a:solidFill>
                <a:latin typeface="DejaVu Sans"/>
                <a:ea typeface="DejaVu Sans"/>
                <a:cs typeface="DejaVu Sans"/>
              </a:rPr>
              <a:t>Encoder nhìn hai hướng trong vùng cho phép</a:t>
            </a:r>
          </a:p>
        </p:txBody>
      </p:sp>
      <p:sp>
        <p:nvSpPr>
          <p:cNvPr id="15" name="">
            <a:extLst xmlns:a="http://schemas.openxmlformats.org/drawingml/2006/main">
              <a:ext uri="{FF2B5EF4-FFF2-40B4-BE49-F238E27FC236}">
                <a16:creationId xmlns:a16="http://schemas.microsoft.com/office/drawing/2014/main" id="{3668EC26-65CE-4DC9-9CB0-2957FECE67F1}"/>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Chunk CNN ≠ cửa sổ attention ≠ chunk streaming</a:t>
            </a:r>
          </a:p>
        </p:txBody>
      </p:sp>
    </p:spTree>
    <p:extLst>
      <p:ext uri="{BB962C8B-B14F-4D97-AF65-F5344CB8AC3E}">
        <p14:creationId xmlns:p14="http://schemas.microsoft.com/office/powerpoint/2010/main" val="1812452945"/>
      </p:ext>
    </p:extLst>
  </p:cSld>
</p:sld>
</file>

<file path=ppt/slides/slide1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1F4F76-4D08-494D-8BED-3F74F22095B8}"/>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Projector: cầu nối từ audio sang Qwen3</a:t>
            </a:r>
          </a:p>
        </p:txBody>
      </p:sp>
      <p:sp>
        <p:nvSpPr>
          <p:cNvPr id="2" name="">
            <a:extLst xmlns:a="http://schemas.openxmlformats.org/drawingml/2006/main">
              <a:ext uri="{FF2B5EF4-FFF2-40B4-BE49-F238E27FC236}">
                <a16:creationId xmlns:a16="http://schemas.microsoft.com/office/drawing/2014/main" id="{CD5C91CC-E84A-4CDA-B7E8-31BE0CA837BA}"/>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6A644791-EB9C-48BF-A4A6-F337A48F1D59}"/>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1AD9BA1D-5B28-469F-A81B-74FF96BD77EB}"/>
              </a:ext>
            </a:extLst>
          </p:cNvPr>
          <p:cNvSpPr>
            <a:spLocks xmlns:a="http://schemas.openxmlformats.org/drawingml/2006/main" noGrp="1"/>
          </p:cNvSpPr>
          <p:nvPr/>
        </p:nvSpPr>
        <p:spPr>
          <a:xfrm xmlns:a="http://schemas.openxmlformats.org/drawingml/2006/main">
            <a:off x="666750" y="22860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[39, 896]</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AuT output</a:t>
            </a:r>
          </a:p>
        </p:txBody>
      </p:sp>
      <p:sp>
        <p:nvSpPr>
          <p:cNvPr id="5" name="">
            <a:extLst xmlns:a="http://schemas.openxmlformats.org/drawingml/2006/main">
              <a:ext uri="{FF2B5EF4-FFF2-40B4-BE49-F238E27FC236}">
                <a16:creationId xmlns:a16="http://schemas.microsoft.com/office/drawing/2014/main" id="{94221AC3-723C-49D3-A2CE-76FC5AD1A516}"/>
              </a:ext>
            </a:extLst>
          </p:cNvPr>
          <p:cNvSpPr>
            <a:spLocks xmlns:a="http://schemas.openxmlformats.org/drawingml/2006/main" noGrp="1"/>
          </p:cNvSpPr>
          <p:nvPr/>
        </p:nvSpPr>
        <p:spPr>
          <a:xfrm xmlns:a="http://schemas.openxmlformats.org/drawingml/2006/main" rot="0">
            <a:off x="3043238" y="28765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E6F9A6-1000-45F3-9C9C-29D9CC3AE139}"/>
              </a:ext>
            </a:extLst>
          </p:cNvPr>
          <p:cNvSpPr>
            <a:spLocks xmlns:a="http://schemas.openxmlformats.org/drawingml/2006/main" noGrp="1"/>
          </p:cNvSpPr>
          <p:nvPr/>
        </p:nvSpPr>
        <p:spPr>
          <a:xfrm xmlns:a="http://schemas.openxmlformats.org/drawingml/2006/main">
            <a:off x="3452813" y="22860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Linear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896 → 896</a:t>
            </a:r>
          </a:p>
        </p:txBody>
      </p:sp>
      <p:sp>
        <p:nvSpPr>
          <p:cNvPr id="7" name="">
            <a:extLst xmlns:a="http://schemas.openxmlformats.org/drawingml/2006/main">
              <a:ext uri="{FF2B5EF4-FFF2-40B4-BE49-F238E27FC236}">
                <a16:creationId xmlns:a16="http://schemas.microsoft.com/office/drawing/2014/main" id="{7925F35A-0CC4-413B-AC8D-93A85B1443B6}"/>
              </a:ext>
            </a:extLst>
          </p:cNvPr>
          <p:cNvSpPr>
            <a:spLocks xmlns:a="http://schemas.openxmlformats.org/drawingml/2006/main" noGrp="1"/>
          </p:cNvSpPr>
          <p:nvPr/>
        </p:nvSpPr>
        <p:spPr>
          <a:xfrm xmlns:a="http://schemas.openxmlformats.org/drawingml/2006/main" rot="0">
            <a:off x="5829300" y="28765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9DB752-98BD-4526-9DC7-9E064DDD7E8E}"/>
              </a:ext>
            </a:extLst>
          </p:cNvPr>
          <p:cNvSpPr>
            <a:spLocks xmlns:a="http://schemas.openxmlformats.org/drawingml/2006/main" noGrp="1"/>
          </p:cNvSpPr>
          <p:nvPr/>
        </p:nvSpPr>
        <p:spPr>
          <a:xfrm xmlns:a="http://schemas.openxmlformats.org/drawingml/2006/main">
            <a:off x="6238875" y="22860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GELU</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phi tuyến</a:t>
            </a:r>
          </a:p>
        </p:txBody>
      </p:sp>
      <p:sp>
        <p:nvSpPr>
          <p:cNvPr id="9" name="">
            <a:extLst xmlns:a="http://schemas.openxmlformats.org/drawingml/2006/main">
              <a:ext uri="{FF2B5EF4-FFF2-40B4-BE49-F238E27FC236}">
                <a16:creationId xmlns:a16="http://schemas.microsoft.com/office/drawing/2014/main" id="{C70E41C0-4E50-44FE-A5A2-A3D0DEABBC92}"/>
              </a:ext>
            </a:extLst>
          </p:cNvPr>
          <p:cNvSpPr>
            <a:spLocks xmlns:a="http://schemas.openxmlformats.org/drawingml/2006/main" noGrp="1"/>
          </p:cNvSpPr>
          <p:nvPr/>
        </p:nvSpPr>
        <p:spPr>
          <a:xfrm xmlns:a="http://schemas.openxmlformats.org/drawingml/2006/main" rot="0">
            <a:off x="8615363" y="28765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DD5A33-1976-4294-A464-E9D2FD042394}"/>
              </a:ext>
            </a:extLst>
          </p:cNvPr>
          <p:cNvSpPr>
            <a:spLocks xmlns:a="http://schemas.openxmlformats.org/drawingml/2006/main" noGrp="1"/>
          </p:cNvSpPr>
          <p:nvPr/>
        </p:nvSpPr>
        <p:spPr>
          <a:xfrm xmlns:a="http://schemas.openxmlformats.org/drawingml/2006/main">
            <a:off x="9024938" y="22860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Linear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896 → 1.024</a:t>
            </a:r>
          </a:p>
        </p:txBody>
      </p:sp>
      <p:sp>
        <p:nvSpPr>
          <p:cNvPr id="11" name="">
            <a:extLst xmlns:a="http://schemas.openxmlformats.org/drawingml/2006/main">
              <a:ext uri="{FF2B5EF4-FFF2-40B4-BE49-F238E27FC236}">
                <a16:creationId xmlns:a16="http://schemas.microsoft.com/office/drawing/2014/main" id="{7E3D0FC5-EDFB-45F8-A466-8F2EB1B24A41}"/>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Giữ 39 vị trí. Đổi chiều rộng vector thành 1.024</a:t>
            </a:r>
          </a:p>
        </p:txBody>
      </p:sp>
    </p:spTree>
    <p:extLst>
      <p:ext uri="{BB962C8B-B14F-4D97-AF65-F5344CB8AC3E}">
        <p14:creationId xmlns:p14="http://schemas.microsoft.com/office/powerpoint/2010/main" val="2107985877"/>
      </p:ext>
    </p:extLst>
  </p:cSld>
</p:sld>
</file>

<file path=ppt/slides/slide1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454D04-C949-47B9-8540-F4D2A19F041F}"/>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Audio và văn bản cùng nằm trong một chuỗi</a:t>
            </a:r>
          </a:p>
        </p:txBody>
      </p:sp>
      <p:sp>
        <p:nvSpPr>
          <p:cNvPr id="2" name="">
            <a:extLst xmlns:a="http://schemas.openxmlformats.org/drawingml/2006/main">
              <a:ext uri="{FF2B5EF4-FFF2-40B4-BE49-F238E27FC236}">
                <a16:creationId xmlns:a16="http://schemas.microsoft.com/office/drawing/2014/main" id="{F3EC2C8A-9576-4FED-8B09-71C9541C9674}"/>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C0551A34-32CF-4358-B5FF-E8EC065FC67D}"/>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15</a:t>
            </a:r>
          </a:p>
        </p:txBody>
      </p:sp>
      <p:sp>
        <p:nvSpPr>
          <p:cNvPr id="4" name="">
            <a:extLst xmlns:a="http://schemas.openxmlformats.org/drawingml/2006/main">
              <a:ext uri="{FF2B5EF4-FFF2-40B4-BE49-F238E27FC236}">
                <a16:creationId xmlns:a16="http://schemas.microsoft.com/office/drawing/2014/main" id="{15DFCC87-A6A2-430D-8969-8DBC4BFC3C2E}"/>
              </a:ext>
            </a:extLst>
          </p:cNvPr>
          <p:cNvSpPr>
            <a:spLocks xmlns:a="http://schemas.openxmlformats.org/drawingml/2006/main" noGrp="1"/>
          </p:cNvSpPr>
          <p:nvPr/>
        </p:nvSpPr>
        <p:spPr>
          <a:xfrm xmlns:a="http://schemas.openxmlformats.org/drawingml/2006/main">
            <a:off x="666750" y="2238375"/>
            <a:ext cx="2286000" cy="128587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Prompt</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text embedding</a:t>
            </a:r>
          </a:p>
        </p:txBody>
      </p:sp>
      <p:sp>
        <p:nvSpPr>
          <p:cNvPr id="5" name="">
            <a:extLst xmlns:a="http://schemas.openxmlformats.org/drawingml/2006/main">
              <a:ext uri="{FF2B5EF4-FFF2-40B4-BE49-F238E27FC236}">
                <a16:creationId xmlns:a16="http://schemas.microsoft.com/office/drawing/2014/main" id="{822299E7-AFE3-49F4-B96F-70345EA47996}"/>
              </a:ext>
            </a:extLst>
          </p:cNvPr>
          <p:cNvSpPr>
            <a:spLocks xmlns:a="http://schemas.openxmlformats.org/drawingml/2006/main" noGrp="1"/>
          </p:cNvSpPr>
          <p:nvPr/>
        </p:nvSpPr>
        <p:spPr>
          <a:xfrm xmlns:a="http://schemas.openxmlformats.org/drawingml/2006/main">
            <a:off x="3143250" y="2238375"/>
            <a:ext cx="4667250" cy="128587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Vị trí dành cho audio</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39 vector × 1.024</a:t>
            </a:r>
          </a:p>
        </p:txBody>
      </p:sp>
      <p:sp>
        <p:nvSpPr>
          <p:cNvPr id="6" name="">
            <a:extLst xmlns:a="http://schemas.openxmlformats.org/drawingml/2006/main">
              <a:ext uri="{FF2B5EF4-FFF2-40B4-BE49-F238E27FC236}">
                <a16:creationId xmlns:a16="http://schemas.microsoft.com/office/drawing/2014/main" id="{A1D4120E-7548-4C5A-8EA6-7592C79856F0}"/>
              </a:ext>
            </a:extLst>
          </p:cNvPr>
          <p:cNvSpPr>
            <a:spLocks xmlns:a="http://schemas.openxmlformats.org/drawingml/2006/main" noGrp="1"/>
          </p:cNvSpPr>
          <p:nvPr/>
        </p:nvSpPr>
        <p:spPr>
          <a:xfrm xmlns:a="http://schemas.openxmlformats.org/drawingml/2006/main">
            <a:off x="8001000" y="2238375"/>
            <a:ext cx="3429000" cy="128587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Tiền tố đầu ra</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text embedding</a:t>
            </a:r>
          </a:p>
        </p:txBody>
      </p:sp>
      <p:sp>
        <p:nvSpPr>
          <p:cNvPr id="7" name="">
            <a:extLst xmlns:a="http://schemas.openxmlformats.org/drawingml/2006/main">
              <a:ext uri="{FF2B5EF4-FFF2-40B4-BE49-F238E27FC236}">
                <a16:creationId xmlns:a16="http://schemas.microsoft.com/office/drawing/2014/main" id="{EC77C60F-E166-41FB-ABD5-5C37C207584F}"/>
              </a:ext>
            </a:extLst>
          </p:cNvPr>
          <p:cNvSpPr>
            <a:spLocks xmlns:a="http://schemas.openxmlformats.org/drawingml/2006/main" noGrp="1"/>
          </p:cNvSpPr>
          <p:nvPr/>
        </p:nvSpPr>
        <p:spPr>
          <a:xfrm xmlns:a="http://schemas.openxmlformats.org/drawingml/2006/main">
            <a:off x="666750" y="40005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6"/>
                </a:solidFill>
                <a:latin typeface="DejaVu Sans"/>
                <a:ea typeface="DejaVu Sans"/>
                <a:cs typeface="DejaVu Sans"/>
              </a:defRPr>
            </a:pPr>
            <a:r>
              <a:rPr sz="2325" b="1">
                <a:solidFill>
                  <a:srgbClr val="087F86"/>
                </a:solidFill>
                <a:latin typeface="DejaVu Sans"/>
                <a:ea typeface="DejaVu Sans"/>
                <a:cs typeface="DejaVu Sans"/>
              </a:rPr>
              <a:t>Processor tạo placeholder. Forward thay bằng audio embeddings</a:t>
            </a:r>
          </a:p>
        </p:txBody>
      </p:sp>
      <p:sp>
        <p:nvSpPr>
          <p:cNvPr id="8" name="">
            <a:extLst xmlns:a="http://schemas.openxmlformats.org/drawingml/2006/main">
              <a:ext uri="{FF2B5EF4-FFF2-40B4-BE49-F238E27FC236}">
                <a16:creationId xmlns:a16="http://schemas.microsoft.com/office/drawing/2014/main" id="{8845609E-ED9A-4216-ACD7-B7AEC141AD53}"/>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Sơ đồ khái niệm. Thứ tự token đặc biệt do chat template quy định</a:t>
            </a:r>
          </a:p>
        </p:txBody>
      </p:sp>
    </p:spTree>
    <p:extLst>
      <p:ext uri="{BB962C8B-B14F-4D97-AF65-F5344CB8AC3E}">
        <p14:creationId xmlns:p14="http://schemas.microsoft.com/office/powerpoint/2010/main" val="483301146"/>
      </p:ext>
    </p:extLst>
  </p:cSld>
</p:sld>
</file>

<file path=ppt/slides/slide1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30B228-269C-4358-B375-C1945F2F4821}"/>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Qwen3 decoder sinh token kế tiếp</a:t>
            </a:r>
          </a:p>
        </p:txBody>
      </p:sp>
      <p:sp>
        <p:nvSpPr>
          <p:cNvPr id="2" name="">
            <a:extLst xmlns:a="http://schemas.openxmlformats.org/drawingml/2006/main">
              <a:ext uri="{FF2B5EF4-FFF2-40B4-BE49-F238E27FC236}">
                <a16:creationId xmlns:a16="http://schemas.microsoft.com/office/drawing/2014/main" id="{32CCCB70-072E-405D-A0AC-2B75011F0967}"/>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BC876F5-9C03-4071-86C5-DA0FAD707E8B}"/>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16</a:t>
            </a:r>
          </a:p>
        </p:txBody>
      </p:sp>
      <p:sp>
        <p:nvSpPr>
          <p:cNvPr id="4" name="">
            <a:extLst xmlns:a="http://schemas.openxmlformats.org/drawingml/2006/main">
              <a:ext uri="{FF2B5EF4-FFF2-40B4-BE49-F238E27FC236}">
                <a16:creationId xmlns:a16="http://schemas.microsoft.com/office/drawing/2014/main" id="{5EB34B9A-41F6-45FB-A1D1-6B549C6E5284}"/>
              </a:ext>
            </a:extLst>
          </p:cNvPr>
          <p:cNvSpPr>
            <a:spLocks xmlns:a="http://schemas.openxmlformats.org/drawingml/2006/main" noGrp="1"/>
          </p:cNvSpPr>
          <p:nvPr/>
        </p:nvSpPr>
        <p:spPr>
          <a:xfrm xmlns:a="http://schemas.openxmlformats.org/drawingml/2006/main">
            <a:off x="609600" y="176212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28 lớp Transformer</a:t>
            </a:r>
          </a:p>
        </p:txBody>
      </p:sp>
      <p:sp>
        <p:nvSpPr>
          <p:cNvPr id="5" name="">
            <a:extLst xmlns:a="http://schemas.openxmlformats.org/drawingml/2006/main">
              <a:ext uri="{FF2B5EF4-FFF2-40B4-BE49-F238E27FC236}">
                <a16:creationId xmlns:a16="http://schemas.microsoft.com/office/drawing/2014/main" id="{48C8262B-81C3-444D-B432-68FAB6C39401}"/>
              </a:ext>
            </a:extLst>
          </p:cNvPr>
          <p:cNvSpPr>
            <a:spLocks xmlns:a="http://schemas.openxmlformats.org/drawingml/2006/main" noGrp="1"/>
          </p:cNvSpPr>
          <p:nvPr/>
        </p:nvSpPr>
        <p:spPr>
          <a:xfrm xmlns:a="http://schemas.openxmlformats.org/drawingml/2006/main">
            <a:off x="400050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Hidden size 1.024, MLP intermediate size 3.072</a:t>
            </a:r>
          </a:p>
        </p:txBody>
      </p:sp>
      <p:sp>
        <p:nvSpPr>
          <p:cNvPr id="6" name="">
            <a:extLst xmlns:a="http://schemas.openxmlformats.org/drawingml/2006/main">
              <a:ext uri="{FF2B5EF4-FFF2-40B4-BE49-F238E27FC236}">
                <a16:creationId xmlns:a16="http://schemas.microsoft.com/office/drawing/2014/main" id="{E391F71A-EC5C-4C69-A68F-E6EC17525615}"/>
              </a:ext>
            </a:extLst>
          </p:cNvPr>
          <p:cNvSpPr>
            <a:spLocks xmlns:a="http://schemas.openxmlformats.org/drawingml/2006/main" noGrp="1"/>
          </p:cNvSpPr>
          <p:nvPr/>
        </p:nvSpPr>
        <p:spPr>
          <a:xfrm xmlns:a="http://schemas.openxmlformats.org/drawingml/2006/main">
            <a:off x="609600" y="28098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Causal self-attention</a:t>
            </a:r>
          </a:p>
        </p:txBody>
      </p:sp>
      <p:sp>
        <p:nvSpPr>
          <p:cNvPr id="7" name="">
            <a:extLst xmlns:a="http://schemas.openxmlformats.org/drawingml/2006/main">
              <a:ext uri="{FF2B5EF4-FFF2-40B4-BE49-F238E27FC236}">
                <a16:creationId xmlns:a16="http://schemas.microsoft.com/office/drawing/2014/main" id="{071BC001-3BF8-472B-86EC-7A5FDD8B03ED}"/>
              </a:ext>
            </a:extLst>
          </p:cNvPr>
          <p:cNvSpPr>
            <a:spLocks xmlns:a="http://schemas.openxmlformats.org/drawingml/2006/main" noGrp="1"/>
          </p:cNvSpPr>
          <p:nvPr/>
        </p:nvSpPr>
        <p:spPr>
          <a:xfrm xmlns:a="http://schemas.openxmlformats.org/drawingml/2006/main">
            <a:off x="4000500" y="280987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Vị trí đầu ra chỉ dùng tiền tố đã có</a:t>
            </a:r>
          </a:p>
        </p:txBody>
      </p:sp>
      <p:sp>
        <p:nvSpPr>
          <p:cNvPr id="8" name="">
            <a:extLst xmlns:a="http://schemas.openxmlformats.org/drawingml/2006/main">
              <a:ext uri="{FF2B5EF4-FFF2-40B4-BE49-F238E27FC236}">
                <a16:creationId xmlns:a16="http://schemas.microsoft.com/office/drawing/2014/main" id="{3153E85F-2C40-4E2F-88E7-44D6E8D4E7CE}"/>
              </a:ext>
            </a:extLst>
          </p:cNvPr>
          <p:cNvSpPr>
            <a:spLocks xmlns:a="http://schemas.openxmlformats.org/drawingml/2006/main" noGrp="1"/>
          </p:cNvSpPr>
          <p:nvPr/>
        </p:nvSpPr>
        <p:spPr>
          <a:xfrm xmlns:a="http://schemas.openxmlformats.org/drawingml/2006/main">
            <a:off x="609600" y="385762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GQA và vị trí</a:t>
            </a:r>
          </a:p>
        </p:txBody>
      </p:sp>
      <p:sp>
        <p:nvSpPr>
          <p:cNvPr id="9" name="">
            <a:extLst xmlns:a="http://schemas.openxmlformats.org/drawingml/2006/main">
              <a:ext uri="{FF2B5EF4-FFF2-40B4-BE49-F238E27FC236}">
                <a16:creationId xmlns:a16="http://schemas.microsoft.com/office/drawing/2014/main" id="{D3D39DF8-5B23-450A-A43C-36BDF94A8178}"/>
              </a:ext>
            </a:extLst>
          </p:cNvPr>
          <p:cNvSpPr>
            <a:spLocks xmlns:a="http://schemas.openxmlformats.org/drawingml/2006/main" noGrp="1"/>
          </p:cNvSpPr>
          <p:nvPr/>
        </p:nvSpPr>
        <p:spPr>
          <a:xfrm xmlns:a="http://schemas.openxmlformats.org/drawingml/2006/main">
            <a:off x="4000500" y="38576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16 query heads, 8 KV heads, head_dim 128, MRoPE</a:t>
            </a:r>
          </a:p>
        </p:txBody>
      </p:sp>
      <p:sp>
        <p:nvSpPr>
          <p:cNvPr id="10" name="">
            <a:extLst xmlns:a="http://schemas.openxmlformats.org/drawingml/2006/main">
              <a:ext uri="{FF2B5EF4-FFF2-40B4-BE49-F238E27FC236}">
                <a16:creationId xmlns:a16="http://schemas.microsoft.com/office/drawing/2014/main" id="{BA6C4AF7-41E8-4A66-81A4-09A138D4CD26}"/>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Không suy head_dim = 1.024 ÷ 16: checkpoint đặt head_dim riêng</a:t>
            </a:r>
          </a:p>
        </p:txBody>
      </p:sp>
    </p:spTree>
    <p:extLst>
      <p:ext uri="{BB962C8B-B14F-4D97-AF65-F5344CB8AC3E}">
        <p14:creationId xmlns:p14="http://schemas.microsoft.com/office/powerpoint/2010/main" val="2039711101"/>
      </p:ext>
    </p:extLst>
  </p:cSld>
</p:sld>
</file>

<file path=ppt/slides/slide1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13C29E-DBA0-449A-A093-9E1BCD2D8443}"/>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Một lớp decoder biến đổi vector ra sao</a:t>
            </a:r>
          </a:p>
        </p:txBody>
      </p:sp>
      <p:sp>
        <p:nvSpPr>
          <p:cNvPr id="2" name="">
            <a:extLst xmlns:a="http://schemas.openxmlformats.org/drawingml/2006/main">
              <a:ext uri="{FF2B5EF4-FFF2-40B4-BE49-F238E27FC236}">
                <a16:creationId xmlns:a16="http://schemas.microsoft.com/office/drawing/2014/main" id="{FC916DC7-3071-46BB-93D6-742460DF759A}"/>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C70C633A-ED1B-4933-8878-F3AFC23492FD}"/>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17</a:t>
            </a:r>
          </a:p>
        </p:txBody>
      </p:sp>
      <p:sp>
        <p:nvSpPr>
          <p:cNvPr id="4" name="">
            <a:extLst xmlns:a="http://schemas.openxmlformats.org/drawingml/2006/main">
              <a:ext uri="{FF2B5EF4-FFF2-40B4-BE49-F238E27FC236}">
                <a16:creationId xmlns:a16="http://schemas.microsoft.com/office/drawing/2014/main" id="{3C234E8A-CB11-4FB0-9651-C048585C13CE}"/>
              </a:ext>
            </a:extLst>
          </p:cNvPr>
          <p:cNvSpPr>
            <a:spLocks xmlns:a="http://schemas.openxmlformats.org/drawingml/2006/main" noGrp="1"/>
          </p:cNvSpPr>
          <p:nvPr/>
        </p:nvSpPr>
        <p:spPr>
          <a:xfrm xmlns:a="http://schemas.openxmlformats.org/drawingml/2006/main">
            <a:off x="666750"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RMSNorm</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chuẩn hóa</a:t>
            </a:r>
          </a:p>
        </p:txBody>
      </p:sp>
      <p:sp>
        <p:nvSpPr>
          <p:cNvPr id="5" name="">
            <a:extLst xmlns:a="http://schemas.openxmlformats.org/drawingml/2006/main">
              <a:ext uri="{FF2B5EF4-FFF2-40B4-BE49-F238E27FC236}">
                <a16:creationId xmlns:a16="http://schemas.microsoft.com/office/drawing/2014/main" id="{8FF8E559-0936-4DEB-9E9C-808EC4340631}"/>
              </a:ext>
            </a:extLst>
          </p:cNvPr>
          <p:cNvSpPr>
            <a:spLocks xmlns:a="http://schemas.openxmlformats.org/drawingml/2006/main" noGrp="1"/>
          </p:cNvSpPr>
          <p:nvPr/>
        </p:nvSpPr>
        <p:spPr>
          <a:xfrm xmlns:a="http://schemas.openxmlformats.org/drawingml/2006/main" rot="0">
            <a:off x="3043238" y="2828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748AB0-3FF1-42FE-9287-35CCDA9A506E}"/>
              </a:ext>
            </a:extLst>
          </p:cNvPr>
          <p:cNvSpPr>
            <a:spLocks xmlns:a="http://schemas.openxmlformats.org/drawingml/2006/main" noGrp="1"/>
          </p:cNvSpPr>
          <p:nvPr/>
        </p:nvSpPr>
        <p:spPr>
          <a:xfrm xmlns:a="http://schemas.openxmlformats.org/drawingml/2006/main">
            <a:off x="3452813"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Causal attention</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 residual</a:t>
            </a:r>
          </a:p>
        </p:txBody>
      </p:sp>
      <p:sp>
        <p:nvSpPr>
          <p:cNvPr id="7" name="">
            <a:extLst xmlns:a="http://schemas.openxmlformats.org/drawingml/2006/main">
              <a:ext uri="{FF2B5EF4-FFF2-40B4-BE49-F238E27FC236}">
                <a16:creationId xmlns:a16="http://schemas.microsoft.com/office/drawing/2014/main" id="{0BC2F01B-29E3-4676-B698-BEA6F23DFC45}"/>
              </a:ext>
            </a:extLst>
          </p:cNvPr>
          <p:cNvSpPr>
            <a:spLocks xmlns:a="http://schemas.openxmlformats.org/drawingml/2006/main" noGrp="1"/>
          </p:cNvSpPr>
          <p:nvPr/>
        </p:nvSpPr>
        <p:spPr>
          <a:xfrm xmlns:a="http://schemas.openxmlformats.org/drawingml/2006/main" rot="0">
            <a:off x="5829300" y="2828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1633D5C-D03F-4F95-8EBC-22B3C7705F9B}"/>
              </a:ext>
            </a:extLst>
          </p:cNvPr>
          <p:cNvSpPr>
            <a:spLocks xmlns:a="http://schemas.openxmlformats.org/drawingml/2006/main" noGrp="1"/>
          </p:cNvSpPr>
          <p:nvPr/>
        </p:nvSpPr>
        <p:spPr>
          <a:xfrm xmlns:a="http://schemas.openxmlformats.org/drawingml/2006/main">
            <a:off x="6238875"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RMSNorm</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chuẩn hóa</a:t>
            </a:r>
          </a:p>
        </p:txBody>
      </p:sp>
      <p:sp>
        <p:nvSpPr>
          <p:cNvPr id="9" name="">
            <a:extLst xmlns:a="http://schemas.openxmlformats.org/drawingml/2006/main">
              <a:ext uri="{FF2B5EF4-FFF2-40B4-BE49-F238E27FC236}">
                <a16:creationId xmlns:a16="http://schemas.microsoft.com/office/drawing/2014/main" id="{F03078B3-17EB-499C-A44D-A59E91581CB9}"/>
              </a:ext>
            </a:extLst>
          </p:cNvPr>
          <p:cNvSpPr>
            <a:spLocks xmlns:a="http://schemas.openxmlformats.org/drawingml/2006/main" noGrp="1"/>
          </p:cNvSpPr>
          <p:nvPr/>
        </p:nvSpPr>
        <p:spPr>
          <a:xfrm xmlns:a="http://schemas.openxmlformats.org/drawingml/2006/main" rot="0">
            <a:off x="8615363" y="2828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DDFD71-BF89-43FD-A9CF-358E8BED157E}"/>
              </a:ext>
            </a:extLst>
          </p:cNvPr>
          <p:cNvSpPr>
            <a:spLocks xmlns:a="http://schemas.openxmlformats.org/drawingml/2006/main" noGrp="1"/>
          </p:cNvSpPr>
          <p:nvPr/>
        </p:nvSpPr>
        <p:spPr>
          <a:xfrm xmlns:a="http://schemas.openxmlformats.org/drawingml/2006/main">
            <a:off x="9024938"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SwiGLU MLP</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 residual</a:t>
            </a:r>
          </a:p>
        </p:txBody>
      </p:sp>
      <p:sp>
        <p:nvSpPr>
          <p:cNvPr id="11" name="">
            <a:extLst xmlns:a="http://schemas.openxmlformats.org/drawingml/2006/main">
              <a:ext uri="{FF2B5EF4-FFF2-40B4-BE49-F238E27FC236}">
                <a16:creationId xmlns:a16="http://schemas.microsoft.com/office/drawing/2014/main" id="{FEAA7931-8FC8-4DE4-A181-2FD831EE32E0}"/>
              </a:ext>
            </a:extLst>
          </p:cNvPr>
          <p:cNvSpPr>
            <a:spLocks xmlns:a="http://schemas.openxmlformats.org/drawingml/2006/main" noGrp="1"/>
          </p:cNvSpPr>
          <p:nvPr/>
        </p:nvSpPr>
        <p:spPr>
          <a:xfrm xmlns:a="http://schemas.openxmlformats.org/drawingml/2006/main">
            <a:off x="666750" y="4095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6"/>
                </a:solidFill>
                <a:latin typeface="DejaVu Sans"/>
                <a:ea typeface="DejaVu Sans"/>
                <a:cs typeface="DejaVu Sans"/>
              </a:defRPr>
            </a:pPr>
            <a:r>
              <a:rPr sz="2325" b="1">
                <a:solidFill>
                  <a:srgbClr val="087F86"/>
                </a:solidFill>
                <a:latin typeface="DejaVu Sans"/>
                <a:ea typeface="DejaVu Sans"/>
                <a:cs typeface="DejaVu Sans"/>
              </a:rPr>
              <a:t>SwiGLU: nhánh SiLU điều khiển nhánh nội dung</a:t>
            </a:r>
          </a:p>
        </p:txBody>
      </p:sp>
      <p:sp>
        <p:nvSpPr>
          <p:cNvPr id="12" name="">
            <a:extLst xmlns:a="http://schemas.openxmlformats.org/drawingml/2006/main">
              <a:ext uri="{FF2B5EF4-FFF2-40B4-BE49-F238E27FC236}">
                <a16:creationId xmlns:a16="http://schemas.microsoft.com/office/drawing/2014/main" id="{EF03F6DC-17F7-485A-8851-52C8D8618BD1}"/>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Tại các vị trí: chiều 1.024 giữ nguyên sau mỗi lớp</a:t>
            </a:r>
          </a:p>
        </p:txBody>
      </p:sp>
    </p:spTree>
    <p:extLst>
      <p:ext uri="{BB962C8B-B14F-4D97-AF65-F5344CB8AC3E}">
        <p14:creationId xmlns:p14="http://schemas.microsoft.com/office/powerpoint/2010/main" val="1892259462"/>
      </p:ext>
    </p:extLst>
  </p:cSld>
</p:sld>
</file>

<file path=ppt/slides/slide1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58BB33-E948-47B8-A170-3F5F067E7174}"/>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LM head và vòng lặp giải mã</a:t>
            </a:r>
          </a:p>
        </p:txBody>
      </p:sp>
      <p:sp>
        <p:nvSpPr>
          <p:cNvPr id="2" name="">
            <a:extLst xmlns:a="http://schemas.openxmlformats.org/drawingml/2006/main">
              <a:ext uri="{FF2B5EF4-FFF2-40B4-BE49-F238E27FC236}">
                <a16:creationId xmlns:a16="http://schemas.microsoft.com/office/drawing/2014/main" id="{2722C9DE-F8A3-4029-A46F-E40942539BE6}"/>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48BF20D-02E9-40D9-B5CE-6F7F65CAD12A}"/>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18</a:t>
            </a:r>
          </a:p>
        </p:txBody>
      </p:sp>
      <p:sp>
        <p:nvSpPr>
          <p:cNvPr id="4" name="">
            <a:extLst xmlns:a="http://schemas.openxmlformats.org/drawingml/2006/main">
              <a:ext uri="{FF2B5EF4-FFF2-40B4-BE49-F238E27FC236}">
                <a16:creationId xmlns:a16="http://schemas.microsoft.com/office/drawing/2014/main" id="{B17DAE5D-A328-466F-9CDD-8C2DF6F59F55}"/>
              </a:ext>
            </a:extLst>
          </p:cNvPr>
          <p:cNvSpPr>
            <a:spLocks xmlns:a="http://schemas.openxmlformats.org/drawingml/2006/main" noGrp="1"/>
          </p:cNvSpPr>
          <p:nvPr/>
        </p:nvSpPr>
        <p:spPr>
          <a:xfrm xmlns:a="http://schemas.openxmlformats.org/drawingml/2006/main">
            <a:off x="666750"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Hidden state</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 1.024]</a:t>
            </a:r>
          </a:p>
        </p:txBody>
      </p:sp>
      <p:sp>
        <p:nvSpPr>
          <p:cNvPr id="5" name="">
            <a:extLst xmlns:a="http://schemas.openxmlformats.org/drawingml/2006/main">
              <a:ext uri="{FF2B5EF4-FFF2-40B4-BE49-F238E27FC236}">
                <a16:creationId xmlns:a16="http://schemas.microsoft.com/office/drawing/2014/main" id="{94998D0C-6AAC-43F0-9F27-AA9238146434}"/>
              </a:ext>
            </a:extLst>
          </p:cNvPr>
          <p:cNvSpPr>
            <a:spLocks xmlns:a="http://schemas.openxmlformats.org/drawingml/2006/main" noGrp="1"/>
          </p:cNvSpPr>
          <p:nvPr/>
        </p:nvSpPr>
        <p:spPr>
          <a:xfrm xmlns:a="http://schemas.openxmlformats.org/drawingml/2006/main" rot="0">
            <a:off x="3043238" y="2686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FCA12E-0E6D-4E4B-A68D-23ED4C648C81}"/>
              </a:ext>
            </a:extLst>
          </p:cNvPr>
          <p:cNvSpPr>
            <a:spLocks xmlns:a="http://schemas.openxmlformats.org/drawingml/2006/main" noGrp="1"/>
          </p:cNvSpPr>
          <p:nvPr/>
        </p:nvSpPr>
        <p:spPr>
          <a:xfrm xmlns:a="http://schemas.openxmlformats.org/drawingml/2006/main">
            <a:off x="3452813"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LM head</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151.936 logits</a:t>
            </a:r>
          </a:p>
        </p:txBody>
      </p:sp>
      <p:sp>
        <p:nvSpPr>
          <p:cNvPr id="7" name="">
            <a:extLst xmlns:a="http://schemas.openxmlformats.org/drawingml/2006/main">
              <a:ext uri="{FF2B5EF4-FFF2-40B4-BE49-F238E27FC236}">
                <a16:creationId xmlns:a16="http://schemas.microsoft.com/office/drawing/2014/main" id="{576BB3D0-2D4E-40E4-849E-DEA0A4D30ED0}"/>
              </a:ext>
            </a:extLst>
          </p:cNvPr>
          <p:cNvSpPr>
            <a:spLocks xmlns:a="http://schemas.openxmlformats.org/drawingml/2006/main" noGrp="1"/>
          </p:cNvSpPr>
          <p:nvPr/>
        </p:nvSpPr>
        <p:spPr>
          <a:xfrm xmlns:a="http://schemas.openxmlformats.org/drawingml/2006/main" rot="0">
            <a:off x="5829300" y="2686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ECF75B-EF8F-4614-8538-01F8BAE18CA0}"/>
              </a:ext>
            </a:extLst>
          </p:cNvPr>
          <p:cNvSpPr>
            <a:spLocks xmlns:a="http://schemas.openxmlformats.org/drawingml/2006/main" noGrp="1"/>
          </p:cNvSpPr>
          <p:nvPr/>
        </p:nvSpPr>
        <p:spPr>
          <a:xfrm xmlns:a="http://schemas.openxmlformats.org/drawingml/2006/main">
            <a:off x="6238875"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Chọn ID</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token kế tiếp</a:t>
            </a:r>
          </a:p>
        </p:txBody>
      </p:sp>
      <p:sp>
        <p:nvSpPr>
          <p:cNvPr id="9" name="">
            <a:extLst xmlns:a="http://schemas.openxmlformats.org/drawingml/2006/main">
              <a:ext uri="{FF2B5EF4-FFF2-40B4-BE49-F238E27FC236}">
                <a16:creationId xmlns:a16="http://schemas.microsoft.com/office/drawing/2014/main" id="{DB5CCA99-91A3-48B0-992F-854865D9194A}"/>
              </a:ext>
            </a:extLst>
          </p:cNvPr>
          <p:cNvSpPr>
            <a:spLocks xmlns:a="http://schemas.openxmlformats.org/drawingml/2006/main" noGrp="1"/>
          </p:cNvSpPr>
          <p:nvPr/>
        </p:nvSpPr>
        <p:spPr>
          <a:xfrm xmlns:a="http://schemas.openxmlformats.org/drawingml/2006/main" rot="0">
            <a:off x="8615363" y="2686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A72262-EFAE-4495-97B5-9964F46CAF55}"/>
              </a:ext>
            </a:extLst>
          </p:cNvPr>
          <p:cNvSpPr>
            <a:spLocks xmlns:a="http://schemas.openxmlformats.org/drawingml/2006/main" noGrp="1"/>
          </p:cNvSpPr>
          <p:nvPr/>
        </p:nvSpPr>
        <p:spPr>
          <a:xfrm xmlns:a="http://schemas.openxmlformats.org/drawingml/2006/main">
            <a:off x="9024938" y="2095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Ghép token</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vào tiền tố</a:t>
            </a:r>
          </a:p>
        </p:txBody>
      </p:sp>
      <p:sp>
        <p:nvSpPr>
          <p:cNvPr id="11" name="">
            <a:extLst xmlns:a="http://schemas.openxmlformats.org/drawingml/2006/main">
              <a:ext uri="{FF2B5EF4-FFF2-40B4-BE49-F238E27FC236}">
                <a16:creationId xmlns:a16="http://schemas.microsoft.com/office/drawing/2014/main" id="{206D27C7-8937-491A-8FAC-1F6A72671123}"/>
              </a:ext>
            </a:extLst>
          </p:cNvPr>
          <p:cNvSpPr>
            <a:spLocks xmlns:a="http://schemas.openxmlformats.org/drawingml/2006/main" noGrp="1"/>
          </p:cNvSpPr>
          <p:nvPr/>
        </p:nvSpPr>
        <p:spPr>
          <a:xfrm xmlns:a="http://schemas.openxmlformats.org/drawingml/2006/main">
            <a:off x="666750" y="4000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6"/>
                </a:solidFill>
                <a:latin typeface="DejaVu Sans"/>
                <a:ea typeface="DejaVu Sans"/>
                <a:cs typeface="DejaVu Sans"/>
              </a:defRPr>
            </a:pPr>
            <a:r>
              <a:rPr sz="2250" b="1">
                <a:solidFill>
                  <a:srgbClr val="087F86"/>
                </a:solidFill>
                <a:latin typeface="DejaVu Sans"/>
                <a:ea typeface="DejaVu Sans"/>
                <a:cs typeface="DejaVu Sans"/>
              </a:rPr>
              <a:t>Logits là điểm chưa chuẩn hóa. Softmax cho phân bố xác suất</a:t>
            </a:r>
          </a:p>
        </p:txBody>
      </p:sp>
      <p:sp>
        <p:nvSpPr>
          <p:cNvPr id="12" name="">
            <a:extLst xmlns:a="http://schemas.openxmlformats.org/drawingml/2006/main">
              <a:ext uri="{FF2B5EF4-FFF2-40B4-BE49-F238E27FC236}">
                <a16:creationId xmlns:a16="http://schemas.microsoft.com/office/drawing/2014/main" id="{6F07C0FC-1A49-4675-9CF2-22BB62230519}"/>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Lặp đến token kết thúc hoặc giới hạn số token mới</a:t>
            </a:r>
          </a:p>
        </p:txBody>
      </p:sp>
    </p:spTree>
    <p:extLst>
      <p:ext uri="{BB962C8B-B14F-4D97-AF65-F5344CB8AC3E}">
        <p14:creationId xmlns:p14="http://schemas.microsoft.com/office/powerpoint/2010/main" val="647676767"/>
      </p:ext>
    </p:extLst>
  </p:cSld>
</p:sld>
</file>

<file path=ppt/slides/slide1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1E2FE98-E20A-4D8F-B1D2-6CF724B088E9}"/>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Câu mẫu đi đến transcript cuối cùng</a:t>
            </a:r>
          </a:p>
        </p:txBody>
      </p:sp>
      <p:sp>
        <p:nvSpPr>
          <p:cNvPr id="2" name="">
            <a:extLst xmlns:a="http://schemas.openxmlformats.org/drawingml/2006/main">
              <a:ext uri="{FF2B5EF4-FFF2-40B4-BE49-F238E27FC236}">
                <a16:creationId xmlns:a16="http://schemas.microsoft.com/office/drawing/2014/main" id="{6AE086BF-E653-425C-91BA-DC4252A7E60A}"/>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64494AA5-A5E2-434F-B2C6-5FC2836CA9A6}"/>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19</a:t>
            </a:r>
          </a:p>
        </p:txBody>
      </p:sp>
      <p:sp>
        <p:nvSpPr>
          <p:cNvPr id="4" name="">
            <a:extLst xmlns:a="http://schemas.openxmlformats.org/drawingml/2006/main">
              <a:ext uri="{FF2B5EF4-FFF2-40B4-BE49-F238E27FC236}">
                <a16:creationId xmlns:a16="http://schemas.microsoft.com/office/drawing/2014/main" id="{6793B5DA-D0AB-457D-8C86-D5F2E3CA6479}"/>
              </a:ext>
            </a:extLst>
          </p:cNvPr>
          <p:cNvSpPr>
            <a:spLocks xmlns:a="http://schemas.openxmlformats.org/drawingml/2006/main" noGrp="1"/>
          </p:cNvSpPr>
          <p:nvPr/>
        </p:nvSpPr>
        <p:spPr>
          <a:xfrm xmlns:a="http://schemas.openxmlformats.org/drawingml/2006/main">
            <a:off x="666750" y="16192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87F86"/>
                </a:solidFill>
                <a:latin typeface="DejaVu Sans"/>
                <a:ea typeface="DejaVu Sans"/>
                <a:cs typeface="DejaVu Sans"/>
              </a:defRPr>
            </a:pPr>
            <a:r>
              <a:rPr sz="3450" b="1">
                <a:solidFill>
                  <a:srgbClr val="087F86"/>
                </a:solidFill>
                <a:latin typeface="DejaVu Sans"/>
                <a:ea typeface="DejaVu Sans"/>
                <a:cs typeface="DejaVu Sans"/>
              </a:rPr>
              <a:t>“tôi muốn kiểm tra hợp đồng”</a:t>
            </a:r>
          </a:p>
        </p:txBody>
      </p:sp>
      <p:sp>
        <p:nvSpPr>
          <p:cNvPr id="5" name="">
            <a:extLst xmlns:a="http://schemas.openxmlformats.org/drawingml/2006/main">
              <a:ext uri="{FF2B5EF4-FFF2-40B4-BE49-F238E27FC236}">
                <a16:creationId xmlns:a16="http://schemas.microsoft.com/office/drawing/2014/main" id="{EA87934E-1C78-49E4-9470-D4BB993A7809}"/>
              </a:ext>
            </a:extLst>
          </p:cNvPr>
          <p:cNvSpPr>
            <a:spLocks xmlns:a="http://schemas.openxmlformats.org/drawingml/2006/main" noGrp="1"/>
          </p:cNvSpPr>
          <p:nvPr/>
        </p:nvSpPr>
        <p:spPr>
          <a:xfrm xmlns:a="http://schemas.openxmlformats.org/drawingml/2006/main">
            <a:off x="666750" y="2857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Audio</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48.000 mẫu</a:t>
            </a:r>
          </a:p>
        </p:txBody>
      </p:sp>
      <p:sp>
        <p:nvSpPr>
          <p:cNvPr id="6" name="">
            <a:extLst xmlns:a="http://schemas.openxmlformats.org/drawingml/2006/main">
              <a:ext uri="{FF2B5EF4-FFF2-40B4-BE49-F238E27FC236}">
                <a16:creationId xmlns:a16="http://schemas.microsoft.com/office/drawing/2014/main" id="{BB494F2A-5DEF-4484-A4E3-1B28AFBC5FA2}"/>
              </a:ext>
            </a:extLst>
          </p:cNvPr>
          <p:cNvSpPr>
            <a:spLocks xmlns:a="http://schemas.openxmlformats.org/drawingml/2006/main" noGrp="1"/>
          </p:cNvSpPr>
          <p:nvPr/>
        </p:nvSpPr>
        <p:spPr>
          <a:xfrm xmlns:a="http://schemas.openxmlformats.org/drawingml/2006/main" rot="0">
            <a:off x="3043238" y="3448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0220E5-E2C9-4B6D-9A18-23284785452C}"/>
              </a:ext>
            </a:extLst>
          </p:cNvPr>
          <p:cNvSpPr>
            <a:spLocks xmlns:a="http://schemas.openxmlformats.org/drawingml/2006/main" noGrp="1"/>
          </p:cNvSpPr>
          <p:nvPr/>
        </p:nvSpPr>
        <p:spPr>
          <a:xfrm xmlns:a="http://schemas.openxmlformats.org/drawingml/2006/main">
            <a:off x="3452813" y="2857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Đặc trưng</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300 frame</a:t>
            </a:r>
          </a:p>
        </p:txBody>
      </p:sp>
      <p:sp>
        <p:nvSpPr>
          <p:cNvPr id="8" name="">
            <a:extLst xmlns:a="http://schemas.openxmlformats.org/drawingml/2006/main">
              <a:ext uri="{FF2B5EF4-FFF2-40B4-BE49-F238E27FC236}">
                <a16:creationId xmlns:a16="http://schemas.microsoft.com/office/drawing/2014/main" id="{4690E8D4-9097-4138-9416-2165A0E3E37C}"/>
              </a:ext>
            </a:extLst>
          </p:cNvPr>
          <p:cNvSpPr>
            <a:spLocks xmlns:a="http://schemas.openxmlformats.org/drawingml/2006/main" noGrp="1"/>
          </p:cNvSpPr>
          <p:nvPr/>
        </p:nvSpPr>
        <p:spPr>
          <a:xfrm xmlns:a="http://schemas.openxmlformats.org/drawingml/2006/main" rot="0">
            <a:off x="5829300" y="3448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707347-BA63-46B7-81DB-59C6E3E1411D}"/>
              </a:ext>
            </a:extLst>
          </p:cNvPr>
          <p:cNvSpPr>
            <a:spLocks xmlns:a="http://schemas.openxmlformats.org/drawingml/2006/main" noGrp="1"/>
          </p:cNvSpPr>
          <p:nvPr/>
        </p:nvSpPr>
        <p:spPr>
          <a:xfrm xmlns:a="http://schemas.openxmlformats.org/drawingml/2006/main">
            <a:off x="6238875" y="2857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Audio embeddings</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39 × 1.024</a:t>
            </a:r>
          </a:p>
        </p:txBody>
      </p:sp>
      <p:sp>
        <p:nvSpPr>
          <p:cNvPr id="10" name="">
            <a:extLst xmlns:a="http://schemas.openxmlformats.org/drawingml/2006/main">
              <a:ext uri="{FF2B5EF4-FFF2-40B4-BE49-F238E27FC236}">
                <a16:creationId xmlns:a16="http://schemas.microsoft.com/office/drawing/2014/main" id="{42E21520-1A3E-4484-97B0-AFCE07994933}"/>
              </a:ext>
            </a:extLst>
          </p:cNvPr>
          <p:cNvSpPr>
            <a:spLocks xmlns:a="http://schemas.openxmlformats.org/drawingml/2006/main" noGrp="1"/>
          </p:cNvSpPr>
          <p:nvPr/>
        </p:nvSpPr>
        <p:spPr>
          <a:xfrm xmlns:a="http://schemas.openxmlformats.org/drawingml/2006/main" rot="0">
            <a:off x="8615363" y="3448050"/>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6816D7-482D-4CFB-936A-0C65189CA355}"/>
              </a:ext>
            </a:extLst>
          </p:cNvPr>
          <p:cNvSpPr>
            <a:spLocks xmlns:a="http://schemas.openxmlformats.org/drawingml/2006/main" noGrp="1"/>
          </p:cNvSpPr>
          <p:nvPr/>
        </p:nvSpPr>
        <p:spPr>
          <a:xfrm xmlns:a="http://schemas.openxmlformats.org/drawingml/2006/main">
            <a:off x="9024938" y="2857500"/>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Decoder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token kế tiếp</a:t>
            </a:r>
          </a:p>
        </p:txBody>
      </p:sp>
      <p:sp>
        <p:nvSpPr>
          <p:cNvPr id="12" name="">
            <a:extLst xmlns:a="http://schemas.openxmlformats.org/drawingml/2006/main">
              <a:ext uri="{FF2B5EF4-FFF2-40B4-BE49-F238E27FC236}">
                <a16:creationId xmlns:a16="http://schemas.microsoft.com/office/drawing/2014/main" id="{F016C928-30F0-40CC-BA77-38E3B48F4EA0}"/>
              </a:ext>
            </a:extLst>
          </p:cNvPr>
          <p:cNvSpPr>
            <a:spLocks xmlns:a="http://schemas.openxmlformats.org/drawingml/2006/main" noGrp="1"/>
          </p:cNvSpPr>
          <p:nvPr/>
        </p:nvSpPr>
        <p:spPr>
          <a:xfrm xmlns:a="http://schemas.openxmlformats.org/drawingml/2006/main">
            <a:off x="666750" y="4667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75A25"/>
                </a:solidFill>
                <a:latin typeface="DejaVu Sans"/>
                <a:ea typeface="DejaVu Sans"/>
                <a:cs typeface="DejaVu Sans"/>
              </a:defRPr>
            </a:pPr>
            <a:r>
              <a:rPr sz="2175" b="1">
                <a:solidFill>
                  <a:srgbClr val="C75A25"/>
                </a:solidFill>
                <a:latin typeface="DejaVu Sans"/>
                <a:ea typeface="DejaVu Sans"/>
                <a:cs typeface="DejaVu Sans"/>
              </a:rPr>
              <a:t>Minh họa hiển thị: “tôi” … “tôi muốn” … câu hoàn chỉnh</a:t>
            </a:r>
          </a:p>
        </p:txBody>
      </p:sp>
      <p:sp>
        <p:nvSpPr>
          <p:cNvPr id="13" name="">
            <a:extLst xmlns:a="http://schemas.openxmlformats.org/drawingml/2006/main">
              <a:ext uri="{FF2B5EF4-FFF2-40B4-BE49-F238E27FC236}">
                <a16:creationId xmlns:a16="http://schemas.microsoft.com/office/drawing/2014/main" id="{A7457316-51D4-4689-A0B6-DD594B58D71F}"/>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Các mốc hiển thị là giả định, không phải ranh giới token thật</a:t>
            </a:r>
          </a:p>
        </p:txBody>
      </p:sp>
    </p:spTree>
    <p:extLst>
      <p:ext uri="{BB962C8B-B14F-4D97-AF65-F5344CB8AC3E}">
        <p14:creationId xmlns:p14="http://schemas.microsoft.com/office/powerpoint/2010/main" val="197411771"/>
      </p:ext>
    </p:extLst>
  </p:cSld>
</p:sld>
</file>

<file path=ppt/slides/slide2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E7593A-8C2B-4E72-B9FF-A07AF9C07804}"/>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Pretraining, fine-tuning và inference</a:t>
            </a:r>
          </a:p>
        </p:txBody>
      </p:sp>
      <p:sp>
        <p:nvSpPr>
          <p:cNvPr id="2" name="">
            <a:extLst xmlns:a="http://schemas.openxmlformats.org/drawingml/2006/main">
              <a:ext uri="{FF2B5EF4-FFF2-40B4-BE49-F238E27FC236}">
                <a16:creationId xmlns:a16="http://schemas.microsoft.com/office/drawing/2014/main" id="{329A2855-DD39-473A-B32B-41C122CB3E11}"/>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41ED011-E45E-48DC-A234-B94E8F1F143B}"/>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20</a:t>
            </a:r>
          </a:p>
        </p:txBody>
      </p:sp>
      <p:graphicFrame>
        <p:nvGraphicFramePr>
          <p:cNvPr id="9" name=""/>
          <p:cNvGraphicFramePr/>
          <p:nvPr/>
        </p:nvGraphicFramePr>
        <p:xfrm>
          <a:off xmlns:a="http://schemas.openxmlformats.org/drawingml/2006/main" x="609600" y="1619250"/>
          <a:ext xmlns:a="http://schemas.openxmlformats.org/drawingml/2006/main" cx="10972800" cy="3476625"/>
        </p:xfrm>
        <a:graphic xmlns:a="http://schemas.openxmlformats.org/drawingml/2006/main">
          <a:graphicData uri="http://schemas.openxmlformats.org/drawingml/2006/table">
            <a:tbl>
              <a:tblPr/>
              <a:tblGrid>
                <a:gridCol w="3143250"/>
                <a:gridCol w="5524500"/>
                <a:gridCol w="2305050"/>
              </a:tblGrid>
              <a:tr h="695325">
                <a:tc>
                  <a:txBody>
                    <a:bodyPr/>
                    <a:lstStyle/>
                    <a:p>
                      <a:r>
                        <a:rPr sz="1800" b="1">
                          <a:solidFill>
                            <a:srgbClr val="FFFFFF"/>
                          </a:solidFill>
                          <a:latin typeface="DejaVu Sans"/>
                          <a:ea typeface="DejaVu Sans"/>
                          <a:cs typeface="DejaVu Sans"/>
                        </a:rPr>
                        <a:t>Giai đoạn</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Mục tiêu</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Trọng số</a:t>
                      </a:r>
                    </a:p>
                  </a:txBody>
                  <a:tcPr marL="91440" marR="91440" marT="45720" marB="45720">
                    <a:solidFill>
                      <a:srgbClr val="102C3A"/>
                    </a:solidFill>
                  </a:tcPr>
                </a:tc>
              </a:tr>
              <a:tr h="695325">
                <a:tc>
                  <a:txBody>
                    <a:bodyPr/>
                    <a:lstStyle/>
                    <a:p>
                      <a:r>
                        <a:rPr sz="1800" b="0">
                          <a:solidFill>
                            <a:srgbClr val="102C3A"/>
                          </a:solidFill>
                          <a:latin typeface="DejaVu Sans"/>
                          <a:ea typeface="DejaVu Sans"/>
                          <a:cs typeface="DejaVu Sans"/>
                        </a:rPr>
                        <a:t>AuT pretraining</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Học biểu diễn audio trong khung AED</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Cập nhật</a:t>
                      </a:r>
                    </a:p>
                  </a:txBody>
                  <a:tcPr marL="91440" marR="91440" marT="45720" marB="45720">
                    <a:solidFill>
                      <a:srgbClr val="FFFFFF"/>
                    </a:solidFill>
                  </a:tcPr>
                </a:tc>
              </a:tr>
              <a:tr h="695325">
                <a:tc>
                  <a:txBody>
                    <a:bodyPr/>
                    <a:lstStyle/>
                    <a:p>
                      <a:r>
                        <a:rPr sz="1800" b="0">
                          <a:solidFill>
                            <a:srgbClr val="102C3A"/>
                          </a:solidFill>
                          <a:latin typeface="DejaVu Sans"/>
                          <a:ea typeface="DejaVu Sans"/>
                          <a:cs typeface="DejaVu Sans"/>
                        </a:rPr>
                        <a:t>Omni pretraining</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Học nền đa phương thức</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Cập nhật</a:t>
                      </a:r>
                    </a:p>
                  </a:txBody>
                  <a:tcPr marL="91440" marR="91440" marT="45720" marB="45720">
                    <a:solidFill>
                      <a:srgbClr val="DEECEB"/>
                    </a:solidFill>
                  </a:tcPr>
                </a:tc>
              </a:tr>
              <a:tr h="695325">
                <a:tc>
                  <a:txBody>
                    <a:bodyPr/>
                    <a:lstStyle/>
                    <a:p>
                      <a:r>
                        <a:rPr sz="1800" b="0">
                          <a:solidFill>
                            <a:srgbClr val="102C3A"/>
                          </a:solidFill>
                          <a:latin typeface="DejaVu Sans"/>
                          <a:ea typeface="DejaVu Sans"/>
                          <a:cs typeface="DejaVu Sans"/>
                        </a:rPr>
                        <a:t>ASR post-training</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SFT chuyên ASR, rồi RL với GSPO</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Cập nhật</a:t>
                      </a:r>
                    </a:p>
                  </a:txBody>
                  <a:tcPr marL="91440" marR="91440" marT="45720" marB="45720">
                    <a:solidFill>
                      <a:srgbClr val="FFFFFF"/>
                    </a:solidFill>
                  </a:tcPr>
                </a:tc>
              </a:tr>
              <a:tr h="695325">
                <a:tc>
                  <a:txBody>
                    <a:bodyPr/>
                    <a:lstStyle/>
                    <a:p>
                      <a:r>
                        <a:rPr sz="1800" b="0">
                          <a:solidFill>
                            <a:srgbClr val="102C3A"/>
                          </a:solidFill>
                          <a:latin typeface="DejaVu Sans"/>
                          <a:ea typeface="DejaVu Sans"/>
                          <a:cs typeface="DejaVu Sans"/>
                        </a:rPr>
                        <a:t>Inference</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Audio mới, sinh transcript</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Giữ nguyên</a:t>
                      </a:r>
                    </a:p>
                  </a:txBody>
                  <a:tcPr marL="91440" marR="91440" marT="45720" marB="45720">
                    <a:solidFill>
                      <a:srgbClr val="DEECEB"/>
                    </a:solidFill>
                  </a:tcPr>
                </a:tc>
              </a:tr>
            </a:tbl>
          </a:graphicData>
        </a:graphic>
      </p:graphicFrame>
      <p:sp>
        <p:nvSpPr>
          <p:cNvPr id="5" name="">
            <a:extLst xmlns:a="http://schemas.openxmlformats.org/drawingml/2006/main">
              <a:ext uri="{FF2B5EF4-FFF2-40B4-BE49-F238E27FC236}">
                <a16:creationId xmlns:a16="http://schemas.microsoft.com/office/drawing/2014/main" id="{1765DE22-1829-4E18-A2D0-C5CD9F188BC3}"/>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AuT pretraining dùng dữ liệu ASR gán nhãn giả</a:t>
            </a:r>
          </a:p>
        </p:txBody>
      </p:sp>
    </p:spTree>
    <p:extLst>
      <p:ext uri="{BB962C8B-B14F-4D97-AF65-F5344CB8AC3E}">
        <p14:creationId xmlns:p14="http://schemas.microsoft.com/office/powerpoint/2010/main" val="984909103"/>
      </p:ext>
    </p:extLst>
  </p:cSld>
</p:sld>
</file>

<file path=ppt/slides/slide2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DD0671-B20A-446F-89DD-6ACA9A694A69}"/>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Mục tiêu SFT và thành phần chỉ dùng khi học</a:t>
            </a:r>
          </a:p>
        </p:txBody>
      </p:sp>
      <p:sp>
        <p:nvSpPr>
          <p:cNvPr id="2" name="">
            <a:extLst xmlns:a="http://schemas.openxmlformats.org/drawingml/2006/main">
              <a:ext uri="{FF2B5EF4-FFF2-40B4-BE49-F238E27FC236}">
                <a16:creationId xmlns:a16="http://schemas.microsoft.com/office/drawing/2014/main" id="{A2C7E918-1DE2-409D-BBDD-EE816DE58338}"/>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90C584B-53D9-4712-BCB3-D526F5F183FC}"/>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21</a:t>
            </a:r>
          </a:p>
        </p:txBody>
      </p:sp>
      <p:sp>
        <p:nvSpPr>
          <p:cNvPr id="4" name="">
            <a:extLst xmlns:a="http://schemas.openxmlformats.org/drawingml/2006/main">
              <a:ext uri="{FF2B5EF4-FFF2-40B4-BE49-F238E27FC236}">
                <a16:creationId xmlns:a16="http://schemas.microsoft.com/office/drawing/2014/main" id="{71520BC9-5A74-4B6C-9948-7EECBAD033AC}"/>
              </a:ext>
            </a:extLst>
          </p:cNvPr>
          <p:cNvSpPr>
            <a:spLocks xmlns:a="http://schemas.openxmlformats.org/drawingml/2006/main" noGrp="1"/>
          </p:cNvSpPr>
          <p:nvPr/>
        </p:nvSpPr>
        <p:spPr>
          <a:xfrm xmlns:a="http://schemas.openxmlformats.org/drawingml/2006/main">
            <a:off x="666750"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Audio + transcript</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đáp án chuẩn</a:t>
            </a:r>
          </a:p>
        </p:txBody>
      </p:sp>
      <p:sp>
        <p:nvSpPr>
          <p:cNvPr id="5" name="">
            <a:extLst xmlns:a="http://schemas.openxmlformats.org/drawingml/2006/main">
              <a:ext uri="{FF2B5EF4-FFF2-40B4-BE49-F238E27FC236}">
                <a16:creationId xmlns:a16="http://schemas.microsoft.com/office/drawing/2014/main" id="{C33AACEC-E4D4-4032-A548-3CDC150F1567}"/>
              </a:ext>
            </a:extLst>
          </p:cNvPr>
          <p:cNvSpPr>
            <a:spLocks xmlns:a="http://schemas.openxmlformats.org/drawingml/2006/main" noGrp="1"/>
          </p:cNvSpPr>
          <p:nvPr/>
        </p:nvSpPr>
        <p:spPr>
          <a:xfrm xmlns:a="http://schemas.openxmlformats.org/drawingml/2006/main" rot="0">
            <a:off x="3043238" y="2828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2E8C04-C037-4CA8-900E-33872F1F2756}"/>
              </a:ext>
            </a:extLst>
          </p:cNvPr>
          <p:cNvSpPr>
            <a:spLocks xmlns:a="http://schemas.openxmlformats.org/drawingml/2006/main" noGrp="1"/>
          </p:cNvSpPr>
          <p:nvPr/>
        </p:nvSpPr>
        <p:spPr>
          <a:xfrm xmlns:a="http://schemas.openxmlformats.org/drawingml/2006/main">
            <a:off x="3452813"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Dự đoán</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token kế tiếp</a:t>
            </a:r>
          </a:p>
        </p:txBody>
      </p:sp>
      <p:sp>
        <p:nvSpPr>
          <p:cNvPr id="7" name="">
            <a:extLst xmlns:a="http://schemas.openxmlformats.org/drawingml/2006/main">
              <a:ext uri="{FF2B5EF4-FFF2-40B4-BE49-F238E27FC236}">
                <a16:creationId xmlns:a16="http://schemas.microsoft.com/office/drawing/2014/main" id="{59533BA8-1A1E-4426-B81A-DDE9A5558618}"/>
              </a:ext>
            </a:extLst>
          </p:cNvPr>
          <p:cNvSpPr>
            <a:spLocks xmlns:a="http://schemas.openxmlformats.org/drawingml/2006/main" noGrp="1"/>
          </p:cNvSpPr>
          <p:nvPr/>
        </p:nvSpPr>
        <p:spPr>
          <a:xfrm xmlns:a="http://schemas.openxmlformats.org/drawingml/2006/main" rot="0">
            <a:off x="5829300" y="2828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20D08D-07BD-4A8C-A5D0-025413F1F61B}"/>
              </a:ext>
            </a:extLst>
          </p:cNvPr>
          <p:cNvSpPr>
            <a:spLocks xmlns:a="http://schemas.openxmlformats.org/drawingml/2006/main" noGrp="1"/>
          </p:cNvSpPr>
          <p:nvPr/>
        </p:nvSpPr>
        <p:spPr>
          <a:xfrm xmlns:a="http://schemas.openxmlformats.org/drawingml/2006/main">
            <a:off x="6238875"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Cross-entropy</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đo sai lệch</a:t>
            </a:r>
          </a:p>
        </p:txBody>
      </p:sp>
      <p:sp>
        <p:nvSpPr>
          <p:cNvPr id="9" name="">
            <a:extLst xmlns:a="http://schemas.openxmlformats.org/drawingml/2006/main">
              <a:ext uri="{FF2B5EF4-FFF2-40B4-BE49-F238E27FC236}">
                <a16:creationId xmlns:a16="http://schemas.microsoft.com/office/drawing/2014/main" id="{72DB8197-F49C-4D6C-B386-1F0ED69D0884}"/>
              </a:ext>
            </a:extLst>
          </p:cNvPr>
          <p:cNvSpPr>
            <a:spLocks xmlns:a="http://schemas.openxmlformats.org/drawingml/2006/main" noGrp="1"/>
          </p:cNvSpPr>
          <p:nvPr/>
        </p:nvSpPr>
        <p:spPr>
          <a:xfrm xmlns:a="http://schemas.openxmlformats.org/drawingml/2006/main" rot="0">
            <a:off x="8615363" y="2828925"/>
            <a:ext cx="342900" cy="209550"/>
          </a:xfrm>
          <a:prstGeom xmlns:a="http://schemas.openxmlformats.org/drawingml/2006/main" prst="rightArrow">
            <a:avLst/>
          </a:prstGeom>
          <a:solidFill xmlns:a="http://schemas.openxmlformats.org/drawingml/2006/main">
            <a:srgbClr val="087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041562C-7535-4D65-9BE5-2B9A55606F30}"/>
              </a:ext>
            </a:extLst>
          </p:cNvPr>
          <p:cNvSpPr>
            <a:spLocks xmlns:a="http://schemas.openxmlformats.org/drawingml/2006/main" noGrp="1"/>
          </p:cNvSpPr>
          <p:nvPr/>
        </p:nvSpPr>
        <p:spPr>
          <a:xfrm xmlns:a="http://schemas.openxmlformats.org/drawingml/2006/main">
            <a:off x="9024938" y="2238375"/>
            <a:ext cx="2309813" cy="1381125"/>
          </a:xfrm>
          <a:prstGeom xmlns:a="http://schemas.openxmlformats.org/drawingml/2006/main" prst="rect">
            <a:avLst/>
          </a:prstGeom>
          <a:solidFill xmlns:a="http://schemas.openxmlformats.org/drawingml/2006/main">
            <a:srgbClr val="DEECEB"/>
          </a:solidFill>
          <a:ln xmlns:a="http://schemas.openxmlformats.org/drawingml/2006/main" w="9525">
            <a:solidFill>
              <a:srgbClr val="087F86"/>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Gradient + optimizer</a:t>
            </a:r>
          </a:p>
          <a:p xmlns:a="http://schemas.openxmlformats.org/drawingml/2006/main">
            <a:pPr algn="ctr">
              <a:defRPr sz="2025">
                <a:solidFill>
                  <a:srgbClr val="102C3A"/>
                </a:solidFill>
                <a:latin typeface="DejaVu Sans"/>
                <a:ea typeface="DejaVu Sans"/>
                <a:cs typeface="DejaVu Sans"/>
              </a:defRPr>
            </a:pPr>
            <a:r>
              <a:rPr sz="2025">
                <a:solidFill>
                  <a:srgbClr val="102C3A"/>
                </a:solidFill>
                <a:latin typeface="DejaVu Sans"/>
                <a:ea typeface="DejaVu Sans"/>
                <a:cs typeface="DejaVu Sans"/>
              </a:rPr>
              <a:t>cập nhật trọng số</a:t>
            </a:r>
          </a:p>
        </p:txBody>
      </p:sp>
      <p:sp>
        <p:nvSpPr>
          <p:cNvPr id="11" name="">
            <a:extLst xmlns:a="http://schemas.openxmlformats.org/drawingml/2006/main">
              <a:ext uri="{FF2B5EF4-FFF2-40B4-BE49-F238E27FC236}">
                <a16:creationId xmlns:a16="http://schemas.microsoft.com/office/drawing/2014/main" id="{355E87B8-A92C-48A6-90AA-B70D2D7E8431}"/>
              </a:ext>
            </a:extLst>
          </p:cNvPr>
          <p:cNvSpPr>
            <a:spLocks xmlns:a="http://schemas.openxmlformats.org/drawingml/2006/main" noGrp="1"/>
          </p:cNvSpPr>
          <p:nvPr/>
        </p:nvSpPr>
        <p:spPr>
          <a:xfrm xmlns:a="http://schemas.openxmlformats.org/drawingml/2006/main">
            <a:off x="666750" y="40957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6"/>
                </a:solidFill>
                <a:latin typeface="DejaVu Sans"/>
                <a:ea typeface="DejaVu Sans"/>
                <a:cs typeface="DejaVu Sans"/>
              </a:defRPr>
            </a:pPr>
            <a:r>
              <a:rPr sz="2250" b="1">
                <a:solidFill>
                  <a:srgbClr val="087F86"/>
                </a:solidFill>
                <a:latin typeface="DejaVu Sans"/>
                <a:ea typeface="DejaVu Sans"/>
                <a:cs typeface="DejaVu Sans"/>
              </a:rPr>
              <a:t>Teacher forcing: dùng token chuẩn trước đó làm tiền tố khi học</a:t>
            </a:r>
          </a:p>
        </p:txBody>
      </p:sp>
      <p:sp>
        <p:nvSpPr>
          <p:cNvPr id="12" name="">
            <a:extLst xmlns:a="http://schemas.openxmlformats.org/drawingml/2006/main">
              <a:ext uri="{FF2B5EF4-FFF2-40B4-BE49-F238E27FC236}">
                <a16:creationId xmlns:a16="http://schemas.microsoft.com/office/drawing/2014/main" id="{7840672D-B393-4E3C-9863-581C568A2294}"/>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Inference giữ trọng số, dùng đầu ra đã sinh làm tiền tố</a:t>
            </a:r>
          </a:p>
        </p:txBody>
      </p:sp>
    </p:spTree>
    <p:extLst>
      <p:ext uri="{BB962C8B-B14F-4D97-AF65-F5344CB8AC3E}">
        <p14:creationId xmlns:p14="http://schemas.microsoft.com/office/powerpoint/2010/main" val="661293099"/>
      </p:ext>
    </p:extLst>
  </p:cSld>
</p:sld>
</file>

<file path=ppt/slides/slide2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2D6B98-EC28-457B-BEBA-5C4AD5B579B4}"/>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Streaming: audio tăng dần, chữ có thể sửa</a:t>
            </a:r>
          </a:p>
        </p:txBody>
      </p:sp>
      <p:sp>
        <p:nvSpPr>
          <p:cNvPr id="2" name="">
            <a:extLst xmlns:a="http://schemas.openxmlformats.org/drawingml/2006/main">
              <a:ext uri="{FF2B5EF4-FFF2-40B4-BE49-F238E27FC236}">
                <a16:creationId xmlns:a16="http://schemas.microsoft.com/office/drawing/2014/main" id="{E25871C1-668F-4C59-B25D-0527EC48F00C}"/>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90075327-D1E3-4CDE-8EDD-8FBA0A90E7E6}"/>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22</a:t>
            </a:r>
          </a:p>
        </p:txBody>
      </p:sp>
      <p:graphicFrame>
        <p:nvGraphicFramePr>
          <p:cNvPr id="9" name=""/>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a:tblGrid>
                <a:gridCol w="2095500"/>
                <a:gridCol w="3333750"/>
                <a:gridCol w="5543550"/>
              </a:tblGrid>
              <a:tr h="678656">
                <a:tc>
                  <a:txBody>
                    <a:bodyPr/>
                    <a:lstStyle/>
                    <a:p>
                      <a:r>
                        <a:rPr sz="1800" b="1">
                          <a:solidFill>
                            <a:srgbClr val="FFFFFF"/>
                          </a:solidFill>
                          <a:latin typeface="DejaVu Sans"/>
                          <a:ea typeface="DejaVu Sans"/>
                          <a:cs typeface="DejaVu Sans"/>
                        </a:rPr>
                        <a:t>Lượt cập nhật</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Audio đã nhận</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Văn bản hiển thị minh họa</a:t>
                      </a:r>
                    </a:p>
                  </a:txBody>
                  <a:tcPr marL="91440" marR="91440" marT="45720" marB="45720">
                    <a:solidFill>
                      <a:srgbClr val="102C3A"/>
                    </a:solidFill>
                  </a:tcPr>
                </a:tc>
              </a:tr>
              <a:tr h="678656">
                <a:tc>
                  <a:txBody>
                    <a:bodyPr/>
                    <a:lstStyle/>
                    <a:p>
                      <a:r>
                        <a:rPr sz="1800" b="0">
                          <a:solidFill>
                            <a:srgbClr val="102C3A"/>
                          </a:solidFill>
                          <a:latin typeface="DejaVu Sans"/>
                          <a:ea typeface="DejaVu Sans"/>
                          <a:cs typeface="DejaVu Sans"/>
                        </a:rPr>
                        <a:t>1</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Chunk A</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tôi muốn</a:t>
                      </a:r>
                    </a:p>
                  </a:txBody>
                  <a:tcPr marL="91440" marR="91440" marT="45720" marB="45720">
                    <a:solidFill>
                      <a:srgbClr val="FFFFFF"/>
                    </a:solidFill>
                  </a:tcPr>
                </a:tc>
              </a:tr>
              <a:tr h="678656">
                <a:tc>
                  <a:txBody>
                    <a:bodyPr/>
                    <a:lstStyle/>
                    <a:p>
                      <a:r>
                        <a:rPr sz="1800" b="0">
                          <a:solidFill>
                            <a:srgbClr val="102C3A"/>
                          </a:solidFill>
                          <a:latin typeface="DejaVu Sans"/>
                          <a:ea typeface="DejaVu Sans"/>
                          <a:cs typeface="DejaVu Sans"/>
                        </a:rPr>
                        <a:t>2</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Chunk A + B</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tôi muốn kiểm tra</a:t>
                      </a:r>
                    </a:p>
                  </a:txBody>
                  <a:tcPr marL="91440" marR="91440" marT="45720" marB="45720">
                    <a:solidFill>
                      <a:srgbClr val="DEECEB"/>
                    </a:solidFill>
                  </a:tcPr>
                </a:tc>
              </a:tr>
              <a:tr h="678656">
                <a:tc>
                  <a:txBody>
                    <a:bodyPr/>
                    <a:lstStyle/>
                    <a:p>
                      <a:r>
                        <a:rPr sz="1800" b="0">
                          <a:solidFill>
                            <a:srgbClr val="102C3A"/>
                          </a:solidFill>
                          <a:latin typeface="DejaVu Sans"/>
                          <a:ea typeface="DejaVu Sans"/>
                          <a:cs typeface="DejaVu Sans"/>
                        </a:rPr>
                        <a:t>3</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Chunk A + B + C</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tôi muốn kiểm tra hợp đồng</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83EA403-314B-444E-8632-4BD51B283C7E}"/>
              </a:ext>
            </a:extLst>
          </p:cNvPr>
          <p:cNvSpPr>
            <a:spLocks xmlns:a="http://schemas.openxmlformats.org/drawingml/2006/main" noGrp="1"/>
          </p:cNvSpPr>
          <p:nvPr/>
        </p:nvSpPr>
        <p:spPr>
          <a:xfrm xmlns:a="http://schemas.openxmlformats.org/drawingml/2006/main">
            <a:off x="666750" y="4857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6"/>
                </a:solidFill>
                <a:latin typeface="DejaVu Sans"/>
                <a:ea typeface="DejaVu Sans"/>
                <a:cs typeface="DejaVu Sans"/>
              </a:defRPr>
            </a:pPr>
            <a:r>
              <a:rPr sz="2325" b="1">
                <a:solidFill>
                  <a:srgbClr val="087F86"/>
                </a:solidFill>
                <a:latin typeface="DejaVu Sans"/>
                <a:ea typeface="DejaVu Sans"/>
                <a:cs typeface="DejaVu Sans"/>
              </a:rPr>
              <a:t>Wrapper tích lũy audio và có thể lùi phần cuối tiền tố</a:t>
            </a:r>
          </a:p>
        </p:txBody>
      </p:sp>
    </p:spTree>
    <p:extLst>
      <p:ext uri="{BB962C8B-B14F-4D97-AF65-F5344CB8AC3E}">
        <p14:creationId xmlns:p14="http://schemas.microsoft.com/office/powerpoint/2010/main" val="2124246725"/>
      </p:ext>
    </p:extLst>
  </p:cSld>
</p:sld>
</file>

<file path=ppt/slides/slide2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BCA152-48A9-4CBA-8E77-B8242F2036CD}"/>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Giới hạn và phần mềm bổ sung</a:t>
            </a:r>
          </a:p>
        </p:txBody>
      </p:sp>
      <p:sp>
        <p:nvSpPr>
          <p:cNvPr id="2" name="">
            <a:extLst xmlns:a="http://schemas.openxmlformats.org/drawingml/2006/main">
              <a:ext uri="{FF2B5EF4-FFF2-40B4-BE49-F238E27FC236}">
                <a16:creationId xmlns:a16="http://schemas.microsoft.com/office/drawing/2014/main" id="{BCF9CF9D-44C4-43C2-BECF-E311D86BD1E3}"/>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0899B05-2B8E-4718-8E3F-C42243370DED}"/>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23</a:t>
            </a:r>
          </a:p>
        </p:txBody>
      </p:sp>
      <p:graphicFrame>
        <p:nvGraphicFramePr>
          <p:cNvPr id="9" name=""/>
          <p:cNvGraphicFramePr/>
          <p:nvPr/>
        </p:nvGraphicFramePr>
        <p:xfrm>
          <a:off xmlns:a="http://schemas.openxmlformats.org/drawingml/2006/main" x="609600" y="1714500"/>
          <a:ext xmlns:a="http://schemas.openxmlformats.org/drawingml/2006/main" cx="10972800" cy="3238500"/>
        </p:xfrm>
        <a:graphic xmlns:a="http://schemas.openxmlformats.org/drawingml/2006/main">
          <a:graphicData uri="http://schemas.openxmlformats.org/drawingml/2006/table">
            <a:tbl>
              <a:tblPr/>
              <a:tblGrid>
                <a:gridCol w="3429000"/>
                <a:gridCol w="7543800"/>
              </a:tblGrid>
              <a:tr h="647700">
                <a:tc>
                  <a:txBody>
                    <a:bodyPr/>
                    <a:lstStyle/>
                    <a:p>
                      <a:r>
                        <a:rPr sz="1800" b="1">
                          <a:solidFill>
                            <a:srgbClr val="FFFFFF"/>
                          </a:solidFill>
                          <a:latin typeface="DejaVu Sans"/>
                          <a:ea typeface="DejaVu Sans"/>
                          <a:cs typeface="DejaVu Sans"/>
                        </a:rPr>
                        <a:t>Nhu cầu</a:t>
                      </a:r>
                    </a:p>
                  </a:txBody>
                  <a:tcPr marL="91440" marR="91440" marT="45720" marB="45720">
                    <a:solidFill>
                      <a:srgbClr val="102C3A"/>
                    </a:solidFill>
                  </a:tcPr>
                </a:tc>
                <a:tc>
                  <a:txBody>
                    <a:bodyPr/>
                    <a:lstStyle/>
                    <a:p>
                      <a:r>
                        <a:rPr sz="1800" b="1">
                          <a:solidFill>
                            <a:srgbClr val="FFFFFF"/>
                          </a:solidFill>
                          <a:latin typeface="DejaVu Sans"/>
                          <a:ea typeface="DejaVu Sans"/>
                          <a:cs typeface="DejaVu Sans"/>
                        </a:rPr>
                        <a:t>Phạm vi thực tế</a:t>
                      </a:r>
                    </a:p>
                  </a:txBody>
                  <a:tcPr marL="91440" marR="91440" marT="45720" marB="45720">
                    <a:solidFill>
                      <a:srgbClr val="102C3A"/>
                    </a:solidFill>
                  </a:tcPr>
                </a:tc>
              </a:tr>
              <a:tr h="647700">
                <a:tc>
                  <a:txBody>
                    <a:bodyPr/>
                    <a:lstStyle/>
                    <a:p>
                      <a:r>
                        <a:rPr sz="1800" b="0">
                          <a:solidFill>
                            <a:srgbClr val="102C3A"/>
                          </a:solidFill>
                          <a:latin typeface="DejaVu Sans"/>
                          <a:ea typeface="DejaVu Sans"/>
                          <a:cs typeface="DejaVu Sans"/>
                        </a:rPr>
                        <a:t>Dấu câu, viết hoa</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Có thể nằm trong văn bản sinh, không đảm bảo luôn đúng</a:t>
                      </a:r>
                    </a:p>
                  </a:txBody>
                  <a:tcPr marL="91440" marR="91440" marT="45720" marB="45720">
                    <a:solidFill>
                      <a:srgbClr val="FFFFFF"/>
                    </a:solidFill>
                  </a:tcPr>
                </a:tc>
              </a:tr>
              <a:tr h="647700">
                <a:tc>
                  <a:txBody>
                    <a:bodyPr/>
                    <a:lstStyle/>
                    <a:p>
                      <a:r>
                        <a:rPr sz="1800" b="0">
                          <a:solidFill>
                            <a:srgbClr val="102C3A"/>
                          </a:solidFill>
                          <a:latin typeface="DejaVu Sans"/>
                          <a:ea typeface="DejaVu Sans"/>
                          <a:cs typeface="DejaVu Sans"/>
                        </a:rPr>
                        <a:t>Timestamp từng từ</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Cần forced alignment riêng, tiếng Việt chưa được liệt kê cho Qwen aligner</a:t>
                      </a:r>
                    </a:p>
                  </a:txBody>
                  <a:tcPr marL="91440" marR="91440" marT="45720" marB="45720">
                    <a:solidFill>
                      <a:srgbClr val="DEECEB"/>
                    </a:solidFill>
                  </a:tcPr>
                </a:tc>
              </a:tr>
              <a:tr h="647700">
                <a:tc>
                  <a:txBody>
                    <a:bodyPr/>
                    <a:lstStyle/>
                    <a:p>
                      <a:r>
                        <a:rPr sz="1800" b="0">
                          <a:solidFill>
                            <a:srgbClr val="102C3A"/>
                          </a:solidFill>
                          <a:latin typeface="DejaVu Sans"/>
                          <a:ea typeface="DejaVu Sans"/>
                          <a:cs typeface="DejaVu Sans"/>
                        </a:rPr>
                        <a:t>Diarization: ai nói lúc nào</a:t>
                      </a:r>
                    </a:p>
                  </a:txBody>
                  <a:tcPr marL="91440" marR="91440" marT="45720" marB="45720">
                    <a:solidFill>
                      <a:srgbClr val="FFFFFF"/>
                    </a:solidFill>
                  </a:tcPr>
                </a:tc>
                <a:tc>
                  <a:txBody>
                    <a:bodyPr/>
                    <a:lstStyle/>
                    <a:p>
                      <a:r>
                        <a:rPr sz="1800" b="0">
                          <a:solidFill>
                            <a:srgbClr val="102C3A"/>
                          </a:solidFill>
                          <a:latin typeface="DejaVu Sans"/>
                          <a:ea typeface="DejaVu Sans"/>
                          <a:cs typeface="DejaVu Sans"/>
                        </a:rPr>
                        <a:t>Cần thành phần nhận diện, phân đoạn người nói bên ngoài</a:t>
                      </a:r>
                    </a:p>
                  </a:txBody>
                  <a:tcPr marL="91440" marR="91440" marT="45720" marB="45720">
                    <a:solidFill>
                      <a:srgbClr val="FFFFFF"/>
                    </a:solidFill>
                  </a:tcPr>
                </a:tc>
              </a:tr>
              <a:tr h="647700">
                <a:tc>
                  <a:txBody>
                    <a:bodyPr/>
                    <a:lstStyle/>
                    <a:p>
                      <a:r>
                        <a:rPr sz="1800" b="0">
                          <a:solidFill>
                            <a:srgbClr val="102C3A"/>
                          </a:solidFill>
                          <a:latin typeface="DejaVu Sans"/>
                          <a:ea typeface="DejaVu Sans"/>
                          <a:cs typeface="DejaVu Sans"/>
                        </a:rPr>
                        <a:t>Audio dài và streaming</a:t>
                      </a:r>
                    </a:p>
                  </a:txBody>
                  <a:tcPr marL="91440" marR="91440" marT="45720" marB="45720">
                    <a:solidFill>
                      <a:srgbClr val="DEECEB"/>
                    </a:solidFill>
                  </a:tcPr>
                </a:tc>
                <a:tc>
                  <a:txBody>
                    <a:bodyPr/>
                    <a:lstStyle/>
                    <a:p>
                      <a:r>
                        <a:rPr sz="1800" b="0">
                          <a:solidFill>
                            <a:srgbClr val="102C3A"/>
                          </a:solidFill>
                          <a:latin typeface="DejaVu Sans"/>
                          <a:ea typeface="DejaVu Sans"/>
                          <a:cs typeface="DejaVu Sans"/>
                        </a:rPr>
                        <a:t>Tùy giới hạn model, wrapper, memory và cách chia phiên</a:t>
                      </a:r>
                    </a:p>
                  </a:txBody>
                  <a:tcPr marL="91440" marR="91440" marT="45720" marB="45720">
                    <a:solidFill>
                      <a:srgbClr val="DEECEB"/>
                    </a:solidFill>
                  </a:tcPr>
                </a:tc>
              </a:tr>
            </a:tbl>
          </a:graphicData>
        </a:graphic>
      </p:graphicFrame>
      <p:sp>
        <p:nvSpPr>
          <p:cNvPr id="5" name="">
            <a:extLst xmlns:a="http://schemas.openxmlformats.org/drawingml/2006/main">
              <a:ext uri="{FF2B5EF4-FFF2-40B4-BE49-F238E27FC236}">
                <a16:creationId xmlns:a16="http://schemas.microsoft.com/office/drawing/2014/main" id="{E2433B7C-C66F-422A-A881-EE1896D8240F}"/>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Chất lượng tiếng Việt cần kiểm tra trên audio thực tế</a:t>
            </a:r>
          </a:p>
        </p:txBody>
      </p:sp>
    </p:spTree>
    <p:extLst>
      <p:ext uri="{BB962C8B-B14F-4D97-AF65-F5344CB8AC3E}">
        <p14:creationId xmlns:p14="http://schemas.microsoft.com/office/powerpoint/2010/main" val="2050629446"/>
      </p:ext>
    </p:extLst>
  </p:cSld>
</p:sld>
</file>

<file path=ppt/slides/slide2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320946-E06D-489F-9EC6-63E3E05B2DD8}"/>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Bạn đã hiểu luồng dữ liệu chưa?</a:t>
            </a:r>
          </a:p>
        </p:txBody>
      </p:sp>
      <p:sp>
        <p:nvSpPr>
          <p:cNvPr id="2" name="">
            <a:extLst xmlns:a="http://schemas.openxmlformats.org/drawingml/2006/main">
              <a:ext uri="{FF2B5EF4-FFF2-40B4-BE49-F238E27FC236}">
                <a16:creationId xmlns:a16="http://schemas.microsoft.com/office/drawing/2014/main" id="{2E74C790-FBDB-48C9-97A4-AF3EC0631DE7}"/>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23AB1C36-0829-44F5-8EFC-8B904435BCB0}"/>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24</a:t>
            </a:r>
          </a:p>
        </p:txBody>
      </p:sp>
      <p:sp>
        <p:nvSpPr>
          <p:cNvPr id="4" name="">
            <a:extLst xmlns:a="http://schemas.openxmlformats.org/drawingml/2006/main">
              <a:ext uri="{FF2B5EF4-FFF2-40B4-BE49-F238E27FC236}">
                <a16:creationId xmlns:a16="http://schemas.microsoft.com/office/drawing/2014/main" id="{36150BEE-DE9F-4A19-A61A-14A77792CB55}"/>
              </a:ext>
            </a:extLst>
          </p:cNvPr>
          <p:cNvSpPr>
            <a:spLocks xmlns:a="http://schemas.openxmlformats.org/drawingml/2006/main" noGrp="1"/>
          </p:cNvSpPr>
          <p:nvPr/>
        </p:nvSpPr>
        <p:spPr>
          <a:xfrm xmlns:a="http://schemas.openxmlformats.org/drawingml/2006/main">
            <a:off x="666750" y="1857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87F86"/>
                </a:solidFill>
                <a:latin typeface="DejaVu Sans"/>
                <a:ea typeface="DejaVu Sans"/>
                <a:cs typeface="DejaVu Sans"/>
              </a:defRPr>
            </a:pPr>
            <a:r>
              <a:rPr sz="2775" b="1">
                <a:solidFill>
                  <a:srgbClr val="087F86"/>
                </a:solidFill>
                <a:latin typeface="DejaVu Sans"/>
                <a:ea typeface="DejaVu Sans"/>
                <a:cs typeface="DejaVu Sans"/>
              </a:rPr>
              <a:t>Sau projector, model có dữ liệu gì?</a:t>
            </a:r>
          </a:p>
        </p:txBody>
      </p:sp>
      <p:sp>
        <p:nvSpPr>
          <p:cNvPr id="5" name="">
            <a:extLst xmlns:a="http://schemas.openxmlformats.org/drawingml/2006/main">
              <a:ext uri="{FF2B5EF4-FFF2-40B4-BE49-F238E27FC236}">
                <a16:creationId xmlns:a16="http://schemas.microsoft.com/office/drawing/2014/main" id="{F943E057-9EB9-42DE-AAC4-F3E5C2A437B8}"/>
              </a:ext>
            </a:extLst>
          </p:cNvPr>
          <p:cNvSpPr>
            <a:spLocks xmlns:a="http://schemas.openxmlformats.org/drawingml/2006/main" noGrp="1"/>
          </p:cNvSpPr>
          <p:nvPr/>
        </p:nvSpPr>
        <p:spPr>
          <a:xfrm xmlns:a="http://schemas.openxmlformats.org/drawingml/2006/main">
            <a:off x="666750" y="2905125"/>
            <a:ext cx="1085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C3A"/>
                </a:solidFill>
                <a:latin typeface="DejaVu Sans"/>
                <a:ea typeface="DejaVu Sans"/>
                <a:cs typeface="DejaVu Sans"/>
              </a:defRPr>
            </a:pPr>
            <a:r>
              <a:rPr sz="2175" b="0">
                <a:solidFill>
                  <a:srgbClr val="102C3A"/>
                </a:solidFill>
                <a:latin typeface="DejaVu Sans"/>
                <a:ea typeface="DejaVu Sans"/>
                <a:cs typeface="DejaVu Sans"/>
              </a:rPr>
              <a:t>A   Transcript tạm do encoder tạo</a:t>
            </a:r>
          </a:p>
          <a:p xmlns:a="http://schemas.openxmlformats.org/drawingml/2006/main">
            <a:r>
              <a:t/>
            </a:r>
          </a:p>
          <a:p xmlns:a="http://schemas.openxmlformats.org/drawingml/2006/main">
            <a:pPr>
              <a:defRPr sz="2175" b="0">
                <a:solidFill>
                  <a:srgbClr val="102C3A"/>
                </a:solidFill>
                <a:latin typeface="DejaVu Sans"/>
                <a:ea typeface="DejaVu Sans"/>
                <a:cs typeface="DejaVu Sans"/>
              </a:defRPr>
            </a:pPr>
            <a:r>
              <a:rPr sz="2175" b="0">
                <a:solidFill>
                  <a:srgbClr val="102C3A"/>
                </a:solidFill>
                <a:latin typeface="DejaVu Sans"/>
                <a:ea typeface="DejaVu Sans"/>
                <a:cs typeface="DejaVu Sans"/>
              </a:rPr>
              <a:t>B   Chuỗi vector audio cùng chiều rộng với text embeddings</a:t>
            </a:r>
          </a:p>
          <a:p xmlns:a="http://schemas.openxmlformats.org/drawingml/2006/main">
            <a:r>
              <a:t/>
            </a:r>
          </a:p>
          <a:p xmlns:a="http://schemas.openxmlformats.org/drawingml/2006/main">
            <a:pPr>
              <a:defRPr sz="2175" b="0">
                <a:solidFill>
                  <a:srgbClr val="102C3A"/>
                </a:solidFill>
                <a:latin typeface="DejaVu Sans"/>
                <a:ea typeface="DejaVu Sans"/>
                <a:cs typeface="DejaVu Sans"/>
              </a:defRPr>
            </a:pPr>
            <a:r>
              <a:rPr sz="2175" b="0">
                <a:solidFill>
                  <a:srgbClr val="102C3A"/>
                </a:solidFill>
                <a:latin typeface="DejaVu Sans"/>
                <a:ea typeface="DejaVu Sans"/>
                <a:cs typeface="DejaVu Sans"/>
              </a:rPr>
              <a:t>C   ID từ tiếng Việt sau bước gộp blank</a:t>
            </a:r>
          </a:p>
        </p:txBody>
      </p:sp>
      <p:sp>
        <p:nvSpPr>
          <p:cNvPr id="6" name="">
            <a:extLst xmlns:a="http://schemas.openxmlformats.org/drawingml/2006/main">
              <a:ext uri="{FF2B5EF4-FFF2-40B4-BE49-F238E27FC236}">
                <a16:creationId xmlns:a16="http://schemas.microsoft.com/office/drawing/2014/main" id="{BE8D018E-4518-43D8-96D1-E5917E13951A}"/>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Dừng 15 giây để chọn đáp án và giải thích</a:t>
            </a:r>
          </a:p>
        </p:txBody>
      </p:sp>
    </p:spTree>
    <p:extLst>
      <p:ext uri="{BB962C8B-B14F-4D97-AF65-F5344CB8AC3E}">
        <p14:creationId xmlns:p14="http://schemas.microsoft.com/office/powerpoint/2010/main" val="652393284"/>
      </p:ext>
    </p:extLst>
  </p:cSld>
</p:sld>
</file>

<file path=ppt/slides/slide2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48A551-26E6-4F57-A91B-189D90E4C4E6}"/>
              </a:ext>
            </a:extLst>
          </p:cNvPr>
          <p:cNvSpPr>
            <a:spLocks xmlns:a="http://schemas.openxmlformats.org/drawingml/2006/main" noGrp="1"/>
          </p:cNvSpPr>
          <p:nvPr/>
        </p:nvSpPr>
        <p:spPr>
          <a:xfrm xmlns:a="http://schemas.openxmlformats.org/drawingml/2006/main">
            <a:off x="609600" y="476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C3A"/>
                </a:solidFill>
                <a:latin typeface="DejaVu Sans"/>
                <a:ea typeface="DejaVu Sans"/>
                <a:cs typeface="DejaVu Sans"/>
              </a:defRPr>
            </a:pPr>
            <a:r>
              <a:rPr sz="3300" b="1">
                <a:solidFill>
                  <a:srgbClr val="102C3A"/>
                </a:solidFill>
                <a:latin typeface="DejaVu Sans"/>
                <a:ea typeface="DejaVu Sans"/>
                <a:cs typeface="DejaVu Sans"/>
              </a:rPr>
              <a:t>Nguồn để kiểm chứng và đọc sâu</a:t>
            </a:r>
          </a:p>
        </p:txBody>
      </p:sp>
      <p:sp>
        <p:nvSpPr>
          <p:cNvPr id="2" name="">
            <a:extLst xmlns:a="http://schemas.openxmlformats.org/drawingml/2006/main">
              <a:ext uri="{FF2B5EF4-FFF2-40B4-BE49-F238E27FC236}">
                <a16:creationId xmlns:a16="http://schemas.microsoft.com/office/drawing/2014/main" id="{272F0CF0-4D5F-46DD-BC30-AB3CF23E9862}"/>
              </a:ext>
            </a:extLst>
          </p:cNvPr>
          <p:cNvSpPr>
            <a:spLocks xmlns:a="http://schemas.openxmlformats.org/drawingml/2006/main" noGrp="1"/>
          </p:cNvSpPr>
          <p:nvPr/>
        </p:nvSpPr>
        <p:spPr>
          <a:xfrm xmlns:a="http://schemas.openxmlformats.org/drawingml/2006/main">
            <a:off x="609600" y="62865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A165C632-1878-426C-9665-54AC559B1971}"/>
              </a:ext>
            </a:extLst>
          </p:cNvPr>
          <p:cNvSpPr>
            <a:spLocks xmlns:a="http://schemas.openxmlformats.org/drawingml/2006/main" noGrp="1"/>
          </p:cNvSpPr>
          <p:nvPr/>
        </p:nvSpPr>
        <p:spPr>
          <a:xfrm xmlns:a="http://schemas.openxmlformats.org/drawingml/2006/main">
            <a:off x="11144250" y="62579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6"/>
                </a:solidFill>
                <a:latin typeface="DejaVu Sans"/>
                <a:ea typeface="DejaVu Sans"/>
                <a:cs typeface="DejaVu Sans"/>
              </a:defRPr>
            </a:pPr>
            <a:r>
              <a:rPr sz="1425" b="1">
                <a:solidFill>
                  <a:srgbClr val="087F86"/>
                </a:solidFill>
                <a:latin typeface="DejaVu Sans"/>
                <a:ea typeface="DejaVu Sans"/>
                <a:cs typeface="DejaVu Sans"/>
              </a:rPr>
              <a:t>25</a:t>
            </a:r>
          </a:p>
        </p:txBody>
      </p:sp>
      <p:sp>
        <p:nvSpPr>
          <p:cNvPr id="4" name="">
            <a:extLst xmlns:a="http://schemas.openxmlformats.org/drawingml/2006/main">
              <a:ext uri="{FF2B5EF4-FFF2-40B4-BE49-F238E27FC236}">
                <a16:creationId xmlns:a16="http://schemas.microsoft.com/office/drawing/2014/main" id="{D7F14EE8-8ADF-415F-9896-CD42AA1D41A2}"/>
              </a:ext>
            </a:extLst>
          </p:cNvPr>
          <p:cNvSpPr>
            <a:spLocks xmlns:a="http://schemas.openxmlformats.org/drawingml/2006/main" noGrp="1"/>
          </p:cNvSpPr>
          <p:nvPr/>
        </p:nvSpPr>
        <p:spPr>
          <a:xfrm xmlns:a="http://schemas.openxmlformats.org/drawingml/2006/main">
            <a:off x="609600" y="16192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Báo cáo kỹ thuật</a:t>
            </a:r>
          </a:p>
        </p:txBody>
      </p:sp>
      <p:sp>
        <p:nvSpPr>
          <p:cNvPr id="5" name="">
            <a:extLst xmlns:a="http://schemas.openxmlformats.org/drawingml/2006/main">
              <a:ext uri="{FF2B5EF4-FFF2-40B4-BE49-F238E27FC236}">
                <a16:creationId xmlns:a16="http://schemas.microsoft.com/office/drawing/2014/main" id="{F3DE3196-6F4C-4117-879C-C2A5DC797E46}"/>
              </a:ext>
            </a:extLst>
          </p:cNvPr>
          <p:cNvSpPr>
            <a:spLocks xmlns:a="http://schemas.openxmlformats.org/drawingml/2006/main" noGrp="1"/>
          </p:cNvSpPr>
          <p:nvPr/>
        </p:nvSpPr>
        <p:spPr>
          <a:xfrm xmlns:a="http://schemas.openxmlformats.org/drawingml/2006/main">
            <a:off x="4000500" y="161925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Qwen3-ASR Technical Report, arXiv:2601.21337v2</a:t>
            </a:r>
          </a:p>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Kiến trúc tổng thể và các giai đoạn huấn luyện</a:t>
            </a:r>
          </a:p>
        </p:txBody>
      </p:sp>
      <p:sp>
        <p:nvSpPr>
          <p:cNvPr id="6" name="">
            <a:extLst xmlns:a="http://schemas.openxmlformats.org/drawingml/2006/main">
              <a:ext uri="{FF2B5EF4-FFF2-40B4-BE49-F238E27FC236}">
                <a16:creationId xmlns:a16="http://schemas.microsoft.com/office/drawing/2014/main" id="{767FC500-2320-464A-B6C2-EF523792C6B2}"/>
              </a:ext>
            </a:extLst>
          </p:cNvPr>
          <p:cNvSpPr>
            <a:spLocks xmlns:a="http://schemas.openxmlformats.org/drawingml/2006/main" noGrp="1"/>
          </p:cNvSpPr>
          <p:nvPr/>
        </p:nvSpPr>
        <p:spPr>
          <a:xfrm xmlns:a="http://schemas.openxmlformats.org/drawingml/2006/main">
            <a:off x="609600" y="26670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Checkpoint gốc</a:t>
            </a:r>
          </a:p>
        </p:txBody>
      </p:sp>
      <p:sp>
        <p:nvSpPr>
          <p:cNvPr id="7" name="">
            <a:extLst xmlns:a="http://schemas.openxmlformats.org/drawingml/2006/main">
              <a:ext uri="{FF2B5EF4-FFF2-40B4-BE49-F238E27FC236}">
                <a16:creationId xmlns:a16="http://schemas.microsoft.com/office/drawing/2014/main" id="{68B29749-F459-4C1B-9526-3FD8FE1AA245}"/>
              </a:ext>
            </a:extLst>
          </p:cNvPr>
          <p:cNvSpPr>
            <a:spLocks xmlns:a="http://schemas.openxmlformats.org/drawingml/2006/main" noGrp="1"/>
          </p:cNvSpPr>
          <p:nvPr/>
        </p:nvSpPr>
        <p:spPr>
          <a:xfrm xmlns:a="http://schemas.openxmlformats.org/drawingml/2006/main">
            <a:off x="4000500" y="266700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Qwen/Qwen3-ASR-0.6B trên Hugging Face</a:t>
            </a:r>
          </a:p>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Model card, config và preprocessor_config</a:t>
            </a:r>
          </a:p>
        </p:txBody>
      </p:sp>
      <p:sp>
        <p:nvSpPr>
          <p:cNvPr id="8" name="">
            <a:extLst xmlns:a="http://schemas.openxmlformats.org/drawingml/2006/main">
              <a:ext uri="{FF2B5EF4-FFF2-40B4-BE49-F238E27FC236}">
                <a16:creationId xmlns:a16="http://schemas.microsoft.com/office/drawing/2014/main" id="{1F8CA8FF-9A28-4611-9AC8-D2D37791E558}"/>
              </a:ext>
            </a:extLst>
          </p:cNvPr>
          <p:cNvSpPr>
            <a:spLocks xmlns:a="http://schemas.openxmlformats.org/drawingml/2006/main" noGrp="1"/>
          </p:cNvSpPr>
          <p:nvPr/>
        </p:nvSpPr>
        <p:spPr>
          <a:xfrm xmlns:a="http://schemas.openxmlformats.org/drawingml/2006/main">
            <a:off x="609600" y="3714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6"/>
                </a:solidFill>
                <a:latin typeface="DejaVu Sans"/>
                <a:ea typeface="DejaVu Sans"/>
                <a:cs typeface="DejaVu Sans"/>
              </a:defRPr>
            </a:pPr>
            <a:r>
              <a:rPr sz="2175" b="1">
                <a:solidFill>
                  <a:srgbClr val="087F86"/>
                </a:solidFill>
                <a:latin typeface="DejaVu Sans"/>
                <a:ea typeface="DejaVu Sans"/>
                <a:cs typeface="DejaVu Sans"/>
              </a:rPr>
              <a:t>Mã nguồn chính thức</a:t>
            </a:r>
          </a:p>
        </p:txBody>
      </p:sp>
      <p:sp>
        <p:nvSpPr>
          <p:cNvPr id="9" name="">
            <a:extLst xmlns:a="http://schemas.openxmlformats.org/drawingml/2006/main">
              <a:ext uri="{FF2B5EF4-FFF2-40B4-BE49-F238E27FC236}">
                <a16:creationId xmlns:a16="http://schemas.microsoft.com/office/drawing/2014/main" id="{C8C7AAAC-CCD9-4065-8451-85476AE90766}"/>
              </a:ext>
            </a:extLst>
          </p:cNvPr>
          <p:cNvSpPr>
            <a:spLocks xmlns:a="http://schemas.openxmlformats.org/drawingml/2006/main" noGrp="1"/>
          </p:cNvSpPr>
          <p:nvPr/>
        </p:nvSpPr>
        <p:spPr>
          <a:xfrm xmlns:a="http://schemas.openxmlformats.org/drawingml/2006/main">
            <a:off x="4000500" y="371475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QwenLM/Qwen3-ASR trên GitHub</a:t>
            </a:r>
          </a:p>
          <a:p xmlns:a="http://schemas.openxmlformats.org/drawingml/2006/main">
            <a:pPr>
              <a:defRPr sz="2025" b="0">
                <a:solidFill>
                  <a:srgbClr val="102C3A"/>
                </a:solidFill>
                <a:latin typeface="DejaVu Sans"/>
                <a:ea typeface="DejaVu Sans"/>
                <a:cs typeface="DejaVu Sans"/>
              </a:defRPr>
            </a:pPr>
            <a:r>
              <a:rPr sz="2025" b="0">
                <a:solidFill>
                  <a:srgbClr val="102C3A"/>
                </a:solidFill>
                <a:latin typeface="DejaVu Sans"/>
                <a:ea typeface="DejaVu Sans"/>
                <a:cs typeface="DejaVu Sans"/>
              </a:rPr>
              <a:t>modeling, processing, inference wrapper và utils</a:t>
            </a:r>
          </a:p>
        </p:txBody>
      </p:sp>
      <p:sp>
        <p:nvSpPr>
          <p:cNvPr id="10" name="">
            <a:extLst xmlns:a="http://schemas.openxmlformats.org/drawingml/2006/main">
              <a:ext uri="{FF2B5EF4-FFF2-40B4-BE49-F238E27FC236}">
                <a16:creationId xmlns:a16="http://schemas.microsoft.com/office/drawing/2014/main" id="{82F7FB78-FF24-415B-BCC2-D827F96BC2E6}"/>
              </a:ext>
            </a:extLst>
          </p:cNvPr>
          <p:cNvSpPr>
            <a:spLocks xmlns:a="http://schemas.openxmlformats.org/drawingml/2006/main" noGrp="1"/>
          </p:cNvSpPr>
          <p:nvPr/>
        </p:nvSpPr>
        <p:spPr>
          <a:xfrm xmlns:a="http://schemas.openxmlformats.org/drawingml/2006/main">
            <a:off x="609600" y="51911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6"/>
                </a:solidFill>
                <a:latin typeface="DejaVu Sans"/>
                <a:ea typeface="DejaVu Sans"/>
                <a:cs typeface="DejaVu Sans"/>
              </a:defRPr>
            </a:pPr>
            <a:r>
              <a:rPr sz="2100" b="1">
                <a:solidFill>
                  <a:srgbClr val="087F86"/>
                </a:solidFill>
                <a:latin typeface="DejaVu Sans"/>
                <a:ea typeface="DejaVu Sans"/>
                <a:cs typeface="DejaVu Sans"/>
              </a:rPr>
              <a:t>Các URL cụ thể nằm trong Notes của slide liên quan</a:t>
            </a:r>
          </a:p>
        </p:txBody>
      </p:sp>
    </p:spTree>
    <p:extLst>
      <p:ext uri="{BB962C8B-B14F-4D97-AF65-F5344CB8AC3E}">
        <p14:creationId xmlns:p14="http://schemas.microsoft.com/office/powerpoint/2010/main" val="1723283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2026-10-07T04:05:13.7920000Z</dcterms:created>
  <dcterms:modified xsi:type="dcterms:W3CDTF">2026-10-07T04:05:13.7920000Z</dcterms:modified>
</coreProperties>
</file>