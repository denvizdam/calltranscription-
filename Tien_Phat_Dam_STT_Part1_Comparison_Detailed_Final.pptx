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49f2b1dfc74e19" /><Relationship Type="http://schemas.openxmlformats.org/officeDocument/2006/relationships/extended-properties" Target="/docProps/app.xml" Id="Rf3f2388f3d7f4512" /><Relationship Type="http://schemas.openxmlformats.org/officeDocument/2006/relationships/officeDocument" Target="/ppt/presentation.xml" Id="Rdd6b1e4d4e454109" /></Relationships>
</file>

<file path=ppt/presentation.xml><?xml version="1.0" encoding="utf-8"?>
<p:presentation xmlns:p="http://schemas.openxmlformats.org/presentationml/2006/main">
  <p:sldMasterIdLst>
    <p:sldMasterId xmlns:r="http://schemas.openxmlformats.org/officeDocument/2006/relationships" id="2147483648" r:id="R031ff1712ba344d9"/>
  </p:sldMasterIdLst>
  <p:notesMasterIdLst>
    <p:notesMasterId xmlns:r="http://schemas.openxmlformats.org/officeDocument/2006/relationships" r:id="Rf38e1ca6770a493b"/>
  </p:notesMasterIdLst>
  <p:sldIdLst>
    <p:sldId xmlns:r="http://schemas.openxmlformats.org/officeDocument/2006/relationships" id="256" r:id="R7ce308dc3b914e96"/>
    <p:sldId xmlns:r="http://schemas.openxmlformats.org/officeDocument/2006/relationships" id="257" r:id="R670945d9630649cc"/>
    <p:sldId xmlns:r="http://schemas.openxmlformats.org/officeDocument/2006/relationships" id="258" r:id="R3221d7baae814ae6"/>
    <p:sldId xmlns:r="http://schemas.openxmlformats.org/officeDocument/2006/relationships" id="259" r:id="Rd52a0382a8164426"/>
    <p:sldId xmlns:r="http://schemas.openxmlformats.org/officeDocument/2006/relationships" id="260" r:id="R648369daefdf4d88"/>
    <p:sldId xmlns:r="http://schemas.openxmlformats.org/officeDocument/2006/relationships" id="261" r:id="Rdbb85224d5894ab5"/>
    <p:sldId xmlns:r="http://schemas.openxmlformats.org/officeDocument/2006/relationships" id="262" r:id="R6a251f3466ff4b0d"/>
    <p:sldId xmlns:r="http://schemas.openxmlformats.org/officeDocument/2006/relationships" id="263" r:id="R8f31ce341e014d9e"/>
    <p:sldId xmlns:r="http://schemas.openxmlformats.org/officeDocument/2006/relationships" id="264" r:id="R52f95f715c9d42e3"/>
    <p:sldId xmlns:r="http://schemas.openxmlformats.org/officeDocument/2006/relationships" id="265" r:id="R578d298b69b94f29"/>
    <p:sldId xmlns:r="http://schemas.openxmlformats.org/officeDocument/2006/relationships" id="266" r:id="R12324ee1d9704f70"/>
    <p:sldId xmlns:r="http://schemas.openxmlformats.org/officeDocument/2006/relationships" id="267" r:id="Rc7432f9ff78449d7"/>
    <p:sldId xmlns:r="http://schemas.openxmlformats.org/officeDocument/2006/relationships" id="268" r:id="R04172fd866c945f0"/>
    <p:sldId xmlns:r="http://schemas.openxmlformats.org/officeDocument/2006/relationships" id="269" r:id="R6114a266b198419e"/>
    <p:sldId xmlns:r="http://schemas.openxmlformats.org/officeDocument/2006/relationships" id="270" r:id="R722f4861d10e4557"/>
    <p:sldId xmlns:r="http://schemas.openxmlformats.org/officeDocument/2006/relationships" id="271" r:id="Re6b840b728084893"/>
    <p:sldId xmlns:r="http://schemas.openxmlformats.org/officeDocument/2006/relationships" id="272" r:id="R95587c24686c47de"/>
    <p:sldId xmlns:r="http://schemas.openxmlformats.org/officeDocument/2006/relationships" id="273" r:id="R9d9cf0a27249479c"/>
    <p:sldId xmlns:r="http://schemas.openxmlformats.org/officeDocument/2006/relationships" id="274" r:id="Ree2e917dddeb4959"/>
    <p:sldId xmlns:r="http://schemas.openxmlformats.org/officeDocument/2006/relationships" id="275" r:id="R67015439bf7f4baf"/>
    <p:sldId xmlns:r="http://schemas.openxmlformats.org/officeDocument/2006/relationships" id="276" r:id="R974e8551115a4f31"/>
    <p:sldId xmlns:r="http://schemas.openxmlformats.org/officeDocument/2006/relationships" id="277" r:id="Rb73bc64177744aae"/>
    <p:sldId xmlns:r="http://schemas.openxmlformats.org/officeDocument/2006/relationships" id="278" r:id="Rb19577816d344bc2"/>
    <p:sldId xmlns:r="http://schemas.openxmlformats.org/officeDocument/2006/relationships" id="279" r:id="R3e32c6b3003243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51f0191b314f06" /><Relationship Type="http://schemas.openxmlformats.org/officeDocument/2006/relationships/slideMaster" Target="/ppt/slideMasters/slideMaster1.xml" Id="R031ff1712ba344d9" /><Relationship Type="http://schemas.openxmlformats.org/officeDocument/2006/relationships/notesMaster" Target="/ppt/notesMasters/notesMaster1.xml" Id="Rf38e1ca6770a493b" /><Relationship Type="http://schemas.openxmlformats.org/officeDocument/2006/relationships/presProps" Target="/ppt/presProps.xml" Id="R80f1ef9ad6884df9" /><Relationship Type="http://schemas.openxmlformats.org/officeDocument/2006/relationships/tableStyles" Target="/ppt/tableStyles.xml" Id="R7c0d84eb46ea43bb" /><Relationship Type="http://schemas.openxmlformats.org/officeDocument/2006/relationships/slide" Target="/ppt/slides/slide1.xml" Id="R7ce308dc3b914e96" /><Relationship Type="http://schemas.openxmlformats.org/officeDocument/2006/relationships/slide" Target="/ppt/slides/slide2.xml" Id="R670945d9630649cc" /><Relationship Type="http://schemas.openxmlformats.org/officeDocument/2006/relationships/slide" Target="/ppt/slides/slide3.xml" Id="R3221d7baae814ae6" /><Relationship Type="http://schemas.openxmlformats.org/officeDocument/2006/relationships/slide" Target="/ppt/slides/slide4.xml" Id="Rd52a0382a8164426" /><Relationship Type="http://schemas.openxmlformats.org/officeDocument/2006/relationships/slide" Target="/ppt/slides/slide5.xml" Id="R648369daefdf4d88" /><Relationship Type="http://schemas.openxmlformats.org/officeDocument/2006/relationships/slide" Target="/ppt/slides/slide6.xml" Id="Rdbb85224d5894ab5" /><Relationship Type="http://schemas.openxmlformats.org/officeDocument/2006/relationships/slide" Target="/ppt/slides/slide7.xml" Id="R6a251f3466ff4b0d" /><Relationship Type="http://schemas.openxmlformats.org/officeDocument/2006/relationships/slide" Target="/ppt/slides/slide8.xml" Id="R8f31ce341e014d9e" /><Relationship Type="http://schemas.openxmlformats.org/officeDocument/2006/relationships/slide" Target="/ppt/slides/slide9.xml" Id="R52f95f715c9d42e3" /><Relationship Type="http://schemas.openxmlformats.org/officeDocument/2006/relationships/slide" Target="/ppt/slides/slide10.xml" Id="R578d298b69b94f29" /><Relationship Type="http://schemas.openxmlformats.org/officeDocument/2006/relationships/slide" Target="/ppt/slides/slide11.xml" Id="R12324ee1d9704f70" /><Relationship Type="http://schemas.openxmlformats.org/officeDocument/2006/relationships/slide" Target="/ppt/slides/slide12.xml" Id="Rc7432f9ff78449d7" /><Relationship Type="http://schemas.openxmlformats.org/officeDocument/2006/relationships/slide" Target="/ppt/slides/slide13.xml" Id="R04172fd866c945f0" /><Relationship Type="http://schemas.openxmlformats.org/officeDocument/2006/relationships/slide" Target="/ppt/slides/slide14.xml" Id="R6114a266b198419e" /><Relationship Type="http://schemas.openxmlformats.org/officeDocument/2006/relationships/slide" Target="/ppt/slides/slide15.xml" Id="R722f4861d10e4557" /><Relationship Type="http://schemas.openxmlformats.org/officeDocument/2006/relationships/slide" Target="/ppt/slides/slide16.xml" Id="Re6b840b728084893" /><Relationship Type="http://schemas.openxmlformats.org/officeDocument/2006/relationships/slide" Target="/ppt/slides/slide17.xml" Id="R95587c24686c47de" /><Relationship Type="http://schemas.openxmlformats.org/officeDocument/2006/relationships/slide" Target="/ppt/slides/slide18.xml" Id="R9d9cf0a27249479c" /><Relationship Type="http://schemas.openxmlformats.org/officeDocument/2006/relationships/slide" Target="/ppt/slides/slide19.xml" Id="Ree2e917dddeb4959" /><Relationship Type="http://schemas.openxmlformats.org/officeDocument/2006/relationships/slide" Target="/ppt/slides/slide20.xml" Id="R67015439bf7f4baf" /><Relationship Type="http://schemas.openxmlformats.org/officeDocument/2006/relationships/slide" Target="/ppt/slides/slide21.xml" Id="R974e8551115a4f31" /><Relationship Type="http://schemas.openxmlformats.org/officeDocument/2006/relationships/slide" Target="/ppt/slides/slide22.xml" Id="Rb73bc64177744aae" /><Relationship Type="http://schemas.openxmlformats.org/officeDocument/2006/relationships/slide" Target="/ppt/slides/slide23.xml" Id="Rb19577816d344bc2" /><Relationship Type="http://schemas.openxmlformats.org/officeDocument/2006/relationships/slide" Target="/ppt/slides/slide24.xml" Id="R3e32c6b3003243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8c1110df9945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866d96fdfd4780" /><Relationship Type="http://schemas.openxmlformats.org/officeDocument/2006/relationships/notesMaster" Target="/ppt/notesMasters/notesMaster1.xml" Id="R88c7288a2a614f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73af5293284616" /><Relationship Type="http://schemas.openxmlformats.org/officeDocument/2006/relationships/notesMaster" Target="/ppt/notesMasters/notesMaster1.xml" Id="Racb19122367a45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6368efcba94805" /><Relationship Type="http://schemas.openxmlformats.org/officeDocument/2006/relationships/notesMaster" Target="/ppt/notesMasters/notesMaster1.xml" Id="Rf08fd2c01e4e42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21dc0a6677425f" /><Relationship Type="http://schemas.openxmlformats.org/officeDocument/2006/relationships/notesMaster" Target="/ppt/notesMasters/notesMaster1.xml" Id="R5ca8d96a507c4c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3ec8c84a144f0a" /><Relationship Type="http://schemas.openxmlformats.org/officeDocument/2006/relationships/notesMaster" Target="/ppt/notesMasters/notesMaster1.xml" Id="R4f3f53f4022046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2fcd80e6244ccb" /><Relationship Type="http://schemas.openxmlformats.org/officeDocument/2006/relationships/notesMaster" Target="/ppt/notesMasters/notesMaster1.xml" Id="R487fd83d73a04d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af9961ffc54761" /><Relationship Type="http://schemas.openxmlformats.org/officeDocument/2006/relationships/notesMaster" Target="/ppt/notesMasters/notesMaster1.xml" Id="Rf9be8d784af540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c29c87ca8a47fa" /><Relationship Type="http://schemas.openxmlformats.org/officeDocument/2006/relationships/notesMaster" Target="/ppt/notesMasters/notesMaster1.xml" Id="Re530cf04df784e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d777930e3948f6" /><Relationship Type="http://schemas.openxmlformats.org/officeDocument/2006/relationships/notesMaster" Target="/ppt/notesMasters/notesMaster1.xml" Id="R2191380f2c124f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4ace1d58d94476" /><Relationship Type="http://schemas.openxmlformats.org/officeDocument/2006/relationships/notesMaster" Target="/ppt/notesMasters/notesMaster1.xml" Id="R9f4eed4a66d943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746ddf628140e0" /><Relationship Type="http://schemas.openxmlformats.org/officeDocument/2006/relationships/notesMaster" Target="/ppt/notesMasters/notesMaster1.xml" Id="Re8f6fc56d7a94b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d26c6a74194983" /><Relationship Type="http://schemas.openxmlformats.org/officeDocument/2006/relationships/notesMaster" Target="/ppt/notesMasters/notesMaster1.xml" Id="R0aae264e77e545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6e9347a3794480" /><Relationship Type="http://schemas.openxmlformats.org/officeDocument/2006/relationships/notesMaster" Target="/ppt/notesMasters/notesMaster1.xml" Id="Rb23ed835c0da4e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418b6bc2464af4" /><Relationship Type="http://schemas.openxmlformats.org/officeDocument/2006/relationships/notesMaster" Target="/ppt/notesMasters/notesMaster1.xml" Id="Rd1be64ee55744c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b2f9da5eb8e4f29" /><Relationship Type="http://schemas.openxmlformats.org/officeDocument/2006/relationships/notesMaster" Target="/ppt/notesMasters/notesMaster1.xml" Id="Rcd8934197fed40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638663865f4516" /><Relationship Type="http://schemas.openxmlformats.org/officeDocument/2006/relationships/notesMaster" Target="/ppt/notesMasters/notesMaster1.xml" Id="Rbfdc4bf05cdd4f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554571f1d7421f" /><Relationship Type="http://schemas.openxmlformats.org/officeDocument/2006/relationships/notesMaster" Target="/ppt/notesMasters/notesMaster1.xml" Id="R00193ed58d304a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4ca9bf506f4a4b" /><Relationship Type="http://schemas.openxmlformats.org/officeDocument/2006/relationships/notesMaster" Target="/ppt/notesMasters/notesMaster1.xml" Id="Rce600fd4392a45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1f8f41ff5f4e58" /><Relationship Type="http://schemas.openxmlformats.org/officeDocument/2006/relationships/notesMaster" Target="/ppt/notesMasters/notesMaster1.xml" Id="R025087c93d8a45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a0988023054e95" /><Relationship Type="http://schemas.openxmlformats.org/officeDocument/2006/relationships/notesMaster" Target="/ppt/notesMasters/notesMaster1.xml" Id="R9deb4db4a9cc4c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8d0119ed854573" /><Relationship Type="http://schemas.openxmlformats.org/officeDocument/2006/relationships/notesMaster" Target="/ppt/notesMasters/notesMaster1.xml" Id="R956df2086a3140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56501126474acd" /><Relationship Type="http://schemas.openxmlformats.org/officeDocument/2006/relationships/notesMaster" Target="/ppt/notesMasters/notesMaster1.xml" Id="R17ae1450113346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c73f998c024536" /><Relationship Type="http://schemas.openxmlformats.org/officeDocument/2006/relationships/notesMaster" Target="/ppt/notesMasters/notesMaster1.xml" Id="R31e99b6885d8460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a48f935f424ce3" /><Relationship Type="http://schemas.openxmlformats.org/officeDocument/2006/relationships/notesMaster" Target="/ppt/notesMasters/notesMaster1.xml" Id="R5cb78033840a4a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xin trình bày khảo sát các giải pháp chuyển cuộc gọi tiếng Việt thành văn bản. Câu hỏi business của mình là: giải pháp nào đáng thử để hỗ trợ QA tìm nội dung cuộc gọi nhanh hơn và giảm công sức kiểm tra lại, trong mức chi phí phù hợp? Hiện em đang chạy PhoWhisper-base, nên đây là điểm xuất phát để đối chiếu.</a:t>
            </a:r>
          </a:p>
          <a:p xmlns:a="http://schemas.openxmlformats.org/drawingml/2006/main">
            <a:r>
              <a:t/>
            </a:r>
          </a:p>
          <a:p xmlns:a="http://schemas.openxmlformats.org/drawingml/2006/main">
            <a:r>
              <a:t>Ví dụ giả lập, khi cần kiểm tra khách đã đồng ý thay đổi thông tin hay chưa, QA có thể tìm câu liên quan trong bản ghi chữ rồi nghe lại audio để xác nhận. Giá trị mình kỳ vọng là dễ tìm bằng chứng hơn. Part 1 giúp chọn những giải pháp có khả năng đáp ứng nhu cầu đó. Mức cải thiện thực tế sẽ đo ở Part 2.</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bảng sau giúp mình nhìn trực tiếp điểm giống và khác. Có hai bước ra quyết định: kiểm tra giải pháp có đáp ứng phạm vi và điều kiện sử dụng, rồi đo mức cải thiện trên công việc thực tế. Một ô chưa xác nhận không có nghĩa là sản phẩm không hỗ trợ.</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dòng là một ứng viên cụ thể. Whisper và PhoWhisper có cặp base và small cùng kích thước, nên phù hợp để tách tác động của tinh chỉnh tiếng Việt khỏi tác động tăng kích thước. Parakeet và Qwen giúp mở rộng sang họ model khác. Wav2Vec2 trong bảng là checkpoint 250 giờ cụ thể, không đại diện giấy phép hay chất lượng của toàn bộ họ Wav2Vec2.</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Checkpoint: openai/whisper base và small đa ngôn ngữ; vinai/PhoWhisper-base và vinai/PhoWhisper-small; nvidia/parakeet-ctc-0.6b-Vietnamese; Qwen/Qwen3-ASR-0.6B; nguyenvulebinh/wav2vec2-base-vietnamese-250h.</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CTC là cách model dự đoán chữ theo các bước thời gian rồi gộp các ký hiệu lặp và ký hiệu trống. Với người dùng business, sự khác biệt này là lý do thử nhiều họ model chứ chưa phải bằng chứng model nào tốt hơn. Các giờ dữ liệu trong bảng thuộc những giai đoạn học khác nhau. Team cần đánh giá lỗi trên cùng một tập audio thay vì so giờ dữ liệu huấn luyện.</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đang dùng PhoWhisper-base. Thử Whisper-base giúp hỏi lợi ích đến từ tinh chỉnh tiếng Việt hay không. Thử PhoWhisper-small giúp hỏi lợi ích khi tăng kích thước. Cặp Whisper-small và PhoWhisper-small kiểm tra lại tác động tinh chỉnh ở kích thước khác. Để tách tác động model, cần giữ điều kiện chạy tương đương hoặc báo cáo rõ khác biệt runtime.</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SYSTRAN (n.d.) faster whisper. https://github.com/SYSTRAN/faster-whisper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Trên các tập được VinAI báo cáo, các bản lớn hơn có WER thấp hơn. Điều đó tạo lý do thử small từ baseline base, nhưng chưa chứng minh đủ lợi ích trên audio hiện tại. Các tập dữ liệu có mức khó khác nhau. Mình cần đối chiếu lỗi quan trọng, công sửa và thời gian xử lý để quyết định có nên đổi model. Bảng giữ nguyên số liệu nguồn, không ghép với số liệu model khác để xếp hạng.</a:t>
            </a:r>
          </a:p>
          <a:p xmlns:a="http://schemas.openxmlformats.org/drawingml/2006/main">
            <a:r>
              <a:t/>
            </a:r>
          </a:p>
          <a:p xmlns:a="http://schemas.openxmlformats.org/drawingml/2006/main">
            <a:r>
              <a:t>Nguồn tham khảo</a:t>
            </a:r>
          </a:p>
          <a:p xmlns:a="http://schemas.openxmlformats.org/drawingml/2006/main">
            <a:r>
              <a:t>VinAI Research (n.d.) PhoWhisper. https://github.com/VinAIResearch/PhoWhisper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LM là mô hình ngôn ngữ, hỗ trợ chọn chuỗi chữ hợp lý hơn khi giải mã. Bảng này cho thấy thay cấu hình có thể làm thay đổi kết quả của cùng một checkpoint. Đây là lý do benchmark phải ghi có hay không có LM. Chưa đối chiếu trực tiếp với bảng PhoWhisper vì nguồn riêng có thể khác phân chia dữ liệu và cách chuẩn hóa. Checkpoint vẫn có giới hạn phi thương mại.</a:t>
            </a:r>
          </a:p>
          <a:p xmlns:a="http://schemas.openxmlformats.org/drawingml/2006/main">
            <a:r>
              <a:t/>
            </a:r>
          </a:p>
          <a:p xmlns:a="http://schemas.openxmlformats.org/drawingml/2006/main">
            <a:r>
              <a:t>Nguồn tham khảo</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Nhận dạng nội dung và phân biệt người nói là hai công việc khác nhau. Bảng này tránh việc chọn model nhận dạng rồi mặc định có thể gán câu cho nhân viên hay khách hàng. Parakeet có ví dụ trả thời gian ở nhiều mức. Với Qwen, model nhận dạng hỗ trợ tiếng Việt nhưng aligner công bố chưa liệt kê tiếng Việt. Cần đo thời gian QA tìm đúng đoạn, không chỉ kiểm tra trường dữ liệu tồn tại.</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bảng là dự tính phần việc team phải làm trước khi chạy benchmark. Wav2Vec2 cần chú ý hướng dẫn audio ngắn của checkpoint này. Những bước chia audio và ghép chữ có thể ảnh hưởng trải nghiệm đọc cả cuộc gọi. Khả năng streaming là nhận kết quả trong lúc audio đang đến, khác với chạy file đã ghi. Cần kiểm tra nhu cầu thực tế trước khi đầu tư phần vận hành đó.</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Miễn phí tải model không có nghĩa tổng chi phí bằng không. Khi cân nhắc business, mình cần cộng máy chạy, công triển khai, bảo trì và thời gian sửa transcript. Giấy phép được ghi theo nguồn công bố của ứng viên cụ thể. Checkpoint Wav2Vec2 này có điều kiện phi thương mại, vì vậy chỉ giữ trong phạm vi nghiên cứu phù hợp. Không suy rộng giới hạn này sang tất cả checkpoint Wav2Vec2.</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phân biệt model nhận dạng và công cụ giúp model chạy. Với business, điều cần hiểu là team có thể cải thiện thời gian xử lý bằng cách đổi công cụ vận hành, bên cạnh việc đổi model.</a:t>
            </a:r>
          </a:p>
          <a:p xmlns:a="http://schemas.openxmlformats.org/drawingml/2006/main">
            <a:r>
              <a:t/>
            </a:r>
          </a:p>
          <a:p xmlns:a="http://schemas.openxmlformats.org/drawingml/2006/main">
            <a:r>
              <a:t>Ví dụ giả lập, cùng bản ghi được xử lý nhanh hơn sau khi đổi công cụ chạy. Điều đó có thể giúp QA nhận kết quả sớm hơn, nhưng mình vẫn phải kiểm tra chữ có giữ đúng không. Một cấu hình chạy nhanh mà làm sai nhiều số tiền sẽ tạo thêm công sửa. Em đề xuất nhìn đồng thời thời gian chờ, chất lượng đầu ra và công sức hỗ trợ. Các tên như faster-whisper hay INT8 trên slide là thông tin để đội kỹ thuật thực hiện. Kết quả trình manager cần cho thấy phần công việc được cải thiện và chi phí đi kèm.</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Giữ model Whisper-small cố định và đổi công cụ chạy giúp đánh giá tối ưu vận hành riêng. Faster-whisper dùng CTranslate2, có lựa chọn tính toán 8-bit trên CPU và GPU. Không chuyển con số tốc độ trong README thành cam kết cho audio tiếng Việt của mình. Team đo cùng máy và audio, rồi kiểm tra transcript trước khi chọn cấu hình triển khai.</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SYSTRAN (n.d.) faster whisper. https://github.com/SYSTRAN/faster-whisper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API nghĩa là công ty gửi audio đến dịch vụ để nhận transcript. Nhà cung cấp vận hành phần nhận dạng, còn team vẫn cần tích hợp kết quả vào công cụ QA và quản lý dữ liệu.</a:t>
            </a:r>
          </a:p>
          <a:p xmlns:a="http://schemas.openxmlformats.org/drawingml/2006/main">
            <a:r>
              <a:t/>
            </a:r>
          </a:p>
          <a:p xmlns:a="http://schemas.openxmlformats.org/drawingml/2006/main">
            <a:r>
              <a:t>Hướng này đáng khảo sát khi muốn giảm phần tự vận hành model hoặc cần chức năng bổ sung. Ví dụ giả lập, QA muốn vừa đọc nội dung vừa biết câu nào thuộc khách hàng. Mình sẽ chọn dịch vụ theo đầu ra đó, thay vì chỉ so giá tạo chữ. Các API trong bảng là dịch vụ thương mại. Gói dùng thử có thể giúp thăm dò, nhưng ngân sách lâu dài cần tính theo sản lượng và điều kiện giá thực tế. Quyết định nên dựa trên lợi ích sử dụng, chi phí toàn bộ và nơi audio được xử lý.</a:t>
            </a:r>
          </a:p>
          <a:p xmlns:a="http://schemas.openxmlformats.org/drawingml/2006/main">
            <a:r>
              <a:t/>
            </a:r>
          </a:p>
          <a:p xmlns:a="http://schemas.openxmlformats.org/drawingml/2006/main">
            <a:r>
              <a:t>Nguồn tham khảo</a:t>
            </a:r>
          </a:p>
          <a:p xmlns:a="http://schemas.openxmlformats.org/drawingml/2006/main">
            <a:r>
              <a:t>OpenAI (n.d.b) File transcription. https://developers.openai.com/api/docs/guides/speech-to-text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Thay vì chọn một API vì tên model mới, team chọn theo đầu ra cần dùng. Bản có diarization trả nhãn người nói cùng thời gian đoạn. Nhãn đó vẫn cần kiểm tra vai trò khách hàng và nhân viên. Whisper-1 có tham số thời gian từng từ và phục vụ một số đầu ra chuyên biệt. File streaming là nhận kết quả dần từ file, không đồng nghĩa luồng cuộc gọi trực tiếp.</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OpenAI (n.d.b) File transcription. https://developers.openai.com/api/docs/guides/speech-to-text (Accessed: 7 October 2026).</a:t>
            </a:r>
          </a:p>
          <a:p xmlns:a="http://schemas.openxmlformats.org/drawingml/2006/main">
            <a:r>
              <a:t>OpenAI (n.d.c) GPT Transcribe model. https://developers.openai.com/api/docs/models/gpt-transcribe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Chirp 3 và Azure Speech đều là hướng khảo sát cho tiếng Việt. Điều đáng quan tâm là khả năng hỗ trợ từ vựng thường gặp trong công việc, như “kỳ phí” hoặc “bên mua bảo hiểm”.</a:t>
            </a:r>
          </a:p>
          <a:p xmlns:a="http://schemas.openxmlformats.org/drawingml/2006/main">
            <a:r>
              <a:t/>
            </a:r>
          </a:p>
          <a:p xmlns:a="http://schemas.openxmlformats.org/drawingml/2006/main">
            <a:r>
              <a:t>Ví dụ giả lập, mình cung cấp danh sách thuật ngữ rồi so với lần xử lý không có danh sách. Nếu số lỗi giảm, QA có thể phải sửa ít hơn. Mức lợi ích này vẫn cần đo. Với Google, danh sách ngôn ngữ tạo chữ có tiếng Việt, còn danh sách tách người nói chưa có tiếng Việt. Nếu QA cần biết ai nói, team phải xem giải pháp bổ sung. Với Azure, cần xác nhận chức năng trong cấu hình sẽ sử dụng. Điểm business là hiểu dịch vụ đáp ứng được phần việc nào và phần nào công ty còn phải xây thêm.</a:t>
            </a:r>
          </a:p>
          <a:p xmlns:a="http://schemas.openxmlformats.org/drawingml/2006/main">
            <a:r>
              <a:t/>
            </a:r>
          </a:p>
          <a:p xmlns:a="http://schemas.openxmlformats.org/drawingml/2006/main">
            <a:r>
              <a:t>Nguồn tham khảo</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đặt hai nhà cung cấp cạnh nhau để tránh suy luận từ nhãn sản phẩm. AWS có nhận dạng tiếng Việt nhưng bảng tính năng không ghi hỗ trợ Call Analytics cho tiếng Việt. Deepgram có tiếng Việt ở Nova-3 và Nova-2, trong khi các variant Nova-2 phonecall và finance trong tài liệu được liệt kê cho tiếng Anh. Team cần xác nhận đúng gói muốn mua.</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Container là phần mềm đóng gói để chạy trong môi trường được quản lý. Đây vẫn là lựa chọn thương mại. Bảng giúp manager nhìn thấy phần việc chuyển từ nhà cung cấp sang team khi chọn hạ tầng riêng. Mình cần so tổng phí và công vận hành, mức hỗ trợ nhà cung cấp và đầu ra QA, thay vì mặc định container sẽ ít tốn kém hơn.</a:t>
            </a:r>
          </a:p>
          <a:p xmlns:a="http://schemas.openxmlformats.org/drawingml/2006/main">
            <a:r>
              <a:t/>
            </a:r>
          </a:p>
          <a:p xmlns:a="http://schemas.openxmlformats.org/drawingml/2006/main">
            <a:r>
              <a:t>Bảng so sánh mô tả khả năng công bố của đúng checkpoint hoặc cấu hình ghi trên slide. Màu vàng đánh dấu phần cần xác nhận hoặc đo. Không suy ra chất lượng nhận dạng, tốc độ hoặc chi phí thực tế chỉ từ tên model và số tham số. Khi thử nghiệm, team cần ghi phiên bản, audio và cách xử lý giống nhau để so sánh công bằng.</a:t>
            </a:r>
          </a:p>
          <a:p xmlns:a="http://schemas.openxmlformats.org/drawingml/2006/main">
            <a:r>
              <a:t/>
            </a:r>
          </a:p>
          <a:p xmlns:a="http://schemas.openxmlformats.org/drawingml/2006/main">
            <a:r>
              <a:t>Nguồn tham khảo</a:t>
            </a:r>
          </a:p>
          <a:p xmlns:a="http://schemas.openxmlformats.org/drawingml/2006/main">
            <a:r>
              <a:t>Speechmatics (n.d.a) Languages. https://docs.speechmatics.com/speech-to-text/languages (Accessed: 7 October 2026).</a:t>
            </a:r>
          </a:p>
          <a:p xmlns:a="http://schemas.openxmlformats.org/drawingml/2006/main">
            <a:r>
              <a:t>Speechmatics (n.d.b) Deployments overview. https://docs.speechmatics.com/deployments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Với nhà cung cấp Việt Nam, em khảo sát VNPT SmartVoice và FPT.AI dựa trên tài liệu tích hợp đã có. Viettel AI nằm trong danh sách cần bổ sung thông tin hiện hành.</a:t>
            </a:r>
          </a:p>
          <a:p xmlns:a="http://schemas.openxmlformats.org/drawingml/2006/main">
            <a:r>
              <a:t/>
            </a:r>
          </a:p>
          <a:p xmlns:a="http://schemas.openxmlformats.org/drawingml/2006/main">
            <a:r>
              <a:t>Ví dụ giả lập, QA cần mở bản ghi, tìm đoạn khách hỏi về phí rồi nghe lại. Khi trao đổi với vendor, mình cần hỏi đầu ra có nội dung chữ, người nói và mốc thời gian phù hợp không, có xử lý được bản ghi tổng đài đang dùng không, và các chức năng đó nằm trong gói nào. Tài liệu mẫu có chữ chưa đủ xác nhận toàn bộ trải nghiệm này. Em cũng đề xuất hỏi nơi xử lý audio và chi phí hỗ trợ. Nhà cung cấp trong nước là một hướng để làm việc trực tiếp, còn mức phù hợp cần dựa vào cấu hình và kết quả thử.</a:t>
            </a:r>
          </a:p>
          <a:p xmlns:a="http://schemas.openxmlformats.org/drawingml/2006/main">
            <a:r>
              <a:t/>
            </a:r>
          </a:p>
          <a:p xmlns:a="http://schemas.openxmlformats.org/drawingml/2006/main">
            <a:r>
              <a:t>Nguồn tham khảo</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Điều rút ra từ survey là quyết định nên bắt đầu từ công việc QA cần hoàn thành. Transcript cần giữ đúng các chi tiết ảnh hưởng đánh giá cuộc gọi, đồng thời giúp người dùng tìm và xác nhận thông tin thuận tiện.</a:t>
            </a:r>
          </a:p>
          <a:p xmlns:a="http://schemas.openxmlformats.org/drawingml/2006/main">
            <a:r>
              <a:t/>
            </a:r>
          </a:p>
          <a:p xmlns:a="http://schemas.openxmlformats.org/drawingml/2006/main">
            <a:r>
              <a:t>Ví dụ giả lập, hệ thống ghi đúng “hai triệu rưỡi” nhưng bước đổi chữ thành số tạo thành 25 triệu. Khi đó lỗi phát sinh sau nhận dạng. Hoặc chữ đúng nhưng gán câu của khách cho nhân viên, kết quả QA vẫn có thể sai. Vì vậy, mình cần xem cả đầu ra được sử dụng. Điều kiện giấy phép và các chức năng tiếng Việt cũng quyết định công sức còn phải bổ sung. Các phát hiện này giúp team chọn câu hỏi thử nghiệm cụ thể và tránh dự tính lợi ích vượt quá khả năng đã xác nhận.</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đề xuất thử theo từng vòng để sử dụng thời gian và ngân sách có mục đích. Vòng đầu dùng PhoWhisper-base hiện tại làm mốc, rồi so với Whisper-base và các bản small. Mục tiêu là xem có giảm lỗi và công sửa mà vẫn xử lý kịp nhu cầu không.</a:t>
            </a:r>
          </a:p>
          <a:p xmlns:a="http://schemas.openxmlformats.org/drawingml/2006/main">
            <a:r>
              <a:t/>
            </a:r>
          </a:p>
          <a:p xmlns:a="http://schemas.openxmlformats.org/drawingml/2006/main">
            <a:r>
              <a:t>Vòng tiếp theo mở rộng sang Parakeet và Qwen3-ASR nếu hạ tầng phù hợp. API thương mại chỉ thêm khi có lý do rõ, chẳng hạn cần đầu ra bổ sung hoặc muốn giảm phần tự vận hành. Em đề xuất chọn một đến hai API trước để đo lợi ích so với chi phí. Shortlist này là thứ tự nghiên cứu, chưa phải thứ hạng chất lượng. Sau thử nghiệm, lựa chọn phù hợp sẽ dựa trên mức cải thiện công việc cùng khả năng vận hành lâu dài.</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Part 1, em đề xuất team thống nhất nhu cầu ưu tiên: QA cần đọc chữ, tìm và nghe lại đoạn liên quan, hay cần thêm người nói. Từ đó mình chọn các cấu hình đáng thử và xác định phần việc cần cải thiện.</a:t>
            </a:r>
          </a:p>
          <a:p xmlns:a="http://schemas.openxmlformats.org/drawingml/2006/main">
            <a:r>
              <a:t/>
            </a:r>
          </a:p>
          <a:p xmlns:a="http://schemas.openxmlformats.org/drawingml/2006/main">
            <a:r>
              <a:t>Part 2 sẽ dùng cùng bộ audio và bản ghi tham chiếu để kiểm tra độ đúng. Ngoài lỗi nhận dạng, em đề xuất đo thời gian QA tìm một đoạn, thời gian sửa transcript và thời gian chờ hệ thống. Ví dụ giả lập, một giải pháp giảm công sửa nhưng tăng thời gian chờ cần được cân đối theo lịch review. Kết quả cần trả lời phương án nào đáp ứng nhu cầu tốt hơn với chi phí phù hợp. Sau đó team mới quyết định bước thử nghiệm vận hành tiếp theo.</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Baevski et al. (2020) wav2vec 2.0 A Framework for Self Supervised Learning of Speech Representations. https://arxiv.org/abs/2006.11477 (Accessed: 7 October 2026).</a:t>
            </a:r>
          </a:p>
          <a:p xmlns:a="http://schemas.openxmlformats.org/drawingml/2006/main">
            <a:r>
              <a:t>SYSTRAN (n.d.) faster whisper. https://github.com/SYSTRAN/faster-whisper (Accessed: 7 October 2026).</a:t>
            </a:r>
          </a:p>
          <a:p xmlns:a="http://schemas.openxmlformats.org/drawingml/2006/main">
            <a:r>
              <a:t>OpenAI (n.d.b) File transcription. https://developers.openai.com/api/docs/guides/speech-to-text (Accessed: 7 October 2026).</a:t>
            </a:r>
          </a:p>
          <a:p xmlns:a="http://schemas.openxmlformats.org/drawingml/2006/main">
            <a:r>
              <a:t>OpenAI (n.d.c) GPT Transcribe model. https://developers.openai.com/api/docs/models/gpt-transcribe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a:p xmlns:a="http://schemas.openxmlformats.org/drawingml/2006/main">
            <a:r>
              <a:t>Speechmatics (n.d.b) Deployments overview. https://docs.speechmatics.com/deployments (Accessed: 7 October 2026).</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7f8596b2648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25e5731d614b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7b654de51840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8fc47e4c444d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0da2a9c2b244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60811cba3c4a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FDB5E7C-4F3C-44AD-8990-8276EC951F0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913E088-7254-4D52-B49E-054B9367E6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B50210BA-3FC2-4EFF-A1F0-893CB322A8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C117F98C-E216-4092-9197-DD9F85B05812}"/>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9B440D4-5C6C-44EE-811B-5C2A3E57C5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179D53C-FB56-406A-97C0-30643C1D89D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9048026-CA5C-4B8A-BE4D-593F8AA7C4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90EA519-BA46-4026-AB6B-3454FEEEA7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6E1224F-A985-4C36-AC54-F80E5D0369D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0CF49BF-C0F7-4D39-B31E-4EFE99E4F4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51A9C40-EF27-47D7-8CD8-FA84ABCCD3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4398AF6-A91D-40A7-9E21-35640DDC144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5FB1CA4-1941-45C5-A013-C1B7228E323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717779F-67D8-48C2-AF5C-0CBD481C8C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E066DB3-2069-4D2F-91F6-CD921EE50B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b8c4e8bb4b4146" /><Relationship Type="http://schemas.openxmlformats.org/officeDocument/2006/relationships/slideLayout" Target="/ppt/slideLayouts/slideLayout1.xml" Id="R5390a6225c68469c" /><Relationship Type="http://schemas.openxmlformats.org/officeDocument/2006/relationships/slideLayout" Target="/ppt/slideLayouts/slideLayout2.xml" Id="R932f3aacdbd947b0" /><Relationship Type="http://schemas.openxmlformats.org/officeDocument/2006/relationships/slideLayout" Target="/ppt/slideLayouts/slideLayout3.xml" Id="R3e1a80334ae74822" /><Relationship Type="http://schemas.openxmlformats.org/officeDocument/2006/relationships/slideLayout" Target="/ppt/slideLayouts/slideLayout4.xml" Id="Rda4b7f25d3f647ac" /><Relationship Type="http://schemas.openxmlformats.org/officeDocument/2006/relationships/slideLayout" Target="/ppt/slideLayouts/slideLayout5.xml" Id="Re1fd87c3fcbe46b5" /><Relationship Type="http://schemas.openxmlformats.org/officeDocument/2006/relationships/slideLayout" Target="/ppt/slideLayouts/slideLayout6.xml" Id="R21a731170b644e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90a6225c68469c"/>
    <p:sldLayoutId xmlns:r="http://schemas.openxmlformats.org/officeDocument/2006/relationships" id="2147483650" r:id="R932f3aacdbd947b0"/>
    <p:sldLayoutId xmlns:r="http://schemas.openxmlformats.org/officeDocument/2006/relationships" id="2147483651" r:id="R3e1a80334ae74822"/>
    <p:sldLayoutId xmlns:r="http://schemas.openxmlformats.org/officeDocument/2006/relationships" id="2147483652" r:id="Rda4b7f25d3f647ac"/>
    <p:sldLayoutId xmlns:r="http://schemas.openxmlformats.org/officeDocument/2006/relationships" id="2147483653" r:id="Re1fd87c3fcbe46b5"/>
    <p:sldLayoutId xmlns:r="http://schemas.openxmlformats.org/officeDocument/2006/relationships" id="2147483654" r:id="R21a731170b644e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543cbcdfdc421a" /><Relationship Type="http://schemas.openxmlformats.org/officeDocument/2006/relationships/notesSlide" Target="/ppt/notesSlides/notesSlide1.xml" Id="R8816dea28fa644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a4e91f456340f6" /><Relationship Type="http://schemas.openxmlformats.org/officeDocument/2006/relationships/notesSlide" Target="/ppt/notesSlides/notesSlide2.xml" Id="Ra86d7698b60147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dbd92cae26421e" /><Relationship Type="http://schemas.openxmlformats.org/officeDocument/2006/relationships/notesSlide" Target="/ppt/notesSlides/notesSlide3.xml" Id="R66080bd43a444b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eaaae957404523" /><Relationship Type="http://schemas.openxmlformats.org/officeDocument/2006/relationships/notesSlide" Target="/ppt/notesSlides/notesSlide4.xml" Id="Ra8570d7f1b63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b66e7110134262" /><Relationship Type="http://schemas.openxmlformats.org/officeDocument/2006/relationships/notesSlide" Target="/ppt/notesSlides/notesSlide5.xml" Id="R38ead12da9244f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b434031b3e4197" /><Relationship Type="http://schemas.openxmlformats.org/officeDocument/2006/relationships/notesSlide" Target="/ppt/notesSlides/notesSlide6.xml" Id="R3ea17d2710814b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855cb1ebf14c33" /><Relationship Type="http://schemas.openxmlformats.org/officeDocument/2006/relationships/notesSlide" Target="/ppt/notesSlides/notesSlide7.xml" Id="Ra0bd28879f2b41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36199b79ee477c" /><Relationship Type="http://schemas.openxmlformats.org/officeDocument/2006/relationships/notesSlide" Target="/ppt/notesSlides/notesSlide8.xml" Id="R8a91a124931346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d718e113244b64" /><Relationship Type="http://schemas.openxmlformats.org/officeDocument/2006/relationships/notesSlide" Target="/ppt/notesSlides/notesSlide9.xml" Id="Rd9b605bf65e04e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bd445d1a59d4b0d" /><Relationship Type="http://schemas.openxmlformats.org/officeDocument/2006/relationships/notesSlide" Target="/ppt/notesSlides/notesSlide10.xml" Id="Rb942e39c63c341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d99a00c4574ac7" /><Relationship Type="http://schemas.openxmlformats.org/officeDocument/2006/relationships/notesSlide" Target="/ppt/notesSlides/notesSlide11.xml" Id="R2d26471fc16048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c0811639b04fd7" /><Relationship Type="http://schemas.openxmlformats.org/officeDocument/2006/relationships/notesSlide" Target="/ppt/notesSlides/notesSlide12.xml" Id="Rf757bcb3a11b4b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5f282b3cdd4fb4" /><Relationship Type="http://schemas.openxmlformats.org/officeDocument/2006/relationships/notesSlide" Target="/ppt/notesSlides/notesSlide13.xml" Id="R05356a41958f4b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dd950e396b1408f" /><Relationship Type="http://schemas.openxmlformats.org/officeDocument/2006/relationships/notesSlide" Target="/ppt/notesSlides/notesSlide14.xml" Id="Rd601a66cf2434d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695bf26a18b4c9e" /><Relationship Type="http://schemas.openxmlformats.org/officeDocument/2006/relationships/notesSlide" Target="/ppt/notesSlides/notesSlide15.xml" Id="R53c8abf5d4f745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5d742d362f04e97" /><Relationship Type="http://schemas.openxmlformats.org/officeDocument/2006/relationships/notesSlide" Target="/ppt/notesSlides/notesSlide16.xml" Id="Re567684d172b4f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4a8e69b0db2408d" /><Relationship Type="http://schemas.openxmlformats.org/officeDocument/2006/relationships/notesSlide" Target="/ppt/notesSlides/notesSlide17.xml" Id="R55cff5fe1c094a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22da8784f6c4c8b" /><Relationship Type="http://schemas.openxmlformats.org/officeDocument/2006/relationships/notesSlide" Target="/ppt/notesSlides/notesSlide18.xml" Id="Rcd5ae7fc6f5840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d4913017ea34162" /><Relationship Type="http://schemas.openxmlformats.org/officeDocument/2006/relationships/notesSlide" Target="/ppt/notesSlides/notesSlide19.xml" Id="R981bcffbe0ff44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7c4e0ee0c864863" /><Relationship Type="http://schemas.openxmlformats.org/officeDocument/2006/relationships/notesSlide" Target="/ppt/notesSlides/notesSlide20.xml" Id="R5bca1d8545554a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757f26f2e49466b" /><Relationship Type="http://schemas.openxmlformats.org/officeDocument/2006/relationships/notesSlide" Target="/ppt/notesSlides/notesSlide21.xml" Id="Reeb4e80af9fe400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fce51436ef345b6" /><Relationship Type="http://schemas.openxmlformats.org/officeDocument/2006/relationships/notesSlide" Target="/ppt/notesSlides/notesSlide22.xml" Id="R6f4c86904bd348f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43399cb0e4c45f7" /><Relationship Type="http://schemas.openxmlformats.org/officeDocument/2006/relationships/notesSlide" Target="/ppt/notesSlides/notesSlide23.xml" Id="Rc343d3001412460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911302f38f44993" /><Relationship Type="http://schemas.openxmlformats.org/officeDocument/2006/relationships/notesSlide" Target="/ppt/notesSlides/notesSlide24.xml" Id="R65a1e101472d4947" /></Relationships>
</file>

<file path=ppt/slides/slide1.xml><?xml version="1.0" encoding="utf-8"?>
<p:sld xmlns:p="http://schemas.openxmlformats.org/presentationml/2006/main">
  <p:cSld>
    <p:bg>
      <p:bgPr>
        <a:solidFill xmlns:a="http://schemas.openxmlformats.org/drawingml/2006/main">
          <a:srgbClr val="1226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C46671-838F-4378-A8B6-8050DFE36EC1}"/>
              </a:ext>
            </a:extLst>
          </p:cNvPr>
          <p:cNvSpPr>
            <a:spLocks xmlns:a="http://schemas.openxmlformats.org/drawingml/2006/main" noGrp="1"/>
          </p:cNvSpPr>
          <p:nvPr/>
        </p:nvSpPr>
        <p:spPr>
          <a:xfrm xmlns:a="http://schemas.openxmlformats.org/drawingml/2006/main">
            <a:off x="685800" y="9048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9D6CB"/>
                </a:solidFill>
                <a:latin typeface="DejaVu Sans"/>
                <a:ea typeface="DejaVu Sans"/>
                <a:cs typeface="DejaVu Sans"/>
              </a:defRPr>
            </a:pPr>
            <a:r>
              <a:rPr sz="1800" b="1">
                <a:solidFill>
                  <a:srgbClr val="79D6CB"/>
                </a:solidFill>
                <a:latin typeface="DejaVu Sans"/>
                <a:ea typeface="DejaVu Sans"/>
                <a:cs typeface="DejaVu Sans"/>
              </a:rPr>
              <a:t>PART 1</a:t>
            </a:r>
          </a:p>
        </p:txBody>
      </p:sp>
      <p:sp>
        <p:nvSpPr>
          <p:cNvPr id="2" name="">
            <a:extLst xmlns:a="http://schemas.openxmlformats.org/drawingml/2006/main">
              <a:ext uri="{FF2B5EF4-FFF2-40B4-BE49-F238E27FC236}">
                <a16:creationId xmlns:a16="http://schemas.microsoft.com/office/drawing/2014/main" id="{8E08D3C9-6498-4543-A68C-3B3387965F4D}"/>
              </a:ext>
            </a:extLst>
          </p:cNvPr>
          <p:cNvSpPr>
            <a:spLocks xmlns:a="http://schemas.openxmlformats.org/drawingml/2006/main" noGrp="1"/>
          </p:cNvSpPr>
          <p:nvPr/>
        </p:nvSpPr>
        <p:spPr>
          <a:xfrm xmlns:a="http://schemas.openxmlformats.org/drawingml/2006/main">
            <a:off x="685800" y="1790700"/>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Khảo sát model và API</a:t>
            </a:r>
          </a:p>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Speech to Text tiếng Việt</a:t>
            </a:r>
          </a:p>
        </p:txBody>
      </p:sp>
      <p:sp>
        <p:nvSpPr>
          <p:cNvPr id="3" name="">
            <a:extLst xmlns:a="http://schemas.openxmlformats.org/drawingml/2006/main">
              <a:ext uri="{FF2B5EF4-FFF2-40B4-BE49-F238E27FC236}">
                <a16:creationId xmlns:a16="http://schemas.microsoft.com/office/drawing/2014/main" id="{D06EAE86-DB9B-4507-9ABB-E7140AE2CAD8}"/>
              </a:ext>
            </a:extLst>
          </p:cNvPr>
          <p:cNvSpPr>
            <a:spLocks xmlns:a="http://schemas.openxmlformats.org/drawingml/2006/main" noGrp="1"/>
          </p:cNvSpPr>
          <p:nvPr/>
        </p:nvSpPr>
        <p:spPr>
          <a:xfrm xmlns:a="http://schemas.openxmlformats.org/drawingml/2006/main">
            <a:off x="685800" y="40005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9D9E7"/>
                </a:solidFill>
                <a:latin typeface="DejaVu Sans"/>
                <a:ea typeface="DejaVu Sans"/>
                <a:cs typeface="DejaVu Sans"/>
              </a:defRPr>
            </a:pPr>
            <a:r>
              <a:rPr sz="2100" b="0">
                <a:solidFill>
                  <a:srgbClr val="C9D9E7"/>
                </a:solidFill>
                <a:latin typeface="DejaVu Sans"/>
                <a:ea typeface="DejaVu Sans"/>
                <a:cs typeface="DejaVu Sans"/>
              </a:rPr>
              <a:t>Nghiên cứu các lựa chọn và điều đáng thử</a:t>
            </a:r>
          </a:p>
        </p:txBody>
      </p:sp>
      <p:sp>
        <p:nvSpPr>
          <p:cNvPr id="4" name="">
            <a:extLst xmlns:a="http://schemas.openxmlformats.org/drawingml/2006/main">
              <a:ext uri="{FF2B5EF4-FFF2-40B4-BE49-F238E27FC236}">
                <a16:creationId xmlns:a16="http://schemas.microsoft.com/office/drawing/2014/main" id="{8D7BD161-AAF0-456D-86C8-FFB6B852BA02}"/>
              </a:ext>
            </a:extLst>
          </p:cNvPr>
          <p:cNvSpPr>
            <a:spLocks xmlns:a="http://schemas.openxmlformats.org/drawingml/2006/main" noGrp="1"/>
          </p:cNvSpPr>
          <p:nvPr/>
        </p:nvSpPr>
        <p:spPr>
          <a:xfrm xmlns:a="http://schemas.openxmlformats.org/drawingml/2006/main">
            <a:off x="685800" y="50482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Part 1</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Cuộc gọi bảo hiểm</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Phát Đàm</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7 October 2026</a:t>
            </a:r>
          </a:p>
        </p:txBody>
      </p:sp>
    </p:spTree>
    <p:extLst>
      <p:ext uri="{BB962C8B-B14F-4D97-AF65-F5344CB8AC3E}">
        <p14:creationId xmlns:p14="http://schemas.microsoft.com/office/powerpoint/2010/main" val="821526727"/>
      </p:ext>
    </p:extLst>
  </p:cSld>
</p:sld>
</file>

<file path=ppt/slides/slide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F35643-B0EE-4D6C-A683-831AE98DC65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Cách đọc các ma trận</a:t>
            </a:r>
          </a:p>
        </p:txBody>
      </p:sp>
      <p:sp>
        <p:nvSpPr>
          <p:cNvPr id="2" name="">
            <a:extLst xmlns:a="http://schemas.openxmlformats.org/drawingml/2006/main">
              <a:ext uri="{FF2B5EF4-FFF2-40B4-BE49-F238E27FC236}">
                <a16:creationId xmlns:a16="http://schemas.microsoft.com/office/drawing/2014/main" id="{94496930-5C91-4A66-AC61-EE0D853B0166}"/>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Thông tin công bố và kết quả cần thử nghiệm</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733425">
                <a:tc>
                  <a:txBody>
                    <a:bodyPr/>
                    <a:lstStyle/>
                    <a:p>
                      <a:r>
                        <a:rPr sz="1575" b="1">
                          <a:solidFill>
                            <a:srgbClr val="FFFFFF"/>
                          </a:solidFill>
                          <a:latin typeface="DejaVu Sans"/>
                          <a:ea typeface="DejaVu Sans"/>
                          <a:cs typeface="DejaVu Sans"/>
                        </a:rPr>
                        <a:t>Loại thông tin</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Ví dụ</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Cách dùng để quyết định</a:t>
                      </a:r>
                    </a:p>
                  </a:txBody>
                  <a:tcPr marL="133350" marR="133350" marT="47625" marB="47625" anchor="ctr">
                    <a:solidFill>
                      <a:srgbClr val="087F78"/>
                    </a:solidFill>
                  </a:tcPr>
                </a:tc>
              </a:tr>
              <a:tr h="733425">
                <a:tc>
                  <a:txBody>
                    <a:bodyPr/>
                    <a:lstStyle/>
                    <a:p>
                      <a:r>
                        <a:rPr sz="1575" b="0">
                          <a:solidFill>
                            <a:srgbClr val="182D45"/>
                          </a:solidFill>
                          <a:latin typeface="DejaVu Sans"/>
                          <a:ea typeface="DejaVu Sans"/>
                          <a:cs typeface="DejaVu Sans"/>
                        </a:rPr>
                        <a:t>Thông tin công bố</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Checkpoint, giấy phép, đầu ra</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Sàng lọc ứng viên trước khi thử</a:t>
                      </a:r>
                    </a:p>
                  </a:txBody>
                  <a:tcPr marL="133350" marR="133350" marT="47625" marB="47625" anchor="ctr">
                    <a:solidFill>
                      <a:srgbClr val="FFFFFF"/>
                    </a:solidFill>
                  </a:tcPr>
                </a:tc>
              </a:tr>
              <a:tr h="733425">
                <a:tc>
                  <a:txBody>
                    <a:bodyPr/>
                    <a:lstStyle/>
                    <a:p>
                      <a:r>
                        <a:rPr sz="1575" b="0">
                          <a:solidFill>
                            <a:srgbClr val="182D45"/>
                          </a:solidFill>
                          <a:latin typeface="DejaVu Sans"/>
                          <a:ea typeface="DejaVu Sans"/>
                          <a:cs typeface="DejaVu Sans"/>
                        </a:rPr>
                        <a:t>Thông tin cần xác nhận</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Gói API, người nói tiếng Việt</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Hỏi đúng dịch vụ và cấu hình</a:t>
                      </a:r>
                    </a:p>
                  </a:txBody>
                  <a:tcPr marL="133350" marR="133350" marT="47625" marB="47625" anchor="ctr">
                    <a:solidFill>
                      <a:srgbClr val="EEF3F8"/>
                    </a:solidFill>
                  </a:tcPr>
                </a:tc>
              </a:tr>
              <a:tr h="733425">
                <a:tc>
                  <a:txBody>
                    <a:bodyPr/>
                    <a:lstStyle/>
                    <a:p>
                      <a:r>
                        <a:rPr sz="1575" b="0">
                          <a:solidFill>
                            <a:srgbClr val="182D45"/>
                          </a:solidFill>
                          <a:latin typeface="DejaVu Sans"/>
                          <a:ea typeface="DejaVu Sans"/>
                          <a:cs typeface="DejaVu Sans"/>
                        </a:rPr>
                        <a:t>Kết quả cần benchmark</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Lỗi nhận dạng, tốc độ, công sửa</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Đo trên cùng audio đại diện</a:t>
                      </a:r>
                    </a:p>
                  </a:txBody>
                  <a:tcPr marL="133350" marR="133350" marT="47625" marB="47625" anchor="ctr">
                    <a:solidFill>
                      <a:srgbClr val="FFFFFF"/>
                    </a:solidFill>
                  </a:tcPr>
                </a:tc>
              </a:tr>
              <a:tr h="733425">
                <a:tc>
                  <a:txBody>
                    <a:bodyPr/>
                    <a:lstStyle/>
                    <a:p>
                      <a:r>
                        <a:rPr sz="1575" b="0">
                          <a:solidFill>
                            <a:srgbClr val="182D45"/>
                          </a:solidFill>
                          <a:latin typeface="DejaVu Sans"/>
                          <a:ea typeface="DejaVu Sans"/>
                          <a:cs typeface="DejaVu Sans"/>
                        </a:rPr>
                        <a:t>Ý nghĩa màu</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Xanh có công bố, vàng cần kiểm tra</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Đỏ thể hiện giới hạn sử dụng</a:t>
                      </a:r>
                    </a:p>
                  </a:txBody>
                  <a:tcPr marL="133350" marR="133350" marT="47625" marB="47625" anchor="ctr">
                    <a:solidFill>
                      <a:srgbClr val="EEF3F8"/>
                    </a:solidFill>
                  </a:tcPr>
                </a:tc>
              </a:tr>
            </a:tbl>
          </a:graphicData>
        </a:graphic>
      </p:graphicFrame>
      <p:sp>
        <p:nvSpPr>
          <p:cNvPr id="4" name="">
            <a:extLst xmlns:a="http://schemas.openxmlformats.org/drawingml/2006/main">
              <a:ext uri="{FF2B5EF4-FFF2-40B4-BE49-F238E27FC236}">
                <a16:creationId xmlns:a16="http://schemas.microsoft.com/office/drawing/2014/main" id="{155E8994-2FC8-4328-8B39-93D2AB2EAA43}"/>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Màu thể hiện trạng thái thông tin, chưa phải xếp hạng chất lượng</a:t>
            </a:r>
          </a:p>
        </p:txBody>
      </p:sp>
      <p:sp>
        <p:nvSpPr>
          <p:cNvPr id="5" name="">
            <a:extLst xmlns:a="http://schemas.openxmlformats.org/drawingml/2006/main">
              <a:ext uri="{FF2B5EF4-FFF2-40B4-BE49-F238E27FC236}">
                <a16:creationId xmlns:a16="http://schemas.microsoft.com/office/drawing/2014/main" id="{84AFCEB6-9074-492D-942B-15D412E4F7D0}"/>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2/24</a:t>
            </a:r>
          </a:p>
        </p:txBody>
      </p:sp>
    </p:spTree>
    <p:extLst>
      <p:ext uri="{BB962C8B-B14F-4D97-AF65-F5344CB8AC3E}">
        <p14:creationId xmlns:p14="http://schemas.microsoft.com/office/powerpoint/2010/main" val="1684263731"/>
      </p:ext>
    </p:extLst>
  </p:cSld>
</p:sld>
</file>

<file path=ppt/slides/slide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12350A-E47C-4D89-A1EE-9E24FDF190BA}"/>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Model: cấu hình và phạm vi ngôn ngữ</a:t>
            </a:r>
          </a:p>
        </p:txBody>
      </p:sp>
      <p:sp>
        <p:nvSpPr>
          <p:cNvPr id="2" name="">
            <a:extLst xmlns:a="http://schemas.openxmlformats.org/drawingml/2006/main">
              <a:ext uri="{FF2B5EF4-FFF2-40B4-BE49-F238E27FC236}">
                <a16:creationId xmlns:a16="http://schemas.microsoft.com/office/drawing/2014/main" id="{38D506BB-6F65-4C75-8317-74C344E906FA}"/>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Checkpoint cụ thể giúp so sánh có cùng ý nghĩa</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194560"/>
                <a:gridCol w="2194560"/>
                <a:gridCol w="2194560"/>
                <a:gridCol w="2194560"/>
                <a:gridCol w="2194560"/>
              </a:tblGrid>
              <a:tr h="611188">
                <a:tc>
                  <a:txBody>
                    <a:bodyPr/>
                    <a:lstStyle/>
                    <a:p>
                      <a:r>
                        <a:rPr sz="1425" b="1">
                          <a:solidFill>
                            <a:srgbClr val="FFFFFF"/>
                          </a:solidFill>
                          <a:latin typeface="DejaVu Sans"/>
                          <a:ea typeface="DejaVu Sans"/>
                          <a:cs typeface="DejaVu Sans"/>
                        </a:rPr>
                        <a:t>Model</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Bản khảo sát</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Tham số</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Ngôn ngữ</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Hướng tiếp cận</a:t>
                      </a:r>
                    </a:p>
                  </a:txBody>
                  <a:tcPr marL="133350" marR="133350" marT="47625" marB="47625" anchor="ctr">
                    <a:solidFill>
                      <a:srgbClr val="087F78"/>
                    </a:solidFill>
                  </a:tcPr>
                </a:tc>
              </a:tr>
              <a:tr h="611188">
                <a:tc>
                  <a:txBody>
                    <a:bodyPr/>
                    <a:lstStyle/>
                    <a:p>
                      <a:r>
                        <a:rPr sz="1425" b="0">
                          <a:solidFill>
                            <a:srgbClr val="182D45"/>
                          </a:solidFill>
                          <a:latin typeface="DejaVu Sans"/>
                          <a:ea typeface="DejaVu Sans"/>
                          <a:cs typeface="DejaVu Sans"/>
                        </a:rPr>
                        <a:t>Whisper</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base / small</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74M / 244M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Đa ngôn ngữ, có VI</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Model gốc</a:t>
                      </a:r>
                    </a:p>
                  </a:txBody>
                  <a:tcPr marL="133350" marR="133350" marT="47625" marB="47625" anchor="ctr">
                    <a:solidFill>
                      <a:srgbClr val="FFFFFF"/>
                    </a:solidFill>
                  </a:tcPr>
                </a:tc>
              </a:tr>
              <a:tr h="611188">
                <a:tc>
                  <a:txBody>
                    <a:bodyPr/>
                    <a:lstStyle/>
                    <a:p>
                      <a:r>
                        <a:rPr sz="1425" b="0">
                          <a:solidFill>
                            <a:srgbClr val="182D45"/>
                          </a:solidFill>
                          <a:latin typeface="DejaVu Sans"/>
                          <a:ea typeface="DejaVu Sans"/>
                          <a:cs typeface="DejaVu Sans"/>
                        </a:rPr>
                        <a:t>PhoWhisper</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base / small</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74M / 244M</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Tinh chỉnh tiếng Việt</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Dựa trên Whisper</a:t>
                      </a:r>
                    </a:p>
                  </a:txBody>
                  <a:tcPr marL="133350" marR="133350" marT="47625" marB="47625" anchor="ctr">
                    <a:solidFill>
                      <a:srgbClr val="EEF3F8"/>
                    </a:solidFill>
                  </a:tcPr>
                </a:tc>
              </a:tr>
              <a:tr h="611188">
                <a:tc>
                  <a:txBody>
                    <a:bodyPr/>
                    <a:lstStyle/>
                    <a:p>
                      <a:r>
                        <a:rPr sz="1425" b="0">
                          <a:solidFill>
                            <a:srgbClr val="182D45"/>
                          </a:solidFill>
                          <a:latin typeface="DejaVu Sans"/>
                          <a:ea typeface="DejaVu Sans"/>
                          <a:cs typeface="DejaVu Sans"/>
                        </a:rPr>
                        <a:t>Parakeet VI</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CTC 0.6B</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600M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Tiếng Việt, có hướng VI–EN</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FastConformer-CTC</a:t>
                      </a:r>
                    </a:p>
                  </a:txBody>
                  <a:tcPr marL="133350" marR="133350" marT="47625" marB="47625" anchor="ctr">
                    <a:solidFill>
                      <a:srgbClr val="FFFFFF"/>
                    </a:solidFill>
                  </a:tcPr>
                </a:tc>
              </a:tr>
              <a:tr h="611188">
                <a:tc>
                  <a:txBody>
                    <a:bodyPr/>
                    <a:lstStyle/>
                    <a:p>
                      <a:r>
                        <a:rPr sz="1425" b="0">
                          <a:solidFill>
                            <a:srgbClr val="182D45"/>
                          </a:solidFill>
                          <a:latin typeface="DejaVu Sans"/>
                          <a:ea typeface="DejaVu Sans"/>
                          <a:cs typeface="DejaVu Sans"/>
                        </a:rPr>
                        <a:t>Qwen3-ASR</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0.6B</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Khoảng 600M</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30 ngôn ngữ, có VI</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Nhận dạng đa ngôn ngữ</a:t>
                      </a:r>
                    </a:p>
                  </a:txBody>
                  <a:tcPr marL="133350" marR="133350" marT="47625" marB="47625" anchor="ctr">
                    <a:solidFill>
                      <a:srgbClr val="EEF3F8"/>
                    </a:solidFill>
                  </a:tcPr>
                </a:tc>
              </a:tr>
              <a:tr h="611188">
                <a:tc>
                  <a:txBody>
                    <a:bodyPr/>
                    <a:lstStyle/>
                    <a:p>
                      <a:r>
                        <a:rPr sz="1425" b="0">
                          <a:solidFill>
                            <a:srgbClr val="182D45"/>
                          </a:solidFill>
                          <a:latin typeface="DejaVu Sans"/>
                          <a:ea typeface="DejaVu Sans"/>
                          <a:cs typeface="DejaVu Sans"/>
                        </a:rPr>
                        <a:t>Wav2Vec2 VI</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base 250h</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95M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Tiếng Việt</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Nhận dạng CTC</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2015CB0-58DC-42BC-904D-E1593AB42ED7}"/>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M = triệu tham số. Kích thước model chưa cho biết độ đúng trên audio công ty</a:t>
            </a:r>
          </a:p>
        </p:txBody>
      </p:sp>
      <p:sp>
        <p:nvSpPr>
          <p:cNvPr id="5" name="">
            <a:extLst xmlns:a="http://schemas.openxmlformats.org/drawingml/2006/main">
              <a:ext uri="{FF2B5EF4-FFF2-40B4-BE49-F238E27FC236}">
                <a16:creationId xmlns:a16="http://schemas.microsoft.com/office/drawing/2014/main" id="{49C8AFA3-65B9-47AE-B157-6DBAA409E910}"/>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3/24</a:t>
            </a:r>
          </a:p>
        </p:txBody>
      </p:sp>
    </p:spTree>
    <p:extLst>
      <p:ext uri="{BB962C8B-B14F-4D97-AF65-F5344CB8AC3E}">
        <p14:creationId xmlns:p14="http://schemas.microsoft.com/office/powerpoint/2010/main" val="522276503"/>
      </p:ext>
    </p:extLst>
  </p:cSld>
</p:sld>
</file>

<file path=ppt/slides/slide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63E3BD-E1C1-46DE-A637-2AB3D23C35A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Model: cách học và tạo văn bản</a:t>
            </a:r>
          </a:p>
        </p:txBody>
      </p:sp>
      <p:sp>
        <p:nvSpPr>
          <p:cNvPr id="2" name="">
            <a:extLst xmlns:a="http://schemas.openxmlformats.org/drawingml/2006/main">
              <a:ext uri="{FF2B5EF4-FFF2-40B4-BE49-F238E27FC236}">
                <a16:creationId xmlns:a16="http://schemas.microsoft.com/office/drawing/2014/main" id="{80F694C9-A079-4435-A12E-9E0D8FCCDF9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Khác biệt cơ chế được giải thích theo ý nghĩa sử dụng</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743200"/>
                <a:gridCol w="2743200"/>
                <a:gridCol w="2743200"/>
                <a:gridCol w="2743200"/>
              </a:tblGrid>
              <a:tr h="611188">
                <a:tc>
                  <a:txBody>
                    <a:bodyPr/>
                    <a:lstStyle/>
                    <a:p>
                      <a:r>
                        <a:rPr sz="1575" b="1">
                          <a:solidFill>
                            <a:srgbClr val="FFFFFF"/>
                          </a:solidFill>
                          <a:latin typeface="DejaVu Sans"/>
                          <a:ea typeface="DejaVu Sans"/>
                          <a:cs typeface="DejaVu Sans"/>
                        </a:rPr>
                        <a:t>Model</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Cách tạo chữ</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Dữ liệu / định hướng công bố</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Điều đáng kiểm chứng</a:t>
                      </a:r>
                    </a:p>
                  </a:txBody>
                  <a:tcPr marL="133350" marR="133350" marT="47625" marB="47625" anchor="ctr">
                    <a:solidFill>
                      <a:srgbClr val="087F78"/>
                    </a:solidFill>
                  </a:tcPr>
                </a:tc>
              </a:tr>
              <a:tr h="611188">
                <a:tc>
                  <a:txBody>
                    <a:bodyPr/>
                    <a:lstStyle/>
                    <a:p>
                      <a:r>
                        <a:rPr sz="1575" b="0">
                          <a:solidFill>
                            <a:srgbClr val="182D45"/>
                          </a:solidFill>
                          <a:latin typeface="DejaVu Sans"/>
                          <a:ea typeface="DejaVu Sans"/>
                          <a:cs typeface="DejaVu Sans"/>
                        </a:rPr>
                        <a:t>Whisper</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Sinh chuỗi chữ từng bước</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Học nhiều nhiệm vụ, nhiều ngôn ngữ</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Mốc đối chiếu model gốc</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PhoWhisper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Giữ cơ chế Whisper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Tinh chỉnh trên 844 giờ tiếng Việt</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Giảm lỗi giọng vùng miền?</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Parakeet VI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CTC: ghép dự đoán theo thời gian</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Hơn 2.000 giờ tiếng Việt</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Lỗi số, mã và lời nói xen tiếng Anh?</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Qwen3-ASR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Nhận dạng dựa trên nền Qwen3-Omni</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ASR và nhận diện ngôn ngữ</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Audio pha ngôn ngữ có cải thiện?</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Wav2Vec2 VI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CTC sau bước học âm thanh</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13.000 giờ không nhãn, 250 giờ có nhãn</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Thêm mô hình ngôn ngữ có ích?</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960105C-584A-4305-A221-B5BA8430CD6C}"/>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Giờ dữ liệu của các bước khác nhau không dùng để xếp hạng trực tiếp</a:t>
            </a:r>
          </a:p>
        </p:txBody>
      </p:sp>
      <p:sp>
        <p:nvSpPr>
          <p:cNvPr id="5" name="">
            <a:extLst xmlns:a="http://schemas.openxmlformats.org/drawingml/2006/main">
              <a:ext uri="{FF2B5EF4-FFF2-40B4-BE49-F238E27FC236}">
                <a16:creationId xmlns:a16="http://schemas.microsoft.com/office/drawing/2014/main" id="{144C8949-9ED2-49A6-ADD7-B5E143E6179E}"/>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4/24</a:t>
            </a:r>
          </a:p>
        </p:txBody>
      </p:sp>
    </p:spTree>
    <p:extLst>
      <p:ext uri="{BB962C8B-B14F-4D97-AF65-F5344CB8AC3E}">
        <p14:creationId xmlns:p14="http://schemas.microsoft.com/office/powerpoint/2010/main" val="231133164"/>
      </p:ext>
    </p:extLst>
  </p:cSld>
</p:sld>
</file>

<file path=ppt/slides/slide5.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FA4346-BD1A-4664-8AE6-9EF0EB6E00E9}"/>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Whisper và PhoWhisper: ma trận đối chiếu</a:t>
            </a:r>
          </a:p>
        </p:txBody>
      </p:sp>
      <p:sp>
        <p:nvSpPr>
          <p:cNvPr id="2" name="">
            <a:extLst xmlns:a="http://schemas.openxmlformats.org/drawingml/2006/main">
              <a:ext uri="{FF2B5EF4-FFF2-40B4-BE49-F238E27FC236}">
                <a16:creationId xmlns:a16="http://schemas.microsoft.com/office/drawing/2014/main" id="{4230232D-F9BA-4C53-B228-8096C3517199}"/>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Tách tác động của kích thước và tinh chỉnh tiếng Việt</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194560"/>
                <a:gridCol w="2194560"/>
                <a:gridCol w="2194560"/>
                <a:gridCol w="2194560"/>
                <a:gridCol w="2194560"/>
              </a:tblGrid>
              <a:tr h="611188">
                <a:tc>
                  <a:txBody>
                    <a:bodyPr/>
                    <a:lstStyle/>
                    <a:p>
                      <a:r>
                        <a:rPr sz="1425" b="1">
                          <a:solidFill>
                            <a:srgbClr val="FFFFFF"/>
                          </a:solidFill>
                          <a:latin typeface="DejaVu Sans"/>
                          <a:ea typeface="DejaVu Sans"/>
                          <a:cs typeface="DejaVu Sans"/>
                        </a:rPr>
                        <a:t>Tiêu chí</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Whisper-base</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PhoWhisper-base</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Whisper-small</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PhoWhisper-small</a:t>
                      </a:r>
                    </a:p>
                  </a:txBody>
                  <a:tcPr marL="133350" marR="133350" marT="47625" marB="47625" anchor="ctr">
                    <a:solidFill>
                      <a:srgbClr val="087F78"/>
                    </a:solidFill>
                  </a:tcPr>
                </a:tc>
              </a:tr>
              <a:tr h="611188">
                <a:tc>
                  <a:txBody>
                    <a:bodyPr/>
                    <a:lstStyle/>
                    <a:p>
                      <a:r>
                        <a:rPr sz="1425" b="0">
                          <a:solidFill>
                            <a:srgbClr val="182D45"/>
                          </a:solidFill>
                          <a:latin typeface="DejaVu Sans"/>
                          <a:ea typeface="DejaVu Sans"/>
                          <a:cs typeface="DejaVu Sans"/>
                        </a:rPr>
                        <a:t>Tham số</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74M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74M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244M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244M</a:t>
                      </a:r>
                    </a:p>
                  </a:txBody>
                  <a:tcPr marL="133350" marR="133350" marT="47625" marB="47625" anchor="ctr">
                    <a:solidFill>
                      <a:srgbClr val="FFFFFF"/>
                    </a:solidFill>
                  </a:tcPr>
                </a:tc>
              </a:tr>
              <a:tr h="611188">
                <a:tc>
                  <a:txBody>
                    <a:bodyPr/>
                    <a:lstStyle/>
                    <a:p>
                      <a:r>
                        <a:rPr sz="1425" b="0">
                          <a:solidFill>
                            <a:srgbClr val="182D45"/>
                          </a:solidFill>
                          <a:latin typeface="DejaVu Sans"/>
                          <a:ea typeface="DejaVu Sans"/>
                          <a:cs typeface="DejaVu Sans"/>
                        </a:rPr>
                        <a:t>Tiếng Việt</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Có trong bản đa ngôn ngữ</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Tinh chỉnh tiếng Việt</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Có trong bản đa ngôn ngữ</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Tinh chỉnh tiếng Việt</a:t>
                      </a:r>
                    </a:p>
                  </a:txBody>
                  <a:tcPr marL="133350" marR="133350" marT="47625" marB="47625" anchor="ctr">
                    <a:solidFill>
                      <a:srgbClr val="EEF3F8"/>
                    </a:solidFill>
                  </a:tcPr>
                </a:tc>
              </a:tr>
              <a:tr h="611188">
                <a:tc>
                  <a:txBody>
                    <a:bodyPr/>
                    <a:lstStyle/>
                    <a:p>
                      <a:r>
                        <a:rPr sz="1425" b="0">
                          <a:solidFill>
                            <a:srgbClr val="182D45"/>
                          </a:solidFill>
                          <a:latin typeface="DejaVu Sans"/>
                          <a:ea typeface="DejaVu Sans"/>
                          <a:cs typeface="DejaVu Sans"/>
                        </a:rPr>
                        <a:t>Công cụ khảo sát</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Whisper / faster-whisper</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Transformers</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Whisper / faster-whisper</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Transformers</a:t>
                      </a:r>
                    </a:p>
                  </a:txBody>
                  <a:tcPr marL="133350" marR="133350" marT="47625" marB="47625" anchor="ctr">
                    <a:solidFill>
                      <a:srgbClr val="FFFFFF"/>
                    </a:solidFill>
                  </a:tcPr>
                </a:tc>
              </a:tr>
              <a:tr h="611188">
                <a:tc>
                  <a:txBody>
                    <a:bodyPr/>
                    <a:lstStyle/>
                    <a:p>
                      <a:r>
                        <a:rPr sz="1425" b="0">
                          <a:solidFill>
                            <a:srgbClr val="182D45"/>
                          </a:solidFill>
                          <a:latin typeface="DejaVu Sans"/>
                          <a:ea typeface="DejaVu Sans"/>
                          <a:cs typeface="DejaVu Sans"/>
                        </a:rPr>
                        <a:t>Vai trò thử</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Mốc model gốc</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Baseline hiện tại</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Đổi kích thước</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Đổi kích thước + tinh chỉnh</a:t>
                      </a:r>
                    </a:p>
                  </a:txBody>
                  <a:tcPr marL="133350" marR="133350" marT="47625" marB="47625" anchor="ctr">
                    <a:solidFill>
                      <a:srgbClr val="EEF3F8"/>
                    </a:solidFill>
                  </a:tcPr>
                </a:tc>
              </a:tr>
              <a:tr h="611188">
                <a:tc>
                  <a:txBody>
                    <a:bodyPr/>
                    <a:lstStyle/>
                    <a:p>
                      <a:r>
                        <a:rPr sz="1425" b="0">
                          <a:solidFill>
                            <a:srgbClr val="182D45"/>
                          </a:solidFill>
                          <a:latin typeface="DejaVu Sans"/>
                          <a:ea typeface="DejaVu Sans"/>
                          <a:cs typeface="DejaVu Sans"/>
                        </a:rPr>
                        <a:t>Độ đúng / tốc độ</a:t>
                      </a:r>
                    </a:p>
                  </a:txBody>
                  <a:tcPr marL="133350" marR="133350" marT="47625" marB="47625" anchor="ctr">
                    <a:solidFill>
                      <a:srgbClr val="FFFFFF"/>
                    </a:solidFill>
                  </a:tcPr>
                </a:tc>
                <a:tc>
                  <a:txBody>
                    <a:bodyPr/>
                    <a:lstStyle/>
                    <a:p>
                      <a:r>
                        <a:rPr sz="1425" b="1">
                          <a:solidFill>
                            <a:srgbClr val="805B0A"/>
                          </a:solidFill>
                          <a:latin typeface="DejaVu Sans"/>
                          <a:ea typeface="DejaVu Sans"/>
                          <a:cs typeface="DejaVu Sans"/>
                        </a:rPr>
                        <a:t>Cần benchmark</a:t>
                      </a:r>
                    </a:p>
                  </a:txBody>
                  <a:tcPr marL="133350" marR="133350" marT="47625" marB="47625" anchor="ctr">
                    <a:solidFill>
                      <a:srgbClr val="FFF1CD"/>
                    </a:solidFill>
                  </a:tcPr>
                </a:tc>
                <a:tc>
                  <a:txBody>
                    <a:bodyPr/>
                    <a:lstStyle/>
                    <a:p>
                      <a:r>
                        <a:rPr sz="1425" b="1">
                          <a:solidFill>
                            <a:srgbClr val="805B0A"/>
                          </a:solidFill>
                          <a:latin typeface="DejaVu Sans"/>
                          <a:ea typeface="DejaVu Sans"/>
                          <a:cs typeface="DejaVu Sans"/>
                        </a:rPr>
                        <a:t>Cần benchmark</a:t>
                      </a:r>
                    </a:p>
                  </a:txBody>
                  <a:tcPr marL="133350" marR="133350" marT="47625" marB="47625" anchor="ctr">
                    <a:solidFill>
                      <a:srgbClr val="FFF1CD"/>
                    </a:solidFill>
                  </a:tcPr>
                </a:tc>
                <a:tc>
                  <a:txBody>
                    <a:bodyPr/>
                    <a:lstStyle/>
                    <a:p>
                      <a:r>
                        <a:rPr sz="1425" b="1">
                          <a:solidFill>
                            <a:srgbClr val="805B0A"/>
                          </a:solidFill>
                          <a:latin typeface="DejaVu Sans"/>
                          <a:ea typeface="DejaVu Sans"/>
                          <a:cs typeface="DejaVu Sans"/>
                        </a:rPr>
                        <a:t>Cần benchmark</a:t>
                      </a:r>
                    </a:p>
                  </a:txBody>
                  <a:tcPr marL="133350" marR="133350" marT="47625" marB="47625" anchor="ctr">
                    <a:solidFill>
                      <a:srgbClr val="FFF1CD"/>
                    </a:solidFill>
                  </a:tcPr>
                </a:tc>
                <a:tc>
                  <a:txBody>
                    <a:bodyPr/>
                    <a:lstStyle/>
                    <a:p>
                      <a:r>
                        <a:rPr sz="1425" b="1">
                          <a:solidFill>
                            <a:srgbClr val="805B0A"/>
                          </a:solidFill>
                          <a:latin typeface="DejaVu Sans"/>
                          <a:ea typeface="DejaVu Sans"/>
                          <a:cs typeface="DejaVu Sans"/>
                        </a:rPr>
                        <a:t>Cần benchmark</a:t>
                      </a:r>
                    </a:p>
                  </a:txBody>
                  <a:tcPr marL="133350" marR="133350" marT="47625" marB="4762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1794051F-5DDC-4978-B0D6-0BAED07BD320}"/>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Hai cặp cùng kích thước giúp giải thích nguyên nhân khác biệt tốt hơn</a:t>
            </a:r>
          </a:p>
        </p:txBody>
      </p:sp>
      <p:sp>
        <p:nvSpPr>
          <p:cNvPr id="5" name="">
            <a:extLst xmlns:a="http://schemas.openxmlformats.org/drawingml/2006/main">
              <a:ext uri="{FF2B5EF4-FFF2-40B4-BE49-F238E27FC236}">
                <a16:creationId xmlns:a16="http://schemas.microsoft.com/office/drawing/2014/main" id="{6ABEF993-E0E6-4CAD-A316-05FCEEEB8BF9}"/>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SYSTRAN (n.d.)     5/24</a:t>
            </a:r>
          </a:p>
        </p:txBody>
      </p:sp>
    </p:spTree>
    <p:extLst>
      <p:ext uri="{BB962C8B-B14F-4D97-AF65-F5344CB8AC3E}">
        <p14:creationId xmlns:p14="http://schemas.microsoft.com/office/powerpoint/2010/main" val="1547561884"/>
      </p:ext>
    </p:extLst>
  </p:cSld>
</p:sld>
</file>

<file path=ppt/slides/slide6.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8054E3-BC4E-46FC-8758-98704A692A66}"/>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PhoWhisper: benchmark công bố theo kích thước</a:t>
            </a:r>
          </a:p>
        </p:txBody>
      </p:sp>
      <p:sp>
        <p:nvSpPr>
          <p:cNvPr id="2" name="">
            <a:extLst xmlns:a="http://schemas.openxmlformats.org/drawingml/2006/main">
              <a:ext uri="{FF2B5EF4-FFF2-40B4-BE49-F238E27FC236}">
                <a16:creationId xmlns:a16="http://schemas.microsoft.com/office/drawing/2014/main" id="{C756985B-7343-46B0-A056-CF7BD7E9F810}"/>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WER (%) = tỷ lệ lỗi từ, giá trị thấp hơn tốt hơn</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1828800"/>
                <a:gridCol w="1828800"/>
                <a:gridCol w="1828800"/>
                <a:gridCol w="1828800"/>
                <a:gridCol w="1828800"/>
                <a:gridCol w="1828800"/>
              </a:tblGrid>
              <a:tr h="611188">
                <a:tc>
                  <a:txBody>
                    <a:bodyPr/>
                    <a:lstStyle/>
                    <a:p>
                      <a:r>
                        <a:rPr sz="1425" b="1">
                          <a:solidFill>
                            <a:srgbClr val="FFFFFF"/>
                          </a:solidFill>
                          <a:latin typeface="DejaVu Sans"/>
                          <a:ea typeface="DejaVu Sans"/>
                          <a:cs typeface="DejaVu Sans"/>
                        </a:rPr>
                        <a:t>Bản</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Tham số</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CMV–Vi</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VIVOS</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VLSP T1</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VLSP T2</a:t>
                      </a:r>
                    </a:p>
                  </a:txBody>
                  <a:tcPr marL="133350" marR="133350" marT="47625" marB="47625" anchor="ctr">
                    <a:solidFill>
                      <a:srgbClr val="087F78"/>
                    </a:solidFill>
                  </a:tcPr>
                </a:tc>
              </a:tr>
              <a:tr h="611188">
                <a:tc>
                  <a:txBody>
                    <a:bodyPr/>
                    <a:lstStyle/>
                    <a:p>
                      <a:r>
                        <a:rPr sz="1425" b="0">
                          <a:solidFill>
                            <a:srgbClr val="182D45"/>
                          </a:solidFill>
                          <a:latin typeface="DejaVu Sans"/>
                          <a:ea typeface="DejaVu Sans"/>
                          <a:cs typeface="DejaVu Sans"/>
                        </a:rPr>
                        <a:t>tiny</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39M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19.05</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10.41</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20.74</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49.85</a:t>
                      </a:r>
                    </a:p>
                  </a:txBody>
                  <a:tcPr marL="133350" marR="133350" marT="47625" marB="47625" anchor="ctr">
                    <a:solidFill>
                      <a:srgbClr val="FFFFFF"/>
                    </a:solidFill>
                  </a:tcPr>
                </a:tc>
              </a:tr>
              <a:tr h="611188">
                <a:tc>
                  <a:txBody>
                    <a:bodyPr/>
                    <a:lstStyle/>
                    <a:p>
                      <a:r>
                        <a:rPr sz="1425" b="0">
                          <a:solidFill>
                            <a:srgbClr val="182D45"/>
                          </a:solidFill>
                          <a:latin typeface="DejaVu Sans"/>
                          <a:ea typeface="DejaVu Sans"/>
                          <a:cs typeface="DejaVu Sans"/>
                        </a:rPr>
                        <a:t>base</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74M</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16.19</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8.46</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19.70</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43.01</a:t>
                      </a:r>
                    </a:p>
                  </a:txBody>
                  <a:tcPr marL="133350" marR="133350" marT="47625" marB="47625" anchor="ctr">
                    <a:solidFill>
                      <a:srgbClr val="EEF3F8"/>
                    </a:solidFill>
                  </a:tcPr>
                </a:tc>
              </a:tr>
              <a:tr h="611188">
                <a:tc>
                  <a:txBody>
                    <a:bodyPr/>
                    <a:lstStyle/>
                    <a:p>
                      <a:r>
                        <a:rPr sz="1425" b="1">
                          <a:solidFill>
                            <a:srgbClr val="116344"/>
                          </a:solidFill>
                          <a:latin typeface="DejaVu Sans"/>
                          <a:ea typeface="DejaVu Sans"/>
                          <a:cs typeface="DejaVu Sans"/>
                        </a:rPr>
                        <a:t>small</a:t>
                      </a:r>
                    </a:p>
                  </a:txBody>
                  <a:tcPr marL="133350" marR="133350" marT="47625" marB="47625" anchor="ctr">
                    <a:solidFill>
                      <a:srgbClr val="DDF3EA"/>
                    </a:solidFill>
                  </a:tcPr>
                </a:tc>
                <a:tc>
                  <a:txBody>
                    <a:bodyPr/>
                    <a:lstStyle/>
                    <a:p>
                      <a:r>
                        <a:rPr sz="1425" b="1">
                          <a:solidFill>
                            <a:srgbClr val="116344"/>
                          </a:solidFill>
                          <a:latin typeface="DejaVu Sans"/>
                          <a:ea typeface="DejaVu Sans"/>
                          <a:cs typeface="DejaVu Sans"/>
                        </a:rPr>
                        <a:t>244M</a:t>
                      </a:r>
                    </a:p>
                  </a:txBody>
                  <a:tcPr marL="133350" marR="133350" marT="47625" marB="47625" anchor="ctr">
                    <a:solidFill>
                      <a:srgbClr val="DDF3EA"/>
                    </a:solidFill>
                  </a:tcPr>
                </a:tc>
                <a:tc>
                  <a:txBody>
                    <a:bodyPr/>
                    <a:lstStyle/>
                    <a:p>
                      <a:r>
                        <a:rPr sz="1425" b="1">
                          <a:solidFill>
                            <a:srgbClr val="116344"/>
                          </a:solidFill>
                          <a:latin typeface="DejaVu Sans"/>
                          <a:ea typeface="DejaVu Sans"/>
                          <a:cs typeface="DejaVu Sans"/>
                        </a:rPr>
                        <a:t>11.08</a:t>
                      </a:r>
                    </a:p>
                  </a:txBody>
                  <a:tcPr marL="133350" marR="133350" marT="47625" marB="47625" anchor="ctr">
                    <a:solidFill>
                      <a:srgbClr val="DDF3EA"/>
                    </a:solidFill>
                  </a:tcPr>
                </a:tc>
                <a:tc>
                  <a:txBody>
                    <a:bodyPr/>
                    <a:lstStyle/>
                    <a:p>
                      <a:r>
                        <a:rPr sz="1425" b="1">
                          <a:solidFill>
                            <a:srgbClr val="116344"/>
                          </a:solidFill>
                          <a:latin typeface="DejaVu Sans"/>
                          <a:ea typeface="DejaVu Sans"/>
                          <a:cs typeface="DejaVu Sans"/>
                        </a:rPr>
                        <a:t>6.33</a:t>
                      </a:r>
                    </a:p>
                  </a:txBody>
                  <a:tcPr marL="133350" marR="133350" marT="47625" marB="47625" anchor="ctr">
                    <a:solidFill>
                      <a:srgbClr val="DDF3EA"/>
                    </a:solidFill>
                  </a:tcPr>
                </a:tc>
                <a:tc>
                  <a:txBody>
                    <a:bodyPr/>
                    <a:lstStyle/>
                    <a:p>
                      <a:r>
                        <a:rPr sz="1425" b="1">
                          <a:solidFill>
                            <a:srgbClr val="116344"/>
                          </a:solidFill>
                          <a:latin typeface="DejaVu Sans"/>
                          <a:ea typeface="DejaVu Sans"/>
                          <a:cs typeface="DejaVu Sans"/>
                        </a:rPr>
                        <a:t>15.93</a:t>
                      </a:r>
                    </a:p>
                  </a:txBody>
                  <a:tcPr marL="133350" marR="133350" marT="47625" marB="47625" anchor="ctr">
                    <a:solidFill>
                      <a:srgbClr val="DDF3EA"/>
                    </a:solidFill>
                  </a:tcPr>
                </a:tc>
                <a:tc>
                  <a:txBody>
                    <a:bodyPr/>
                    <a:lstStyle/>
                    <a:p>
                      <a:r>
                        <a:rPr sz="1425" b="1">
                          <a:solidFill>
                            <a:srgbClr val="116344"/>
                          </a:solidFill>
                          <a:latin typeface="DejaVu Sans"/>
                          <a:ea typeface="DejaVu Sans"/>
                          <a:cs typeface="DejaVu Sans"/>
                        </a:rPr>
                        <a:t>32.96</a:t>
                      </a:r>
                    </a:p>
                  </a:txBody>
                  <a:tcPr marL="133350" marR="133350" marT="47625" marB="47625" anchor="ctr">
                    <a:solidFill>
                      <a:srgbClr val="DDF3EA"/>
                    </a:solidFill>
                  </a:tcPr>
                </a:tc>
              </a:tr>
              <a:tr h="611188">
                <a:tc>
                  <a:txBody>
                    <a:bodyPr/>
                    <a:lstStyle/>
                    <a:p>
                      <a:r>
                        <a:rPr sz="1425" b="0">
                          <a:solidFill>
                            <a:srgbClr val="182D45"/>
                          </a:solidFill>
                          <a:latin typeface="DejaVu Sans"/>
                          <a:ea typeface="DejaVu Sans"/>
                          <a:cs typeface="DejaVu Sans"/>
                        </a:rPr>
                        <a:t>medium</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769M</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8.27</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4.97</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14.12</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26.85</a:t>
                      </a:r>
                    </a:p>
                  </a:txBody>
                  <a:tcPr marL="133350" marR="133350" marT="47625" marB="47625" anchor="ctr">
                    <a:solidFill>
                      <a:srgbClr val="EEF3F8"/>
                    </a:solidFill>
                  </a:tcPr>
                </a:tc>
              </a:tr>
              <a:tr h="611188">
                <a:tc>
                  <a:txBody>
                    <a:bodyPr/>
                    <a:lstStyle/>
                    <a:p>
                      <a:r>
                        <a:rPr sz="1425" b="0">
                          <a:solidFill>
                            <a:srgbClr val="182D45"/>
                          </a:solidFill>
                          <a:latin typeface="DejaVu Sans"/>
                          <a:ea typeface="DejaVu Sans"/>
                          <a:cs typeface="DejaVu Sans"/>
                        </a:rPr>
                        <a:t>large</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1.55B</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8.14</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4.67</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13.75</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26.68</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604AB16-5089-402E-8CEA-1F65A3A137CA}"/>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Số liệu VinAI công bố. Chưa phải kết quả audio công ty</a:t>
            </a:r>
          </a:p>
        </p:txBody>
      </p:sp>
      <p:sp>
        <p:nvSpPr>
          <p:cNvPr id="5" name="">
            <a:extLst xmlns:a="http://schemas.openxmlformats.org/drawingml/2006/main">
              <a:ext uri="{FF2B5EF4-FFF2-40B4-BE49-F238E27FC236}">
                <a16:creationId xmlns:a16="http://schemas.microsoft.com/office/drawing/2014/main" id="{51A80CC2-AA80-48A9-A92F-5706DF495A2B}"/>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VinAI Research (n.d.)     6/24</a:t>
            </a:r>
          </a:p>
        </p:txBody>
      </p:sp>
    </p:spTree>
    <p:extLst>
      <p:ext uri="{BB962C8B-B14F-4D97-AF65-F5344CB8AC3E}">
        <p14:creationId xmlns:p14="http://schemas.microsoft.com/office/powerpoint/2010/main" val="1606089499"/>
      </p:ext>
    </p:extLst>
  </p:cSld>
</p:sld>
</file>

<file path=ppt/slides/slide7.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4C8F5B-AE70-43D3-9759-7DB7CEFC9865}"/>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Wav2Vec2: tác động của mô hình ngôn ngữ</a:t>
            </a:r>
          </a:p>
        </p:txBody>
      </p:sp>
      <p:sp>
        <p:nvSpPr>
          <p:cNvPr id="2" name="">
            <a:extLst xmlns:a="http://schemas.openxmlformats.org/drawingml/2006/main">
              <a:ext uri="{FF2B5EF4-FFF2-40B4-BE49-F238E27FC236}">
                <a16:creationId xmlns:a16="http://schemas.microsoft.com/office/drawing/2014/main" id="{F7F7C416-4A5C-43BB-B514-93CEB184B1F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Cùng checkpoint, thay cách giải mã, WER (%) thấp hơn tốt hơn</a:t>
            </a:r>
          </a:p>
        </p:txBody>
      </p:sp>
      <p:graphicFrame>
        <p:nvGraphicFramePr>
          <p:cNvPr id="8" name=""/>
          <p:cNvGraphicFramePr/>
          <p:nvPr/>
        </p:nvGraphicFramePr>
        <p:xfrm>
          <a:off xmlns:a="http://schemas.openxmlformats.org/drawingml/2006/main" x="609600" y="1752600"/>
          <a:ext xmlns:a="http://schemas.openxmlformats.org/drawingml/2006/main" cx="10972800" cy="2952750"/>
        </p:xfrm>
        <a:graphic xmlns:a="http://schemas.openxmlformats.org/drawingml/2006/main">
          <a:graphicData uri="http://schemas.openxmlformats.org/drawingml/2006/table">
            <a:tbl>
              <a:tblPr/>
              <a:tblGrid>
                <a:gridCol w="2194560"/>
                <a:gridCol w="2194560"/>
                <a:gridCol w="2194560"/>
                <a:gridCol w="2194560"/>
                <a:gridCol w="2194560"/>
              </a:tblGrid>
              <a:tr h="984250">
                <a:tc>
                  <a:txBody>
                    <a:bodyPr/>
                    <a:lstStyle/>
                    <a:p>
                      <a:r>
                        <a:rPr sz="1425" b="1">
                          <a:solidFill>
                            <a:srgbClr val="FFFFFF"/>
                          </a:solidFill>
                          <a:latin typeface="DejaVu Sans"/>
                          <a:ea typeface="DejaVu Sans"/>
                          <a:cs typeface="DejaVu Sans"/>
                        </a:rPr>
                        <a:t>Cấu hình</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VIVOS</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Common Voice VI</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VLSP T1</a:t>
                      </a:r>
                    </a:p>
                  </a:txBody>
                  <a:tcPr marL="133350" marR="133350" marT="47625" marB="47625" anchor="ctr">
                    <a:solidFill>
                      <a:srgbClr val="087F78"/>
                    </a:solidFill>
                  </a:tcPr>
                </a:tc>
                <a:tc>
                  <a:txBody>
                    <a:bodyPr/>
                    <a:lstStyle/>
                    <a:p>
                      <a:r>
                        <a:rPr sz="1425" b="1">
                          <a:solidFill>
                            <a:srgbClr val="FFFFFF"/>
                          </a:solidFill>
                          <a:latin typeface="DejaVu Sans"/>
                          <a:ea typeface="DejaVu Sans"/>
                          <a:cs typeface="DejaVu Sans"/>
                        </a:rPr>
                        <a:t>VLSP T2</a:t>
                      </a:r>
                    </a:p>
                  </a:txBody>
                  <a:tcPr marL="133350" marR="133350" marT="47625" marB="47625" anchor="ctr">
                    <a:solidFill>
                      <a:srgbClr val="087F78"/>
                    </a:solidFill>
                  </a:tcPr>
                </a:tc>
              </a:tr>
              <a:tr h="984250">
                <a:tc>
                  <a:txBody>
                    <a:bodyPr/>
                    <a:lstStyle/>
                    <a:p>
                      <a:r>
                        <a:rPr sz="1425" b="0">
                          <a:solidFill>
                            <a:srgbClr val="182D45"/>
                          </a:solidFill>
                          <a:latin typeface="DejaVu Sans"/>
                          <a:ea typeface="DejaVu Sans"/>
                          <a:cs typeface="DejaVu Sans"/>
                        </a:rPr>
                        <a:t>Không có LM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10.77</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18.34</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13.33</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51.45</a:t>
                      </a:r>
                    </a:p>
                  </a:txBody>
                  <a:tcPr marL="133350" marR="133350" marT="47625" marB="47625" anchor="ctr">
                    <a:solidFill>
                      <a:srgbClr val="FFFFFF"/>
                    </a:solidFill>
                  </a:tcPr>
                </a:tc>
              </a:tr>
              <a:tr h="984250">
                <a:tc>
                  <a:txBody>
                    <a:bodyPr/>
                    <a:lstStyle/>
                    <a:p>
                      <a:r>
                        <a:rPr sz="1425" b="0">
                          <a:solidFill>
                            <a:srgbClr val="182D45"/>
                          </a:solidFill>
                          <a:latin typeface="DejaVu Sans"/>
                          <a:ea typeface="DejaVu Sans"/>
                          <a:cs typeface="DejaVu Sans"/>
                        </a:rPr>
                        <a:t>Có LM 4-gram</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6.15</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11.52</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9.11</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40.81</a:t>
                      </a:r>
                    </a:p>
                  </a:txBody>
                  <a:tcPr marL="133350" marR="133350" marT="47625" marB="47625" anchor="ctr">
                    <a:solidFill>
                      <a:srgbClr val="EEF3F8"/>
                    </a:solidFill>
                  </a:tcPr>
                </a:tc>
              </a:tr>
            </a:tbl>
          </a:graphicData>
        </a:graphic>
      </p:graphicFrame>
      <p:sp>
        <p:nvSpPr>
          <p:cNvPr id="4" name="">
            <a:extLst xmlns:a="http://schemas.openxmlformats.org/drawingml/2006/main">
              <a:ext uri="{FF2B5EF4-FFF2-40B4-BE49-F238E27FC236}">
                <a16:creationId xmlns:a16="http://schemas.microsoft.com/office/drawing/2014/main" id="{CC5A7D0C-3F42-4AB6-A390-F1C1035871D3}"/>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Kết quả do tác giả công bố. Không dùng để xếp hạng với bảng PhoWhisper</a:t>
            </a:r>
          </a:p>
        </p:txBody>
      </p:sp>
      <p:sp>
        <p:nvSpPr>
          <p:cNvPr id="5" name="">
            <a:extLst xmlns:a="http://schemas.openxmlformats.org/drawingml/2006/main">
              <a:ext uri="{FF2B5EF4-FFF2-40B4-BE49-F238E27FC236}">
                <a16:creationId xmlns:a16="http://schemas.microsoft.com/office/drawing/2014/main" id="{8B6FC3DE-BC58-40A4-89D6-C2ED00497C67}"/>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Nguyen Vu Le Binh (n.d.)     7/24</a:t>
            </a:r>
          </a:p>
        </p:txBody>
      </p:sp>
    </p:spTree>
    <p:extLst>
      <p:ext uri="{BB962C8B-B14F-4D97-AF65-F5344CB8AC3E}">
        <p14:creationId xmlns:p14="http://schemas.microsoft.com/office/powerpoint/2010/main" val="975875954"/>
      </p:ext>
    </p:extLst>
  </p:cSld>
</p:sld>
</file>

<file path=ppt/slides/slide8.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EB59C2-821A-44DB-9D44-C2C0A80DF5CF}"/>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Model: đầu ra phục vụ đọc và nghe lại</a:t>
            </a:r>
          </a:p>
        </p:txBody>
      </p:sp>
      <p:sp>
        <p:nvSpPr>
          <p:cNvPr id="2" name="">
            <a:extLst xmlns:a="http://schemas.openxmlformats.org/drawingml/2006/main">
              <a:ext uri="{FF2B5EF4-FFF2-40B4-BE49-F238E27FC236}">
                <a16:creationId xmlns:a16="http://schemas.microsoft.com/office/drawing/2014/main" id="{2668891A-9220-488A-B462-9BA81D33CDEE}"/>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Văn bản, mốc thời gian và người nói là các nhu cầu khác nhau</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743200"/>
                <a:gridCol w="2743200"/>
                <a:gridCol w="2743200"/>
                <a:gridCol w="2743200"/>
              </a:tblGrid>
              <a:tr h="611188">
                <a:tc>
                  <a:txBody>
                    <a:bodyPr/>
                    <a:lstStyle/>
                    <a:p>
                      <a:r>
                        <a:rPr sz="1575" b="1">
                          <a:solidFill>
                            <a:srgbClr val="FFFFFF"/>
                          </a:solidFill>
                          <a:latin typeface="DejaVu Sans"/>
                          <a:ea typeface="DejaVu Sans"/>
                          <a:cs typeface="DejaVu Sans"/>
                        </a:rPr>
                        <a:t>Model</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Văn bản</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Mốc thời gian</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Người nói / vai trò</a:t>
                      </a:r>
                    </a:p>
                  </a:txBody>
                  <a:tcPr marL="133350" marR="133350" marT="47625" marB="47625" anchor="ctr">
                    <a:solidFill>
                      <a:srgbClr val="087F78"/>
                    </a:solidFill>
                  </a:tcPr>
                </a:tc>
              </a:tr>
              <a:tr h="611188">
                <a:tc>
                  <a:txBody>
                    <a:bodyPr/>
                    <a:lstStyle/>
                    <a:p>
                      <a:r>
                        <a:rPr sz="1575" b="0">
                          <a:solidFill>
                            <a:srgbClr val="182D45"/>
                          </a:solidFill>
                          <a:latin typeface="DejaVu Sans"/>
                          <a:ea typeface="DejaVu Sans"/>
                          <a:cs typeface="DejaVu Sans"/>
                        </a:rPr>
                        <a:t>Whisper</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 theo công cụ / cấu hình</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Cần bổ sung bước riêng</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PhoWhisper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Có</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Cần kiểm tra pipeline đang dùng</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bổ sung bước riêng</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Parakeet VI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Ví dụ NeMo có chữ, từ, đoạn</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Cần bổ sung bước riêng</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Qwen3-ASR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Có</a:t>
                      </a:r>
                    </a:p>
                  </a:txBody>
                  <a:tcPr marL="133350" marR="133350" marT="47625" marB="47625" anchor="ctr">
                    <a:solidFill>
                      <a:srgbClr val="EEF3F8"/>
                    </a:solidFill>
                  </a:tcPr>
                </a:tc>
                <a:tc>
                  <a:txBody>
                    <a:bodyPr/>
                    <a:lstStyle/>
                    <a:p>
                      <a:r>
                        <a:rPr sz="1575" b="1">
                          <a:solidFill>
                            <a:srgbClr val="9B2D24"/>
                          </a:solidFill>
                          <a:latin typeface="DejaVu Sans"/>
                          <a:ea typeface="DejaVu Sans"/>
                          <a:cs typeface="DejaVu Sans"/>
                        </a:rPr>
                        <a:t>Aligner công bố chưa có VI</a:t>
                      </a:r>
                    </a:p>
                  </a:txBody>
                  <a:tcPr marL="133350" marR="133350" marT="47625" marB="47625" anchor="ctr">
                    <a:solidFill>
                      <a:srgbClr val="FCE1DE"/>
                    </a:solidFill>
                  </a:tcPr>
                </a:tc>
                <a:tc>
                  <a:txBody>
                    <a:bodyPr/>
                    <a:lstStyle/>
                    <a:p>
                      <a:r>
                        <a:rPr sz="1575" b="1">
                          <a:solidFill>
                            <a:srgbClr val="805B0A"/>
                          </a:solidFill>
                          <a:latin typeface="DejaVu Sans"/>
                          <a:ea typeface="DejaVu Sans"/>
                          <a:cs typeface="DejaVu Sans"/>
                        </a:rPr>
                        <a:t>Cần bổ sung bước riêng</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Wav2Vec2 VI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Cần bổ sung / kiểm tra công cụ</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bổ sung bước riêng</a:t>
                      </a:r>
                    </a:p>
                  </a:txBody>
                  <a:tcPr marL="133350" marR="133350" marT="47625" marB="4762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2B6633E9-64F3-4053-BE8D-DF5DB06788E8}"/>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Có timestamp vẫn cần đo độ khớp khi QA mở lại đoạn audio</a:t>
            </a:r>
          </a:p>
        </p:txBody>
      </p:sp>
      <p:sp>
        <p:nvSpPr>
          <p:cNvPr id="5" name="">
            <a:extLst xmlns:a="http://schemas.openxmlformats.org/drawingml/2006/main">
              <a:ext uri="{FF2B5EF4-FFF2-40B4-BE49-F238E27FC236}">
                <a16:creationId xmlns:a16="http://schemas.microsoft.com/office/drawing/2014/main" id="{1E0E6A85-E5CE-4A31-9B11-B0B8E8CD22B5}"/>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8/24</a:t>
            </a:r>
          </a:p>
        </p:txBody>
      </p:sp>
    </p:spTree>
    <p:extLst>
      <p:ext uri="{BB962C8B-B14F-4D97-AF65-F5344CB8AC3E}">
        <p14:creationId xmlns:p14="http://schemas.microsoft.com/office/powerpoint/2010/main" val="979808447"/>
      </p:ext>
    </p:extLst>
  </p:cSld>
</p:sld>
</file>

<file path=ppt/slides/slide9.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23D73F-5A13-4585-A21D-479D57879734}"/>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Model: triển khai và công sức vận hành</a:t>
            </a:r>
          </a:p>
        </p:txBody>
      </p:sp>
      <p:sp>
        <p:nvSpPr>
          <p:cNvPr id="2" name="">
            <a:extLst xmlns:a="http://schemas.openxmlformats.org/drawingml/2006/main">
              <a:ext uri="{FF2B5EF4-FFF2-40B4-BE49-F238E27FC236}">
                <a16:creationId xmlns:a16="http://schemas.microsoft.com/office/drawing/2014/main" id="{95BE910A-ED87-4372-9E15-DFB36200E595}"/>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Công cụ khác nhau tạo thêm việc chuẩn bị và theo dõi</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743200"/>
                <a:gridCol w="2743200"/>
                <a:gridCol w="2743200"/>
                <a:gridCol w="2743200"/>
              </a:tblGrid>
              <a:tr h="611188">
                <a:tc>
                  <a:txBody>
                    <a:bodyPr/>
                    <a:lstStyle/>
                    <a:p>
                      <a:r>
                        <a:rPr sz="1575" b="1">
                          <a:solidFill>
                            <a:srgbClr val="FFFFFF"/>
                          </a:solidFill>
                          <a:latin typeface="DejaVu Sans"/>
                          <a:ea typeface="DejaVu Sans"/>
                          <a:cs typeface="DejaVu Sans"/>
                        </a:rPr>
                        <a:t>Model</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Công cụ khảo sát</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Audio / cách xử lý</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Điều cần chuẩn bị</a:t>
                      </a:r>
                    </a:p>
                  </a:txBody>
                  <a:tcPr marL="133350" marR="133350" marT="47625" marB="47625" anchor="ctr">
                    <a:solidFill>
                      <a:srgbClr val="087F78"/>
                    </a:solidFill>
                  </a:tcPr>
                </a:tc>
              </a:tr>
              <a:tr h="611188">
                <a:tc>
                  <a:txBody>
                    <a:bodyPr/>
                    <a:lstStyle/>
                    <a:p>
                      <a:r>
                        <a:rPr sz="1575" b="0">
                          <a:solidFill>
                            <a:srgbClr val="182D45"/>
                          </a:solidFill>
                          <a:latin typeface="DejaVu Sans"/>
                          <a:ea typeface="DejaVu Sans"/>
                          <a:cs typeface="DejaVu Sans"/>
                        </a:rPr>
                        <a:t>Whisper</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Whisper hoặc CTranslate2</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Công cụ xử lý cửa sổ 30 giây</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Chốt CPU/GPU và cấu hình</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PhoWhisper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Transformers</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Ví dụ audio 16 kHz</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Giữ pipeline hiện tại làm mốc</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Parakeet VI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NeMo</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Yêu cầu mono, độ dài theo bộ nhớ</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Kiểm tra môi trường chạy</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Qwen3-ASR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qwen-asr / Transformers / vLLM</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Offline và streaming công bố</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Chọn backend và thử tải</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Wav2Vec2 VI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Transformers, thêm LM nếu dùng</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16 kHz, ví dụ khuyến nghị &lt;10 giây</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Chia audio dài và ghép kết quả</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25B73DC-690F-4379-923C-4D234E75F5F5}"/>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CPU/GPU là bộ xử lý. Tốc độ, RAM và bộ nhớ GPU cần đo theo cấu hình</a:t>
            </a:r>
          </a:p>
        </p:txBody>
      </p:sp>
      <p:sp>
        <p:nvSpPr>
          <p:cNvPr id="5" name="">
            <a:extLst xmlns:a="http://schemas.openxmlformats.org/drawingml/2006/main">
              <a:ext uri="{FF2B5EF4-FFF2-40B4-BE49-F238E27FC236}">
                <a16:creationId xmlns:a16="http://schemas.microsoft.com/office/drawing/2014/main" id="{E8070275-1B5A-4782-9FF4-FDE2718A54D3}"/>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9/24</a:t>
            </a:r>
          </a:p>
        </p:txBody>
      </p:sp>
    </p:spTree>
    <p:extLst>
      <p:ext uri="{BB962C8B-B14F-4D97-AF65-F5344CB8AC3E}">
        <p14:creationId xmlns:p14="http://schemas.microsoft.com/office/powerpoint/2010/main" val="1710233802"/>
      </p:ext>
    </p:extLst>
  </p:cSld>
</p:sld>
</file>

<file path=ppt/slides/slide10.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4DDBDC-960B-4BFF-9782-D5BB90388F0A}"/>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Model: giấy phép và chi phí cần tính</a:t>
            </a:r>
          </a:p>
        </p:txBody>
      </p:sp>
      <p:sp>
        <p:nvSpPr>
          <p:cNvPr id="2" name="">
            <a:extLst xmlns:a="http://schemas.openxmlformats.org/drawingml/2006/main">
              <a:ext uri="{FF2B5EF4-FFF2-40B4-BE49-F238E27FC236}">
                <a16:creationId xmlns:a16="http://schemas.microsoft.com/office/drawing/2014/main" id="{0AAB1252-D2E8-4A07-8FF9-1F182CB0C6DE}"/>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Ưu tiên miễn phí model, đồng thời tính phần tự vận hành</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743200"/>
                <a:gridCol w="2743200"/>
                <a:gridCol w="2743200"/>
                <a:gridCol w="2743200"/>
              </a:tblGrid>
              <a:tr h="611188">
                <a:tc>
                  <a:txBody>
                    <a:bodyPr/>
                    <a:lstStyle/>
                    <a:p>
                      <a:r>
                        <a:rPr sz="1575" b="1">
                          <a:solidFill>
                            <a:srgbClr val="FFFFFF"/>
                          </a:solidFill>
                          <a:latin typeface="DejaVu Sans"/>
                          <a:ea typeface="DejaVu Sans"/>
                          <a:cs typeface="DejaVu Sans"/>
                        </a:rPr>
                        <a:t>Model</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Giấy phép công bố</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Phí API khi tự chạy</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Khoản cần dự tính</a:t>
                      </a:r>
                    </a:p>
                  </a:txBody>
                  <a:tcPr marL="133350" marR="133350" marT="47625" marB="47625" anchor="ctr">
                    <a:solidFill>
                      <a:srgbClr val="087F78"/>
                    </a:solidFill>
                  </a:tcPr>
                </a:tc>
              </a:tr>
              <a:tr h="611188">
                <a:tc>
                  <a:txBody>
                    <a:bodyPr/>
                    <a:lstStyle/>
                    <a:p>
                      <a:r>
                        <a:rPr sz="1575" b="0">
                          <a:solidFill>
                            <a:srgbClr val="182D45"/>
                          </a:solidFill>
                          <a:latin typeface="DejaVu Sans"/>
                          <a:ea typeface="DejaVu Sans"/>
                          <a:cs typeface="DejaVu Sans"/>
                        </a:rPr>
                        <a:t>Whisper</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MIT</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Không</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Máy chạy và công vận hành</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PhoWhisper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Repo BSD-3-Clause</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Không</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Máy chạy và công vận hành</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Parakeet VI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NVIDIA Open Model License</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Không</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Điều khoản và hạ tầng phù hợp</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Qwen3-ASR</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Apache 2.0</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Không</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Máy chạy, backend và tích hợp</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Wav2Vec2 VI</a:t>
                      </a:r>
                    </a:p>
                  </a:txBody>
                  <a:tcPr marL="133350" marR="133350" marT="47625" marB="47625" anchor="ctr">
                    <a:solidFill>
                      <a:srgbClr val="FFFFFF"/>
                    </a:solidFill>
                  </a:tcPr>
                </a:tc>
                <a:tc>
                  <a:txBody>
                    <a:bodyPr/>
                    <a:lstStyle/>
                    <a:p>
                      <a:r>
                        <a:rPr sz="1575" b="1">
                          <a:solidFill>
                            <a:srgbClr val="9B2D24"/>
                          </a:solidFill>
                          <a:latin typeface="DejaVu Sans"/>
                          <a:ea typeface="DejaVu Sans"/>
                          <a:cs typeface="DejaVu Sans"/>
                        </a:rPr>
                        <a:t>CC BY-NC 4.0</a:t>
                      </a:r>
                    </a:p>
                  </a:txBody>
                  <a:tcPr marL="133350" marR="133350" marT="47625" marB="47625" anchor="ctr">
                    <a:solidFill>
                      <a:srgbClr val="FCE1DE"/>
                    </a:solidFill>
                  </a:tcPr>
                </a:tc>
                <a:tc>
                  <a:txBody>
                    <a:bodyPr/>
                    <a:lstStyle/>
                    <a:p>
                      <a:r>
                        <a:rPr sz="1575" b="0">
                          <a:solidFill>
                            <a:srgbClr val="182D45"/>
                          </a:solidFill>
                          <a:latin typeface="DejaVu Sans"/>
                          <a:ea typeface="DejaVu Sans"/>
                          <a:cs typeface="DejaVu Sans"/>
                        </a:rPr>
                        <a:t>Không</a:t>
                      </a:r>
                    </a:p>
                  </a:txBody>
                  <a:tcPr marL="133350" marR="133350" marT="47625" marB="47625" anchor="ctr">
                    <a:solidFill>
                      <a:srgbClr val="FFFFFF"/>
                    </a:solidFill>
                  </a:tcPr>
                </a:tc>
                <a:tc>
                  <a:txBody>
                    <a:bodyPr/>
                    <a:lstStyle/>
                    <a:p>
                      <a:r>
                        <a:rPr sz="1575" b="1">
                          <a:solidFill>
                            <a:srgbClr val="9B2D24"/>
                          </a:solidFill>
                          <a:latin typeface="DejaVu Sans"/>
                          <a:ea typeface="DejaVu Sans"/>
                          <a:cs typeface="DejaVu Sans"/>
                        </a:rPr>
                        <a:t>Giới hạn phi thương mại</a:t>
                      </a:r>
                    </a:p>
                  </a:txBody>
                  <a:tcPr marL="133350" marR="133350" marT="47625" marB="47625" anchor="ctr">
                    <a:solidFill>
                      <a:srgbClr val="FCE1DE"/>
                    </a:solidFill>
                  </a:tcPr>
                </a:tc>
              </a:tr>
            </a:tbl>
          </a:graphicData>
        </a:graphic>
      </p:graphicFrame>
      <p:sp>
        <p:nvSpPr>
          <p:cNvPr id="4" name="">
            <a:extLst xmlns:a="http://schemas.openxmlformats.org/drawingml/2006/main">
              <a:ext uri="{FF2B5EF4-FFF2-40B4-BE49-F238E27FC236}">
                <a16:creationId xmlns:a16="http://schemas.microsoft.com/office/drawing/2014/main" id="{A1341ADB-54E5-42DE-BF21-70057915ABC7}"/>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Chi phí tự chạy = tài nguyên + công tích hợp + vận hành + sửa kết quả</a:t>
            </a:r>
          </a:p>
        </p:txBody>
      </p:sp>
      <p:sp>
        <p:nvSpPr>
          <p:cNvPr id="5" name="">
            <a:extLst xmlns:a="http://schemas.openxmlformats.org/drawingml/2006/main">
              <a:ext uri="{FF2B5EF4-FFF2-40B4-BE49-F238E27FC236}">
                <a16:creationId xmlns:a16="http://schemas.microsoft.com/office/drawing/2014/main" id="{2A426EE3-A7B2-41C5-8207-33B01BB872B6}"/>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10/24</a:t>
            </a:r>
          </a:p>
        </p:txBody>
      </p:sp>
    </p:spTree>
    <p:extLst>
      <p:ext uri="{BB962C8B-B14F-4D97-AF65-F5344CB8AC3E}">
        <p14:creationId xmlns:p14="http://schemas.microsoft.com/office/powerpoint/2010/main" val="1238432811"/>
      </p:ext>
    </p:extLst>
  </p:cSld>
</p:sld>
</file>

<file path=ppt/slides/slide1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E75F22-C7C6-4D44-8329-26F8FEB2ACCD}"/>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Ma trận vận hành: tự chạy và API</a:t>
            </a:r>
          </a:p>
        </p:txBody>
      </p:sp>
      <p:sp>
        <p:nvSpPr>
          <p:cNvPr id="2" name="">
            <a:extLst xmlns:a="http://schemas.openxmlformats.org/drawingml/2006/main">
              <a:ext uri="{FF2B5EF4-FFF2-40B4-BE49-F238E27FC236}">
                <a16:creationId xmlns:a16="http://schemas.microsoft.com/office/drawing/2014/main" id="{AFC26424-03A5-48EC-87B5-74619A1088DB}"/>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Chi phí cần tính theo toàn bộ công việc</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575" b="1">
                          <a:solidFill>
                            <a:srgbClr val="FFFFFF"/>
                          </a:solidFill>
                          <a:latin typeface="DejaVu Sans"/>
                          <a:ea typeface="DejaVu Sans"/>
                          <a:cs typeface="DejaVu Sans"/>
                        </a:rPr>
                        <a:t>Tiêu chí</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Model tự chạy</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API thương mại</a:t>
                      </a:r>
                    </a:p>
                  </a:txBody>
                  <a:tcPr marL="133350" marR="133350" marT="47625" marB="47625" anchor="ctr">
                    <a:solidFill>
                      <a:srgbClr val="3754A3"/>
                    </a:solidFill>
                  </a:tcPr>
                </a:tc>
              </a:tr>
              <a:tr h="611188">
                <a:tc>
                  <a:txBody>
                    <a:bodyPr/>
                    <a:lstStyle/>
                    <a:p>
                      <a:r>
                        <a:rPr sz="1575" b="0">
                          <a:solidFill>
                            <a:srgbClr val="182D45"/>
                          </a:solidFill>
                          <a:latin typeface="DejaVu Sans"/>
                          <a:ea typeface="DejaVu Sans"/>
                          <a:cs typeface="DejaVu Sans"/>
                        </a:rPr>
                        <a:t>Chi phí trực tiếp</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Máy chạy, tài nguyên xử lý</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Phí dịch vụ theo gói</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Công vận hành</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Team quản lý model và hạ tầng</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Team tích hợp và theo dõi dịch vụ</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Nơi xử lý audio</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Hạ tầng team lựa chọn</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Xác nhận theo nhà cung cấp</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Đầu ra cho QA</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Có thể cần bổ sung người nói, thời gian</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Kiểm tra tính năng của từng gói</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Quyết định</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Đo công sửa và thời gian chờ</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Đo lợi ích so với phí dịch vụ</a:t>
                      </a:r>
                    </a:p>
                  </a:txBody>
                  <a:tcPr marL="133350" marR="133350" marT="47625" marB="4762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C343EDEA-C381-4942-83BB-2E6CC268AE30}"/>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Cần đo tổng chi phí trên cùng nhu cầu và khối lượng audio</a:t>
            </a:r>
          </a:p>
        </p:txBody>
      </p:sp>
      <p:sp>
        <p:nvSpPr>
          <p:cNvPr id="5" name="">
            <a:extLst xmlns:a="http://schemas.openxmlformats.org/drawingml/2006/main">
              <a:ext uri="{FF2B5EF4-FFF2-40B4-BE49-F238E27FC236}">
                <a16:creationId xmlns:a16="http://schemas.microsoft.com/office/drawing/2014/main" id="{AC535C06-FADC-4AF8-A857-F8B070E8C6E2}"/>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11/24</a:t>
            </a:r>
          </a:p>
        </p:txBody>
      </p:sp>
    </p:spTree>
    <p:extLst>
      <p:ext uri="{BB962C8B-B14F-4D97-AF65-F5344CB8AC3E}">
        <p14:creationId xmlns:p14="http://schemas.microsoft.com/office/powerpoint/2010/main" val="1906141370"/>
      </p:ext>
    </p:extLst>
  </p:cSld>
</p:sld>
</file>

<file path=ppt/slides/slide1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A8B8A8-7351-4412-BC38-F501C96CF3E8}"/>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Whisper: công cụ chạy cũng cần đối chiếu</a:t>
            </a:r>
          </a:p>
        </p:txBody>
      </p:sp>
      <p:sp>
        <p:nvSpPr>
          <p:cNvPr id="2" name="">
            <a:extLst xmlns:a="http://schemas.openxmlformats.org/drawingml/2006/main">
              <a:ext uri="{FF2B5EF4-FFF2-40B4-BE49-F238E27FC236}">
                <a16:creationId xmlns:a16="http://schemas.microsoft.com/office/drawing/2014/main" id="{0E49369C-712F-4DAC-AAA3-3C22D4E0282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Giữ model cố định để xem tác động của vận hành</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575" b="1">
                          <a:solidFill>
                            <a:srgbClr val="FFFFFF"/>
                          </a:solidFill>
                          <a:latin typeface="DejaVu Sans"/>
                          <a:ea typeface="DejaVu Sans"/>
                          <a:cs typeface="DejaVu Sans"/>
                        </a:rPr>
                        <a:t>Tiêu chí</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openai/whisper</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faster-whisper</a:t>
                      </a:r>
                    </a:p>
                  </a:txBody>
                  <a:tcPr marL="133350" marR="133350" marT="47625" marB="47625" anchor="ctr">
                    <a:solidFill>
                      <a:srgbClr val="087F78"/>
                    </a:solidFill>
                  </a:tcPr>
                </a:tc>
              </a:tr>
              <a:tr h="611188">
                <a:tc>
                  <a:txBody>
                    <a:bodyPr/>
                    <a:lstStyle/>
                    <a:p>
                      <a:r>
                        <a:rPr sz="1575" b="0">
                          <a:solidFill>
                            <a:srgbClr val="182D45"/>
                          </a:solidFill>
                          <a:latin typeface="DejaVu Sans"/>
                          <a:ea typeface="DejaVu Sans"/>
                          <a:cs typeface="DejaVu Sans"/>
                        </a:rPr>
                        <a:t>Công cụ thực thi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PyTorch</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CTranslate2</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CPU / GPU</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Chốt thiết bị và cấu hình thử</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Có lựa chọn CPU / GPU</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Giảm độ chính xác tính toán</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Chốt cấu hình so sánh</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 INT8, lựa chọn FP16</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Thời gian / bộ nhớ</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Cần benchmark</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Cần benchmark</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Chất lượng sau đổi công cụ</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Cần đối chiếu transcript</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Cần đối chiếu transcript</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9F06F07-C230-4D39-A946-A1EC63C5D078}"/>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FP16 / INT8 là cách tính toán. Cần đo lợi ích và sai khác thực tế</a:t>
            </a:r>
          </a:p>
        </p:txBody>
      </p:sp>
      <p:sp>
        <p:nvSpPr>
          <p:cNvPr id="5" name="">
            <a:extLst xmlns:a="http://schemas.openxmlformats.org/drawingml/2006/main">
              <a:ext uri="{FF2B5EF4-FFF2-40B4-BE49-F238E27FC236}">
                <a16:creationId xmlns:a16="http://schemas.microsoft.com/office/drawing/2014/main" id="{BE08CBC7-06BC-471E-B040-DA7C9F5E3A0F}"/>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SYSTRAN (n.d.)     12/24</a:t>
            </a:r>
          </a:p>
        </p:txBody>
      </p:sp>
    </p:spTree>
    <p:extLst>
      <p:ext uri="{BB962C8B-B14F-4D97-AF65-F5344CB8AC3E}">
        <p14:creationId xmlns:p14="http://schemas.microsoft.com/office/powerpoint/2010/main" val="630959931"/>
      </p:ext>
    </p:extLst>
  </p:cSld>
</p:sld>
</file>

<file path=ppt/slides/slide1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8027CB-8577-42F6-993D-EDBB84CE1BAB}"/>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Ma trận API quốc tế</a:t>
            </a:r>
          </a:p>
        </p:txBody>
      </p:sp>
      <p:sp>
        <p:nvSpPr>
          <p:cNvPr id="2" name="">
            <a:extLst xmlns:a="http://schemas.openxmlformats.org/drawingml/2006/main">
              <a:ext uri="{FF2B5EF4-FFF2-40B4-BE49-F238E27FC236}">
                <a16:creationId xmlns:a16="http://schemas.microsoft.com/office/drawing/2014/main" id="{3B5F7273-FF1E-4EC6-A9B7-E8587BF6064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Cùng tiêu chí tiếng Việt, từ chuyên ngành và người nói</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743200"/>
                <a:gridCol w="2743200"/>
                <a:gridCol w="2743200"/>
                <a:gridCol w="2743200"/>
              </a:tblGrid>
              <a:tr h="523875">
                <a:tc>
                  <a:txBody>
                    <a:bodyPr/>
                    <a:lstStyle/>
                    <a:p>
                      <a:r>
                        <a:rPr sz="1425" b="1">
                          <a:solidFill>
                            <a:srgbClr val="FFFFFF"/>
                          </a:solidFill>
                          <a:latin typeface="DejaVu Sans"/>
                          <a:ea typeface="DejaVu Sans"/>
                          <a:cs typeface="DejaVu Sans"/>
                        </a:rPr>
                        <a:t>API</a:t>
                      </a:r>
                    </a:p>
                  </a:txBody>
                  <a:tcPr marL="133350" marR="133350" marT="47625" marB="47625" anchor="ctr">
                    <a:solidFill>
                      <a:srgbClr val="3754A3"/>
                    </a:solidFill>
                  </a:tcPr>
                </a:tc>
                <a:tc>
                  <a:txBody>
                    <a:bodyPr/>
                    <a:lstStyle/>
                    <a:p>
                      <a:r>
                        <a:rPr sz="1425" b="1">
                          <a:solidFill>
                            <a:srgbClr val="FFFFFF"/>
                          </a:solidFill>
                          <a:latin typeface="DejaVu Sans"/>
                          <a:ea typeface="DejaVu Sans"/>
                          <a:cs typeface="DejaVu Sans"/>
                        </a:rPr>
                        <a:t>Tiếng Việt</a:t>
                      </a:r>
                    </a:p>
                  </a:txBody>
                  <a:tcPr marL="133350" marR="133350" marT="47625" marB="47625" anchor="ctr">
                    <a:solidFill>
                      <a:srgbClr val="3754A3"/>
                    </a:solidFill>
                  </a:tcPr>
                </a:tc>
                <a:tc>
                  <a:txBody>
                    <a:bodyPr/>
                    <a:lstStyle/>
                    <a:p>
                      <a:r>
                        <a:rPr sz="1425" b="1">
                          <a:solidFill>
                            <a:srgbClr val="FFFFFF"/>
                          </a:solidFill>
                          <a:latin typeface="DejaVu Sans"/>
                          <a:ea typeface="DejaVu Sans"/>
                          <a:cs typeface="DejaVu Sans"/>
                        </a:rPr>
                        <a:t>Từ chuyên ngành</a:t>
                      </a:r>
                    </a:p>
                  </a:txBody>
                  <a:tcPr marL="133350" marR="133350" marT="47625" marB="47625" anchor="ctr">
                    <a:solidFill>
                      <a:srgbClr val="3754A3"/>
                    </a:solidFill>
                  </a:tcPr>
                </a:tc>
                <a:tc>
                  <a:txBody>
                    <a:bodyPr/>
                    <a:lstStyle/>
                    <a:p>
                      <a:r>
                        <a:rPr sz="1425" b="1">
                          <a:solidFill>
                            <a:srgbClr val="FFFFFF"/>
                          </a:solidFill>
                          <a:latin typeface="DejaVu Sans"/>
                          <a:ea typeface="DejaVu Sans"/>
                          <a:cs typeface="DejaVu Sans"/>
                        </a:rPr>
                        <a:t>Người nói</a:t>
                      </a:r>
                    </a:p>
                  </a:txBody>
                  <a:tcPr marL="133350" marR="133350" marT="47625" marB="47625" anchor="ctr">
                    <a:solidFill>
                      <a:srgbClr val="3754A3"/>
                    </a:solidFill>
                  </a:tcPr>
                </a:tc>
              </a:tr>
              <a:tr h="523875">
                <a:tc>
                  <a:txBody>
                    <a:bodyPr/>
                    <a:lstStyle/>
                    <a:p>
                      <a:r>
                        <a:rPr sz="1425" b="0">
                          <a:solidFill>
                            <a:srgbClr val="182D45"/>
                          </a:solidFill>
                          <a:latin typeface="DejaVu Sans"/>
                          <a:ea typeface="DejaVu Sans"/>
                          <a:cs typeface="DejaVu Sans"/>
                        </a:rPr>
                        <a:t>OpenAI</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Có</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gpt-transcribe: prompt / keywords</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Bản transcribe-diarize</a:t>
                      </a:r>
                    </a:p>
                  </a:txBody>
                  <a:tcPr marL="133350" marR="133350" marT="47625" marB="47625" anchor="ctr">
                    <a:solidFill>
                      <a:srgbClr val="FFFFFF"/>
                    </a:solidFill>
                  </a:tcPr>
                </a:tc>
              </a:tr>
              <a:tr h="523875">
                <a:tc>
                  <a:txBody>
                    <a:bodyPr/>
                    <a:lstStyle/>
                    <a:p>
                      <a:r>
                        <a:rPr sz="1425" b="0">
                          <a:solidFill>
                            <a:srgbClr val="182D45"/>
                          </a:solidFill>
                          <a:latin typeface="DejaVu Sans"/>
                          <a:ea typeface="DejaVu Sans"/>
                          <a:cs typeface="DejaVu Sans"/>
                        </a:rPr>
                        <a:t>Google Chirp 3</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vi-VN</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Speech adaptation</a:t>
                      </a:r>
                    </a:p>
                  </a:txBody>
                  <a:tcPr marL="133350" marR="133350" marT="47625" marB="47625" anchor="ctr">
                    <a:solidFill>
                      <a:srgbClr val="EEF3F8"/>
                    </a:solidFill>
                  </a:tcPr>
                </a:tc>
                <a:tc>
                  <a:txBody>
                    <a:bodyPr/>
                    <a:lstStyle/>
                    <a:p>
                      <a:r>
                        <a:rPr sz="1425" b="1">
                          <a:solidFill>
                            <a:srgbClr val="9B2D24"/>
                          </a:solidFill>
                          <a:latin typeface="DejaVu Sans"/>
                          <a:ea typeface="DejaVu Sans"/>
                          <a:cs typeface="DejaVu Sans"/>
                        </a:rPr>
                        <a:t>Bảng chưa có vi-VN</a:t>
                      </a:r>
                    </a:p>
                  </a:txBody>
                  <a:tcPr marL="133350" marR="133350" marT="47625" marB="47625" anchor="ctr">
                    <a:solidFill>
                      <a:srgbClr val="FCE1DE"/>
                    </a:solidFill>
                  </a:tcPr>
                </a:tc>
              </a:tr>
              <a:tr h="523875">
                <a:tc>
                  <a:txBody>
                    <a:bodyPr/>
                    <a:lstStyle/>
                    <a:p>
                      <a:r>
                        <a:rPr sz="1425" b="0">
                          <a:solidFill>
                            <a:srgbClr val="182D45"/>
                          </a:solidFill>
                          <a:latin typeface="DejaVu Sans"/>
                          <a:ea typeface="DejaVu Sans"/>
                          <a:cs typeface="DejaVu Sans"/>
                        </a:rPr>
                        <a:t>Azure Speech</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vi-VN</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Phrase list</a:t>
                      </a:r>
                    </a:p>
                  </a:txBody>
                  <a:tcPr marL="133350" marR="133350" marT="47625" marB="47625" anchor="ctr">
                    <a:solidFill>
                      <a:srgbClr val="FFFFFF"/>
                    </a:solidFill>
                  </a:tcPr>
                </a:tc>
                <a:tc>
                  <a:txBody>
                    <a:bodyPr/>
                    <a:lstStyle/>
                    <a:p>
                      <a:r>
                        <a:rPr sz="1425" b="1">
                          <a:solidFill>
                            <a:srgbClr val="805B0A"/>
                          </a:solidFill>
                          <a:latin typeface="DejaVu Sans"/>
                          <a:ea typeface="DejaVu Sans"/>
                          <a:cs typeface="DejaVu Sans"/>
                        </a:rPr>
                        <a:t>Cần chốt endpoint</a:t>
                      </a:r>
                    </a:p>
                  </a:txBody>
                  <a:tcPr marL="133350" marR="133350" marT="47625" marB="47625" anchor="ctr">
                    <a:solidFill>
                      <a:srgbClr val="FFF1CD"/>
                    </a:solidFill>
                  </a:tcPr>
                </a:tc>
              </a:tr>
              <a:tr h="523875">
                <a:tc>
                  <a:txBody>
                    <a:bodyPr/>
                    <a:lstStyle/>
                    <a:p>
                      <a:r>
                        <a:rPr sz="1425" b="0">
                          <a:solidFill>
                            <a:srgbClr val="182D45"/>
                          </a:solidFill>
                          <a:latin typeface="DejaVu Sans"/>
                          <a:ea typeface="DejaVu Sans"/>
                          <a:cs typeface="DejaVu Sans"/>
                        </a:rPr>
                        <a:t>AWS Transcribe</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vi-VN</a:t>
                      </a:r>
                    </a:p>
                  </a:txBody>
                  <a:tcPr marL="133350" marR="133350" marT="47625" marB="47625" anchor="ctr">
                    <a:solidFill>
                      <a:srgbClr val="EEF3F8"/>
                    </a:solidFill>
                  </a:tcPr>
                </a:tc>
                <a:tc>
                  <a:txBody>
                    <a:bodyPr/>
                    <a:lstStyle/>
                    <a:p>
                      <a:r>
                        <a:rPr sz="1425" b="1">
                          <a:solidFill>
                            <a:srgbClr val="805B0A"/>
                          </a:solidFill>
                          <a:latin typeface="DejaVu Sans"/>
                          <a:ea typeface="DejaVu Sans"/>
                          <a:cs typeface="DejaVu Sans"/>
                        </a:rPr>
                        <a:t>Cần xác nhận tính năng VI</a:t>
                      </a:r>
                    </a:p>
                  </a:txBody>
                  <a:tcPr marL="133350" marR="133350" marT="47625" marB="47625" anchor="ctr">
                    <a:solidFill>
                      <a:srgbClr val="FFF1CD"/>
                    </a:solidFill>
                  </a:tcPr>
                </a:tc>
                <a:tc>
                  <a:txBody>
                    <a:bodyPr/>
                    <a:lstStyle/>
                    <a:p>
                      <a:r>
                        <a:rPr sz="1425" b="1">
                          <a:solidFill>
                            <a:srgbClr val="805B0A"/>
                          </a:solidFill>
                          <a:latin typeface="DejaVu Sans"/>
                          <a:ea typeface="DejaVu Sans"/>
                          <a:cs typeface="DejaVu Sans"/>
                        </a:rPr>
                        <a:t>Cần xác nhận cấu hình</a:t>
                      </a:r>
                    </a:p>
                  </a:txBody>
                  <a:tcPr marL="133350" marR="133350" marT="47625" marB="47625" anchor="ctr">
                    <a:solidFill>
                      <a:srgbClr val="FFF1CD"/>
                    </a:solidFill>
                  </a:tcPr>
                </a:tc>
              </a:tr>
              <a:tr h="523875">
                <a:tc>
                  <a:txBody>
                    <a:bodyPr/>
                    <a:lstStyle/>
                    <a:p>
                      <a:r>
                        <a:rPr sz="1425" b="0">
                          <a:solidFill>
                            <a:srgbClr val="182D45"/>
                          </a:solidFill>
                          <a:latin typeface="DejaVu Sans"/>
                          <a:ea typeface="DejaVu Sans"/>
                          <a:cs typeface="DejaVu Sans"/>
                        </a:rPr>
                        <a:t>Deepgram</a:t>
                      </a:r>
                    </a:p>
                  </a:txBody>
                  <a:tcPr marL="133350" marR="133350" marT="47625" marB="47625" anchor="ctr">
                    <a:solidFill>
                      <a:srgbClr val="FFFFFF"/>
                    </a:solidFill>
                  </a:tcPr>
                </a:tc>
                <a:tc>
                  <a:txBody>
                    <a:bodyPr/>
                    <a:lstStyle/>
                    <a:p>
                      <a:r>
                        <a:rPr sz="1425" b="0">
                          <a:solidFill>
                            <a:srgbClr val="182D45"/>
                          </a:solidFill>
                          <a:latin typeface="DejaVu Sans"/>
                          <a:ea typeface="DejaVu Sans"/>
                          <a:cs typeface="DejaVu Sans"/>
                        </a:rPr>
                        <a:t>Nova-3 / Nova-2 vi</a:t>
                      </a:r>
                    </a:p>
                  </a:txBody>
                  <a:tcPr marL="133350" marR="133350" marT="47625" marB="47625" anchor="ctr">
                    <a:solidFill>
                      <a:srgbClr val="FFFFFF"/>
                    </a:solidFill>
                  </a:tcPr>
                </a:tc>
                <a:tc>
                  <a:txBody>
                    <a:bodyPr/>
                    <a:lstStyle/>
                    <a:p>
                      <a:r>
                        <a:rPr sz="1425" b="1">
                          <a:solidFill>
                            <a:srgbClr val="805B0A"/>
                          </a:solidFill>
                          <a:latin typeface="DejaVu Sans"/>
                          <a:ea typeface="DejaVu Sans"/>
                          <a:cs typeface="DejaVu Sans"/>
                        </a:rPr>
                        <a:t>Cần xác nhận tính năng VI</a:t>
                      </a:r>
                    </a:p>
                  </a:txBody>
                  <a:tcPr marL="133350" marR="133350" marT="47625" marB="47625" anchor="ctr">
                    <a:solidFill>
                      <a:srgbClr val="FFF1CD"/>
                    </a:solidFill>
                  </a:tcPr>
                </a:tc>
                <a:tc>
                  <a:txBody>
                    <a:bodyPr/>
                    <a:lstStyle/>
                    <a:p>
                      <a:r>
                        <a:rPr sz="1425" b="1">
                          <a:solidFill>
                            <a:srgbClr val="805B0A"/>
                          </a:solidFill>
                          <a:latin typeface="DejaVu Sans"/>
                          <a:ea typeface="DejaVu Sans"/>
                          <a:cs typeface="DejaVu Sans"/>
                        </a:rPr>
                        <a:t>Cần xác nhận cấu hình</a:t>
                      </a:r>
                    </a:p>
                  </a:txBody>
                  <a:tcPr marL="133350" marR="133350" marT="47625" marB="47625" anchor="ctr">
                    <a:solidFill>
                      <a:srgbClr val="FFF1CD"/>
                    </a:solidFill>
                  </a:tcPr>
                </a:tc>
              </a:tr>
              <a:tr h="523875">
                <a:tc>
                  <a:txBody>
                    <a:bodyPr/>
                    <a:lstStyle/>
                    <a:p>
                      <a:r>
                        <a:rPr sz="1425" b="0">
                          <a:solidFill>
                            <a:srgbClr val="182D45"/>
                          </a:solidFill>
                          <a:latin typeface="DejaVu Sans"/>
                          <a:ea typeface="DejaVu Sans"/>
                          <a:cs typeface="DejaVu Sans"/>
                        </a:rPr>
                        <a:t>Speechmatics</a:t>
                      </a:r>
                    </a:p>
                  </a:txBody>
                  <a:tcPr marL="133350" marR="133350" marT="47625" marB="47625" anchor="ctr">
                    <a:solidFill>
                      <a:srgbClr val="EEF3F8"/>
                    </a:solidFill>
                  </a:tcPr>
                </a:tc>
                <a:tc>
                  <a:txBody>
                    <a:bodyPr/>
                    <a:lstStyle/>
                    <a:p>
                      <a:r>
                        <a:rPr sz="1425" b="0">
                          <a:solidFill>
                            <a:srgbClr val="182D45"/>
                          </a:solidFill>
                          <a:latin typeface="DejaVu Sans"/>
                          <a:ea typeface="DejaVu Sans"/>
                          <a:cs typeface="DejaVu Sans"/>
                        </a:rPr>
                        <a:t>vi</a:t>
                      </a:r>
                    </a:p>
                  </a:txBody>
                  <a:tcPr marL="133350" marR="133350" marT="47625" marB="47625" anchor="ctr">
                    <a:solidFill>
                      <a:srgbClr val="EEF3F8"/>
                    </a:solidFill>
                  </a:tcPr>
                </a:tc>
                <a:tc>
                  <a:txBody>
                    <a:bodyPr/>
                    <a:lstStyle/>
                    <a:p>
                      <a:r>
                        <a:rPr sz="1425" b="1">
                          <a:solidFill>
                            <a:srgbClr val="805B0A"/>
                          </a:solidFill>
                          <a:latin typeface="DejaVu Sans"/>
                          <a:ea typeface="DejaVu Sans"/>
                          <a:cs typeface="DejaVu Sans"/>
                        </a:rPr>
                        <a:t>Custom dictionary theo gói</a:t>
                      </a:r>
                    </a:p>
                  </a:txBody>
                  <a:tcPr marL="133350" marR="133350" marT="47625" marB="47625" anchor="ctr">
                    <a:solidFill>
                      <a:srgbClr val="FFF1CD"/>
                    </a:solidFill>
                  </a:tcPr>
                </a:tc>
                <a:tc>
                  <a:txBody>
                    <a:bodyPr/>
                    <a:lstStyle/>
                    <a:p>
                      <a:r>
                        <a:rPr sz="1425" b="1">
                          <a:solidFill>
                            <a:srgbClr val="805B0A"/>
                          </a:solidFill>
                          <a:latin typeface="DejaVu Sans"/>
                          <a:ea typeface="DejaVu Sans"/>
                          <a:cs typeface="DejaVu Sans"/>
                        </a:rPr>
                        <a:t>Diarization theo deployment</a:t>
                      </a:r>
                    </a:p>
                  </a:txBody>
                  <a:tcPr marL="133350" marR="133350" marT="47625" marB="4762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45FB4E44-A12C-4EAF-8D69-D0D23739C53C}"/>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Lựa chọn trial miễn phí cần kiểm tra hạn mức và điều kiện hiện hành</a:t>
            </a:r>
          </a:p>
        </p:txBody>
      </p:sp>
      <p:sp>
        <p:nvSpPr>
          <p:cNvPr id="5" name="">
            <a:extLst xmlns:a="http://schemas.openxmlformats.org/drawingml/2006/main">
              <a:ext uri="{FF2B5EF4-FFF2-40B4-BE49-F238E27FC236}">
                <a16:creationId xmlns:a16="http://schemas.microsoft.com/office/drawing/2014/main" id="{A26E1363-EE80-4F1E-BFBD-3D6D431D3971}"/>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(n.d.b), Google Cloud (n.d.), Microsoft (n.d.), AWS (n.d.), Deepgram (n.d.), Speechmatics (n.d.a)     13/24</a:t>
            </a:r>
          </a:p>
        </p:txBody>
      </p:sp>
    </p:spTree>
    <p:extLst>
      <p:ext uri="{BB962C8B-B14F-4D97-AF65-F5344CB8AC3E}">
        <p14:creationId xmlns:p14="http://schemas.microsoft.com/office/powerpoint/2010/main" val="1577592595"/>
      </p:ext>
    </p:extLst>
  </p:cSld>
</p:sld>
</file>

<file path=ppt/slides/slide1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562105-9A00-4574-ADF4-DDA1363D0FDF}"/>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OpenAI: ma trận theo nhu cầu đầu ra</a:t>
            </a:r>
          </a:p>
        </p:txBody>
      </p:sp>
      <p:sp>
        <p:nvSpPr>
          <p:cNvPr id="2" name="">
            <a:extLst xmlns:a="http://schemas.openxmlformats.org/drawingml/2006/main">
              <a:ext uri="{FF2B5EF4-FFF2-40B4-BE49-F238E27FC236}">
                <a16:creationId xmlns:a16="http://schemas.microsoft.com/office/drawing/2014/main" id="{338D86A1-EC57-40B9-9E3C-BF78E4B4FA4F}"/>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Các model cùng nhà cung cấp phục vụ nhu cầu khác nhau</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743200"/>
                <a:gridCol w="2743200"/>
                <a:gridCol w="2743200"/>
                <a:gridCol w="2743200"/>
              </a:tblGrid>
              <a:tr h="611188">
                <a:tc>
                  <a:txBody>
                    <a:bodyPr/>
                    <a:lstStyle/>
                    <a:p>
                      <a:r>
                        <a:rPr sz="1575" b="1">
                          <a:solidFill>
                            <a:srgbClr val="FFFFFF"/>
                          </a:solidFill>
                          <a:latin typeface="DejaVu Sans"/>
                          <a:ea typeface="DejaVu Sans"/>
                          <a:cs typeface="DejaVu Sans"/>
                        </a:rPr>
                        <a:t>Tiêu chí</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gpt-transcribe</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gpt-4o-transcribe-</a:t>
                      </a:r>
                    </a:p>
                    <a:p>
                      <a:r>
                        <a:rPr sz="1575" b="1">
                          <a:solidFill>
                            <a:srgbClr val="FFFFFF"/>
                          </a:solidFill>
                          <a:latin typeface="DejaVu Sans"/>
                          <a:ea typeface="DejaVu Sans"/>
                          <a:cs typeface="DejaVu Sans"/>
                        </a:rPr>
                        <a:t>diarize</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whisper-1</a:t>
                      </a:r>
                    </a:p>
                  </a:txBody>
                  <a:tcPr marL="133350" marR="133350" marT="47625" marB="47625" anchor="ctr">
                    <a:solidFill>
                      <a:srgbClr val="3754A3"/>
                    </a:solidFill>
                  </a:tcPr>
                </a:tc>
              </a:tr>
              <a:tr h="611188">
                <a:tc>
                  <a:txBody>
                    <a:bodyPr/>
                    <a:lstStyle/>
                    <a:p>
                      <a:r>
                        <a:rPr sz="1575" b="0">
                          <a:solidFill>
                            <a:srgbClr val="182D45"/>
                          </a:solidFill>
                          <a:latin typeface="DejaVu Sans"/>
                          <a:ea typeface="DejaVu Sans"/>
                          <a:cs typeface="DejaVu Sans"/>
                        </a:rPr>
                        <a:t>Đầu ra chính</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Text + ngôn ngữ phát hiện</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Text + người nói + thời gian đoạn</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Text và định dạng chuyên biệt</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Gợi ý ngữ cảnh</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Prompt, keywords, languages</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Cần kiểm tra tính năng tương ứng</a:t>
                      </a:r>
                    </a:p>
                  </a:txBody>
                  <a:tcPr marL="133350" marR="133350" marT="47625" marB="47625" anchor="ctr">
                    <a:solidFill>
                      <a:srgbClr val="FFF1CD"/>
                    </a:solidFill>
                  </a:tcPr>
                </a:tc>
                <a:tc>
                  <a:txBody>
                    <a:bodyPr/>
                    <a:lstStyle/>
                    <a:p>
                      <a:r>
                        <a:rPr sz="1575" b="0">
                          <a:solidFill>
                            <a:srgbClr val="182D45"/>
                          </a:solidFill>
                          <a:latin typeface="DejaVu Sans"/>
                          <a:ea typeface="DejaVu Sans"/>
                          <a:cs typeface="DejaVu Sans"/>
                        </a:rPr>
                        <a:t>Có prompt</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Thời gian từng từ</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Cần kiểm tra đầu ra tương ứng</a:t>
                      </a:r>
                    </a:p>
                  </a:txBody>
                  <a:tcPr marL="133350" marR="133350" marT="47625" marB="47625" anchor="ctr">
                    <a:solidFill>
                      <a:srgbClr val="FFF1CD"/>
                    </a:solidFill>
                  </a:tcPr>
                </a:tc>
                <a:tc>
                  <a:txBody>
                    <a:bodyPr/>
                    <a:lstStyle/>
                    <a:p>
                      <a:r>
                        <a:rPr sz="1575" b="0">
                          <a:solidFill>
                            <a:srgbClr val="182D45"/>
                          </a:solidFill>
                          <a:latin typeface="DejaVu Sans"/>
                          <a:ea typeface="DejaVu Sans"/>
                          <a:cs typeface="DejaVu Sans"/>
                        </a:rPr>
                        <a:t>Thời gian theo đoạn</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timestamp_granularities</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Luồng kết quả từ file</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Có</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Có</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Không hỗ trợ file streaming</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Nhu cầu thử</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Độ đúng từ chuyên ngành</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Đọc theo người nói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Nghe lại / phụ đề</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05C662C-18A9-449C-BED2-D7A2FEEF54C9}"/>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Các lựa chọn đều là API thương mại, cần đối chiếu giá và hạn mức</a:t>
            </a:r>
          </a:p>
        </p:txBody>
      </p:sp>
      <p:sp>
        <p:nvSpPr>
          <p:cNvPr id="5" name="">
            <a:extLst xmlns:a="http://schemas.openxmlformats.org/drawingml/2006/main">
              <a:ext uri="{FF2B5EF4-FFF2-40B4-BE49-F238E27FC236}">
                <a16:creationId xmlns:a16="http://schemas.microsoft.com/office/drawing/2014/main" id="{73F2507C-A1A6-4576-8373-C3C985CD49C8}"/>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(n.d.b), OpenAI (n.d.c)     14/24</a:t>
            </a:r>
          </a:p>
        </p:txBody>
      </p:sp>
    </p:spTree>
    <p:extLst>
      <p:ext uri="{BB962C8B-B14F-4D97-AF65-F5344CB8AC3E}">
        <p14:creationId xmlns:p14="http://schemas.microsoft.com/office/powerpoint/2010/main" val="1259511904"/>
      </p:ext>
    </p:extLst>
  </p:cSld>
</p:sld>
</file>

<file path=ppt/slides/slide15.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5CD225-3921-4D9B-B913-30A55B741561}"/>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Google Chirp 3 và Azure Speech</a:t>
            </a:r>
          </a:p>
        </p:txBody>
      </p:sp>
      <p:sp>
        <p:nvSpPr>
          <p:cNvPr id="2" name="">
            <a:extLst xmlns:a="http://schemas.openxmlformats.org/drawingml/2006/main">
              <a:ext uri="{FF2B5EF4-FFF2-40B4-BE49-F238E27FC236}">
                <a16:creationId xmlns:a16="http://schemas.microsoft.com/office/drawing/2014/main" id="{47D8F54A-8EF6-4052-8367-5CC08867E770}"/>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Tính năng tiếng Việt cần đọc riêng</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733425">
                <a:tc>
                  <a:txBody>
                    <a:bodyPr/>
                    <a:lstStyle/>
                    <a:p>
                      <a:r>
                        <a:rPr sz="1575" b="1">
                          <a:solidFill>
                            <a:srgbClr val="FFFFFF"/>
                          </a:solidFill>
                          <a:latin typeface="DejaVu Sans"/>
                          <a:ea typeface="DejaVu Sans"/>
                          <a:cs typeface="DejaVu Sans"/>
                        </a:rPr>
                        <a:t>Tiêu chí</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Google Chirp 3</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Azure Speech</a:t>
                      </a:r>
                    </a:p>
                  </a:txBody>
                  <a:tcPr marL="133350" marR="133350" marT="47625" marB="47625" anchor="ctr">
                    <a:solidFill>
                      <a:srgbClr val="3754A3"/>
                    </a:solidFill>
                  </a:tcPr>
                </a:tc>
              </a:tr>
              <a:tr h="733425">
                <a:tc>
                  <a:txBody>
                    <a:bodyPr/>
                    <a:lstStyle/>
                    <a:p>
                      <a:r>
                        <a:rPr sz="1575" b="0">
                          <a:solidFill>
                            <a:srgbClr val="182D45"/>
                          </a:solidFill>
                          <a:latin typeface="DejaVu Sans"/>
                          <a:ea typeface="DejaVu Sans"/>
                          <a:cs typeface="DejaVu Sans"/>
                        </a:rPr>
                        <a:t>Tiếng Việt</a:t>
                      </a:r>
                    </a:p>
                  </a:txBody>
                  <a:tcPr marL="133350" marR="133350" marT="47625" marB="47625" anchor="ctr">
                    <a:solidFill>
                      <a:srgbClr val="FFFFFF"/>
                    </a:solidFill>
                  </a:tcPr>
                </a:tc>
                <a:tc>
                  <a:txBody>
                    <a:bodyPr/>
                    <a:lstStyle/>
                    <a:p>
                      <a:r>
                        <a:rPr sz="1575" b="1">
                          <a:solidFill>
                            <a:srgbClr val="116344"/>
                          </a:solidFill>
                          <a:latin typeface="DejaVu Sans"/>
                          <a:ea typeface="DejaVu Sans"/>
                          <a:cs typeface="DejaVu Sans"/>
                        </a:rPr>
                        <a:t>vi-VN cho transcription</a:t>
                      </a:r>
                    </a:p>
                  </a:txBody>
                  <a:tcPr marL="133350" marR="133350" marT="47625" marB="47625" anchor="ctr">
                    <a:solidFill>
                      <a:srgbClr val="DDF3EA"/>
                    </a:solidFill>
                  </a:tcPr>
                </a:tc>
                <a:tc>
                  <a:txBody>
                    <a:bodyPr/>
                    <a:lstStyle/>
                    <a:p>
                      <a:r>
                        <a:rPr sz="1575" b="1">
                          <a:solidFill>
                            <a:srgbClr val="116344"/>
                          </a:solidFill>
                          <a:latin typeface="DejaVu Sans"/>
                          <a:ea typeface="DejaVu Sans"/>
                          <a:cs typeface="DejaVu Sans"/>
                        </a:rPr>
                        <a:t>vi-VN cho fast transcription</a:t>
                      </a:r>
                    </a:p>
                  </a:txBody>
                  <a:tcPr marL="133350" marR="133350" marT="47625" marB="47625" anchor="ctr">
                    <a:solidFill>
                      <a:srgbClr val="DDF3EA"/>
                    </a:solidFill>
                  </a:tcPr>
                </a:tc>
              </a:tr>
              <a:tr h="733425">
                <a:tc>
                  <a:txBody>
                    <a:bodyPr/>
                    <a:lstStyle/>
                    <a:p>
                      <a:r>
                        <a:rPr sz="1575" b="0">
                          <a:solidFill>
                            <a:srgbClr val="182D45"/>
                          </a:solidFill>
                          <a:latin typeface="DejaVu Sans"/>
                          <a:ea typeface="DejaVu Sans"/>
                          <a:cs typeface="DejaVu Sans"/>
                        </a:rPr>
                        <a:t>Từ vựng</a:t>
                      </a:r>
                    </a:p>
                  </a:txBody>
                  <a:tcPr marL="133350" marR="133350" marT="47625" marB="47625" anchor="ctr">
                    <a:solidFill>
                      <a:srgbClr val="EEF3F8"/>
                    </a:solidFill>
                  </a:tcPr>
                </a:tc>
                <a:tc>
                  <a:txBody>
                    <a:bodyPr/>
                    <a:lstStyle/>
                    <a:p>
                      <a:r>
                        <a:rPr sz="1575" b="1">
                          <a:solidFill>
                            <a:srgbClr val="116344"/>
                          </a:solidFill>
                          <a:latin typeface="DejaVu Sans"/>
                          <a:ea typeface="DejaVu Sans"/>
                          <a:cs typeface="DejaVu Sans"/>
                        </a:rPr>
                        <a:t>Có speech adaptation</a:t>
                      </a:r>
                    </a:p>
                  </a:txBody>
                  <a:tcPr marL="133350" marR="133350" marT="47625" marB="47625" anchor="ctr">
                    <a:solidFill>
                      <a:srgbClr val="DDF3EA"/>
                    </a:solidFill>
                  </a:tcPr>
                </a:tc>
                <a:tc>
                  <a:txBody>
                    <a:bodyPr/>
                    <a:lstStyle/>
                    <a:p>
                      <a:r>
                        <a:rPr sz="1575" b="1">
                          <a:solidFill>
                            <a:srgbClr val="116344"/>
                          </a:solidFill>
                          <a:latin typeface="DejaVu Sans"/>
                          <a:ea typeface="DejaVu Sans"/>
                          <a:cs typeface="DejaVu Sans"/>
                        </a:rPr>
                        <a:t>Có phrase list / plain text</a:t>
                      </a:r>
                    </a:p>
                  </a:txBody>
                  <a:tcPr marL="133350" marR="133350" marT="47625" marB="47625" anchor="ctr">
                    <a:solidFill>
                      <a:srgbClr val="DDF3EA"/>
                    </a:solidFill>
                  </a:tcPr>
                </a:tc>
              </a:tr>
              <a:tr h="733425">
                <a:tc>
                  <a:txBody>
                    <a:bodyPr/>
                    <a:lstStyle/>
                    <a:p>
                      <a:r>
                        <a:rPr sz="1575" b="0">
                          <a:solidFill>
                            <a:srgbClr val="182D45"/>
                          </a:solidFill>
                          <a:latin typeface="DejaVu Sans"/>
                          <a:ea typeface="DejaVu Sans"/>
                          <a:cs typeface="DejaVu Sans"/>
                        </a:rPr>
                        <a:t>Người nói</a:t>
                      </a:r>
                    </a:p>
                  </a:txBody>
                  <a:tcPr marL="133350" marR="133350" marT="47625" marB="47625" anchor="ctr">
                    <a:solidFill>
                      <a:srgbClr val="FFFFFF"/>
                    </a:solidFill>
                  </a:tcPr>
                </a:tc>
                <a:tc>
                  <a:txBody>
                    <a:bodyPr/>
                    <a:lstStyle/>
                    <a:p>
                      <a:r>
                        <a:rPr sz="1575" b="1">
                          <a:solidFill>
                            <a:srgbClr val="9B2D24"/>
                          </a:solidFill>
                          <a:latin typeface="DejaVu Sans"/>
                          <a:ea typeface="DejaVu Sans"/>
                          <a:cs typeface="DejaVu Sans"/>
                        </a:rPr>
                        <a:t>Bảng diarization chưa có vi-VN</a:t>
                      </a:r>
                    </a:p>
                  </a:txBody>
                  <a:tcPr marL="133350" marR="133350" marT="47625" marB="47625" anchor="ctr">
                    <a:solidFill>
                      <a:srgbClr val="FCE1DE"/>
                    </a:solidFill>
                  </a:tcPr>
                </a:tc>
                <a:tc>
                  <a:txBody>
                    <a:bodyPr/>
                    <a:lstStyle/>
                    <a:p>
                      <a:r>
                        <a:rPr sz="1575" b="1">
                          <a:solidFill>
                            <a:srgbClr val="805B0A"/>
                          </a:solidFill>
                          <a:latin typeface="DejaVu Sans"/>
                          <a:ea typeface="DejaVu Sans"/>
                          <a:cs typeface="DejaVu Sans"/>
                        </a:rPr>
                        <a:t>Cần chốt endpoint / cấu hình</a:t>
                      </a:r>
                    </a:p>
                  </a:txBody>
                  <a:tcPr marL="133350" marR="133350" marT="47625" marB="47625" anchor="ctr">
                    <a:solidFill>
                      <a:srgbClr val="FFF1CD"/>
                    </a:solidFill>
                  </a:tcPr>
                </a:tc>
              </a:tr>
              <a:tr h="733425">
                <a:tc>
                  <a:txBody>
                    <a:bodyPr/>
                    <a:lstStyle/>
                    <a:p>
                      <a:r>
                        <a:rPr sz="1575" b="0">
                          <a:solidFill>
                            <a:srgbClr val="182D45"/>
                          </a:solidFill>
                          <a:latin typeface="DejaVu Sans"/>
                          <a:ea typeface="DejaVu Sans"/>
                          <a:cs typeface="DejaVu Sans"/>
                        </a:rPr>
                        <a:t>Thử nghiệm gợi ý</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Có và không có biasing</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Có và không có phrase list</a:t>
                      </a:r>
                    </a:p>
                  </a:txBody>
                  <a:tcPr marL="133350" marR="133350" marT="47625" marB="4762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8CD3DC79-8A45-457B-B387-2FC11303AD67}"/>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Xanh: có công bố   Vàng: cần xác nhận   Đỏ: giới hạn trong tài liệu</a:t>
            </a:r>
          </a:p>
        </p:txBody>
      </p:sp>
      <p:sp>
        <p:nvSpPr>
          <p:cNvPr id="5" name="">
            <a:extLst xmlns:a="http://schemas.openxmlformats.org/drawingml/2006/main">
              <a:ext uri="{FF2B5EF4-FFF2-40B4-BE49-F238E27FC236}">
                <a16:creationId xmlns:a16="http://schemas.microsoft.com/office/drawing/2014/main" id="{FE64BFC9-B2A6-478E-866C-D102B3D90200}"/>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Google Cloud (n.d.), Microsoft (n.d.)     15/24</a:t>
            </a:r>
          </a:p>
        </p:txBody>
      </p:sp>
    </p:spTree>
    <p:extLst>
      <p:ext uri="{BB962C8B-B14F-4D97-AF65-F5344CB8AC3E}">
        <p14:creationId xmlns:p14="http://schemas.microsoft.com/office/powerpoint/2010/main" val="853597263"/>
      </p:ext>
    </p:extLst>
  </p:cSld>
</p:sld>
</file>

<file path=ppt/slides/slide16.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0EA51E-FC2B-4D72-874D-1A9C255B849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AWS và Deepgram: ma trận phạm vi dịch vụ</a:t>
            </a:r>
          </a:p>
        </p:txBody>
      </p:sp>
      <p:sp>
        <p:nvSpPr>
          <p:cNvPr id="2" name="">
            <a:extLst xmlns:a="http://schemas.openxmlformats.org/drawingml/2006/main">
              <a:ext uri="{FF2B5EF4-FFF2-40B4-BE49-F238E27FC236}">
                <a16:creationId xmlns:a16="http://schemas.microsoft.com/office/drawing/2014/main" id="{881DF7A9-7929-401F-8D7F-0AC7917A22C1}"/>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Tên gói chuyên ngành phải đi cùng ngôn ngữ hỗ trợ</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575" b="1">
                          <a:solidFill>
                            <a:srgbClr val="FFFFFF"/>
                          </a:solidFill>
                          <a:latin typeface="DejaVu Sans"/>
                          <a:ea typeface="DejaVu Sans"/>
                          <a:cs typeface="DejaVu Sans"/>
                        </a:rPr>
                        <a:t>Tiêu chí</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AWS Transcribe vi-VN</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Deepgram Nova-3 / Nova-2 vi</a:t>
                      </a:r>
                    </a:p>
                  </a:txBody>
                  <a:tcPr marL="133350" marR="133350" marT="47625" marB="47625" anchor="ctr">
                    <a:solidFill>
                      <a:srgbClr val="3754A3"/>
                    </a:solidFill>
                  </a:tcPr>
                </a:tc>
              </a:tr>
              <a:tr h="611188">
                <a:tc>
                  <a:txBody>
                    <a:bodyPr/>
                    <a:lstStyle/>
                    <a:p>
                      <a:r>
                        <a:rPr sz="1575" b="0">
                          <a:solidFill>
                            <a:srgbClr val="182D45"/>
                          </a:solidFill>
                          <a:latin typeface="DejaVu Sans"/>
                          <a:ea typeface="DejaVu Sans"/>
                          <a:cs typeface="DejaVu Sans"/>
                        </a:rPr>
                        <a:t>Nhận dạng tiếng Việt</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 công bố</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 trong danh sách</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Cấu hình khảo sát</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Batch và streaming</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Chọn đúng Nova và mã vi</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Phân tích cuộc gọi</a:t>
                      </a:r>
                    </a:p>
                  </a:txBody>
                  <a:tcPr marL="133350" marR="133350" marT="47625" marB="47625" anchor="ctr">
                    <a:solidFill>
                      <a:srgbClr val="FFFFFF"/>
                    </a:solidFill>
                  </a:tcPr>
                </a:tc>
                <a:tc>
                  <a:txBody>
                    <a:bodyPr/>
                    <a:lstStyle/>
                    <a:p>
                      <a:r>
                        <a:rPr sz="1575" b="1">
                          <a:solidFill>
                            <a:srgbClr val="9B2D24"/>
                          </a:solidFill>
                          <a:latin typeface="DejaVu Sans"/>
                          <a:ea typeface="DejaVu Sans"/>
                          <a:cs typeface="DejaVu Sans"/>
                        </a:rPr>
                        <a:t>Bảng VI ghi không có Call Analytics</a:t>
                      </a:r>
                    </a:p>
                  </a:txBody>
                  <a:tcPr marL="133350" marR="133350" marT="47625" marB="47625" anchor="ctr">
                    <a:solidFill>
                      <a:srgbClr val="FCE1DE"/>
                    </a:solidFill>
                  </a:tcPr>
                </a:tc>
                <a:tc>
                  <a:txBody>
                    <a:bodyPr/>
                    <a:lstStyle/>
                    <a:p>
                      <a:r>
                        <a:rPr sz="1575" b="1">
                          <a:solidFill>
                            <a:srgbClr val="805B0A"/>
                          </a:solidFill>
                          <a:latin typeface="DejaVu Sans"/>
                          <a:ea typeface="DejaVu Sans"/>
                          <a:cs typeface="DejaVu Sans"/>
                        </a:rPr>
                        <a:t>Cần kiểm tra gói phân tích riêng</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Model phonecall / finance</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Cần xem đúng dịch vụ</a:t>
                      </a:r>
                    </a:p>
                  </a:txBody>
                  <a:tcPr marL="133350" marR="133350" marT="47625" marB="47625" anchor="ctr">
                    <a:solidFill>
                      <a:srgbClr val="FFF1CD"/>
                    </a:solidFill>
                  </a:tcPr>
                </a:tc>
                <a:tc>
                  <a:txBody>
                    <a:bodyPr/>
                    <a:lstStyle/>
                    <a:p>
                      <a:r>
                        <a:rPr sz="1575" b="1">
                          <a:solidFill>
                            <a:srgbClr val="9B2D24"/>
                          </a:solidFill>
                          <a:latin typeface="DejaVu Sans"/>
                          <a:ea typeface="DejaVu Sans"/>
                          <a:cs typeface="DejaVu Sans"/>
                        </a:rPr>
                        <a:t>Nova-2 variants liệt kê tiếng Anh</a:t>
                      </a:r>
                    </a:p>
                  </a:txBody>
                  <a:tcPr marL="133350" marR="133350" marT="47625" marB="47625" anchor="ctr">
                    <a:solidFill>
                      <a:srgbClr val="FCE1DE"/>
                    </a:solidFill>
                  </a:tcPr>
                </a:tc>
              </a:tr>
              <a:tr h="611188">
                <a:tc>
                  <a:txBody>
                    <a:bodyPr/>
                    <a:lstStyle/>
                    <a:p>
                      <a:r>
                        <a:rPr sz="1575" b="0">
                          <a:solidFill>
                            <a:srgbClr val="182D45"/>
                          </a:solidFill>
                          <a:latin typeface="DejaVu Sans"/>
                          <a:ea typeface="DejaVu Sans"/>
                          <a:cs typeface="DejaVu Sans"/>
                        </a:rPr>
                        <a:t>Ý nghĩa business</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 thể cần xử lý QA tiếp theo</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Không mặc định chuyên ngành có VI</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3E813C3-44B8-4133-87B4-45A334832779}"/>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Chuyển lời nói thành chữ và phân tích nội dung là các phạm vi khác nhau</a:t>
            </a:r>
          </a:p>
        </p:txBody>
      </p:sp>
      <p:sp>
        <p:nvSpPr>
          <p:cNvPr id="5" name="">
            <a:extLst xmlns:a="http://schemas.openxmlformats.org/drawingml/2006/main">
              <a:ext uri="{FF2B5EF4-FFF2-40B4-BE49-F238E27FC236}">
                <a16:creationId xmlns:a16="http://schemas.microsoft.com/office/drawing/2014/main" id="{9E7D48ED-A5F5-429C-BD4C-4C39EF2485BD}"/>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AWS (n.d.), Deepgram (n.d.)     16/24</a:t>
            </a:r>
          </a:p>
        </p:txBody>
      </p:sp>
    </p:spTree>
    <p:extLst>
      <p:ext uri="{BB962C8B-B14F-4D97-AF65-F5344CB8AC3E}">
        <p14:creationId xmlns:p14="http://schemas.microsoft.com/office/powerpoint/2010/main" val="665208735"/>
      </p:ext>
    </p:extLst>
  </p:cSld>
</p:sld>
</file>

<file path=ppt/slides/slide17.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D2480F-8892-497A-B9B6-CB5251890A95}"/>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Speechmatics: cloud và container</a:t>
            </a:r>
          </a:p>
        </p:txBody>
      </p:sp>
      <p:sp>
        <p:nvSpPr>
          <p:cNvPr id="2" name="">
            <a:extLst xmlns:a="http://schemas.openxmlformats.org/drawingml/2006/main">
              <a:ext uri="{FF2B5EF4-FFF2-40B4-BE49-F238E27FC236}">
                <a16:creationId xmlns:a16="http://schemas.microsoft.com/office/drawing/2014/main" id="{69CC4338-0D87-43D3-B87E-1DD2991387A6}"/>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So sánh hai cách triển khai của cùng nhà cung cấp</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575" b="1">
                          <a:solidFill>
                            <a:srgbClr val="FFFFFF"/>
                          </a:solidFill>
                          <a:latin typeface="DejaVu Sans"/>
                          <a:ea typeface="DejaVu Sans"/>
                          <a:cs typeface="DejaVu Sans"/>
                        </a:rPr>
                        <a:t>Tiêu chí</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Dịch vụ cloud</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Container thương mại</a:t>
                      </a:r>
                    </a:p>
                  </a:txBody>
                  <a:tcPr marL="133350" marR="133350" marT="47625" marB="47625" anchor="ctr">
                    <a:solidFill>
                      <a:srgbClr val="3754A3"/>
                    </a:solidFill>
                  </a:tcPr>
                </a:tc>
              </a:tr>
              <a:tr h="611188">
                <a:tc>
                  <a:txBody>
                    <a:bodyPr/>
                    <a:lstStyle/>
                    <a:p>
                      <a:r>
                        <a:rPr sz="1575" b="0">
                          <a:solidFill>
                            <a:srgbClr val="182D45"/>
                          </a:solidFill>
                          <a:latin typeface="DejaVu Sans"/>
                          <a:ea typeface="DejaVu Sans"/>
                          <a:cs typeface="DejaVu Sans"/>
                        </a:rPr>
                        <a:t>Nơi xử lý</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Hạ tầng nhà cung cấp</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Hạ tầng quản lý được lựa chọn</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Công vận hành</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Team tích hợp dịch vụ</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Team thêm công quản lý hạ tầng</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Giấy phép / phí</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Theo dịch vụ và hợp đồng</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Theo phần mềm và hợp đồng</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Người nói, từ điển</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Cần xác nhận gói, mode, ngôn ngữ</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xác nhận gói, mode, ngôn ngữ</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Lý do khảo sát</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Giảm phần tự quản lý model</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Kiểm soát môi trường xử lý</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2350B0-F448-4205-BDF5-708F1761A9C0}"/>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Danh sách ngôn ngữ có VI, tính năng cụ thể cần xác nhận theo deployment</a:t>
            </a:r>
          </a:p>
        </p:txBody>
      </p:sp>
      <p:sp>
        <p:nvSpPr>
          <p:cNvPr id="5" name="">
            <a:extLst xmlns:a="http://schemas.openxmlformats.org/drawingml/2006/main">
              <a:ext uri="{FF2B5EF4-FFF2-40B4-BE49-F238E27FC236}">
                <a16:creationId xmlns:a16="http://schemas.microsoft.com/office/drawing/2014/main" id="{31168B48-F99D-4BCF-9127-81D20783FD6F}"/>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Speechmatics (n.d.a), Speechmatics (n.d.b)     17/24</a:t>
            </a:r>
          </a:p>
        </p:txBody>
      </p:sp>
    </p:spTree>
    <p:extLst>
      <p:ext uri="{BB962C8B-B14F-4D97-AF65-F5344CB8AC3E}">
        <p14:creationId xmlns:p14="http://schemas.microsoft.com/office/powerpoint/2010/main" val="9225836"/>
      </p:ext>
    </p:extLst>
  </p:cSld>
</p:sld>
</file>

<file path=ppt/slides/slide18.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22B6C6-7E4F-490E-A16F-B8522C25479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API Việt Nam</a:t>
            </a:r>
          </a:p>
        </p:txBody>
      </p:sp>
      <p:sp>
        <p:nvSpPr>
          <p:cNvPr id="2" name="">
            <a:extLst xmlns:a="http://schemas.openxmlformats.org/drawingml/2006/main">
              <a:ext uri="{FF2B5EF4-FFF2-40B4-BE49-F238E27FC236}">
                <a16:creationId xmlns:a16="http://schemas.microsoft.com/office/drawing/2014/main" id="{AE4A01B8-B31C-4400-8D67-F9CBE59C8EEA}"/>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Tài liệu tích hợp cung cấp bằng chứng cụ thể</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2743200"/>
                <a:gridCol w="2743200"/>
                <a:gridCol w="2743200"/>
                <a:gridCol w="2743200"/>
              </a:tblGrid>
              <a:tr h="611188">
                <a:tc>
                  <a:txBody>
                    <a:bodyPr/>
                    <a:lstStyle/>
                    <a:p>
                      <a:r>
                        <a:rPr sz="1575" b="1">
                          <a:solidFill>
                            <a:srgbClr val="FFFFFF"/>
                          </a:solidFill>
                          <a:latin typeface="DejaVu Sans"/>
                          <a:ea typeface="DejaVu Sans"/>
                          <a:cs typeface="DejaVu Sans"/>
                        </a:rPr>
                        <a:t>Tiêu chí</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VNPT SmartVoice</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FPT.AI Speech</a:t>
                      </a:r>
                    </a:p>
                  </a:txBody>
                  <a:tcPr marL="133350" marR="133350" marT="47625" marB="47625" anchor="ctr">
                    <a:solidFill>
                      <a:srgbClr val="3754A3"/>
                    </a:solidFill>
                  </a:tcPr>
                </a:tc>
                <a:tc>
                  <a:txBody>
                    <a:bodyPr/>
                    <a:lstStyle/>
                    <a:p>
                      <a:r>
                        <a:rPr sz="1575" b="1">
                          <a:solidFill>
                            <a:srgbClr val="FFFFFF"/>
                          </a:solidFill>
                          <a:latin typeface="DejaVu Sans"/>
                          <a:ea typeface="DejaVu Sans"/>
                          <a:cs typeface="DejaVu Sans"/>
                        </a:rPr>
                        <a:t>Viettel AI</a:t>
                      </a:r>
                    </a:p>
                  </a:txBody>
                  <a:tcPr marL="133350" marR="133350" marT="47625" marB="47625" anchor="ctr">
                    <a:solidFill>
                      <a:srgbClr val="3754A3"/>
                    </a:solidFill>
                  </a:tcPr>
                </a:tc>
              </a:tr>
              <a:tr h="611188">
                <a:tc>
                  <a:txBody>
                    <a:bodyPr/>
                    <a:lstStyle/>
                    <a:p>
                      <a:r>
                        <a:rPr sz="1575" b="0">
                          <a:solidFill>
                            <a:srgbClr val="182D45"/>
                          </a:solidFill>
                          <a:latin typeface="DejaVu Sans"/>
                          <a:ea typeface="DejaVu Sans"/>
                          <a:cs typeface="DejaVu Sans"/>
                        </a:rPr>
                        <a:t>Tài liệu đang có</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API / SDK</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Speech to Text API</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Cần bổ sung nguồn hiện hành</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Đầu vào công bố</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WAV / MP3, 16 kHz</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Cần đối chiếu API hiện tại</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xác nhận</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Văn bản đầu ra</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 tài liệu STT</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hypotheses[].utterance</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Cần xác nhận schema</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Người nói / thời gian</a:t>
                      </a:r>
                    </a:p>
                  </a:txBody>
                  <a:tcPr marL="133350" marR="133350" marT="47625" marB="47625" anchor="ctr">
                    <a:solidFill>
                      <a:srgbClr val="EEF3F8"/>
                    </a:solidFill>
                  </a:tcPr>
                </a:tc>
                <a:tc>
                  <a:txBody>
                    <a:bodyPr/>
                    <a:lstStyle/>
                    <a:p>
                      <a:r>
                        <a:rPr sz="1575" b="1">
                          <a:solidFill>
                            <a:srgbClr val="805B0A"/>
                          </a:solidFill>
                          <a:latin typeface="DejaVu Sans"/>
                          <a:ea typeface="DejaVu Sans"/>
                          <a:cs typeface="DejaVu Sans"/>
                        </a:rPr>
                        <a:t>Cần xác nhận gói</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xác nhận gói</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xác nhận gói</a:t>
                      </a:r>
                    </a:p>
                  </a:txBody>
                  <a:tcPr marL="133350" marR="133350" marT="47625" marB="47625" anchor="ctr">
                    <a:solidFill>
                      <a:srgbClr val="FFF1CD"/>
                    </a:solidFill>
                  </a:tcPr>
                </a:tc>
              </a:tr>
              <a:tr h="611188">
                <a:tc>
                  <a:txBody>
                    <a:bodyPr/>
                    <a:lstStyle/>
                    <a:p>
                      <a:r>
                        <a:rPr sz="1575" b="0">
                          <a:solidFill>
                            <a:srgbClr val="182D45"/>
                          </a:solidFill>
                          <a:latin typeface="DejaVu Sans"/>
                          <a:ea typeface="DejaVu Sans"/>
                          <a:cs typeface="DejaVu Sans"/>
                        </a:rPr>
                        <a:t>Nơi xử lý / chi phí</a:t>
                      </a:r>
                    </a:p>
                  </a:txBody>
                  <a:tcPr marL="133350" marR="133350" marT="47625" marB="47625" anchor="ctr">
                    <a:solidFill>
                      <a:srgbClr val="FFFFFF"/>
                    </a:solidFill>
                  </a:tcPr>
                </a:tc>
                <a:tc>
                  <a:txBody>
                    <a:bodyPr/>
                    <a:lstStyle/>
                    <a:p>
                      <a:r>
                        <a:rPr sz="1575" b="1">
                          <a:solidFill>
                            <a:srgbClr val="805B0A"/>
                          </a:solidFill>
                          <a:latin typeface="DejaVu Sans"/>
                          <a:ea typeface="DejaVu Sans"/>
                          <a:cs typeface="DejaVu Sans"/>
                        </a:rPr>
                        <a:t>Cần xác nhận</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xác nhận</a:t>
                      </a:r>
                    </a:p>
                  </a:txBody>
                  <a:tcPr marL="133350" marR="133350" marT="47625" marB="47625" anchor="ctr">
                    <a:solidFill>
                      <a:srgbClr val="FFF1CD"/>
                    </a:solidFill>
                  </a:tcPr>
                </a:tc>
                <a:tc>
                  <a:txBody>
                    <a:bodyPr/>
                    <a:lstStyle/>
                    <a:p>
                      <a:r>
                        <a:rPr sz="1575" b="1">
                          <a:solidFill>
                            <a:srgbClr val="805B0A"/>
                          </a:solidFill>
                          <a:latin typeface="DejaVu Sans"/>
                          <a:ea typeface="DejaVu Sans"/>
                          <a:cs typeface="DejaVu Sans"/>
                        </a:rPr>
                        <a:t>Cần xác nhận</a:t>
                      </a:r>
                    </a:p>
                  </a:txBody>
                  <a:tcPr marL="133350" marR="133350" marT="47625" marB="4762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A847B5C3-D7E0-441B-8F06-B63182C930D1}"/>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Nhà cung cấp trong nước: vẫn cần xác nhận nơi xử lý dữ liệu</a:t>
            </a:r>
          </a:p>
        </p:txBody>
      </p:sp>
      <p:sp>
        <p:nvSpPr>
          <p:cNvPr id="5" name="">
            <a:extLst xmlns:a="http://schemas.openxmlformats.org/drawingml/2006/main">
              <a:ext uri="{FF2B5EF4-FFF2-40B4-BE49-F238E27FC236}">
                <a16:creationId xmlns:a16="http://schemas.microsoft.com/office/drawing/2014/main" id="{4941E4DD-385F-45B9-BDD2-EFF9B3BE5188}"/>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VNPT AI (n.d.), FPT.AI (n.d.)     18/24</a:t>
            </a:r>
          </a:p>
        </p:txBody>
      </p:sp>
    </p:spTree>
    <p:extLst>
      <p:ext uri="{BB962C8B-B14F-4D97-AF65-F5344CB8AC3E}">
        <p14:creationId xmlns:p14="http://schemas.microsoft.com/office/powerpoint/2010/main" val="370796642"/>
      </p:ext>
    </p:extLst>
  </p:cSld>
</p:sld>
</file>

<file path=ppt/slides/slide19.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AC623A-9D7A-4AC3-BDD9-C7202F82B4EB}"/>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Ma trận nhu cầu và bằng chứng</a:t>
            </a:r>
          </a:p>
        </p:txBody>
      </p:sp>
      <p:sp>
        <p:nvSpPr>
          <p:cNvPr id="2" name="">
            <a:extLst xmlns:a="http://schemas.openxmlformats.org/drawingml/2006/main">
              <a:ext uri="{FF2B5EF4-FFF2-40B4-BE49-F238E27FC236}">
                <a16:creationId xmlns:a16="http://schemas.microsoft.com/office/drawing/2014/main" id="{282B7669-1C45-4233-85B8-B88B7631698A}"/>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Mỗi nhu cầu business cần một kiểm chứng cụ thể</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575" b="1">
                          <a:solidFill>
                            <a:srgbClr val="FFFFFF"/>
                          </a:solidFill>
                          <a:latin typeface="DejaVu Sans"/>
                          <a:ea typeface="DejaVu Sans"/>
                          <a:cs typeface="DejaVu Sans"/>
                        </a:rPr>
                        <a:t>Nhu cầu QA</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Điểm cần kiểm tra</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Cách đo ở Part 2</a:t>
                      </a:r>
                    </a:p>
                  </a:txBody>
                  <a:tcPr marL="133350" marR="133350" marT="47625" marB="47625" anchor="ctr">
                    <a:solidFill>
                      <a:srgbClr val="087F78"/>
                    </a:solidFill>
                  </a:tcPr>
                </a:tc>
              </a:tr>
              <a:tr h="611188">
                <a:tc>
                  <a:txBody>
                    <a:bodyPr/>
                    <a:lstStyle/>
                    <a:p>
                      <a:r>
                        <a:rPr sz="1575" b="0">
                          <a:solidFill>
                            <a:srgbClr val="182D45"/>
                          </a:solidFill>
                          <a:latin typeface="DejaVu Sans"/>
                          <a:ea typeface="DejaVu Sans"/>
                          <a:cs typeface="DejaVu Sans"/>
                        </a:rPr>
                        <a:t>Đọc đúng nội dung</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Số tiền, mã, câu phủ định</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Lỗi quan trọng và công sửa</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Tìm đúng đoạn audio</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Mốc thời gian khớp nội dung</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Thời gian tìm và nghe lại</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Phân biệt người nói</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Nhãn người nói, vai trò đúng</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Lỗi gán câu cho sai người</a:t>
                      </a:r>
                    </a:p>
                  </a:txBody>
                  <a:tcPr marL="133350" marR="133350" marT="47625" marB="47625" anchor="ctr">
                    <a:solidFill>
                      <a:srgbClr val="FFFFFF"/>
                    </a:solidFill>
                  </a:tcPr>
                </a:tc>
              </a:tr>
              <a:tr h="611188">
                <a:tc>
                  <a:txBody>
                    <a:bodyPr/>
                    <a:lstStyle/>
                    <a:p>
                      <a:r>
                        <a:rPr sz="1575" b="0">
                          <a:solidFill>
                            <a:srgbClr val="182D45"/>
                          </a:solidFill>
                          <a:latin typeface="DejaVu Sans"/>
                          <a:ea typeface="DejaVu Sans"/>
                          <a:cs typeface="DejaVu Sans"/>
                        </a:rPr>
                        <a:t>Kịp lịch review</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Xử lý ổn định trên audio đại diện</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Thời gian chờ và lỗi xử lý</a:t>
                      </a:r>
                    </a:p>
                  </a:txBody>
                  <a:tcPr marL="133350" marR="133350" marT="47625" marB="47625" anchor="ctr">
                    <a:solidFill>
                      <a:srgbClr val="EEF3F8"/>
                    </a:solidFill>
                  </a:tcPr>
                </a:tc>
              </a:tr>
              <a:tr h="611188">
                <a:tc>
                  <a:txBody>
                    <a:bodyPr/>
                    <a:lstStyle/>
                    <a:p>
                      <a:r>
                        <a:rPr sz="1575" b="0">
                          <a:solidFill>
                            <a:srgbClr val="182D45"/>
                          </a:solidFill>
                          <a:latin typeface="DejaVu Sans"/>
                          <a:ea typeface="DejaVu Sans"/>
                          <a:cs typeface="DejaVu Sans"/>
                        </a:rPr>
                        <a:t>Chi phí phù hợp</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Phí, tài nguyên, công vận hành</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Tổng chi phí theo khối lượng</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17CFAB4-AF17-46DD-80C7-FF0C20C7263A}"/>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Đây là đề xuất đo lường, chưa phải kết quả thử nghiệm</a:t>
            </a:r>
          </a:p>
        </p:txBody>
      </p:sp>
      <p:sp>
        <p:nvSpPr>
          <p:cNvPr id="5" name="">
            <a:extLst xmlns:a="http://schemas.openxmlformats.org/drawingml/2006/main">
              <a:ext uri="{FF2B5EF4-FFF2-40B4-BE49-F238E27FC236}">
                <a16:creationId xmlns:a16="http://schemas.microsoft.com/office/drawing/2014/main" id="{806AA1CC-03FF-4A81-A975-6DCBEB161225}"/>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19/24</a:t>
            </a:r>
          </a:p>
        </p:txBody>
      </p:sp>
    </p:spTree>
    <p:extLst>
      <p:ext uri="{BB962C8B-B14F-4D97-AF65-F5344CB8AC3E}">
        <p14:creationId xmlns:p14="http://schemas.microsoft.com/office/powerpoint/2010/main" val="1107051438"/>
      </p:ext>
    </p:extLst>
  </p:cSld>
</p:sld>
</file>

<file path=ppt/slides/slide20.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391B1C-ADBA-44E0-AF41-C3AB634DEDBF}"/>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Shortlist đề xuất cho Evaluation</a:t>
            </a:r>
          </a:p>
        </p:txBody>
      </p:sp>
      <p:sp>
        <p:nvSpPr>
          <p:cNvPr id="2" name="">
            <a:extLst xmlns:a="http://schemas.openxmlformats.org/drawingml/2006/main">
              <a:ext uri="{FF2B5EF4-FFF2-40B4-BE49-F238E27FC236}">
                <a16:creationId xmlns:a16="http://schemas.microsoft.com/office/drawing/2014/main" id="{0EB53398-1233-40B4-8D07-F8060B2D36F5}"/>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Ưu tiên không trả phí API, mở rộng từng vòng</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916781">
                <a:tc>
                  <a:txBody>
                    <a:bodyPr/>
                    <a:lstStyle/>
                    <a:p>
                      <a:r>
                        <a:rPr sz="1575" b="1">
                          <a:solidFill>
                            <a:srgbClr val="FFFFFF"/>
                          </a:solidFill>
                          <a:latin typeface="DejaVu Sans"/>
                          <a:ea typeface="DejaVu Sans"/>
                          <a:cs typeface="DejaVu Sans"/>
                        </a:rPr>
                        <a:t>Vòng</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Ứng viên</a:t>
                      </a:r>
                    </a:p>
                  </a:txBody>
                  <a:tcPr marL="133350" marR="133350" marT="47625" marB="47625" anchor="ctr">
                    <a:solidFill>
                      <a:srgbClr val="087F78"/>
                    </a:solidFill>
                  </a:tcPr>
                </a:tc>
                <a:tc>
                  <a:txBody>
                    <a:bodyPr/>
                    <a:lstStyle/>
                    <a:p>
                      <a:r>
                        <a:rPr sz="1575" b="1">
                          <a:solidFill>
                            <a:srgbClr val="FFFFFF"/>
                          </a:solidFill>
                          <a:latin typeface="DejaVu Sans"/>
                          <a:ea typeface="DejaVu Sans"/>
                          <a:cs typeface="DejaVu Sans"/>
                        </a:rPr>
                        <a:t>Câu hỏi cần trả lời</a:t>
                      </a:r>
                    </a:p>
                  </a:txBody>
                  <a:tcPr marL="133350" marR="133350" marT="47625" marB="47625" anchor="ctr">
                    <a:solidFill>
                      <a:srgbClr val="087F78"/>
                    </a:solidFill>
                  </a:tcPr>
                </a:tc>
              </a:tr>
              <a:tr h="916781">
                <a:tc>
                  <a:txBody>
                    <a:bodyPr/>
                    <a:lstStyle/>
                    <a:p>
                      <a:r>
                        <a:rPr sz="1575" b="1">
                          <a:solidFill>
                            <a:srgbClr val="116344"/>
                          </a:solidFill>
                          <a:latin typeface="DejaVu Sans"/>
                          <a:ea typeface="DejaVu Sans"/>
                          <a:cs typeface="DejaVu Sans"/>
                        </a:rPr>
                        <a:t>1 / điểm xuất phát</a:t>
                      </a:r>
                    </a:p>
                  </a:txBody>
                  <a:tcPr marL="133350" marR="133350" marT="47625" marB="47625" anchor="ctr">
                    <a:solidFill>
                      <a:srgbClr val="DDF3EA"/>
                    </a:solidFill>
                  </a:tcPr>
                </a:tc>
                <a:tc>
                  <a:txBody>
                    <a:bodyPr/>
                    <a:lstStyle/>
                    <a:p>
                      <a:r>
                        <a:rPr sz="1575" b="0">
                          <a:solidFill>
                            <a:srgbClr val="182D45"/>
                          </a:solidFill>
                          <a:latin typeface="DejaVu Sans"/>
                          <a:ea typeface="DejaVu Sans"/>
                          <a:cs typeface="DejaVu Sans"/>
                        </a:rPr>
                        <a:t>PhoWhisper-base, Whisper-base</a:t>
                      </a:r>
                    </a:p>
                    <a:p>
                      <a:r>
                        <a:rPr sz="1575" b="0">
                          <a:solidFill>
                            <a:srgbClr val="182D45"/>
                          </a:solidFill>
                          <a:latin typeface="DejaVu Sans"/>
                          <a:ea typeface="DejaVu Sans"/>
                          <a:cs typeface="DejaVu Sans"/>
                        </a:rPr>
                        <a:t>PhoWhisper-small, Whisper-small</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Có giảm lỗi và công sửa so với base hiện tại?</a:t>
                      </a:r>
                    </a:p>
                  </a:txBody>
                  <a:tcPr marL="133350" marR="133350" marT="47625" marB="47625" anchor="ctr">
                    <a:solidFill>
                      <a:srgbClr val="FFFFFF"/>
                    </a:solidFill>
                  </a:tcPr>
                </a:tc>
              </a:tr>
              <a:tr h="916781">
                <a:tc>
                  <a:txBody>
                    <a:bodyPr/>
                    <a:lstStyle/>
                    <a:p>
                      <a:r>
                        <a:rPr sz="1575" b="1">
                          <a:solidFill>
                            <a:srgbClr val="805B0A"/>
                          </a:solidFill>
                          <a:latin typeface="DejaVu Sans"/>
                          <a:ea typeface="DejaVu Sans"/>
                          <a:cs typeface="DejaVu Sans"/>
                        </a:rPr>
                        <a:t>2 / khác họ</a:t>
                      </a:r>
                    </a:p>
                  </a:txBody>
                  <a:tcPr marL="133350" marR="133350" marT="47625" marB="47625" anchor="ctr">
                    <a:solidFill>
                      <a:srgbClr val="FFF1CD"/>
                    </a:solidFill>
                  </a:tcPr>
                </a:tc>
                <a:tc>
                  <a:txBody>
                    <a:bodyPr/>
                    <a:lstStyle/>
                    <a:p>
                      <a:r>
                        <a:rPr sz="1575" b="0">
                          <a:solidFill>
                            <a:srgbClr val="182D45"/>
                          </a:solidFill>
                          <a:latin typeface="DejaVu Sans"/>
                          <a:ea typeface="DejaVu Sans"/>
                          <a:cs typeface="DejaVu Sans"/>
                        </a:rPr>
                        <a:t>Parakeet Vietnamese</a:t>
                      </a:r>
                    </a:p>
                    <a:p>
                      <a:r>
                        <a:rPr sz="1575" b="0">
                          <a:solidFill>
                            <a:srgbClr val="182D45"/>
                          </a:solidFill>
                          <a:latin typeface="DejaVu Sans"/>
                          <a:ea typeface="DejaVu Sans"/>
                          <a:cs typeface="DejaVu Sans"/>
                        </a:rPr>
                        <a:t>Qwen3-ASR-0.6B</a:t>
                      </a:r>
                    </a:p>
                  </a:txBody>
                  <a:tcPr marL="133350" marR="133350" marT="47625" marB="47625" anchor="ctr">
                    <a:solidFill>
                      <a:srgbClr val="EEF3F8"/>
                    </a:solidFill>
                  </a:tcPr>
                </a:tc>
                <a:tc>
                  <a:txBody>
                    <a:bodyPr/>
                    <a:lstStyle/>
                    <a:p>
                      <a:r>
                        <a:rPr sz="1575" b="0">
                          <a:solidFill>
                            <a:srgbClr val="182D45"/>
                          </a:solidFill>
                          <a:latin typeface="DejaVu Sans"/>
                          <a:ea typeface="DejaVu Sans"/>
                          <a:cs typeface="DejaVu Sans"/>
                        </a:rPr>
                        <a:t>Lợi ích có đủ bù công triển khai thêm?</a:t>
                      </a:r>
                    </a:p>
                  </a:txBody>
                  <a:tcPr marL="133350" marR="133350" marT="47625" marB="47625" anchor="ctr">
                    <a:solidFill>
                      <a:srgbClr val="EEF3F8"/>
                    </a:solidFill>
                  </a:tcPr>
                </a:tc>
              </a:tr>
              <a:tr h="916781">
                <a:tc>
                  <a:txBody>
                    <a:bodyPr/>
                    <a:lstStyle/>
                    <a:p>
                      <a:r>
                        <a:rPr sz="1575" b="1">
                          <a:solidFill>
                            <a:srgbClr val="805B0A"/>
                          </a:solidFill>
                          <a:latin typeface="DejaVu Sans"/>
                          <a:ea typeface="DejaVu Sans"/>
                          <a:cs typeface="DejaVu Sans"/>
                        </a:rPr>
                        <a:t>3 / API có điều kiện</a:t>
                      </a:r>
                    </a:p>
                  </a:txBody>
                  <a:tcPr marL="133350" marR="133350" marT="47625" marB="47625" anchor="ctr">
                    <a:solidFill>
                      <a:srgbClr val="FFF1CD"/>
                    </a:solidFill>
                  </a:tcPr>
                </a:tc>
                <a:tc>
                  <a:txBody>
                    <a:bodyPr/>
                    <a:lstStyle/>
                    <a:p>
                      <a:r>
                        <a:rPr sz="1575" b="0">
                          <a:solidFill>
                            <a:srgbClr val="182D45"/>
                          </a:solidFill>
                          <a:latin typeface="DejaVu Sans"/>
                          <a:ea typeface="DejaVu Sans"/>
                          <a:cs typeface="DejaVu Sans"/>
                        </a:rPr>
                        <a:t>Chọn 1–2 API theo đầu ra cần dùng</a:t>
                      </a:r>
                    </a:p>
                  </a:txBody>
                  <a:tcPr marL="133350" marR="133350" marT="47625" marB="47625" anchor="ctr">
                    <a:solidFill>
                      <a:srgbClr val="FFFFFF"/>
                    </a:solidFill>
                  </a:tcPr>
                </a:tc>
                <a:tc>
                  <a:txBody>
                    <a:bodyPr/>
                    <a:lstStyle/>
                    <a:p>
                      <a:r>
                        <a:rPr sz="1575" b="0">
                          <a:solidFill>
                            <a:srgbClr val="182D45"/>
                          </a:solidFill>
                          <a:latin typeface="DejaVu Sans"/>
                          <a:ea typeface="DejaVu Sans"/>
                          <a:cs typeface="DejaVu Sans"/>
                        </a:rPr>
                        <a:t>Lợi ích có đủ bù phí dịch vụ?</a:t>
                      </a:r>
                    </a:p>
                  </a:txBody>
                  <a:tcPr marL="133350" marR="13335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CDA3F5-58A3-44AC-BEF3-54EC7A310038}"/>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Shortlist là đề xuất thử nghiệm, chưa phải thứ hạng chất lượng</a:t>
            </a:r>
          </a:p>
        </p:txBody>
      </p:sp>
      <p:sp>
        <p:nvSpPr>
          <p:cNvPr id="5" name="">
            <a:extLst xmlns:a="http://schemas.openxmlformats.org/drawingml/2006/main">
              <a:ext uri="{FF2B5EF4-FFF2-40B4-BE49-F238E27FC236}">
                <a16:creationId xmlns:a16="http://schemas.microsoft.com/office/drawing/2014/main" id="{5DD02714-3492-44BD-9B2E-9C323F59EA6A}"/>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Nguyen Vu Le Binh (n.d.)     20/24</a:t>
            </a:r>
          </a:p>
        </p:txBody>
      </p:sp>
    </p:spTree>
    <p:extLst>
      <p:ext uri="{BB962C8B-B14F-4D97-AF65-F5344CB8AC3E}">
        <p14:creationId xmlns:p14="http://schemas.microsoft.com/office/powerpoint/2010/main" val="1324842801"/>
      </p:ext>
    </p:extLst>
  </p:cSld>
</p:sld>
</file>

<file path=ppt/slides/slide2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A426CC5-EB68-49FA-9D6B-5C340EFF599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Đầu ra của Part 1</a:t>
            </a:r>
          </a:p>
        </p:txBody>
      </p:sp>
      <p:sp>
        <p:nvSpPr>
          <p:cNvPr id="2" name="">
            <a:extLst xmlns:a="http://schemas.openxmlformats.org/drawingml/2006/main">
              <a:ext uri="{FF2B5EF4-FFF2-40B4-BE49-F238E27FC236}">
                <a16:creationId xmlns:a16="http://schemas.microsoft.com/office/drawing/2014/main" id="{7343ADE8-6F8C-4FD1-B6D1-31E2FFE60F6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Danh sách cụ thể và câu hỏi có thể kiểm chứng</a:t>
            </a:r>
          </a:p>
        </p:txBody>
      </p:sp>
      <p:sp>
        <p:nvSpPr>
          <p:cNvPr id="3" name="">
            <a:extLst xmlns:a="http://schemas.openxmlformats.org/drawingml/2006/main">
              <a:ext uri="{FF2B5EF4-FFF2-40B4-BE49-F238E27FC236}">
                <a16:creationId xmlns:a16="http://schemas.microsoft.com/office/drawing/2014/main" id="{30F8CEC3-F425-46C4-AE28-1ADC70A44198}"/>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FB0238FF-C0A5-4618-91D2-41F9276988D2}"/>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Đã xác định checkpoint, runtime và API đại diện</a:t>
            </a:r>
          </a:p>
        </p:txBody>
      </p:sp>
      <p:sp>
        <p:nvSpPr>
          <p:cNvPr id="5" name="">
            <a:extLst xmlns:a="http://schemas.openxmlformats.org/drawingml/2006/main">
              <a:ext uri="{FF2B5EF4-FFF2-40B4-BE49-F238E27FC236}">
                <a16:creationId xmlns:a16="http://schemas.microsoft.com/office/drawing/2014/main" id="{B5A20FA9-76A3-4B39-91E8-99DAE5C52B01}"/>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D9858381-3E9E-4BBA-B7A8-866829A2C606}"/>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Đã ghi các khả năng công bố cùng giới hạn tiếng Việt</a:t>
            </a:r>
          </a:p>
        </p:txBody>
      </p:sp>
      <p:sp>
        <p:nvSpPr>
          <p:cNvPr id="7" name="">
            <a:extLst xmlns:a="http://schemas.openxmlformats.org/drawingml/2006/main">
              <a:ext uri="{FF2B5EF4-FFF2-40B4-BE49-F238E27FC236}">
                <a16:creationId xmlns:a16="http://schemas.microsoft.com/office/drawing/2014/main" id="{347718CD-1B84-4571-A363-DAD4732236BE}"/>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4A581209-4554-4EB6-A36D-373E843EA70F}"/>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Cần chốt máy chạy, audio đại diện và đầu ra QA cần dùng</a:t>
            </a:r>
          </a:p>
        </p:txBody>
      </p:sp>
      <p:sp>
        <p:nvSpPr>
          <p:cNvPr id="9" name="">
            <a:extLst xmlns:a="http://schemas.openxmlformats.org/drawingml/2006/main">
              <a:ext uri="{FF2B5EF4-FFF2-40B4-BE49-F238E27FC236}">
                <a16:creationId xmlns:a16="http://schemas.microsoft.com/office/drawing/2014/main" id="{497E9124-DD42-4B13-97D2-C1880B590D90}"/>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CFADED02-BDD3-432C-9391-ED442781C09E}"/>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Part 2: đo trên cùng audio, phân tích lỗi, đối chiếu yêu cầu và đề xuất</a:t>
            </a:r>
          </a:p>
        </p:txBody>
      </p:sp>
      <p:sp>
        <p:nvSpPr>
          <p:cNvPr id="11" name="">
            <a:extLst xmlns:a="http://schemas.openxmlformats.org/drawingml/2006/main">
              <a:ext uri="{FF2B5EF4-FFF2-40B4-BE49-F238E27FC236}">
                <a16:creationId xmlns:a16="http://schemas.microsoft.com/office/drawing/2014/main" id="{4ECEBB7F-375D-4725-8D58-8DDC1D2FA74C}"/>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21/24</a:t>
            </a:r>
          </a:p>
        </p:txBody>
      </p:sp>
    </p:spTree>
    <p:extLst>
      <p:ext uri="{BB962C8B-B14F-4D97-AF65-F5344CB8AC3E}">
        <p14:creationId xmlns:p14="http://schemas.microsoft.com/office/powerpoint/2010/main" val="1515098025"/>
      </p:ext>
    </p:extLst>
  </p:cSld>
</p:sld>
</file>

<file path=ppt/slides/slide2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BF2AA0-FFEA-4F6D-A105-56E42D4B5F7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Tài liệu tham khảo 1 / 3</a:t>
            </a:r>
          </a:p>
        </p:txBody>
      </p:sp>
      <p:sp>
        <p:nvSpPr>
          <p:cNvPr id="2" name="">
            <a:extLst xmlns:a="http://schemas.openxmlformats.org/drawingml/2006/main">
              <a:ext uri="{FF2B5EF4-FFF2-40B4-BE49-F238E27FC236}">
                <a16:creationId xmlns:a16="http://schemas.microsoft.com/office/drawing/2014/main" id="{F425A729-DB7C-4DB4-A185-9AB2570C135F}"/>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5BFB1A8F-4E57-4ED0-A9DA-313B5DE6737B}"/>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(n.d.a) Whisper</a:t>
            </a:r>
          </a:p>
        </p:txBody>
      </p:sp>
      <p:sp>
        <p:nvSpPr>
          <p:cNvPr id="4" name="">
            <a:extLst xmlns:a="http://schemas.openxmlformats.org/drawingml/2006/main">
              <a:ext uri="{FF2B5EF4-FFF2-40B4-BE49-F238E27FC236}">
                <a16:creationId xmlns:a16="http://schemas.microsoft.com/office/drawing/2014/main" id="{F900FB81-D6E2-42DD-BBCB-274612C74528}"/>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https://github.com/openai/whisper</a:t>
            </a:r>
          </a:p>
        </p:txBody>
      </p:sp>
      <p:sp>
        <p:nvSpPr>
          <p:cNvPr id="5" name="">
            <a:extLst xmlns:a="http://schemas.openxmlformats.org/drawingml/2006/main">
              <a:ext uri="{FF2B5EF4-FFF2-40B4-BE49-F238E27FC236}">
                <a16:creationId xmlns:a16="http://schemas.microsoft.com/office/drawing/2014/main" id="{A7B8E92E-91F1-4732-9643-24A3457A98C3}"/>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VinAI Research (n.d.) PhoWhisper</a:t>
            </a:r>
          </a:p>
        </p:txBody>
      </p:sp>
      <p:sp>
        <p:nvSpPr>
          <p:cNvPr id="6" name="">
            <a:extLst xmlns:a="http://schemas.openxmlformats.org/drawingml/2006/main">
              <a:ext uri="{FF2B5EF4-FFF2-40B4-BE49-F238E27FC236}">
                <a16:creationId xmlns:a16="http://schemas.microsoft.com/office/drawing/2014/main" id="{28E1132C-8B62-4FD1-B4EA-EC10474C6E7B}"/>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https://github.com/VinAIResearch/PhoWhisper</a:t>
            </a:r>
          </a:p>
        </p:txBody>
      </p:sp>
      <p:sp>
        <p:nvSpPr>
          <p:cNvPr id="7" name="">
            <a:extLst xmlns:a="http://schemas.openxmlformats.org/drawingml/2006/main">
              <a:ext uri="{FF2B5EF4-FFF2-40B4-BE49-F238E27FC236}">
                <a16:creationId xmlns:a16="http://schemas.microsoft.com/office/drawing/2014/main" id="{C5E1CF35-997F-41E2-85F6-01CCEA549D70}"/>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NVIDIA (n.d.) Parakeet CTC 0.6B Vietnamese model card</a:t>
            </a:r>
          </a:p>
        </p:txBody>
      </p:sp>
      <p:sp>
        <p:nvSpPr>
          <p:cNvPr id="8" name="">
            <a:extLst xmlns:a="http://schemas.openxmlformats.org/drawingml/2006/main">
              <a:ext uri="{FF2B5EF4-FFF2-40B4-BE49-F238E27FC236}">
                <a16:creationId xmlns:a16="http://schemas.microsoft.com/office/drawing/2014/main" id="{0CEF9E03-67AA-4F36-B269-41FC2E4C72AB}"/>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https://huggingface.co/nvidia/parakeet-ctc-0.6b-Vietnamese</a:t>
            </a:r>
          </a:p>
        </p:txBody>
      </p:sp>
      <p:sp>
        <p:nvSpPr>
          <p:cNvPr id="9" name="">
            <a:extLst xmlns:a="http://schemas.openxmlformats.org/drawingml/2006/main">
              <a:ext uri="{FF2B5EF4-FFF2-40B4-BE49-F238E27FC236}">
                <a16:creationId xmlns:a16="http://schemas.microsoft.com/office/drawing/2014/main" id="{C052820D-D909-493E-8102-BCB607EE9BA5}"/>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Qwen Team (n.d.a) Qwen3 ASR repository</a:t>
            </a:r>
          </a:p>
        </p:txBody>
      </p:sp>
      <p:sp>
        <p:nvSpPr>
          <p:cNvPr id="10" name="">
            <a:extLst xmlns:a="http://schemas.openxmlformats.org/drawingml/2006/main">
              <a:ext uri="{FF2B5EF4-FFF2-40B4-BE49-F238E27FC236}">
                <a16:creationId xmlns:a16="http://schemas.microsoft.com/office/drawing/2014/main" id="{88E2EB6D-CE9C-41BE-B37C-F19DAB85E1BF}"/>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https://github.com/QwenLM/Qwen3-ASR</a:t>
            </a:r>
          </a:p>
        </p:txBody>
      </p:sp>
      <p:sp>
        <p:nvSpPr>
          <p:cNvPr id="11" name="">
            <a:extLst xmlns:a="http://schemas.openxmlformats.org/drawingml/2006/main">
              <a:ext uri="{FF2B5EF4-FFF2-40B4-BE49-F238E27FC236}">
                <a16:creationId xmlns:a16="http://schemas.microsoft.com/office/drawing/2014/main" id="{7D32124F-8AEA-4DAE-AC78-B895FC99C181}"/>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Qwen Team (n.d.b) Qwen3 ASR 0.6B model card</a:t>
            </a:r>
          </a:p>
        </p:txBody>
      </p:sp>
      <p:sp>
        <p:nvSpPr>
          <p:cNvPr id="12" name="">
            <a:extLst xmlns:a="http://schemas.openxmlformats.org/drawingml/2006/main">
              <a:ext uri="{FF2B5EF4-FFF2-40B4-BE49-F238E27FC236}">
                <a16:creationId xmlns:a16="http://schemas.microsoft.com/office/drawing/2014/main" id="{A223DD21-B176-4CEB-8999-3EA97DAE42D0}"/>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https://huggingface.co/Qwen/Qwen3-ASR-0.6B</a:t>
            </a:r>
          </a:p>
        </p:txBody>
      </p:sp>
      <p:sp>
        <p:nvSpPr>
          <p:cNvPr id="13" name="">
            <a:extLst xmlns:a="http://schemas.openxmlformats.org/drawingml/2006/main">
              <a:ext uri="{FF2B5EF4-FFF2-40B4-BE49-F238E27FC236}">
                <a16:creationId xmlns:a16="http://schemas.microsoft.com/office/drawing/2014/main" id="{5C8A7405-6D07-4029-A082-2120DD21CA98}"/>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Nguyen Vu Le Binh (n.d.) Wav2Vec2 base Vietnamese 250h model card</a:t>
            </a:r>
          </a:p>
        </p:txBody>
      </p:sp>
      <p:sp>
        <p:nvSpPr>
          <p:cNvPr id="14" name="">
            <a:extLst xmlns:a="http://schemas.openxmlformats.org/drawingml/2006/main">
              <a:ext uri="{FF2B5EF4-FFF2-40B4-BE49-F238E27FC236}">
                <a16:creationId xmlns:a16="http://schemas.microsoft.com/office/drawing/2014/main" id="{BCDC5490-9688-43D8-A173-AF255F4E6A73}"/>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https://huggingface.co/nguyenvulebinh/wav2vec2-base-vietnamese-250h</a:t>
            </a:r>
          </a:p>
        </p:txBody>
      </p:sp>
      <p:sp>
        <p:nvSpPr>
          <p:cNvPr id="15" name="">
            <a:extLst xmlns:a="http://schemas.openxmlformats.org/drawingml/2006/main">
              <a:ext uri="{FF2B5EF4-FFF2-40B4-BE49-F238E27FC236}">
                <a16:creationId xmlns:a16="http://schemas.microsoft.com/office/drawing/2014/main" id="{61883F89-4EA9-4DBF-8A6C-6AC4F76420E6}"/>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22/24</a:t>
            </a:r>
          </a:p>
        </p:txBody>
      </p:sp>
    </p:spTree>
    <p:extLst>
      <p:ext uri="{BB962C8B-B14F-4D97-AF65-F5344CB8AC3E}">
        <p14:creationId xmlns:p14="http://schemas.microsoft.com/office/powerpoint/2010/main" val="21214251"/>
      </p:ext>
    </p:extLst>
  </p:cSld>
</p:sld>
</file>

<file path=ppt/slides/slide2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8517156-89C0-4ED4-A1D9-35FF1B51A31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Tài liệu tham khảo 2 / 3</a:t>
            </a:r>
          </a:p>
        </p:txBody>
      </p:sp>
      <p:sp>
        <p:nvSpPr>
          <p:cNvPr id="2" name="">
            <a:extLst xmlns:a="http://schemas.openxmlformats.org/drawingml/2006/main">
              <a:ext uri="{FF2B5EF4-FFF2-40B4-BE49-F238E27FC236}">
                <a16:creationId xmlns:a16="http://schemas.microsoft.com/office/drawing/2014/main" id="{D9764567-0C67-4CB3-9A0F-FEA352B4F605}"/>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52A8B779-D70C-42B7-9B47-64C4FD5A778A}"/>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Baevski et al. (2020) wav2vec 2.0 A Framework for Self Supervised Learning of Speech Representations</a:t>
            </a:r>
          </a:p>
        </p:txBody>
      </p:sp>
      <p:sp>
        <p:nvSpPr>
          <p:cNvPr id="4" name="">
            <a:extLst xmlns:a="http://schemas.openxmlformats.org/drawingml/2006/main">
              <a:ext uri="{FF2B5EF4-FFF2-40B4-BE49-F238E27FC236}">
                <a16:creationId xmlns:a16="http://schemas.microsoft.com/office/drawing/2014/main" id="{89955E35-5506-4C25-9A0A-6469ED8CD9C3}"/>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https://arxiv.org/abs/2006.11477</a:t>
            </a:r>
          </a:p>
        </p:txBody>
      </p:sp>
      <p:sp>
        <p:nvSpPr>
          <p:cNvPr id="5" name="">
            <a:extLst xmlns:a="http://schemas.openxmlformats.org/drawingml/2006/main">
              <a:ext uri="{FF2B5EF4-FFF2-40B4-BE49-F238E27FC236}">
                <a16:creationId xmlns:a16="http://schemas.microsoft.com/office/drawing/2014/main" id="{F681D857-A8D5-4279-89B5-C3354A95AD19}"/>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SYSTRAN (n.d.) faster whisper</a:t>
            </a:r>
          </a:p>
        </p:txBody>
      </p:sp>
      <p:sp>
        <p:nvSpPr>
          <p:cNvPr id="6" name="">
            <a:extLst xmlns:a="http://schemas.openxmlformats.org/drawingml/2006/main">
              <a:ext uri="{FF2B5EF4-FFF2-40B4-BE49-F238E27FC236}">
                <a16:creationId xmlns:a16="http://schemas.microsoft.com/office/drawing/2014/main" id="{771AF5DD-656C-4DA2-BD0E-264EE93A5B34}"/>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https://github.com/SYSTRAN/faster-whisper</a:t>
            </a:r>
          </a:p>
        </p:txBody>
      </p:sp>
      <p:sp>
        <p:nvSpPr>
          <p:cNvPr id="7" name="">
            <a:extLst xmlns:a="http://schemas.openxmlformats.org/drawingml/2006/main">
              <a:ext uri="{FF2B5EF4-FFF2-40B4-BE49-F238E27FC236}">
                <a16:creationId xmlns:a16="http://schemas.microsoft.com/office/drawing/2014/main" id="{259EEF86-D3EE-4DC3-B0CC-0100FC5D18B7}"/>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(n.d.b) File transcription</a:t>
            </a:r>
          </a:p>
        </p:txBody>
      </p:sp>
      <p:sp>
        <p:nvSpPr>
          <p:cNvPr id="8" name="">
            <a:extLst xmlns:a="http://schemas.openxmlformats.org/drawingml/2006/main">
              <a:ext uri="{FF2B5EF4-FFF2-40B4-BE49-F238E27FC236}">
                <a16:creationId xmlns:a16="http://schemas.microsoft.com/office/drawing/2014/main" id="{94E257C0-140C-4E39-8A54-5AA7F547C41F}"/>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https://developers.openai.com/api/docs/guides/speech-to-text</a:t>
            </a:r>
          </a:p>
        </p:txBody>
      </p:sp>
      <p:sp>
        <p:nvSpPr>
          <p:cNvPr id="9" name="">
            <a:extLst xmlns:a="http://schemas.openxmlformats.org/drawingml/2006/main">
              <a:ext uri="{FF2B5EF4-FFF2-40B4-BE49-F238E27FC236}">
                <a16:creationId xmlns:a16="http://schemas.microsoft.com/office/drawing/2014/main" id="{10B1BD6D-6453-4346-9FE2-8A906D8DC105}"/>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(n.d.c) GPT Transcribe model</a:t>
            </a:r>
          </a:p>
        </p:txBody>
      </p:sp>
      <p:sp>
        <p:nvSpPr>
          <p:cNvPr id="10" name="">
            <a:extLst xmlns:a="http://schemas.openxmlformats.org/drawingml/2006/main">
              <a:ext uri="{FF2B5EF4-FFF2-40B4-BE49-F238E27FC236}">
                <a16:creationId xmlns:a16="http://schemas.microsoft.com/office/drawing/2014/main" id="{C1029241-5BA5-4B39-8721-B409671F76C6}"/>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https://developers.openai.com/api/docs/models/gpt-transcribe</a:t>
            </a:r>
          </a:p>
        </p:txBody>
      </p:sp>
      <p:sp>
        <p:nvSpPr>
          <p:cNvPr id="11" name="">
            <a:extLst xmlns:a="http://schemas.openxmlformats.org/drawingml/2006/main">
              <a:ext uri="{FF2B5EF4-FFF2-40B4-BE49-F238E27FC236}">
                <a16:creationId xmlns:a16="http://schemas.microsoft.com/office/drawing/2014/main" id="{7625E855-F982-4E6F-A116-DD828FE3478C}"/>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Google Cloud (n.d.) Chirp 3 transcription</a:t>
            </a:r>
          </a:p>
        </p:txBody>
      </p:sp>
      <p:sp>
        <p:nvSpPr>
          <p:cNvPr id="12" name="">
            <a:extLst xmlns:a="http://schemas.openxmlformats.org/drawingml/2006/main">
              <a:ext uri="{FF2B5EF4-FFF2-40B4-BE49-F238E27FC236}">
                <a16:creationId xmlns:a16="http://schemas.microsoft.com/office/drawing/2014/main" id="{9492816C-3A62-483E-B6DF-AB813F3B54F4}"/>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https://docs.cloud.google.com/speech-to-text/docs/models/chirp-3</a:t>
            </a:r>
          </a:p>
        </p:txBody>
      </p:sp>
      <p:sp>
        <p:nvSpPr>
          <p:cNvPr id="13" name="">
            <a:extLst xmlns:a="http://schemas.openxmlformats.org/drawingml/2006/main">
              <a:ext uri="{FF2B5EF4-FFF2-40B4-BE49-F238E27FC236}">
                <a16:creationId xmlns:a16="http://schemas.microsoft.com/office/drawing/2014/main" id="{FE81C30C-0CA5-441A-8964-224B971591C7}"/>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Microsoft (n.d.) Language and voice support for Azure Speech</a:t>
            </a:r>
          </a:p>
        </p:txBody>
      </p:sp>
      <p:sp>
        <p:nvSpPr>
          <p:cNvPr id="14" name="">
            <a:extLst xmlns:a="http://schemas.openxmlformats.org/drawingml/2006/main">
              <a:ext uri="{FF2B5EF4-FFF2-40B4-BE49-F238E27FC236}">
                <a16:creationId xmlns:a16="http://schemas.microsoft.com/office/drawing/2014/main" id="{20BEFD6C-36EE-4986-89AD-851C9DB063C7}"/>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https://learn.microsoft.com/en-us/azure/ai-services/speech-service/language-support?tabs=stt</a:t>
            </a:r>
          </a:p>
        </p:txBody>
      </p:sp>
      <p:sp>
        <p:nvSpPr>
          <p:cNvPr id="15" name="">
            <a:extLst xmlns:a="http://schemas.openxmlformats.org/drawingml/2006/main">
              <a:ext uri="{FF2B5EF4-FFF2-40B4-BE49-F238E27FC236}">
                <a16:creationId xmlns:a16="http://schemas.microsoft.com/office/drawing/2014/main" id="{C379BB43-B36A-451B-9F0E-9E620E282033}"/>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Baevski et al. (2020), SYSTRAN (n.d.), OpenAI (n.d.b), OpenAI (n.d.c), Google Cloud (n.d.), Microsoft (n.d.)     23/24</a:t>
            </a:r>
          </a:p>
        </p:txBody>
      </p:sp>
    </p:spTree>
    <p:extLst>
      <p:ext uri="{BB962C8B-B14F-4D97-AF65-F5344CB8AC3E}">
        <p14:creationId xmlns:p14="http://schemas.microsoft.com/office/powerpoint/2010/main" val="1113029426"/>
      </p:ext>
    </p:extLst>
  </p:cSld>
</p:sld>
</file>

<file path=ppt/slides/slide2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4CBB5E8-9FCC-486D-8BF0-B2320D595F6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Tài liệu tham khảo 3 / 3</a:t>
            </a:r>
          </a:p>
        </p:txBody>
      </p:sp>
      <p:sp>
        <p:nvSpPr>
          <p:cNvPr id="2" name="">
            <a:extLst xmlns:a="http://schemas.openxmlformats.org/drawingml/2006/main">
              <a:ext uri="{FF2B5EF4-FFF2-40B4-BE49-F238E27FC236}">
                <a16:creationId xmlns:a16="http://schemas.microsoft.com/office/drawing/2014/main" id="{BFFFF68A-5AB7-4FB9-8369-5D6E753C98C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1CE06DC1-7B49-4BBB-87E2-6EF6D093DD8F}"/>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AWS (n.d.) Supported languages and language specific features</a:t>
            </a:r>
          </a:p>
        </p:txBody>
      </p:sp>
      <p:sp>
        <p:nvSpPr>
          <p:cNvPr id="4" name="">
            <a:extLst xmlns:a="http://schemas.openxmlformats.org/drawingml/2006/main">
              <a:ext uri="{FF2B5EF4-FFF2-40B4-BE49-F238E27FC236}">
                <a16:creationId xmlns:a16="http://schemas.microsoft.com/office/drawing/2014/main" id="{18A4712F-144C-4214-8363-E3EC5AECD8C6}"/>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https://docs.aws.amazon.com/transcribe/latest/dg/supported-languages.html</a:t>
            </a:r>
          </a:p>
        </p:txBody>
      </p:sp>
      <p:sp>
        <p:nvSpPr>
          <p:cNvPr id="5" name="">
            <a:extLst xmlns:a="http://schemas.openxmlformats.org/drawingml/2006/main">
              <a:ext uri="{FF2B5EF4-FFF2-40B4-BE49-F238E27FC236}">
                <a16:creationId xmlns:a16="http://schemas.microsoft.com/office/drawing/2014/main" id="{BDAC931D-F895-41C0-A848-55216A84F6E8}"/>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Deepgram (n.d.) Models and languages overview</a:t>
            </a:r>
          </a:p>
        </p:txBody>
      </p:sp>
      <p:sp>
        <p:nvSpPr>
          <p:cNvPr id="6" name="">
            <a:extLst xmlns:a="http://schemas.openxmlformats.org/drawingml/2006/main">
              <a:ext uri="{FF2B5EF4-FFF2-40B4-BE49-F238E27FC236}">
                <a16:creationId xmlns:a16="http://schemas.microsoft.com/office/drawing/2014/main" id="{66A0EB3C-48EE-479E-879B-E602E6479945}"/>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https://developers.deepgram.com/docs/models-languages-overview</a:t>
            </a:r>
          </a:p>
        </p:txBody>
      </p:sp>
      <p:sp>
        <p:nvSpPr>
          <p:cNvPr id="7" name="">
            <a:extLst xmlns:a="http://schemas.openxmlformats.org/drawingml/2006/main">
              <a:ext uri="{FF2B5EF4-FFF2-40B4-BE49-F238E27FC236}">
                <a16:creationId xmlns:a16="http://schemas.microsoft.com/office/drawing/2014/main" id="{C1FA4BFF-F2D8-4F57-9FDF-03FB957C14CD}"/>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Speechmatics (n.d.a) Languages</a:t>
            </a:r>
          </a:p>
        </p:txBody>
      </p:sp>
      <p:sp>
        <p:nvSpPr>
          <p:cNvPr id="8" name="">
            <a:extLst xmlns:a="http://schemas.openxmlformats.org/drawingml/2006/main">
              <a:ext uri="{FF2B5EF4-FFF2-40B4-BE49-F238E27FC236}">
                <a16:creationId xmlns:a16="http://schemas.microsoft.com/office/drawing/2014/main" id="{0D3A11D8-1111-4413-AD54-05451CAA8E40}"/>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https://docs.speechmatics.com/speech-to-text/languages</a:t>
            </a:r>
          </a:p>
        </p:txBody>
      </p:sp>
      <p:sp>
        <p:nvSpPr>
          <p:cNvPr id="9" name="">
            <a:extLst xmlns:a="http://schemas.openxmlformats.org/drawingml/2006/main">
              <a:ext uri="{FF2B5EF4-FFF2-40B4-BE49-F238E27FC236}">
                <a16:creationId xmlns:a16="http://schemas.microsoft.com/office/drawing/2014/main" id="{AEA5E92A-30EC-4E3A-9735-71E173A0CC91}"/>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Speechmatics (n.d.b) Deployments overview</a:t>
            </a:r>
          </a:p>
        </p:txBody>
      </p:sp>
      <p:sp>
        <p:nvSpPr>
          <p:cNvPr id="10" name="">
            <a:extLst xmlns:a="http://schemas.openxmlformats.org/drawingml/2006/main">
              <a:ext uri="{FF2B5EF4-FFF2-40B4-BE49-F238E27FC236}">
                <a16:creationId xmlns:a16="http://schemas.microsoft.com/office/drawing/2014/main" id="{17B07D63-6A8B-4E96-9E34-3179CE154722}"/>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https://docs.speechmatics.com/deployments</a:t>
            </a:r>
          </a:p>
        </p:txBody>
      </p:sp>
      <p:sp>
        <p:nvSpPr>
          <p:cNvPr id="11" name="">
            <a:extLst xmlns:a="http://schemas.openxmlformats.org/drawingml/2006/main">
              <a:ext uri="{FF2B5EF4-FFF2-40B4-BE49-F238E27FC236}">
                <a16:creationId xmlns:a16="http://schemas.microsoft.com/office/drawing/2014/main" id="{6EB70A60-409C-4D79-B113-713571E098F4}"/>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VNPT AI (n.d.) SmartVoice thông số kỹ thuật</a:t>
            </a:r>
          </a:p>
        </p:txBody>
      </p:sp>
      <p:sp>
        <p:nvSpPr>
          <p:cNvPr id="12" name="">
            <a:extLst xmlns:a="http://schemas.openxmlformats.org/drawingml/2006/main">
              <a:ext uri="{FF2B5EF4-FFF2-40B4-BE49-F238E27FC236}">
                <a16:creationId xmlns:a16="http://schemas.microsoft.com/office/drawing/2014/main" id="{273694F6-35B4-4236-A0E7-6CC1690918A4}"/>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https://vnptai.io/smartvoice/vi/engine-specs</a:t>
            </a:r>
          </a:p>
        </p:txBody>
      </p:sp>
      <p:sp>
        <p:nvSpPr>
          <p:cNvPr id="13" name="">
            <a:extLst xmlns:a="http://schemas.openxmlformats.org/drawingml/2006/main">
              <a:ext uri="{FF2B5EF4-FFF2-40B4-BE49-F238E27FC236}">
                <a16:creationId xmlns:a16="http://schemas.microsoft.com/office/drawing/2014/main" id="{EAA34B60-E4B2-4FC5-8B61-A6C87C3821E5}"/>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FPT.AI (n.d.) Speech to Text API</a:t>
            </a:r>
          </a:p>
        </p:txBody>
      </p:sp>
      <p:sp>
        <p:nvSpPr>
          <p:cNvPr id="14" name="">
            <a:extLst xmlns:a="http://schemas.openxmlformats.org/drawingml/2006/main">
              <a:ext uri="{FF2B5EF4-FFF2-40B4-BE49-F238E27FC236}">
                <a16:creationId xmlns:a16="http://schemas.microsoft.com/office/drawing/2014/main" id="{2E5CA8A5-8C78-4F77-9B35-2A8236A8F1A6}"/>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https://docs.fpt.ai/docs/en/speech/api/speech-to-text/</a:t>
            </a:r>
          </a:p>
        </p:txBody>
      </p:sp>
      <p:sp>
        <p:nvSpPr>
          <p:cNvPr id="15" name="">
            <a:extLst xmlns:a="http://schemas.openxmlformats.org/drawingml/2006/main">
              <a:ext uri="{FF2B5EF4-FFF2-40B4-BE49-F238E27FC236}">
                <a16:creationId xmlns:a16="http://schemas.microsoft.com/office/drawing/2014/main" id="{A63CD824-7D55-43F8-85CA-4BA2FFEC5ED3}"/>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AWS (n.d.), Deepgram (n.d.), Speechmatics (n.d.a), Speechmatics (n.d.b), VNPT AI (n.d.), FPT.AI (n.d.)     24/24</a:t>
            </a:r>
          </a:p>
        </p:txBody>
      </p:sp>
    </p:spTree>
    <p:extLst>
      <p:ext uri="{BB962C8B-B14F-4D97-AF65-F5344CB8AC3E}">
        <p14:creationId xmlns:p14="http://schemas.microsoft.com/office/powerpoint/2010/main" val="5981969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2026-10-07T04:28:33.0590000Z</dcterms:created>
  <dcterms:modified xsi:type="dcterms:W3CDTF">2026-10-07T04:28:33.0590000Z</dcterms:modified>
</coreProperties>
</file>