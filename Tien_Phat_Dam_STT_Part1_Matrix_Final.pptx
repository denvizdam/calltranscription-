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9d4d46bf454f48" /><Relationship Type="http://schemas.openxmlformats.org/officeDocument/2006/relationships/extended-properties" Target="/docProps/app.xml" Id="R8ceffc6908b54ed4" /><Relationship Type="http://schemas.openxmlformats.org/officeDocument/2006/relationships/officeDocument" Target="/ppt/presentation.xml" Id="Rff84e7f12fd44584" /></Relationships>
</file>

<file path=ppt/presentation.xml><?xml version="1.0" encoding="utf-8"?>
<p:presentation xmlns:p="http://schemas.openxmlformats.org/presentationml/2006/main">
  <p:sldMasterIdLst>
    <p:sldMasterId xmlns:r="http://schemas.openxmlformats.org/officeDocument/2006/relationships" id="2147483648" r:id="R7cb5e318bcea4cd1"/>
  </p:sldMasterIdLst>
  <p:notesMasterIdLst>
    <p:notesMasterId xmlns:r="http://schemas.openxmlformats.org/officeDocument/2006/relationships" r:id="Rd611e4aea5824326"/>
  </p:notesMasterIdLst>
  <p:sldIdLst>
    <p:sldId xmlns:r="http://schemas.openxmlformats.org/officeDocument/2006/relationships" id="256" r:id="Rcc8fcb7459144062"/>
    <p:sldId xmlns:r="http://schemas.openxmlformats.org/officeDocument/2006/relationships" id="257" r:id="R7ad29d3f3ca64f97"/>
    <p:sldId xmlns:r="http://schemas.openxmlformats.org/officeDocument/2006/relationships" id="258" r:id="R3b25e4eec9834668"/>
    <p:sldId xmlns:r="http://schemas.openxmlformats.org/officeDocument/2006/relationships" id="259" r:id="R4f85326103134641"/>
    <p:sldId xmlns:r="http://schemas.openxmlformats.org/officeDocument/2006/relationships" id="260" r:id="R1247b965b4ca4d75"/>
    <p:sldId xmlns:r="http://schemas.openxmlformats.org/officeDocument/2006/relationships" id="261" r:id="R511ba6f1dac04c12"/>
    <p:sldId xmlns:r="http://schemas.openxmlformats.org/officeDocument/2006/relationships" id="262" r:id="Rfb088ba6c14a4cdd"/>
    <p:sldId xmlns:r="http://schemas.openxmlformats.org/officeDocument/2006/relationships" id="263" r:id="R7489ed8b16724b69"/>
    <p:sldId xmlns:r="http://schemas.openxmlformats.org/officeDocument/2006/relationships" id="264" r:id="Ra7c9dbc12abe442f"/>
    <p:sldId xmlns:r="http://schemas.openxmlformats.org/officeDocument/2006/relationships" id="265" r:id="R3902160f66e54150"/>
    <p:sldId xmlns:r="http://schemas.openxmlformats.org/officeDocument/2006/relationships" id="266" r:id="R00bde0a9ef4d4085"/>
    <p:sldId xmlns:r="http://schemas.openxmlformats.org/officeDocument/2006/relationships" id="267" r:id="R2db2f252b7954370"/>
    <p:sldId xmlns:r="http://schemas.openxmlformats.org/officeDocument/2006/relationships" id="268" r:id="R877e1f54fa0b406b"/>
    <p:sldId xmlns:r="http://schemas.openxmlformats.org/officeDocument/2006/relationships" id="269" r:id="R400322fedfd3422c"/>
    <p:sldId xmlns:r="http://schemas.openxmlformats.org/officeDocument/2006/relationships" id="270" r:id="R11b788f2ff7b4e44"/>
    <p:sldId xmlns:r="http://schemas.openxmlformats.org/officeDocument/2006/relationships" id="271" r:id="R910b4ff316324670"/>
    <p:sldId xmlns:r="http://schemas.openxmlformats.org/officeDocument/2006/relationships" id="272" r:id="R1785b2b6ab6e4ecb"/>
    <p:sldId xmlns:r="http://schemas.openxmlformats.org/officeDocument/2006/relationships" id="273" r:id="Rc2acdf2ea4db4978"/>
    <p:sldId xmlns:r="http://schemas.openxmlformats.org/officeDocument/2006/relationships" id="274" r:id="Rfa1d19d9197f419e"/>
    <p:sldId xmlns:r="http://schemas.openxmlformats.org/officeDocument/2006/relationships" id="275" r:id="Rd6dd74e625b14a58"/>
    <p:sldId xmlns:r="http://schemas.openxmlformats.org/officeDocument/2006/relationships" id="276" r:id="Rdcb1c570b3d645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4bbdb24cc3446c" /><Relationship Type="http://schemas.openxmlformats.org/officeDocument/2006/relationships/slideMaster" Target="/ppt/slideMasters/slideMaster1.xml" Id="R7cb5e318bcea4cd1" /><Relationship Type="http://schemas.openxmlformats.org/officeDocument/2006/relationships/notesMaster" Target="/ppt/notesMasters/notesMaster1.xml" Id="Rd611e4aea5824326" /><Relationship Type="http://schemas.openxmlformats.org/officeDocument/2006/relationships/presProps" Target="/ppt/presProps.xml" Id="R01494646d7cb4a2f" /><Relationship Type="http://schemas.openxmlformats.org/officeDocument/2006/relationships/tableStyles" Target="/ppt/tableStyles.xml" Id="Rdc261ced2e0e4ea3" /><Relationship Type="http://schemas.openxmlformats.org/officeDocument/2006/relationships/slide" Target="/ppt/slides/slide1.xml" Id="Rcc8fcb7459144062" /><Relationship Type="http://schemas.openxmlformats.org/officeDocument/2006/relationships/slide" Target="/ppt/slides/slide2.xml" Id="R7ad29d3f3ca64f97" /><Relationship Type="http://schemas.openxmlformats.org/officeDocument/2006/relationships/slide" Target="/ppt/slides/slide3.xml" Id="R3b25e4eec9834668" /><Relationship Type="http://schemas.openxmlformats.org/officeDocument/2006/relationships/slide" Target="/ppt/slides/slide4.xml" Id="R4f85326103134641" /><Relationship Type="http://schemas.openxmlformats.org/officeDocument/2006/relationships/slide" Target="/ppt/slides/slide5.xml" Id="R1247b965b4ca4d75" /><Relationship Type="http://schemas.openxmlformats.org/officeDocument/2006/relationships/slide" Target="/ppt/slides/slide6.xml" Id="R511ba6f1dac04c12" /><Relationship Type="http://schemas.openxmlformats.org/officeDocument/2006/relationships/slide" Target="/ppt/slides/slide7.xml" Id="Rfb088ba6c14a4cdd" /><Relationship Type="http://schemas.openxmlformats.org/officeDocument/2006/relationships/slide" Target="/ppt/slides/slide8.xml" Id="R7489ed8b16724b69" /><Relationship Type="http://schemas.openxmlformats.org/officeDocument/2006/relationships/slide" Target="/ppt/slides/slide9.xml" Id="Ra7c9dbc12abe442f" /><Relationship Type="http://schemas.openxmlformats.org/officeDocument/2006/relationships/slide" Target="/ppt/slides/slide10.xml" Id="R3902160f66e54150" /><Relationship Type="http://schemas.openxmlformats.org/officeDocument/2006/relationships/slide" Target="/ppt/slides/slide11.xml" Id="R00bde0a9ef4d4085" /><Relationship Type="http://schemas.openxmlformats.org/officeDocument/2006/relationships/slide" Target="/ppt/slides/slide12.xml" Id="R2db2f252b7954370" /><Relationship Type="http://schemas.openxmlformats.org/officeDocument/2006/relationships/slide" Target="/ppt/slides/slide13.xml" Id="R877e1f54fa0b406b" /><Relationship Type="http://schemas.openxmlformats.org/officeDocument/2006/relationships/slide" Target="/ppt/slides/slide14.xml" Id="R400322fedfd3422c" /><Relationship Type="http://schemas.openxmlformats.org/officeDocument/2006/relationships/slide" Target="/ppt/slides/slide15.xml" Id="R11b788f2ff7b4e44" /><Relationship Type="http://schemas.openxmlformats.org/officeDocument/2006/relationships/slide" Target="/ppt/slides/slide16.xml" Id="R910b4ff316324670" /><Relationship Type="http://schemas.openxmlformats.org/officeDocument/2006/relationships/slide" Target="/ppt/slides/slide17.xml" Id="R1785b2b6ab6e4ecb" /><Relationship Type="http://schemas.openxmlformats.org/officeDocument/2006/relationships/slide" Target="/ppt/slides/slide18.xml" Id="Rc2acdf2ea4db4978" /><Relationship Type="http://schemas.openxmlformats.org/officeDocument/2006/relationships/slide" Target="/ppt/slides/slide19.xml" Id="Rfa1d19d9197f419e" /><Relationship Type="http://schemas.openxmlformats.org/officeDocument/2006/relationships/slide" Target="/ppt/slides/slide20.xml" Id="Rd6dd74e625b14a58" /><Relationship Type="http://schemas.openxmlformats.org/officeDocument/2006/relationships/slide" Target="/ppt/slides/slide21.xml" Id="Rdcb1c570b3d645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ec64a3255b4a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ae76e557ed24bfd" /><Relationship Type="http://schemas.openxmlformats.org/officeDocument/2006/relationships/notesMaster" Target="/ppt/notesMasters/notesMaster1.xml" Id="R639b8e46d1d94a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97614a3af64241" /><Relationship Type="http://schemas.openxmlformats.org/officeDocument/2006/relationships/notesMaster" Target="/ppt/notesMasters/notesMaster1.xml" Id="R5e4af9b1e33a41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7360e0d63f4258" /><Relationship Type="http://schemas.openxmlformats.org/officeDocument/2006/relationships/notesMaster" Target="/ppt/notesMasters/notesMaster1.xml" Id="R798fe95fa1b74c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f2931b4ad64472" /><Relationship Type="http://schemas.openxmlformats.org/officeDocument/2006/relationships/notesMaster" Target="/ppt/notesMasters/notesMaster1.xml" Id="R9edfb33b01fe49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e886c8e5654f57" /><Relationship Type="http://schemas.openxmlformats.org/officeDocument/2006/relationships/notesMaster" Target="/ppt/notesMasters/notesMaster1.xml" Id="Rd7ca730e61644b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0a256c617d4321" /><Relationship Type="http://schemas.openxmlformats.org/officeDocument/2006/relationships/notesMaster" Target="/ppt/notesMasters/notesMaster1.xml" Id="Rc4ed2b06b0d648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513db420794a82" /><Relationship Type="http://schemas.openxmlformats.org/officeDocument/2006/relationships/notesMaster" Target="/ppt/notesMasters/notesMaster1.xml" Id="Rc5cb54c6cffe45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694cacd7254c67" /><Relationship Type="http://schemas.openxmlformats.org/officeDocument/2006/relationships/notesMaster" Target="/ppt/notesMasters/notesMaster1.xml" Id="R019586d6123040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5c9db23b7f49ec" /><Relationship Type="http://schemas.openxmlformats.org/officeDocument/2006/relationships/notesMaster" Target="/ppt/notesMasters/notesMaster1.xml" Id="R5a5d7150163e460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026b2e5da04f9a" /><Relationship Type="http://schemas.openxmlformats.org/officeDocument/2006/relationships/notesMaster" Target="/ppt/notesMasters/notesMaster1.xml" Id="Rfac272c73f984b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5524139b2d4a98" /><Relationship Type="http://schemas.openxmlformats.org/officeDocument/2006/relationships/notesMaster" Target="/ppt/notesMasters/notesMaster1.xml" Id="Re51a164bb9bf41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f1a0cea2fe44f8" /><Relationship Type="http://schemas.openxmlformats.org/officeDocument/2006/relationships/notesMaster" Target="/ppt/notesMasters/notesMaster1.xml" Id="Rb1a30469e69140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9cafdd8ad44d09" /><Relationship Type="http://schemas.openxmlformats.org/officeDocument/2006/relationships/notesMaster" Target="/ppt/notesMasters/notesMaster1.xml" Id="R2d64c11cbdca4e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82602b191048a0" /><Relationship Type="http://schemas.openxmlformats.org/officeDocument/2006/relationships/notesMaster" Target="/ppt/notesMasters/notesMaster1.xml" Id="R63b5bbc09a1d47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f1f78914372431d" /><Relationship Type="http://schemas.openxmlformats.org/officeDocument/2006/relationships/notesMaster" Target="/ppt/notesMasters/notesMaster1.xml" Id="R91c74478aa324a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9f3319ebcc4861" /><Relationship Type="http://schemas.openxmlformats.org/officeDocument/2006/relationships/notesMaster" Target="/ppt/notesMasters/notesMaster1.xml" Id="R79ab4a1fd57444a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bccae3bc1d34c95" /><Relationship Type="http://schemas.openxmlformats.org/officeDocument/2006/relationships/notesMaster" Target="/ppt/notesMasters/notesMaster1.xml" Id="Reaa33093e359409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29bf9649374371" /><Relationship Type="http://schemas.openxmlformats.org/officeDocument/2006/relationships/notesMaster" Target="/ppt/notesMasters/notesMaster1.xml" Id="Rcaa4111d915147b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f24e657d8d44ad" /><Relationship Type="http://schemas.openxmlformats.org/officeDocument/2006/relationships/notesMaster" Target="/ppt/notesMasters/notesMaster1.xml" Id="R18423ba519884cd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d61d2f73b64fd4" /><Relationship Type="http://schemas.openxmlformats.org/officeDocument/2006/relationships/notesMaster" Target="/ppt/notesMasters/notesMaster1.xml" Id="R407cd0dd920d4b5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28bfc31a8324765" /><Relationship Type="http://schemas.openxmlformats.org/officeDocument/2006/relationships/notesMaster" Target="/ppt/notesMasters/notesMaster1.xml" Id="Ra48e3ce083514d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xin trình bày khảo sát các giải pháp chuyển cuộc gọi tiếng Việt thành văn bản. Câu hỏi business của mình là: giải pháp nào đáng thử để hỗ trợ QA tìm nội dung cuộc gọi nhanh hơn và giảm công sức kiểm tra lại, trong mức chi phí phù hợp? Hiện em đang chạy PhoWhisper-base, nên đây là điểm xuất phát để đối chiếu.</a:t>
            </a:r>
          </a:p>
          <a:p xmlns:a="http://schemas.openxmlformats.org/drawingml/2006/main">
            <a:r>
              <a:t/>
            </a:r>
          </a:p>
          <a:p xmlns:a="http://schemas.openxmlformats.org/drawingml/2006/main">
            <a:r>
              <a:t>Ví dụ giả lập, khi cần kiểm tra khách đã đồng ý thay đổi thông tin hay chưa, QA có thể tìm câu liên quan trong bản ghi chữ rồi nghe lại audio để xác nhận. Giá trị mình kỳ vọng là dễ tìm bằng chứng hơn. Part 1 giúp chọn những giải pháp có khả năng đáp ứng nhu cầu đó. Mức cải thiện thực tế sẽ đo ở Part 2.</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chia lựa chọn thành hai hướng. Một hướng là công ty tự chạy model, như PhoWhisper hoặc Parakeet. Hướng còn lại là dùng dịch vụ API của nhà cung cấp. API có thể hiểu là cách ứng dụng gửi bản ghi và nhận nội dung chữ để QA sử dụng.</a:t>
            </a:r>
          </a:p>
          <a:p xmlns:a="http://schemas.openxmlformats.org/drawingml/2006/main">
            <a:r>
              <a:t/>
            </a:r>
          </a:p>
          <a:p xmlns:a="http://schemas.openxmlformats.org/drawingml/2006/main">
            <a:r>
              <a:t>Mỗi lựa chọn được xem theo nhu cầu công việc: có nghe được tiếng Việt không, đầu ra có giúp tìm và kiểm tra cuộc gọi không, chi phí sử dụng gồm những gì, và team phải vận hành thêm phần nào. Ví dụ giả lập, một giải pháp tạo chữ tốt nhưng thiếu mốc thời gian có thể khiến QA vẫn phải dò lại cả file. Vì vậy, khảo sát cần nhìn vào phần việc người dùng có thể hoàn thành. Bản này chọn các đại diện có tài liệu để nghiên cứu, còn chất lượng thực tế cần thử.</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OpenAI (n.d.b) File transcription. https://developers.openai.com/api/docs/guides/speech-to-text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Với model tự triển khai, công ty chủ động hơn về cách vận hành và nơi đặt hệ thống. Đổi lại, team cần máy chạy và người phụ trách khi có lỗi. Vì vậy, miễn phí tải model chỉ là một phần của bài toán chi phí.</a:t>
            </a:r>
          </a:p>
          <a:p xmlns:a="http://schemas.openxmlformats.org/drawingml/2006/main">
            <a:r>
              <a:t/>
            </a:r>
          </a:p>
          <a:p xmlns:a="http://schemas.openxmlformats.org/drawingml/2006/main">
            <a:r>
              <a:t>Ví dụ giả lập, nếu mỗi ngày QA nhận nhiều bản ghi, mình cần biết hệ thống có xử lý kịp trước giờ review không và nhân viên phải sửa chữ bao lâu. Tiền mua máy, công sức vận hành và thời gian sửa transcript đều ảnh hưởng lựa chọn. Bảng trên còn có cột giấy phép: checkpoint Wav2Vec2 đang khảo sát giới hạn phi thương mại, nên cần làm rõ quyền sử dụng trước khi đưa vào công việc công ty. Em đề xuất giữ các phương án có điều kiện phù hợp để thử tiếp.</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Whisper là một lựa chọn đối chiếu để trả lời câu hỏi: phiên bản đang dùng có đem lại lợi ích rõ so với model gốc không? Em đề xuất thử các bản base và small cùng với PhoWhisper tương ứng, để có cơ sở so sánh.</a:t>
            </a:r>
          </a:p>
          <a:p xmlns:a="http://schemas.openxmlformats.org/drawingml/2006/main">
            <a:r>
              <a:t/>
            </a:r>
          </a:p>
          <a:p xmlns:a="http://schemas.openxmlformats.org/drawingml/2006/main">
            <a:r>
              <a:t>Ví dụ giả lập, khách nói “Phí kỳ này là hai triệu rưỡi, tôi chưa đồng ý đổi thông tin”. Với QA, điều cần giữ đúng là số tiền và ý định của khách. Transcript đọc trôi chảy nhưng mất từ “chưa” vẫn có thể dẫn tới nhận định sai. Vì vậy, giá trị của Whisper trong nghiên cứu là tạo một phương án đối chiếu cụ thể. Mình sẽ xem số lỗi cần sửa và thời gian kiểm tra, trước khi quyết định tiếp tục với cấu hình hiện tại hay thay đổi.</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PhoWhisper là điểm xuất phát vì em đang chạy bản base. Model này được điều chỉnh thêm cho tiếng Việt, nên câu hỏi tiếp theo là bản small có giúp QA nhận bản ghi dễ dùng hơn hay không.</a:t>
            </a:r>
          </a:p>
          <a:p xmlns:a="http://schemas.openxmlformats.org/drawingml/2006/main">
            <a:r>
              <a:t/>
            </a:r>
          </a:p>
          <a:p xmlns:a="http://schemas.openxmlformats.org/drawingml/2006/main">
            <a:r>
              <a:t>Ví dụ giả lập, khách nói “kỳ phí này em đóng rồi nha”, sau đó đọc số tiền và ngày thanh toán. Nếu bản small giữ những chi tiết này tốt hơn, QA có thể phải sửa ít hơn. Nhưng nếu xử lý chậm hơn nhiều, lợi ích đó cần cân đối với thời gian chờ. Em đề xuất thử nâng một mức trước và đo phần việc được cải thiện. Số tham số trên slide là thông tin về kích thước model. Với quyết định business, mình ưu tiên bằng chứng về độ đúng và khả năng xử lý kịp nhu cầu.</a:t>
            </a:r>
          </a:p>
          <a:p xmlns:a="http://schemas.openxmlformats.org/drawingml/2006/main">
            <a:r>
              <a:t/>
            </a:r>
          </a:p>
          <a:p xmlns:a="http://schemas.openxmlformats.org/drawingml/2006/main">
            <a:r>
              <a:t>Nguồn tham khảo</a:t>
            </a:r>
          </a:p>
          <a:p xmlns:a="http://schemas.openxmlformats.org/drawingml/2006/main">
            <a:r>
              <a:t>VinAI Research (n.d.) PhoWhisper. https://github.com/VinAIResearch/PhoWhisper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Parakeet Vietnamese mở rộng lựa chọn ra ngoài họ Whisper. Mục đích là xem một hướng khác có giúp giảm những lỗi mà hệ thống hiện tại thường gặp hay không. Đây là ứng viên để thử, chưa có kết luận tốt hơn PhoWhisper.</a:t>
            </a:r>
          </a:p>
          <a:p xmlns:a="http://schemas.openxmlformats.org/drawingml/2006/main">
            <a:r>
              <a:t/>
            </a:r>
          </a:p>
          <a:p xmlns:a="http://schemas.openxmlformats.org/drawingml/2006/main">
            <a:r>
              <a:t>Ví dụ giả lập, khách đọc mã “A không hai bảy”. Nếu model bỏ số không, QA có thể tra nhầm hoặc phải nghe lại để xác nhận. Mình sẽ kiểm tra xem Parakeet giữ mã, số tiền và câu phủ định như thế nào. Khi cân nhắc triển khai, team cũng cần xem hạ tầng có phù hợp và ai sẽ vận hành. Chi tiết NeMo hay cách giải mã trên slide giúp đội kỹ thuật chuẩn bị. Với manager, câu hỏi chính là mức cải thiện có đủ bù phần đầu tư và công sức bổ sung không.</a:t>
            </a:r>
          </a:p>
          <a:p xmlns:a="http://schemas.openxmlformats.org/drawingml/2006/main">
            <a:r>
              <a:t/>
            </a:r>
          </a:p>
          <a:p xmlns:a="http://schemas.openxmlformats.org/drawingml/2006/main">
            <a:r>
              <a:t>Nguồn tham khảo</a:t>
            </a:r>
          </a:p>
          <a:p xmlns:a="http://schemas.openxmlformats.org/drawingml/2006/main">
            <a:r>
              <a:t>NVIDIA (n.d.) Parakeet CTC 0.6B Vietnamese model card. https://huggingface.co/nvidia/parakeet-ctc-0.6b-Vietnamese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Qwen3-ASR là một hướng mới có hỗ trợ tiếng Việt, giúp nghiên cứu có thêm lựa chọn ngoài nhóm đang chạy. Em đề xuất thăm dò bản nhỏ hơn trước để xem khả năng đáp ứng nhu cầu và mức tài nguyên cần dùng.</a:t>
            </a:r>
          </a:p>
          <a:p xmlns:a="http://schemas.openxmlformats.org/drawingml/2006/main">
            <a:r>
              <a:t/>
            </a:r>
          </a:p>
          <a:p xmlns:a="http://schemas.openxmlformats.org/drawingml/2006/main">
            <a:r>
              <a:t>Ví dụ giả lập, cuộc gọi có tiếng Việt xen một vài thuật ngữ tiếng Anh như “premium”. Mình muốn biết model có giữ đúng nội dung để QA hiểu khách đang hỏi gì không. Một điểm cần chú ý là tạo chữ và tạo mốc nghe lại có thể cần các thành phần khác nhau. Tài liệu của bộ căn thời gian đi kèm chưa liệt kê tiếng Việt. Nếu QA cần bấm vào câu để nghe đúng đoạn, mình phải tính thêm phần tích hợp. Vì vậy, ứng viên này đáng khám phá về chất lượng chữ, còn trải nghiệm sử dụng hoàn chỉnh cần đánh giá riêng.</a:t>
            </a:r>
          </a:p>
          <a:p xmlns:a="http://schemas.openxmlformats.org/drawingml/2006/main">
            <a:r>
              <a:t/>
            </a:r>
          </a:p>
          <a:p xmlns:a="http://schemas.openxmlformats.org/drawingml/2006/main">
            <a:r>
              <a:t>Nguồn tham khảo</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Wav2Vec2 giúp mình tìm hiểu thêm một hướng nhận dạng tiếng Việt. Tuy nhiên, checkpoint cụ thể trong bảng ghi chỉ cho sử dụng phi thương mại. Vì vậy, em giữ nó trong nhóm nghiên cứu có điều kiện và chưa đề xuất triển khai cho công ty.</a:t>
            </a:r>
          </a:p>
          <a:p xmlns:a="http://schemas.openxmlformats.org/drawingml/2006/main">
            <a:r>
              <a:t/>
            </a:r>
          </a:p>
          <a:p xmlns:a="http://schemas.openxmlformats.org/drawingml/2006/main">
            <a:r>
              <a:t>Ý nghĩa business là một giải pháp có thể tải miễn phí vẫn có giới hạn về quyền sử dụng. Nếu chọn một model rồi mới phát hiện không đáp ứng điều kiện triển khai, team có thể mất công tích hợp lại. Ví dụ giả lập, dù thử nghiệm cho transcript tốt, kết quả đó vẫn chưa đủ để quyết định dùng lâu dài. Nếu muốn tiếp tục hướng này, cần làm rõ quyền sử dụng hoặc tìm phiên bản khác có điều kiện phù hợp. Khảo sát giúp phát hiện giới hạn từ sớm để chọn đúng phương án đáng đầu tư công sức.</a:t>
            </a:r>
          </a:p>
          <a:p xmlns:a="http://schemas.openxmlformats.org/drawingml/2006/main">
            <a:r>
              <a:t/>
            </a:r>
          </a:p>
          <a:p xmlns:a="http://schemas.openxmlformats.org/drawingml/2006/main">
            <a:r>
              <a:t>Nguồn tham khảo</a:t>
            </a:r>
          </a:p>
          <a:p xmlns:a="http://schemas.openxmlformats.org/drawingml/2006/main">
            <a:r>
              <a:t>Nguyen Vu Le Binh (n.d.) Wav2Vec2 base Vietnamese 250h model card. https://huggingface.co/nguyenvulebinh/wav2vec2-base-vietnamese-250h (Accessed: 7 October 2026).</a:t>
            </a:r>
          </a:p>
          <a:p xmlns:a="http://schemas.openxmlformats.org/drawingml/2006/main">
            <a:r>
              <a:t>Baevski et al. (2020) wav2vec 2.0 A Framework for Self Supervised Learning of Speech Representations. https://arxiv.org/abs/2006.11477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phân biệt model nhận dạng và công cụ giúp model chạy. Với business, điều cần hiểu là team có thể cải thiện thời gian xử lý bằng cách đổi công cụ vận hành, bên cạnh việc đổi model.</a:t>
            </a:r>
          </a:p>
          <a:p xmlns:a="http://schemas.openxmlformats.org/drawingml/2006/main">
            <a:r>
              <a:t/>
            </a:r>
          </a:p>
          <a:p xmlns:a="http://schemas.openxmlformats.org/drawingml/2006/main">
            <a:r>
              <a:t>Ví dụ giả lập, cùng bản ghi được xử lý nhanh hơn sau khi đổi công cụ chạy. Điều đó có thể giúp QA nhận kết quả sớm hơn, nhưng mình vẫn phải kiểm tra chữ có giữ đúng không. Một cấu hình chạy nhanh mà làm sai nhiều số tiền sẽ tạo thêm công sửa. Em đề xuất nhìn đồng thời thời gian chờ, chất lượng đầu ra và công sức hỗ trợ. Các tên như faster-whisper hay INT8 trên slide là thông tin để đội kỹ thuật thực hiện. Kết quả trình manager cần cho thấy phần công việc được cải thiện và chi phí đi kèm.</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API nghĩa là công ty gửi audio đến dịch vụ để nhận transcript. Nhà cung cấp vận hành phần nhận dạng, còn team vẫn cần tích hợp kết quả vào công cụ QA và quản lý dữ liệu.</a:t>
            </a:r>
          </a:p>
          <a:p xmlns:a="http://schemas.openxmlformats.org/drawingml/2006/main">
            <a:r>
              <a:t/>
            </a:r>
          </a:p>
          <a:p xmlns:a="http://schemas.openxmlformats.org/drawingml/2006/main">
            <a:r>
              <a:t>Hướng này đáng khảo sát khi muốn giảm phần tự vận hành model hoặc cần chức năng bổ sung. Ví dụ giả lập, QA muốn vừa đọc nội dung vừa biết câu nào thuộc khách hàng. Mình sẽ chọn dịch vụ theo đầu ra đó, thay vì chỉ so giá tạo chữ. Các API trong bảng là dịch vụ thương mại. Gói dùng thử có thể giúp thăm dò, nhưng ngân sách lâu dài cần tính theo sản lượng và điều kiện giá thực tế. Quyết định nên dựa trên lợi ích sử dụng, chi phí toàn bộ và nơi audio được xử lý.</a:t>
            </a:r>
          </a:p>
          <a:p xmlns:a="http://schemas.openxmlformats.org/drawingml/2006/main">
            <a:r>
              <a:t/>
            </a:r>
          </a:p>
          <a:p xmlns:a="http://schemas.openxmlformats.org/drawingml/2006/main">
            <a:r>
              <a:t>Nguồn tham khảo</a:t>
            </a:r>
          </a:p>
          <a:p xmlns:a="http://schemas.openxmlformats.org/drawingml/2006/main">
            <a:r>
              <a:t>OpenAI (n.d.b) File transcription. https://developers.openai.com/api/docs/guides/speech-to-text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Với OpenAI, em khảo sát cách chọn dịch vụ theo đầu ra QA cần. Nếu mục tiêu chỉ là đọc nội dung cuộc gọi, mình xem lựa chọn tạo transcript. Nếu cần chia nội dung theo người nói, mình xem model chuyên cho chức năng đó.</a:t>
            </a:r>
          </a:p>
          <a:p xmlns:a="http://schemas.openxmlformats.org/drawingml/2006/main">
            <a:r>
              <a:t/>
            </a:r>
          </a:p>
          <a:p xmlns:a="http://schemas.openxmlformats.org/drawingml/2006/main">
            <a:r>
              <a:t>Ví dụ giả lập, khách nói “Tôi chưa đồng ý”, còn nhân viên nói “Em ghi nhận yêu cầu của chị”. QA cần biết câu nào thuộc ai trước khi đánh giá tình huống. Nhãn người nói giúp tổ chức bản ghi, còn việc xác định vai trò nhân viên và khách vẫn cần kiểm tra. Một số model cho thêm ngữ cảnh hoặc từ gợi ý, nhưng khả năng này khác nhau giữa các phiên bản. Em đề xuất thử theo đúng nhu cầu sử dụng và xem các chức năng bổ sung có giảm công kiểm tra đủ để phù hợp mức phí không.</a:t>
            </a:r>
          </a:p>
          <a:p xmlns:a="http://schemas.openxmlformats.org/drawingml/2006/main">
            <a:r>
              <a:t/>
            </a:r>
          </a:p>
          <a:p xmlns:a="http://schemas.openxmlformats.org/drawingml/2006/main">
            <a:r>
              <a:t>Nguồn tham khảo</a:t>
            </a:r>
          </a:p>
          <a:p xmlns:a="http://schemas.openxmlformats.org/drawingml/2006/main">
            <a:r>
              <a:t>OpenAI (n.d.b) File transcription. https://developers.openai.com/api/docs/guides/speech-to-text (Accessed: 7 October 2026).</a:t>
            </a:r>
          </a:p>
          <a:p xmlns:a="http://schemas.openxmlformats.org/drawingml/2006/main">
            <a:r>
              <a:t>OpenAI (n.d.c) GPT Transcribe model. https://developers.openai.com/api/docs/models/gpt-transcribe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Google Chirp 3 và Azure Speech đều là hướng khảo sát cho tiếng Việt. Điều đáng quan tâm là khả năng hỗ trợ từ vựng thường gặp trong công việc, như “kỳ phí” hoặc “bên mua bảo hiểm”.</a:t>
            </a:r>
          </a:p>
          <a:p xmlns:a="http://schemas.openxmlformats.org/drawingml/2006/main">
            <a:r>
              <a:t/>
            </a:r>
          </a:p>
          <a:p xmlns:a="http://schemas.openxmlformats.org/drawingml/2006/main">
            <a:r>
              <a:t>Ví dụ giả lập, mình cung cấp danh sách thuật ngữ rồi so với lần xử lý không có danh sách. Nếu số lỗi giảm, QA có thể phải sửa ít hơn. Mức lợi ích này vẫn cần đo. Với Google, danh sách ngôn ngữ tạo chữ có tiếng Việt, còn danh sách tách người nói chưa có tiếng Việt. Nếu QA cần biết ai nói, team phải xem giải pháp bổ sung. Với Azure, cần xác nhận chức năng trong cấu hình sẽ sử dụng. Điểm business là hiểu dịch vụ đáp ứng được phần việc nào và phần nào công ty còn phải xây thêm.</a:t>
            </a:r>
          </a:p>
          <a:p xmlns:a="http://schemas.openxmlformats.org/drawingml/2006/main">
            <a:r>
              <a:t/>
            </a:r>
          </a:p>
          <a:p xmlns:a="http://schemas.openxmlformats.org/drawingml/2006/main">
            <a:r>
              <a:t>Nguồn tham khảo</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AWS và Deepgram cho thấy mình cần đọc tính năng theo đúng ngôn ngữ. AWS có nhận dạng tiếng Việt, nhưng bảng tài liệu không ghi hỗ trợ Call Analytics tiếng Việt. Nếu cần chấm tiêu chí QA hoặc phân tích nội dung, team cần khảo sát phần xử lý tiếp theo.</a:t>
            </a:r>
          </a:p>
          <a:p xmlns:a="http://schemas.openxmlformats.org/drawingml/2006/main">
            <a:r>
              <a:t/>
            </a:r>
          </a:p>
          <a:p xmlns:a="http://schemas.openxmlformats.org/drawingml/2006/main">
            <a:r>
              <a:t>Deepgram có lựa chọn tiếng Việt, nhưng các bản mang tên “phonecall” và “finance” trong tài liệu được liệt kê cho tiếng Anh. Ví dụ giả lập, mình không thể chọn một gói chỉ vì tên nghe giống cuộc gọi bảo hiểm. Cần xác nhận nó hỗ trợ tiếng Việt và đầu ra mình cần. Điều này ảnh hưởng phạm vi mua dịch vụ và công sức tích hợp. Em đề xuất yêu cầu mô tả rõ phần dịch vụ cung cấp, trước khi so chi phí và chọn thử.</a:t>
            </a:r>
          </a:p>
          <a:p xmlns:a="http://schemas.openxmlformats.org/drawingml/2006/main">
            <a:r>
              <a:t/>
            </a:r>
          </a:p>
          <a:p xmlns:a="http://schemas.openxmlformats.org/drawingml/2006/main">
            <a:r>
              <a:t>Nguồn tham khảo</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Speechmatics đáng khảo sát vì có hai cách dùng: dịch vụ cloud hoặc phần mềm chạy trong môi trường của công ty. Đây là lựa chọn để tìm hiểu khi team muốn sử dụng giải pháp thương mại nhưng có yêu cầu riêng về nơi xử lý.</a:t>
            </a:r>
          </a:p>
          <a:p xmlns:a="http://schemas.openxmlformats.org/drawingml/2006/main">
            <a:r>
              <a:t/>
            </a:r>
          </a:p>
          <a:p xmlns:a="http://schemas.openxmlformats.org/drawingml/2006/main">
            <a:r>
              <a:t>Ví dụ giả lập, công ty muốn giữ việc xử lý trên hạ tầng quản lý và cần hỗ trợ từ nhà cung cấp. Hướng này có thể phù hợp để trao đổi thêm, nhưng vẫn có chi phí dịch vụ và vận hành. Tài liệu liệt kê tiếng Việt, chức năng người nói và từ điển tùy chỉnh trong các phạm vi khác nhau. Em đề xuất xác nhận gói thực tế trước khi thử. Với manager, câu hỏi là mức hỗ trợ và chức năng có đem lại lợi ích đủ rõ so với việc team tự chạy model hay không.</a:t>
            </a:r>
          </a:p>
          <a:p xmlns:a="http://schemas.openxmlformats.org/drawingml/2006/main">
            <a:r>
              <a:t/>
            </a:r>
          </a:p>
          <a:p xmlns:a="http://schemas.openxmlformats.org/drawingml/2006/main">
            <a:r>
              <a:t>Nguồn tham khảo</a:t>
            </a:r>
          </a:p>
          <a:p xmlns:a="http://schemas.openxmlformats.org/drawingml/2006/main">
            <a:r>
              <a:t>Speechmatics (n.d.a) Languages. https://docs.speechmatics.com/speech-to-text/languages (Accessed: 7 October 2026).</a:t>
            </a:r>
          </a:p>
          <a:p xmlns:a="http://schemas.openxmlformats.org/drawingml/2006/main">
            <a:r>
              <a:t>Speechmatics (n.d.b) Deployments overview. https://docs.speechmatics.com/deployments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Với nhà cung cấp Việt Nam, em khảo sát VNPT SmartVoice và FPT.AI dựa trên tài liệu tích hợp đã có. Viettel AI nằm trong danh sách cần bổ sung thông tin hiện hành.</a:t>
            </a:r>
          </a:p>
          <a:p xmlns:a="http://schemas.openxmlformats.org/drawingml/2006/main">
            <a:r>
              <a:t/>
            </a:r>
          </a:p>
          <a:p xmlns:a="http://schemas.openxmlformats.org/drawingml/2006/main">
            <a:r>
              <a:t>Ví dụ giả lập, QA cần mở bản ghi, tìm đoạn khách hỏi về phí rồi nghe lại. Khi trao đổi với vendor, mình cần hỏi đầu ra có nội dung chữ, người nói và mốc thời gian phù hợp không, có xử lý được bản ghi tổng đài đang dùng không, và các chức năng đó nằm trong gói nào. Tài liệu mẫu có chữ chưa đủ xác nhận toàn bộ trải nghiệm này. Em cũng đề xuất hỏi nơi xử lý audio và chi phí hỗ trợ. Nhà cung cấp trong nước là một hướng để làm việc trực tiếp, còn mức phù hợp cần dựa vào cấu hình và kết quả thử.</a:t>
            </a:r>
          </a:p>
          <a:p xmlns:a="http://schemas.openxmlformats.org/drawingml/2006/main">
            <a:r>
              <a:t/>
            </a:r>
          </a:p>
          <a:p xmlns:a="http://schemas.openxmlformats.org/drawingml/2006/main">
            <a:r>
              <a:t>Nguồn tham khảo</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Điều rút ra từ survey là quyết định nên bắt đầu từ công việc QA cần hoàn thành. Transcript cần giữ đúng các chi tiết ảnh hưởng đánh giá cuộc gọi, đồng thời giúp người dùng tìm và xác nhận thông tin thuận tiện.</a:t>
            </a:r>
          </a:p>
          <a:p xmlns:a="http://schemas.openxmlformats.org/drawingml/2006/main">
            <a:r>
              <a:t/>
            </a:r>
          </a:p>
          <a:p xmlns:a="http://schemas.openxmlformats.org/drawingml/2006/main">
            <a:r>
              <a:t>Ví dụ giả lập, hệ thống ghi đúng “hai triệu rưỡi” nhưng bước đổi chữ thành số tạo thành 25 triệu. Khi đó lỗi phát sinh sau nhận dạng. Hoặc chữ đúng nhưng gán câu của khách cho nhân viên, kết quả QA vẫn có thể sai. Vì vậy, mình cần xem cả đầu ra được sử dụng. Điều kiện giấy phép và các chức năng tiếng Việt cũng quyết định công sức còn phải bổ sung. Các phát hiện này giúp team chọn câu hỏi thử nghiệm cụ thể và tránh dự tính lợi ích vượt quá khả năng đã xác nhận.</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 đề xuất thử theo từng vòng để sử dụng thời gian và ngân sách có mục đích. Vòng đầu dùng PhoWhisper-base hiện tại làm mốc, rồi so với Whisper-base và các bản small. Mục tiêu là xem có giảm lỗi và công sửa mà vẫn xử lý kịp nhu cầu không.</a:t>
            </a:r>
          </a:p>
          <a:p xmlns:a="http://schemas.openxmlformats.org/drawingml/2006/main">
            <a:r>
              <a:t/>
            </a:r>
          </a:p>
          <a:p xmlns:a="http://schemas.openxmlformats.org/drawingml/2006/main">
            <a:r>
              <a:t>Vòng tiếp theo mở rộng sang Parakeet và Qwen3-ASR nếu hạ tầng phù hợp. API thương mại chỉ thêm khi có lý do rõ, chẳng hạn cần đầu ra bổ sung hoặc muốn giảm phần tự vận hành. Em đề xuất chọn một đến hai API trước để đo lợi ích so với chi phí. Shortlist này là thứ tự nghiên cứu, chưa phải thứ hạng chất lượng. Sau thử nghiệm, lựa chọn phù hợp sẽ dựa trên mức cải thiện công việc cùng khả năng vận hành lâu dài.</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Part 1, em đề xuất team thống nhất nhu cầu ưu tiên: QA cần đọc chữ, tìm và nghe lại đoạn liên quan, hay cần thêm người nói. Từ đó mình chọn các cấu hình đáng thử và xác định phần việc cần cải thiện.</a:t>
            </a:r>
          </a:p>
          <a:p xmlns:a="http://schemas.openxmlformats.org/drawingml/2006/main">
            <a:r>
              <a:t/>
            </a:r>
          </a:p>
          <a:p xmlns:a="http://schemas.openxmlformats.org/drawingml/2006/main">
            <a:r>
              <a:t>Part 2 sẽ dùng cùng bộ audio và bản ghi tham chiếu để kiểm tra độ đúng. Ngoài lỗi nhận dạng, em đề xuất đo thời gian QA tìm một đoạn, thời gian sửa transcript và thời gian chờ hệ thống. Ví dụ giả lập, một giải pháp giảm công sửa nhưng tăng thời gian chờ cần được cân đối theo lịch review. Kết quả cần trả lời phương án nào đáp ứng nhu cầu tốt hơn với chi phí phù hợp. Sau đó team mới quyết định bước thử nghiệm vận hành tiếp theo.</a:t>
            </a:r>
          </a:p>
          <a:p xmlns:a="http://schemas.openxmlformats.org/drawingml/2006/main">
            <a:r>
              <a:t/>
            </a:r>
          </a:p>
          <a:p xmlns:a="http://schemas.openxmlformats.org/drawingml/2006/main">
            <a:r>
              <a:t>Nguồn tham khảo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OpenAI (n.d.a) Whisper. https://github.com/openai/whisper (Accessed: 7 October 2026).</a:t>
            </a:r>
          </a:p>
          <a:p xmlns:a="http://schemas.openxmlformats.org/drawingml/2006/main">
            <a:r>
              <a:t>VinAI Research (n.d.) PhoWhisper. https://github.com/VinAIResearch/PhoWhisper (Accessed: 7 October 2026).</a:t>
            </a:r>
          </a:p>
          <a:p xmlns:a="http://schemas.openxmlformats.org/drawingml/2006/main">
            <a:r>
              <a:t>NVIDIA (n.d.) Parakeet CTC 0.6B Vietnamese model card. https://huggingface.co/nvidia/parakeet-ctc-0.6b-Vietnamese (Accessed: 7 October 2026).</a:t>
            </a:r>
          </a:p>
          <a:p xmlns:a="http://schemas.openxmlformats.org/drawingml/2006/main">
            <a:r>
              <a:t>Qwen Team (n.d.a) Qwen3 ASR repository. https://github.com/QwenLM/Qwen3-ASR (Accessed: 7 October 2026).</a:t>
            </a:r>
          </a:p>
          <a:p xmlns:a="http://schemas.openxmlformats.org/drawingml/2006/main">
            <a:r>
              <a:t>Qwen Team (n.d.b) Qwen3 ASR 0.6B model card. https://huggingface.co/Qwen/Qwen3-ASR-0.6B (Accessed: 7 October 2026).</a:t>
            </a:r>
          </a:p>
          <a:p xmlns:a="http://schemas.openxmlformats.org/drawingml/2006/main">
            <a:r>
              <a:t>Nguyen Vu Le Binh (n.d.) Wav2Vec2 base Vietnamese 250h model card. https://huggingface.co/nguyenvulebinh/wav2vec2-base-vietnamese-250h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Baevski et al. (2020) wav2vec 2.0 A Framework for Self Supervised Learning of Speech Representations. https://arxiv.org/abs/2006.11477 (Accessed: 7 October 2026).</a:t>
            </a:r>
          </a:p>
          <a:p xmlns:a="http://schemas.openxmlformats.org/drawingml/2006/main">
            <a:r>
              <a:t>SYSTRAN (n.d.) faster whisper. https://github.com/SYSTRAN/faster-whisper (Accessed: 7 October 2026).</a:t>
            </a:r>
          </a:p>
          <a:p xmlns:a="http://schemas.openxmlformats.org/drawingml/2006/main">
            <a:r>
              <a:t>OpenAI (n.d.b) File transcription. https://developers.openai.com/api/docs/guides/speech-to-text (Accessed: 7 October 2026).</a:t>
            </a:r>
          </a:p>
          <a:p xmlns:a="http://schemas.openxmlformats.org/drawingml/2006/main">
            <a:r>
              <a:t>OpenAI (n.d.c) GPT Transcribe model. https://developers.openai.com/api/docs/models/gpt-transcribe (Accessed: 7 October 2026).</a:t>
            </a:r>
          </a:p>
          <a:p xmlns:a="http://schemas.openxmlformats.org/drawingml/2006/main">
            <a:r>
              <a:t>Google Cloud (n.d.) Chirp 3 transcription. https://docs.cloud.google.com/speech-to-text/docs/models/chirp-3 (Accessed: 7 October 2026).</a:t>
            </a:r>
          </a:p>
          <a:p xmlns:a="http://schemas.openxmlformats.org/drawingml/2006/main">
            <a:r>
              <a:t>Microsoft (n.d.) Language and voice support for Azure Speech. https://learn.microsoft.com/en-us/azure/ai-services/speech-service/language-support?tabs=stt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nguồn này hỗ trợ những khả năng và giới hạn đã nêu. Model card và tài liệu dịch vụ có thể thay đổi. Khi thực hiện Evaluation, team lưu lại phiên bản checkpoint, cấu hình và ngày kiểm tra để có thể đối chiếu.</a:t>
            </a:r>
          </a:p>
          <a:p xmlns:a="http://schemas.openxmlformats.org/drawingml/2006/main">
            <a:r>
              <a:t/>
            </a:r>
          </a:p>
          <a:p xmlns:a="http://schemas.openxmlformats.org/drawingml/2006/main">
            <a:r>
              <a:t>Nguồn tham khảo</a:t>
            </a:r>
          </a:p>
          <a:p xmlns:a="http://schemas.openxmlformats.org/drawingml/2006/main">
            <a:r>
              <a:t>AWS (n.d.) Supported languages and language specific features. https://docs.aws.amazon.com/transcribe/latest/dg/supported-languages.html (Accessed: 7 October 2026).</a:t>
            </a:r>
          </a:p>
          <a:p xmlns:a="http://schemas.openxmlformats.org/drawingml/2006/main">
            <a:r>
              <a:t>Deepgram (n.d.) Models and languages overview. https://developers.deepgram.com/docs/models-languages-overview (Accessed: 7 October 2026).</a:t>
            </a:r>
          </a:p>
          <a:p xmlns:a="http://schemas.openxmlformats.org/drawingml/2006/main">
            <a:r>
              <a:t>Speechmatics (n.d.a) Languages. https://docs.speechmatics.com/speech-to-text/languages (Accessed: 7 October 2026).</a:t>
            </a:r>
          </a:p>
          <a:p xmlns:a="http://schemas.openxmlformats.org/drawingml/2006/main">
            <a:r>
              <a:t>Speechmatics (n.d.b) Deployments overview. https://docs.speechmatics.com/deployments (Accessed: 7 October 2026).</a:t>
            </a:r>
          </a:p>
          <a:p xmlns:a="http://schemas.openxmlformats.org/drawingml/2006/main">
            <a:r>
              <a:t>VNPT AI (n.d.) SmartVoice thông số kỹ thuật. https://vnptai.io/smartvoice/vi/engine-specs (Accessed: 7 October 2026).</a:t>
            </a:r>
          </a:p>
          <a:p xmlns:a="http://schemas.openxmlformats.org/drawingml/2006/main">
            <a:r>
              <a:t>FPT.AI (n.d.) Speech to Text API. https://docs.fpt.ai/docs/en/speech/api/speech-to-text/ (Accessed: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6f729ce0e4147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f2394fb0e14d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72aff7b82c49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344798134448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135abac461248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a033941e6145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9F235FF-287D-4B95-9167-5C16A51573F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44B1D51-1D95-4EB5-B481-0EDD86516B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387BF09-573A-4A5C-BA08-F3B0EDBDD96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F6959EB3-57D0-49FD-A8A8-01B8C0F4FB6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B9C34D0A-0156-4EA5-B52D-9318E7820E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F8FBF0E-DFFE-44B4-B396-F4303553C04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A01842D-09F9-4BA6-A2AA-8F43C2EC1BB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D97B89C-B81A-44A3-8726-7032FF8D50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77E8496-8927-4EA8-A593-8474EFB039B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EA74090-5E55-41BF-9940-39C5BB3981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A00B62C-84E6-4ECB-9D03-7104461CC0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335ACD7E-1E2A-489F-A84D-CDA4D431627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E2027A-75C7-42FE-B715-262D1893349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CEE29AC-F432-4AF8-9955-8B7AE966E5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A432CC8-8240-49DB-8A25-91D5057C66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e9b6fd4d304e6d" /><Relationship Type="http://schemas.openxmlformats.org/officeDocument/2006/relationships/slideLayout" Target="/ppt/slideLayouts/slideLayout1.xml" Id="R0ead0826271b464a" /><Relationship Type="http://schemas.openxmlformats.org/officeDocument/2006/relationships/slideLayout" Target="/ppt/slideLayouts/slideLayout2.xml" Id="R7a12d018e6c54ce7" /><Relationship Type="http://schemas.openxmlformats.org/officeDocument/2006/relationships/slideLayout" Target="/ppt/slideLayouts/slideLayout3.xml" Id="R23da7067d6094028" /><Relationship Type="http://schemas.openxmlformats.org/officeDocument/2006/relationships/slideLayout" Target="/ppt/slideLayouts/slideLayout4.xml" Id="R7cb245ee8f664f37" /><Relationship Type="http://schemas.openxmlformats.org/officeDocument/2006/relationships/slideLayout" Target="/ppt/slideLayouts/slideLayout5.xml" Id="R1f91145a996e466d" /><Relationship Type="http://schemas.openxmlformats.org/officeDocument/2006/relationships/slideLayout" Target="/ppt/slideLayouts/slideLayout6.xml" Id="R2e64391494aa4a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ad0826271b464a"/>
    <p:sldLayoutId xmlns:r="http://schemas.openxmlformats.org/officeDocument/2006/relationships" id="2147483650" r:id="R7a12d018e6c54ce7"/>
    <p:sldLayoutId xmlns:r="http://schemas.openxmlformats.org/officeDocument/2006/relationships" id="2147483651" r:id="R23da7067d6094028"/>
    <p:sldLayoutId xmlns:r="http://schemas.openxmlformats.org/officeDocument/2006/relationships" id="2147483652" r:id="R7cb245ee8f664f37"/>
    <p:sldLayoutId xmlns:r="http://schemas.openxmlformats.org/officeDocument/2006/relationships" id="2147483653" r:id="R1f91145a996e466d"/>
    <p:sldLayoutId xmlns:r="http://schemas.openxmlformats.org/officeDocument/2006/relationships" id="2147483654" r:id="R2e64391494aa4a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6cd315f4cf47f1" /><Relationship Type="http://schemas.openxmlformats.org/officeDocument/2006/relationships/notesSlide" Target="/ppt/notesSlides/notesSlide1.xml" Id="Rd0f2938634714d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7434514fad4488c" /><Relationship Type="http://schemas.openxmlformats.org/officeDocument/2006/relationships/notesSlide" Target="/ppt/notesSlides/notesSlide2.xml" Id="Rb2f481b52a5940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446c83843b408f" /><Relationship Type="http://schemas.openxmlformats.org/officeDocument/2006/relationships/notesSlide" Target="/ppt/notesSlides/notesSlide3.xml" Id="R1653e6a27a1646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cd67ef885b4edd" /><Relationship Type="http://schemas.openxmlformats.org/officeDocument/2006/relationships/notesSlide" Target="/ppt/notesSlides/notesSlide4.xml" Id="R764371a8e23643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ce55f7303db43f0" /><Relationship Type="http://schemas.openxmlformats.org/officeDocument/2006/relationships/notesSlide" Target="/ppt/notesSlides/notesSlide5.xml" Id="R34d6285a323747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a9d6fca38148b2" /><Relationship Type="http://schemas.openxmlformats.org/officeDocument/2006/relationships/notesSlide" Target="/ppt/notesSlides/notesSlide6.xml" Id="R54b32fc31be5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875edd48cdb4b01" /><Relationship Type="http://schemas.openxmlformats.org/officeDocument/2006/relationships/notesSlide" Target="/ppt/notesSlides/notesSlide7.xml" Id="R957cb2e7914144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9731456e76245a7" /><Relationship Type="http://schemas.openxmlformats.org/officeDocument/2006/relationships/notesSlide" Target="/ppt/notesSlides/notesSlide8.xml" Id="R24b24c5a4a4347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57ebae99ca4d06" /><Relationship Type="http://schemas.openxmlformats.org/officeDocument/2006/relationships/notesSlide" Target="/ppt/notesSlides/notesSlide9.xml" Id="Rd7c4bc851f3344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80f8028d124191" /><Relationship Type="http://schemas.openxmlformats.org/officeDocument/2006/relationships/notesSlide" Target="/ppt/notesSlides/notesSlide10.xml" Id="Ref0549e2545f41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48d9191445b49c4" /><Relationship Type="http://schemas.openxmlformats.org/officeDocument/2006/relationships/notesSlide" Target="/ppt/notesSlides/notesSlide11.xml" Id="Rbfba96cc9db0485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0091b35ad834a42" /><Relationship Type="http://schemas.openxmlformats.org/officeDocument/2006/relationships/notesSlide" Target="/ppt/notesSlides/notesSlide12.xml" Id="R296bdaeb4f8243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7736cec3324e2b" /><Relationship Type="http://schemas.openxmlformats.org/officeDocument/2006/relationships/notesSlide" Target="/ppt/notesSlides/notesSlide13.xml" Id="R1823d620512044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f89cd7611f4a9a" /><Relationship Type="http://schemas.openxmlformats.org/officeDocument/2006/relationships/notesSlide" Target="/ppt/notesSlides/notesSlide14.xml" Id="R5b3a8c1418f046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5c904036317469a" /><Relationship Type="http://schemas.openxmlformats.org/officeDocument/2006/relationships/notesSlide" Target="/ppt/notesSlides/notesSlide15.xml" Id="R187b2f8b309046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a8b8581adcb4ceb" /><Relationship Type="http://schemas.openxmlformats.org/officeDocument/2006/relationships/notesSlide" Target="/ppt/notesSlides/notesSlide16.xml" Id="R095886c96e7a4aa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0aea920673d48af" /><Relationship Type="http://schemas.openxmlformats.org/officeDocument/2006/relationships/notesSlide" Target="/ppt/notesSlides/notesSlide17.xml" Id="R8abffb25e80b464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73b821dea6c4573" /><Relationship Type="http://schemas.openxmlformats.org/officeDocument/2006/relationships/notesSlide" Target="/ppt/notesSlides/notesSlide18.xml" Id="R063f7d1cfbb747c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861a3acb7a5487e" /><Relationship Type="http://schemas.openxmlformats.org/officeDocument/2006/relationships/notesSlide" Target="/ppt/notesSlides/notesSlide19.xml" Id="R1abc9bdf961a410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d78862ee50d4145" /><Relationship Type="http://schemas.openxmlformats.org/officeDocument/2006/relationships/notesSlide" Target="/ppt/notesSlides/notesSlide20.xml" Id="R56c9dbad37034e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357b94b4b2e41eb" /><Relationship Type="http://schemas.openxmlformats.org/officeDocument/2006/relationships/notesSlide" Target="/ppt/notesSlides/notesSlide21.xml" Id="R06a962a34f00486e" /></Relationships>
</file>

<file path=ppt/slides/slide1.xml><?xml version="1.0" encoding="utf-8"?>
<p:sld xmlns:p="http://schemas.openxmlformats.org/presentationml/2006/main">
  <p:cSld>
    <p:bg>
      <p:bgPr>
        <a:solidFill xmlns:a="http://schemas.openxmlformats.org/drawingml/2006/main">
          <a:srgbClr val="12263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86530F-3070-41CE-84F8-39A2D91103AF}"/>
              </a:ext>
            </a:extLst>
          </p:cNvPr>
          <p:cNvSpPr>
            <a:spLocks xmlns:a="http://schemas.openxmlformats.org/drawingml/2006/main" noGrp="1"/>
          </p:cNvSpPr>
          <p:nvPr/>
        </p:nvSpPr>
        <p:spPr>
          <a:xfrm xmlns:a="http://schemas.openxmlformats.org/drawingml/2006/main">
            <a:off x="685800" y="9048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9D6CB"/>
                </a:solidFill>
                <a:latin typeface="DejaVu Sans"/>
                <a:ea typeface="DejaVu Sans"/>
                <a:cs typeface="DejaVu Sans"/>
              </a:defRPr>
            </a:pPr>
            <a:r>
              <a:rPr sz="1800" b="1">
                <a:solidFill>
                  <a:srgbClr val="79D6CB"/>
                </a:solidFill>
                <a:latin typeface="DejaVu Sans"/>
                <a:ea typeface="DejaVu Sans"/>
                <a:cs typeface="DejaVu Sans"/>
              </a:rPr>
              <a:t>PART 1</a:t>
            </a:r>
          </a:p>
        </p:txBody>
      </p:sp>
      <p:sp>
        <p:nvSpPr>
          <p:cNvPr id="2" name="">
            <a:extLst xmlns:a="http://schemas.openxmlformats.org/drawingml/2006/main">
              <a:ext uri="{FF2B5EF4-FFF2-40B4-BE49-F238E27FC236}">
                <a16:creationId xmlns:a16="http://schemas.microsoft.com/office/drawing/2014/main" id="{62DCDF98-8739-45C8-9D06-9460E5BF248D}"/>
              </a:ext>
            </a:extLst>
          </p:cNvPr>
          <p:cNvSpPr>
            <a:spLocks xmlns:a="http://schemas.openxmlformats.org/drawingml/2006/main" noGrp="1"/>
          </p:cNvSpPr>
          <p:nvPr/>
        </p:nvSpPr>
        <p:spPr>
          <a:xfrm xmlns:a="http://schemas.openxmlformats.org/drawingml/2006/main">
            <a:off x="685800" y="1790700"/>
            <a:ext cx="108204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Khảo sát model và API</a:t>
            </a:r>
          </a:p>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Speech to Text tiếng Việt</a:t>
            </a:r>
          </a:p>
        </p:txBody>
      </p:sp>
      <p:sp>
        <p:nvSpPr>
          <p:cNvPr id="3" name="">
            <a:extLst xmlns:a="http://schemas.openxmlformats.org/drawingml/2006/main">
              <a:ext uri="{FF2B5EF4-FFF2-40B4-BE49-F238E27FC236}">
                <a16:creationId xmlns:a16="http://schemas.microsoft.com/office/drawing/2014/main" id="{4F0DD1D5-78AB-41A3-926C-69B6BEAC15F5}"/>
              </a:ext>
            </a:extLst>
          </p:cNvPr>
          <p:cNvSpPr>
            <a:spLocks xmlns:a="http://schemas.openxmlformats.org/drawingml/2006/main" noGrp="1"/>
          </p:cNvSpPr>
          <p:nvPr/>
        </p:nvSpPr>
        <p:spPr>
          <a:xfrm xmlns:a="http://schemas.openxmlformats.org/drawingml/2006/main">
            <a:off x="685800" y="40005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9D9E7"/>
                </a:solidFill>
                <a:latin typeface="DejaVu Sans"/>
                <a:ea typeface="DejaVu Sans"/>
                <a:cs typeface="DejaVu Sans"/>
              </a:defRPr>
            </a:pPr>
            <a:r>
              <a:rPr sz="2100" b="0">
                <a:solidFill>
                  <a:srgbClr val="C9D9E7"/>
                </a:solidFill>
                <a:latin typeface="DejaVu Sans"/>
                <a:ea typeface="DejaVu Sans"/>
                <a:cs typeface="DejaVu Sans"/>
              </a:rPr>
              <a:t>Nghiên cứu các lựa chọn và điều đáng thử</a:t>
            </a:r>
          </a:p>
        </p:txBody>
      </p:sp>
      <p:sp>
        <p:nvSpPr>
          <p:cNvPr id="4" name="">
            <a:extLst xmlns:a="http://schemas.openxmlformats.org/drawingml/2006/main">
              <a:ext uri="{FF2B5EF4-FFF2-40B4-BE49-F238E27FC236}">
                <a16:creationId xmlns:a16="http://schemas.microsoft.com/office/drawing/2014/main" id="{D7944F36-015F-4C11-8335-A9D72CB50AE6}"/>
              </a:ext>
            </a:extLst>
          </p:cNvPr>
          <p:cNvSpPr>
            <a:spLocks xmlns:a="http://schemas.openxmlformats.org/drawingml/2006/main" noGrp="1"/>
          </p:cNvSpPr>
          <p:nvPr/>
        </p:nvSpPr>
        <p:spPr>
          <a:xfrm xmlns:a="http://schemas.openxmlformats.org/drawingml/2006/main">
            <a:off x="685800" y="50482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Part 1</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Cuộc gọi bảo hiểm</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Phát Đàm</a:t>
            </a:r>
          </a:p>
          <a:p xmlns:a="http://schemas.openxmlformats.org/drawingml/2006/main">
            <a:pPr>
              <a:defRPr sz="1575" b="0">
                <a:solidFill>
                  <a:srgbClr val="FFFFFF"/>
                </a:solidFill>
                <a:latin typeface="DejaVu Sans"/>
                <a:ea typeface="DejaVu Sans"/>
                <a:cs typeface="DejaVu Sans"/>
              </a:defRPr>
            </a:pPr>
            <a:r>
              <a:rPr sz="1575" b="0">
                <a:solidFill>
                  <a:srgbClr val="FFFFFF"/>
                </a:solidFill>
                <a:latin typeface="DejaVu Sans"/>
                <a:ea typeface="DejaVu Sans"/>
                <a:cs typeface="DejaVu Sans"/>
              </a:rPr>
              <a:t>7 October 2026</a:t>
            </a:r>
          </a:p>
        </p:txBody>
      </p:sp>
    </p:spTree>
    <p:extLst>
      <p:ext uri="{BB962C8B-B14F-4D97-AF65-F5344CB8AC3E}">
        <p14:creationId xmlns:p14="http://schemas.microsoft.com/office/powerpoint/2010/main" val="1709848695"/>
      </p:ext>
    </p:extLst>
  </p:cSld>
</p:sld>
</file>

<file path=ppt/slides/slide2.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16524FD-E75E-44CA-B319-78C92F7E039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Bản đồ nghiên cứu</a:t>
            </a:r>
          </a:p>
        </p:txBody>
      </p:sp>
      <p:sp>
        <p:nvSpPr>
          <p:cNvPr id="2" name="">
            <a:extLst xmlns:a="http://schemas.openxmlformats.org/drawingml/2006/main">
              <a:ext uri="{FF2B5EF4-FFF2-40B4-BE49-F238E27FC236}">
                <a16:creationId xmlns:a16="http://schemas.microsoft.com/office/drawing/2014/main" id="{A0867757-2087-48E0-9C4E-0C954439C050}"/>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Câu hỏi chính: ngoài PhoWhisper-base, điều gì đáng thử?</a:t>
            </a:r>
          </a:p>
        </p:txBody>
      </p:sp>
      <p:sp>
        <p:nvSpPr>
          <p:cNvPr id="3" name="">
            <a:extLst xmlns:a="http://schemas.openxmlformats.org/drawingml/2006/main">
              <a:ext uri="{FF2B5EF4-FFF2-40B4-BE49-F238E27FC236}">
                <a16:creationId xmlns:a16="http://schemas.microsoft.com/office/drawing/2014/main" id="{A4EBF535-97B7-4F3C-9B03-437E8B503EF3}"/>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F912A768-25DC-4E96-94AB-924D3B328B48}"/>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Model tự chạy: Whisper, PhoWhisper, Parakeet, Qwen3-ASR, Wav2Vec2</a:t>
            </a:r>
          </a:p>
        </p:txBody>
      </p:sp>
      <p:sp>
        <p:nvSpPr>
          <p:cNvPr id="5" name="">
            <a:extLst xmlns:a="http://schemas.openxmlformats.org/drawingml/2006/main">
              <a:ext uri="{FF2B5EF4-FFF2-40B4-BE49-F238E27FC236}">
                <a16:creationId xmlns:a16="http://schemas.microsoft.com/office/drawing/2014/main" id="{86BA2109-7D47-485F-80C8-E9D71F22CF1B}"/>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5DCED413-F3AF-4766-AB9B-6DA5A84EFD3D}"/>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API: OpenAI, Google, Azure, AWS, Deepgram, Speechmatics, VNPT, FPT.AI</a:t>
            </a:r>
          </a:p>
        </p:txBody>
      </p:sp>
      <p:sp>
        <p:nvSpPr>
          <p:cNvPr id="7" name="">
            <a:extLst xmlns:a="http://schemas.openxmlformats.org/drawingml/2006/main">
              <a:ext uri="{FF2B5EF4-FFF2-40B4-BE49-F238E27FC236}">
                <a16:creationId xmlns:a16="http://schemas.microsoft.com/office/drawing/2014/main" id="{F47DE7AE-3B0D-4845-9FFC-D59CF9E57D45}"/>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6EEBC5FE-5EE9-4312-B83A-1CD500BC59C4}"/>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Mỗi lựa chọn: cấu hình cụ thể, điểm đáng khám phá, giới hạn và chi phí</a:t>
            </a:r>
          </a:p>
        </p:txBody>
      </p:sp>
      <p:sp>
        <p:nvSpPr>
          <p:cNvPr id="9" name="">
            <a:extLst xmlns:a="http://schemas.openxmlformats.org/drawingml/2006/main">
              <a:ext uri="{FF2B5EF4-FFF2-40B4-BE49-F238E27FC236}">
                <a16:creationId xmlns:a16="http://schemas.microsoft.com/office/drawing/2014/main" id="{56E8E7F1-E408-401C-8D46-70A79D3B9737}"/>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18423F2C-86A2-4324-80D9-81364647D17D}"/>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Đầu ra: shortlist có lý do và các giả thuyết cần kiểm chứng</a:t>
            </a:r>
          </a:p>
        </p:txBody>
      </p:sp>
      <p:sp>
        <p:nvSpPr>
          <p:cNvPr id="11" name="">
            <a:extLst xmlns:a="http://schemas.openxmlformats.org/drawingml/2006/main">
              <a:ext uri="{FF2B5EF4-FFF2-40B4-BE49-F238E27FC236}">
                <a16:creationId xmlns:a16="http://schemas.microsoft.com/office/drawing/2014/main" id="{DFA02296-256B-4714-B666-46BA7A49418F}"/>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OpenAI (n.d.b), Google Cloud (n.d.), Microsoft (n.d.), AWS (n.d.), Deepgram (n.d.), Speechmatics (n.d.a), VNPT AI (n.d.), FPT.AI (n.d.)     2/21</a:t>
            </a:r>
          </a:p>
        </p:txBody>
      </p:sp>
    </p:spTree>
    <p:extLst>
      <p:ext uri="{BB962C8B-B14F-4D97-AF65-F5344CB8AC3E}">
        <p14:creationId xmlns:p14="http://schemas.microsoft.com/office/powerpoint/2010/main" val="763847501"/>
      </p:ext>
    </p:extLst>
  </p:cSld>
</p:sld>
</file>

<file path=ppt/slides/slide3.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A87EAF-96AA-4380-B868-D5CFAB82821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Ma trận model tự triển khai</a:t>
            </a:r>
          </a:p>
        </p:txBody>
      </p:sp>
      <p:sp>
        <p:nvSpPr>
          <p:cNvPr id="2" name="">
            <a:extLst xmlns:a="http://schemas.openxmlformats.org/drawingml/2006/main">
              <a:ext uri="{FF2B5EF4-FFF2-40B4-BE49-F238E27FC236}">
                <a16:creationId xmlns:a16="http://schemas.microsoft.com/office/drawing/2014/main" id="{3921B61F-25A4-4CE8-8E70-BF9D61BE8B72}"/>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Các ứng viên tiếng Việt và vai trò trong nghiên cứu</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650" b="1">
                          <a:solidFill>
                            <a:srgbClr val="FFFFFF"/>
                          </a:solidFill>
                          <a:latin typeface="DejaVu Sans"/>
                          <a:ea typeface="DejaVu Sans"/>
                          <a:cs typeface="DejaVu Sans"/>
                        </a:rPr>
                        <a:t>Ứng viên</a:t>
                      </a:r>
                    </a:p>
                  </a:txBody>
                  <a:tcPr marL="133350" marR="133350" marT="66675" marB="66675" anchor="ctr">
                    <a:solidFill>
                      <a:srgbClr val="087F78"/>
                    </a:solidFill>
                  </a:tcPr>
                </a:tc>
                <a:tc>
                  <a:txBody>
                    <a:bodyPr/>
                    <a:lstStyle/>
                    <a:p>
                      <a:r>
                        <a:rPr sz="1650" b="1">
                          <a:solidFill>
                            <a:srgbClr val="FFFFFF"/>
                          </a:solidFill>
                          <a:latin typeface="DejaVu Sans"/>
                          <a:ea typeface="DejaVu Sans"/>
                          <a:cs typeface="DejaVu Sans"/>
                        </a:rPr>
                        <a:t>Giấy phép công bố</a:t>
                      </a:r>
                    </a:p>
                  </a:txBody>
                  <a:tcPr marL="133350" marR="133350" marT="66675" marB="66675" anchor="ctr">
                    <a:solidFill>
                      <a:srgbClr val="087F78"/>
                    </a:solidFill>
                  </a:tcPr>
                </a:tc>
                <a:tc>
                  <a:txBody>
                    <a:bodyPr/>
                    <a:lstStyle/>
                    <a:p>
                      <a:r>
                        <a:rPr sz="1650" b="1">
                          <a:solidFill>
                            <a:srgbClr val="FFFFFF"/>
                          </a:solidFill>
                          <a:latin typeface="DejaVu Sans"/>
                          <a:ea typeface="DejaVu Sans"/>
                          <a:cs typeface="DejaVu Sans"/>
                        </a:rPr>
                        <a:t>Vai trò đề xuất</a:t>
                      </a:r>
                    </a:p>
                  </a:txBody>
                  <a:tcPr marL="133350" marR="133350" marT="66675" marB="66675" anchor="ctr">
                    <a:solidFill>
                      <a:srgbClr val="087F78"/>
                    </a:solidFill>
                  </a:tcPr>
                </a:tc>
              </a:tr>
              <a:tr h="611188">
                <a:tc>
                  <a:txBody>
                    <a:bodyPr/>
                    <a:lstStyle/>
                    <a:p>
                      <a:r>
                        <a:rPr sz="1650" b="0">
                          <a:solidFill>
                            <a:srgbClr val="182D45"/>
                          </a:solidFill>
                          <a:latin typeface="DejaVu Sans"/>
                          <a:ea typeface="DejaVu Sans"/>
                          <a:cs typeface="DejaVu Sans"/>
                        </a:rPr>
                        <a:t>Whisper base / small</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MIT</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Mốc so sánh model gốc</a:t>
                      </a:r>
                    </a:p>
                  </a:txBody>
                  <a:tcPr marL="133350" marR="133350" marT="66675" marB="66675" anchor="ctr">
                    <a:solidFill>
                      <a:srgbClr val="FFFFFF"/>
                    </a:solidFill>
                  </a:tcPr>
                </a:tc>
              </a:tr>
              <a:tr h="611188">
                <a:tc>
                  <a:txBody>
                    <a:bodyPr/>
                    <a:lstStyle/>
                    <a:p>
                      <a:r>
                        <a:rPr sz="1650" b="0">
                          <a:solidFill>
                            <a:srgbClr val="182D45"/>
                          </a:solidFill>
                          <a:latin typeface="DejaVu Sans"/>
                          <a:ea typeface="DejaVu Sans"/>
                          <a:cs typeface="DejaVu Sans"/>
                        </a:rPr>
                        <a:t>PhoWhisper base / small</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Repo BSD-3-Clause</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Base hiện tại, thử thêm small</a:t>
                      </a:r>
                    </a:p>
                  </a:txBody>
                  <a:tcPr marL="133350" marR="133350" marT="66675" marB="66675" anchor="ctr">
                    <a:solidFill>
                      <a:srgbClr val="EEF3F8"/>
                    </a:solidFill>
                  </a:tcPr>
                </a:tc>
              </a:tr>
              <a:tr h="611188">
                <a:tc>
                  <a:txBody>
                    <a:bodyPr/>
                    <a:lstStyle/>
                    <a:p>
                      <a:r>
                        <a:rPr sz="1650" b="0">
                          <a:solidFill>
                            <a:srgbClr val="182D45"/>
                          </a:solidFill>
                          <a:latin typeface="DejaVu Sans"/>
                          <a:ea typeface="DejaVu Sans"/>
                          <a:cs typeface="DejaVu Sans"/>
                        </a:rPr>
                        <a:t>Parakeet VI 0.6B</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NVIDIA Open Model License</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Thử một hướng ngoài Whisper</a:t>
                      </a:r>
                    </a:p>
                  </a:txBody>
                  <a:tcPr marL="133350" marR="133350" marT="66675" marB="66675" anchor="ctr">
                    <a:solidFill>
                      <a:srgbClr val="FFFFFF"/>
                    </a:solidFill>
                  </a:tcPr>
                </a:tc>
              </a:tr>
              <a:tr h="611188">
                <a:tc>
                  <a:txBody>
                    <a:bodyPr/>
                    <a:lstStyle/>
                    <a:p>
                      <a:r>
                        <a:rPr sz="1650" b="0">
                          <a:solidFill>
                            <a:srgbClr val="182D45"/>
                          </a:solidFill>
                          <a:latin typeface="DejaVu Sans"/>
                          <a:ea typeface="DejaVu Sans"/>
                          <a:cs typeface="DejaVu Sans"/>
                        </a:rPr>
                        <a:t>Qwen3-ASR-0.6B</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Apache 2.0</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Mở rộng lựa chọn nhận dạng</a:t>
                      </a:r>
                    </a:p>
                  </a:txBody>
                  <a:tcPr marL="133350" marR="133350" marT="66675" marB="66675" anchor="ctr">
                    <a:solidFill>
                      <a:srgbClr val="EEF3F8"/>
                    </a:solidFill>
                  </a:tcPr>
                </a:tc>
              </a:tr>
              <a:tr h="611188">
                <a:tc>
                  <a:txBody>
                    <a:bodyPr/>
                    <a:lstStyle/>
                    <a:p>
                      <a:r>
                        <a:rPr sz="1650" b="0">
                          <a:solidFill>
                            <a:srgbClr val="182D45"/>
                          </a:solidFill>
                          <a:latin typeface="DejaVu Sans"/>
                          <a:ea typeface="DejaVu Sans"/>
                          <a:cs typeface="DejaVu Sans"/>
                        </a:rPr>
                        <a:t>Wav2Vec2 VI 250h</a:t>
                      </a:r>
                    </a:p>
                  </a:txBody>
                  <a:tcPr marL="133350" marR="133350" marT="66675" marB="66675" anchor="ctr">
                    <a:solidFill>
                      <a:srgbClr val="FFFFFF"/>
                    </a:solidFill>
                  </a:tcPr>
                </a:tc>
                <a:tc>
                  <a:txBody>
                    <a:bodyPr/>
                    <a:lstStyle/>
                    <a:p>
                      <a:r>
                        <a:rPr sz="1650" b="1">
                          <a:solidFill>
                            <a:srgbClr val="9B2D24"/>
                          </a:solidFill>
                          <a:latin typeface="DejaVu Sans"/>
                          <a:ea typeface="DejaVu Sans"/>
                          <a:cs typeface="DejaVu Sans"/>
                        </a:rPr>
                        <a:t>CC BY-NC 4.0</a:t>
                      </a:r>
                    </a:p>
                  </a:txBody>
                  <a:tcPr marL="133350" marR="133350" marT="66675" marB="66675" anchor="ctr">
                    <a:solidFill>
                      <a:srgbClr val="FCE1DE"/>
                    </a:solidFill>
                  </a:tcPr>
                </a:tc>
                <a:tc>
                  <a:txBody>
                    <a:bodyPr/>
                    <a:lstStyle/>
                    <a:p>
                      <a:r>
                        <a:rPr sz="1650" b="1">
                          <a:solidFill>
                            <a:srgbClr val="9B2D24"/>
                          </a:solidFill>
                          <a:latin typeface="DejaVu Sans"/>
                          <a:ea typeface="DejaVu Sans"/>
                          <a:cs typeface="DejaVu Sans"/>
                        </a:rPr>
                        <a:t>Nghiên cứu phi thương mại</a:t>
                      </a:r>
                    </a:p>
                  </a:txBody>
                  <a:tcPr marL="133350" marR="133350" marT="66675" marB="66675" anchor="ctr">
                    <a:solidFill>
                      <a:srgbClr val="FCE1DE"/>
                    </a:solidFill>
                  </a:tcPr>
                </a:tc>
              </a:tr>
            </a:tbl>
          </a:graphicData>
        </a:graphic>
      </p:graphicFrame>
      <p:sp>
        <p:nvSpPr>
          <p:cNvPr id="4" name="">
            <a:extLst xmlns:a="http://schemas.openxmlformats.org/drawingml/2006/main">
              <a:ext uri="{FF2B5EF4-FFF2-40B4-BE49-F238E27FC236}">
                <a16:creationId xmlns:a16="http://schemas.microsoft.com/office/drawing/2014/main" id="{713CDFEB-41DB-4C80-9FC3-949079A14494}"/>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Không trả phí API vẫn có chi phí máy chạy và công vận hành</a:t>
            </a:r>
          </a:p>
        </p:txBody>
      </p:sp>
      <p:sp>
        <p:nvSpPr>
          <p:cNvPr id="5" name="">
            <a:extLst xmlns:a="http://schemas.openxmlformats.org/drawingml/2006/main">
              <a:ext uri="{FF2B5EF4-FFF2-40B4-BE49-F238E27FC236}">
                <a16:creationId xmlns:a16="http://schemas.microsoft.com/office/drawing/2014/main" id="{0A94C40B-5843-4BA3-B782-7F954DB10D9D}"/>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(n.d.b), Nguyen Vu Le Binh (n.d.)     3/21</a:t>
            </a:r>
          </a:p>
        </p:txBody>
      </p:sp>
    </p:spTree>
    <p:extLst>
      <p:ext uri="{BB962C8B-B14F-4D97-AF65-F5344CB8AC3E}">
        <p14:creationId xmlns:p14="http://schemas.microsoft.com/office/powerpoint/2010/main" val="1134079767"/>
      </p:ext>
    </p:extLst>
  </p:cSld>
</p:sld>
</file>

<file path=ppt/slides/slide4.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224F4B8-D41F-4A70-8435-FB9E1271EAE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Whisper</a:t>
            </a:r>
          </a:p>
        </p:txBody>
      </p:sp>
      <p:sp>
        <p:nvSpPr>
          <p:cNvPr id="2" name="">
            <a:extLst xmlns:a="http://schemas.openxmlformats.org/drawingml/2006/main">
              <a:ext uri="{FF2B5EF4-FFF2-40B4-BE49-F238E27FC236}">
                <a16:creationId xmlns:a16="http://schemas.microsoft.com/office/drawing/2014/main" id="{2CD67943-60D1-4DB3-B001-3704338B12E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Model đa ngôn ngữ để làm mốc đối chiếu</a:t>
            </a:r>
          </a:p>
        </p:txBody>
      </p:sp>
      <p:sp>
        <p:nvSpPr>
          <p:cNvPr id="3" name="">
            <a:extLst xmlns:a="http://schemas.openxmlformats.org/drawingml/2006/main">
              <a:ext uri="{FF2B5EF4-FFF2-40B4-BE49-F238E27FC236}">
                <a16:creationId xmlns:a16="http://schemas.microsoft.com/office/drawing/2014/main" id="{A993A76A-6B4F-4EC2-B8B9-4F77868E7887}"/>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270E5FB9-3491-4BD2-B158-FA7AA627EC93}"/>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Cấu hình đầu tiên: Whisper-base và Whisper-small bản đa ngôn ngữ</a:t>
            </a:r>
          </a:p>
        </p:txBody>
      </p:sp>
      <p:sp>
        <p:nvSpPr>
          <p:cNvPr id="5" name="">
            <a:extLst xmlns:a="http://schemas.openxmlformats.org/drawingml/2006/main">
              <a:ext uri="{FF2B5EF4-FFF2-40B4-BE49-F238E27FC236}">
                <a16:creationId xmlns:a16="http://schemas.microsoft.com/office/drawing/2014/main" id="{4BDB3F25-48DE-4E2B-9D65-18923E9D01F8}"/>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6C05A9DF-79B4-44F6-8326-EC14070C31A2}"/>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Thiết kế: nghe audio rồi sinh chuỗi chữ theo từng bước</a:t>
            </a:r>
          </a:p>
        </p:txBody>
      </p:sp>
      <p:sp>
        <p:nvSpPr>
          <p:cNvPr id="7" name="">
            <a:extLst xmlns:a="http://schemas.openxmlformats.org/drawingml/2006/main">
              <a:ext uri="{FF2B5EF4-FFF2-40B4-BE49-F238E27FC236}">
                <a16:creationId xmlns:a16="http://schemas.microsoft.com/office/drawing/2014/main" id="{F1803C14-368C-489C-A9AF-12367EE5EB62}"/>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0C76A028-90D8-44F5-8D63-14C3248800C2}"/>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Điểm nghiên cứu: model gốc so với phiên bản tinh chỉnh tiếng Việt</a:t>
            </a:r>
          </a:p>
        </p:txBody>
      </p:sp>
      <p:sp>
        <p:nvSpPr>
          <p:cNvPr id="9" name="">
            <a:extLst xmlns:a="http://schemas.openxmlformats.org/drawingml/2006/main">
              <a:ext uri="{FF2B5EF4-FFF2-40B4-BE49-F238E27FC236}">
                <a16:creationId xmlns:a16="http://schemas.microsoft.com/office/drawing/2014/main" id="{C180F4D2-4828-470F-866B-546E95B281FD}"/>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93842589-05BE-4EC5-A73B-BEED3D23499B}"/>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Mở rộng sau: medium, large-v3 hoặc turbo nếu tài nguyên phù hợp</a:t>
            </a:r>
          </a:p>
        </p:txBody>
      </p:sp>
      <p:sp>
        <p:nvSpPr>
          <p:cNvPr id="11" name="">
            <a:extLst xmlns:a="http://schemas.openxmlformats.org/drawingml/2006/main">
              <a:ext uri="{FF2B5EF4-FFF2-40B4-BE49-F238E27FC236}">
                <a16:creationId xmlns:a16="http://schemas.microsoft.com/office/drawing/2014/main" id="{991ADFD1-F686-4574-BD15-48835EC06F03}"/>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4/21</a:t>
            </a:r>
          </a:p>
        </p:txBody>
      </p:sp>
    </p:spTree>
    <p:extLst>
      <p:ext uri="{BB962C8B-B14F-4D97-AF65-F5344CB8AC3E}">
        <p14:creationId xmlns:p14="http://schemas.microsoft.com/office/powerpoint/2010/main" val="955774893"/>
      </p:ext>
    </p:extLst>
  </p:cSld>
</p:sld>
</file>

<file path=ppt/slides/slide5.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FF3CBA-0E08-4019-A93C-BB68831B4794}"/>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PhoWhisper</a:t>
            </a:r>
          </a:p>
        </p:txBody>
      </p:sp>
      <p:sp>
        <p:nvSpPr>
          <p:cNvPr id="2" name="">
            <a:extLst xmlns:a="http://schemas.openxmlformats.org/drawingml/2006/main">
              <a:ext uri="{FF2B5EF4-FFF2-40B4-BE49-F238E27FC236}">
                <a16:creationId xmlns:a16="http://schemas.microsoft.com/office/drawing/2014/main" id="{F27B5211-B1FB-45E3-AD6C-387C8E56211C}"/>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Điểm xuất phát hiện tại: PhoWhisper-base</a:t>
            </a:r>
          </a:p>
        </p:txBody>
      </p:sp>
      <p:sp>
        <p:nvSpPr>
          <p:cNvPr id="3" name="">
            <a:extLst xmlns:a="http://schemas.openxmlformats.org/drawingml/2006/main">
              <a:ext uri="{FF2B5EF4-FFF2-40B4-BE49-F238E27FC236}">
                <a16:creationId xmlns:a16="http://schemas.microsoft.com/office/drawing/2014/main" id="{43047802-A7ED-4892-B07B-069EC2B3E47F}"/>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953F3CBD-5893-4873-8B14-940052ADF4A7}"/>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VinAI tinh chỉnh Whisper trên 844 giờ tiếng Việt với nhiều giọng</a:t>
            </a:r>
          </a:p>
        </p:txBody>
      </p:sp>
      <p:sp>
        <p:nvSpPr>
          <p:cNvPr id="5" name="">
            <a:extLst xmlns:a="http://schemas.openxmlformats.org/drawingml/2006/main">
              <a:ext uri="{FF2B5EF4-FFF2-40B4-BE49-F238E27FC236}">
                <a16:creationId xmlns:a16="http://schemas.microsoft.com/office/drawing/2014/main" id="{CC8C9A30-C88D-424A-BC69-EF8E4804C2F4}"/>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15176A33-5265-4CB1-837A-BAE40FE62CE5}"/>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Base: 74 triệu tham số. Small: 244 triệu. Medium: 769 triệu</a:t>
            </a:r>
          </a:p>
        </p:txBody>
      </p:sp>
      <p:sp>
        <p:nvSpPr>
          <p:cNvPr id="7" name="">
            <a:extLst xmlns:a="http://schemas.openxmlformats.org/drawingml/2006/main">
              <a:ext uri="{FF2B5EF4-FFF2-40B4-BE49-F238E27FC236}">
                <a16:creationId xmlns:a16="http://schemas.microsoft.com/office/drawing/2014/main" id="{A0FE152B-48EE-434A-B3A5-F439F7322C9E}"/>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50215623-E7BE-400A-A7CD-9E9FCD376745}"/>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Thử small trước để đo mức cải thiện so với base</a:t>
            </a:r>
          </a:p>
        </p:txBody>
      </p:sp>
      <p:sp>
        <p:nvSpPr>
          <p:cNvPr id="9" name="">
            <a:extLst xmlns:a="http://schemas.openxmlformats.org/drawingml/2006/main">
              <a:ext uri="{FF2B5EF4-FFF2-40B4-BE49-F238E27FC236}">
                <a16:creationId xmlns:a16="http://schemas.microsoft.com/office/drawing/2014/main" id="{391035CF-CAA4-4FF8-B700-A63062526622}"/>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723A1A14-4184-4BDF-A803-E8F435C7E52E}"/>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Câu hỏi: lợi ích trên audio công ty có đủ bù thời gian và tài nguyên?</a:t>
            </a:r>
          </a:p>
        </p:txBody>
      </p:sp>
      <p:sp>
        <p:nvSpPr>
          <p:cNvPr id="11" name="">
            <a:extLst xmlns:a="http://schemas.openxmlformats.org/drawingml/2006/main">
              <a:ext uri="{FF2B5EF4-FFF2-40B4-BE49-F238E27FC236}">
                <a16:creationId xmlns:a16="http://schemas.microsoft.com/office/drawing/2014/main" id="{86BBDAD4-F378-4394-BCE8-DF9F17FF8AB9}"/>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VinAI Research (n.d.)     5/21</a:t>
            </a:r>
          </a:p>
        </p:txBody>
      </p:sp>
    </p:spTree>
    <p:extLst>
      <p:ext uri="{BB962C8B-B14F-4D97-AF65-F5344CB8AC3E}">
        <p14:creationId xmlns:p14="http://schemas.microsoft.com/office/powerpoint/2010/main" val="221505516"/>
      </p:ext>
    </p:extLst>
  </p:cSld>
</p:sld>
</file>

<file path=ppt/slides/slide6.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F54D5A-C01E-4B36-BC47-D9E90B3C4E4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Parakeet Vietnamese</a:t>
            </a:r>
          </a:p>
        </p:txBody>
      </p:sp>
      <p:sp>
        <p:nvSpPr>
          <p:cNvPr id="2" name="">
            <a:extLst xmlns:a="http://schemas.openxmlformats.org/drawingml/2006/main">
              <a:ext uri="{FF2B5EF4-FFF2-40B4-BE49-F238E27FC236}">
                <a16:creationId xmlns:a16="http://schemas.microsoft.com/office/drawing/2014/main" id="{8EF68168-3ED7-4BE4-A492-BF9C8373DE2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Một model ngoài họ Whisper cho tiếng Việt</a:t>
            </a:r>
          </a:p>
        </p:txBody>
      </p:sp>
      <p:sp>
        <p:nvSpPr>
          <p:cNvPr id="3" name="">
            <a:extLst xmlns:a="http://schemas.openxmlformats.org/drawingml/2006/main">
              <a:ext uri="{FF2B5EF4-FFF2-40B4-BE49-F238E27FC236}">
                <a16:creationId xmlns:a16="http://schemas.microsoft.com/office/drawing/2014/main" id="{267B8B83-68F2-40A3-A7E9-9538146A5601}"/>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2DF76C3B-6550-427B-B81A-BC87053122AC}"/>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Checkpoint: nvidia/parakeet-ctc-0.6b-Vietnamese</a:t>
            </a:r>
          </a:p>
        </p:txBody>
      </p:sp>
      <p:sp>
        <p:nvSpPr>
          <p:cNvPr id="5" name="">
            <a:extLst xmlns:a="http://schemas.openxmlformats.org/drawingml/2006/main">
              <a:ext uri="{FF2B5EF4-FFF2-40B4-BE49-F238E27FC236}">
                <a16:creationId xmlns:a16="http://schemas.microsoft.com/office/drawing/2014/main" id="{BDCB015F-B8FA-4FEC-B431-0AD17C12365A}"/>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34BBB8F4-9A6A-433E-BFF9-E06A56236B80}"/>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Thiết kế FastConformer-CTC, khoảng 600 triệu tham số</a:t>
            </a:r>
          </a:p>
        </p:txBody>
      </p:sp>
      <p:sp>
        <p:nvSpPr>
          <p:cNvPr id="7" name="">
            <a:extLst xmlns:a="http://schemas.openxmlformats.org/drawingml/2006/main">
              <a:ext uri="{FF2B5EF4-FFF2-40B4-BE49-F238E27FC236}">
                <a16:creationId xmlns:a16="http://schemas.microsoft.com/office/drawing/2014/main" id="{EE18A73A-1C51-45D0-B659-D1D498F8D72F}"/>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9B02F7D7-1A53-4E17-B062-6A5BEF2EDEF6}"/>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Tự chạy bằng NeMo. Tài liệu ưu tiên Linux và GPU NVIDIA</a:t>
            </a:r>
          </a:p>
        </p:txBody>
      </p:sp>
      <p:sp>
        <p:nvSpPr>
          <p:cNvPr id="9" name="">
            <a:extLst xmlns:a="http://schemas.openxmlformats.org/drawingml/2006/main">
              <a:ext uri="{FF2B5EF4-FFF2-40B4-BE49-F238E27FC236}">
                <a16:creationId xmlns:a16="http://schemas.microsoft.com/office/drawing/2014/main" id="{FB25E2D1-CF21-47CB-9B0D-1E571EF3CC36}"/>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EA8634CD-B906-49BC-9A83-3194AC299190}"/>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Cần ghi rõ phiên bản và cách giải mã, có hoặc không có language model</a:t>
            </a:r>
          </a:p>
        </p:txBody>
      </p:sp>
      <p:sp>
        <p:nvSpPr>
          <p:cNvPr id="11" name="">
            <a:extLst xmlns:a="http://schemas.openxmlformats.org/drawingml/2006/main">
              <a:ext uri="{FF2B5EF4-FFF2-40B4-BE49-F238E27FC236}">
                <a16:creationId xmlns:a16="http://schemas.microsoft.com/office/drawing/2014/main" id="{C0C1E18E-1530-4C8E-9C3B-495C0B135C1C}"/>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NVIDIA (n.d.)     6/21</a:t>
            </a:r>
          </a:p>
        </p:txBody>
      </p:sp>
    </p:spTree>
    <p:extLst>
      <p:ext uri="{BB962C8B-B14F-4D97-AF65-F5344CB8AC3E}">
        <p14:creationId xmlns:p14="http://schemas.microsoft.com/office/powerpoint/2010/main" val="482889809"/>
      </p:ext>
    </p:extLst>
  </p:cSld>
</p:sld>
</file>

<file path=ppt/slides/slide7.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35E22C-A0E2-4DD3-99CA-233832A10180}"/>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Qwen3-ASR</a:t>
            </a:r>
          </a:p>
        </p:txBody>
      </p:sp>
      <p:sp>
        <p:nvSpPr>
          <p:cNvPr id="2" name="">
            <a:extLst xmlns:a="http://schemas.openxmlformats.org/drawingml/2006/main">
              <a:ext uri="{FF2B5EF4-FFF2-40B4-BE49-F238E27FC236}">
                <a16:creationId xmlns:a16="http://schemas.microsoft.com/office/drawing/2014/main" id="{7B62CD95-FC07-45D1-9E72-872273E63FB5}"/>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Hướng mở rộng mới có hỗ trợ tiếng Việt</a:t>
            </a:r>
          </a:p>
        </p:txBody>
      </p:sp>
      <p:sp>
        <p:nvSpPr>
          <p:cNvPr id="3" name="">
            <a:extLst xmlns:a="http://schemas.openxmlformats.org/drawingml/2006/main">
              <a:ext uri="{FF2B5EF4-FFF2-40B4-BE49-F238E27FC236}">
                <a16:creationId xmlns:a16="http://schemas.microsoft.com/office/drawing/2014/main" id="{000FF52D-427B-4FD3-9A20-9FD51F9A1E1C}"/>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657A7B12-EADA-42B8-A767-C162E5C93C49}"/>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Checkpoint ưu tiên: Qwen/Qwen3-ASR-0.6B</a:t>
            </a:r>
          </a:p>
        </p:txBody>
      </p:sp>
      <p:sp>
        <p:nvSpPr>
          <p:cNvPr id="5" name="">
            <a:extLst xmlns:a="http://schemas.openxmlformats.org/drawingml/2006/main">
              <a:ext uri="{FF2B5EF4-FFF2-40B4-BE49-F238E27FC236}">
                <a16:creationId xmlns:a16="http://schemas.microsoft.com/office/drawing/2014/main" id="{4206F169-C65F-4C26-98C2-D3A17855B120}"/>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499D6E8A-CD79-409D-A349-945BE2C2FE33}"/>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Bản 0.6B và 1.7B hỗ trợ tiếng Việt. Giấy phép Apache 2.0</a:t>
            </a:r>
          </a:p>
        </p:txBody>
      </p:sp>
      <p:sp>
        <p:nvSpPr>
          <p:cNvPr id="7" name="">
            <a:extLst xmlns:a="http://schemas.openxmlformats.org/drawingml/2006/main">
              <a:ext uri="{FF2B5EF4-FFF2-40B4-BE49-F238E27FC236}">
                <a16:creationId xmlns:a16="http://schemas.microsoft.com/office/drawing/2014/main" id="{90C19843-9653-4C8F-85AA-9280BDB1F063}"/>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98A5585E-C6E2-4AD6-804C-F570DDAD937F}"/>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qwen-asr có backend Transformers và vLLM</a:t>
            </a:r>
          </a:p>
        </p:txBody>
      </p:sp>
      <p:sp>
        <p:nvSpPr>
          <p:cNvPr id="9" name="">
            <a:extLst xmlns:a="http://schemas.openxmlformats.org/drawingml/2006/main">
              <a:ext uri="{FF2B5EF4-FFF2-40B4-BE49-F238E27FC236}">
                <a16:creationId xmlns:a16="http://schemas.microsoft.com/office/drawing/2014/main" id="{711A26E6-2B57-40F9-9623-F2CE10BB3DCE}"/>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AA251AE2-FBCB-4016-A9A3-BAA52F20FFC3}"/>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ASR có tiếng Việt, nhưng ForcedAligner công bố 11 ngôn ngữ chưa có tiếng Việt</a:t>
            </a:r>
          </a:p>
        </p:txBody>
      </p:sp>
      <p:sp>
        <p:nvSpPr>
          <p:cNvPr id="11" name="">
            <a:extLst xmlns:a="http://schemas.openxmlformats.org/drawingml/2006/main">
              <a:ext uri="{FF2B5EF4-FFF2-40B4-BE49-F238E27FC236}">
                <a16:creationId xmlns:a16="http://schemas.microsoft.com/office/drawing/2014/main" id="{F76CC1BB-BC2C-4F1E-8B79-3F2E215A6DF9}"/>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Qwen Team (n.d.a), Qwen Team (n.d.b)     7/21</a:t>
            </a:r>
          </a:p>
        </p:txBody>
      </p:sp>
    </p:spTree>
    <p:extLst>
      <p:ext uri="{BB962C8B-B14F-4D97-AF65-F5344CB8AC3E}">
        <p14:creationId xmlns:p14="http://schemas.microsoft.com/office/powerpoint/2010/main" val="837164095"/>
      </p:ext>
    </p:extLst>
  </p:cSld>
</p:sld>
</file>

<file path=ppt/slides/slide8.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4C4D0A-F341-4613-B2E4-EB5258D0F692}"/>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Wav2Vec2 tiếng Việt</a:t>
            </a:r>
          </a:p>
        </p:txBody>
      </p:sp>
      <p:sp>
        <p:nvSpPr>
          <p:cNvPr id="2" name="">
            <a:extLst xmlns:a="http://schemas.openxmlformats.org/drawingml/2006/main">
              <a:ext uri="{FF2B5EF4-FFF2-40B4-BE49-F238E27FC236}">
                <a16:creationId xmlns:a16="http://schemas.microsoft.com/office/drawing/2014/main" id="{6D8A396C-B1B8-48E5-9B6D-7D63568CD1CE}"/>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Giá trị nghiên cứu và giới hạn của checkpoint</a:t>
            </a:r>
          </a:p>
        </p:txBody>
      </p:sp>
      <p:sp>
        <p:nvSpPr>
          <p:cNvPr id="3" name="">
            <a:extLst xmlns:a="http://schemas.openxmlformats.org/drawingml/2006/main">
              <a:ext uri="{FF2B5EF4-FFF2-40B4-BE49-F238E27FC236}">
                <a16:creationId xmlns:a16="http://schemas.microsoft.com/office/drawing/2014/main" id="{0F8055FA-B1E3-4FDD-8FDF-58A6A6228CA5}"/>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F4146068-C1B6-443B-912E-95611F4D59E9}"/>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Wav2Vec2 học biểu diễn âm thanh, rồi tinh chỉnh để nhận dạng chữ</a:t>
            </a:r>
          </a:p>
        </p:txBody>
      </p:sp>
      <p:sp>
        <p:nvSpPr>
          <p:cNvPr id="5" name="">
            <a:extLst xmlns:a="http://schemas.openxmlformats.org/drawingml/2006/main">
              <a:ext uri="{FF2B5EF4-FFF2-40B4-BE49-F238E27FC236}">
                <a16:creationId xmlns:a16="http://schemas.microsoft.com/office/drawing/2014/main" id="{D7CBA161-A150-4D8E-93F2-67ED99FD1BC7}"/>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F74341AB-20FE-451B-952E-E2F3CC8BE735}"/>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Checkpoint khảo sát: nguyenvulebinh/wav2vec2-base-vietnamese-250h</a:t>
            </a:r>
          </a:p>
        </p:txBody>
      </p:sp>
      <p:sp>
        <p:nvSpPr>
          <p:cNvPr id="7" name="">
            <a:extLst xmlns:a="http://schemas.openxmlformats.org/drawingml/2006/main">
              <a:ext uri="{FF2B5EF4-FFF2-40B4-BE49-F238E27FC236}">
                <a16:creationId xmlns:a16="http://schemas.microsoft.com/office/drawing/2014/main" id="{53F37579-BE4B-4787-9AAC-9EF45276F724}"/>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A04F00D6-5214-4282-AE73-36E8938088D7}"/>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Một hướng CTC khác để tìm hiểu cơ chế nhận dạng</a:t>
            </a:r>
          </a:p>
        </p:txBody>
      </p:sp>
      <p:sp>
        <p:nvSpPr>
          <p:cNvPr id="9" name="">
            <a:extLst xmlns:a="http://schemas.openxmlformats.org/drawingml/2006/main">
              <a:ext uri="{FF2B5EF4-FFF2-40B4-BE49-F238E27FC236}">
                <a16:creationId xmlns:a16="http://schemas.microsoft.com/office/drawing/2014/main" id="{A82C9163-5AC3-49FA-A7BF-940418D77965}"/>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78"/>
                </a:solidFill>
                <a:latin typeface="DejaVu Sans"/>
                <a:ea typeface="DejaVu Sans"/>
                <a:cs typeface="DejaVu Sans"/>
              </a:defRPr>
            </a:pPr>
            <a:r>
              <a:rPr sz="1875" b="1">
                <a:solidFill>
                  <a:srgbClr val="087F78"/>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C9D3E0DA-E4A1-4354-A6E2-8B5CA1D13992}"/>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Model parameters ghi CC BY-NC 4.0, chỉ cho phi thương mại</a:t>
            </a:r>
          </a:p>
        </p:txBody>
      </p:sp>
      <p:sp>
        <p:nvSpPr>
          <p:cNvPr id="11" name="">
            <a:extLst xmlns:a="http://schemas.openxmlformats.org/drawingml/2006/main">
              <a:ext uri="{FF2B5EF4-FFF2-40B4-BE49-F238E27FC236}">
                <a16:creationId xmlns:a16="http://schemas.microsoft.com/office/drawing/2014/main" id="{471ECDA5-B514-41A2-8988-B219D0027842}"/>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Nguyen Vu Le Binh (n.d.), Baevski et al. (2020)     8/21</a:t>
            </a:r>
          </a:p>
        </p:txBody>
      </p:sp>
    </p:spTree>
    <p:extLst>
      <p:ext uri="{BB962C8B-B14F-4D97-AF65-F5344CB8AC3E}">
        <p14:creationId xmlns:p14="http://schemas.microsoft.com/office/powerpoint/2010/main" val="2019017386"/>
      </p:ext>
    </p:extLst>
  </p:cSld>
</p:sld>
</file>

<file path=ppt/slides/slide9.xml><?xml version="1.0" encoding="utf-8"?>
<p:sld xmlns:p="http://schemas.openxmlformats.org/presentationml/2006/main">
  <p:cSld>
    <p:bg>
      <p:bgPr>
        <a:solidFill xmlns:a="http://schemas.openxmlformats.org/drawingml/2006/main">
          <a:srgbClr val="F8FC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8F70C05-3218-4A72-81BB-8E3D93DBA3B3}"/>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8"/>
                </a:solidFill>
                <a:latin typeface="DejaVu Sans"/>
                <a:ea typeface="DejaVu Sans"/>
                <a:cs typeface="DejaVu Sans"/>
              </a:defRPr>
            </a:pPr>
            <a:r>
              <a:rPr sz="2925" b="1">
                <a:solidFill>
                  <a:srgbClr val="087F78"/>
                </a:solidFill>
                <a:latin typeface="DejaVu Sans"/>
                <a:ea typeface="DejaVu Sans"/>
                <a:cs typeface="DejaVu Sans"/>
              </a:rPr>
              <a:t>Ma trận vận hành: tự chạy và API</a:t>
            </a:r>
          </a:p>
        </p:txBody>
      </p:sp>
      <p:sp>
        <p:nvSpPr>
          <p:cNvPr id="2" name="">
            <a:extLst xmlns:a="http://schemas.openxmlformats.org/drawingml/2006/main">
              <a:ext uri="{FF2B5EF4-FFF2-40B4-BE49-F238E27FC236}">
                <a16:creationId xmlns:a16="http://schemas.microsoft.com/office/drawing/2014/main" id="{FFE88EF2-BA7A-4969-86C9-61E83E454DCC}"/>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Chi phí cần tính theo toàn bộ công việc</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650" b="1">
                          <a:solidFill>
                            <a:srgbClr val="FFFFFF"/>
                          </a:solidFill>
                          <a:latin typeface="DejaVu Sans"/>
                          <a:ea typeface="DejaVu Sans"/>
                          <a:cs typeface="DejaVu Sans"/>
                        </a:rPr>
                        <a:t>Tiêu chí</a:t>
                      </a:r>
                    </a:p>
                  </a:txBody>
                  <a:tcPr marL="133350" marR="133350" marT="66675" marB="66675" anchor="ctr">
                    <a:solidFill>
                      <a:srgbClr val="087F78"/>
                    </a:solidFill>
                  </a:tcPr>
                </a:tc>
                <a:tc>
                  <a:txBody>
                    <a:bodyPr/>
                    <a:lstStyle/>
                    <a:p>
                      <a:r>
                        <a:rPr sz="1650" b="1">
                          <a:solidFill>
                            <a:srgbClr val="FFFFFF"/>
                          </a:solidFill>
                          <a:latin typeface="DejaVu Sans"/>
                          <a:ea typeface="DejaVu Sans"/>
                          <a:cs typeface="DejaVu Sans"/>
                        </a:rPr>
                        <a:t>Model tự chạy</a:t>
                      </a:r>
                    </a:p>
                  </a:txBody>
                  <a:tcPr marL="133350" marR="133350" marT="66675" marB="66675" anchor="ctr">
                    <a:solidFill>
                      <a:srgbClr val="087F78"/>
                    </a:solidFill>
                  </a:tcPr>
                </a:tc>
                <a:tc>
                  <a:txBody>
                    <a:bodyPr/>
                    <a:lstStyle/>
                    <a:p>
                      <a:r>
                        <a:rPr sz="1650" b="1">
                          <a:solidFill>
                            <a:srgbClr val="FFFFFF"/>
                          </a:solidFill>
                          <a:latin typeface="DejaVu Sans"/>
                          <a:ea typeface="DejaVu Sans"/>
                          <a:cs typeface="DejaVu Sans"/>
                        </a:rPr>
                        <a:t>API thương mại</a:t>
                      </a:r>
                    </a:p>
                  </a:txBody>
                  <a:tcPr marL="133350" marR="133350" marT="66675" marB="66675" anchor="ctr">
                    <a:solidFill>
                      <a:srgbClr val="087F78"/>
                    </a:solidFill>
                  </a:tcPr>
                </a:tc>
              </a:tr>
              <a:tr h="611188">
                <a:tc>
                  <a:txBody>
                    <a:bodyPr/>
                    <a:lstStyle/>
                    <a:p>
                      <a:r>
                        <a:rPr sz="1650" b="0">
                          <a:solidFill>
                            <a:srgbClr val="182D45"/>
                          </a:solidFill>
                          <a:latin typeface="DejaVu Sans"/>
                          <a:ea typeface="DejaVu Sans"/>
                          <a:cs typeface="DejaVu Sans"/>
                        </a:rPr>
                        <a:t>Chi phí trực tiếp</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Máy chạy, tài nguyên xử lý</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Phí dịch vụ theo gói</a:t>
                      </a:r>
                    </a:p>
                  </a:txBody>
                  <a:tcPr marL="133350" marR="133350" marT="66675" marB="66675" anchor="ctr">
                    <a:solidFill>
                      <a:srgbClr val="FFFFFF"/>
                    </a:solidFill>
                  </a:tcPr>
                </a:tc>
              </a:tr>
              <a:tr h="611188">
                <a:tc>
                  <a:txBody>
                    <a:bodyPr/>
                    <a:lstStyle/>
                    <a:p>
                      <a:r>
                        <a:rPr sz="1650" b="0">
                          <a:solidFill>
                            <a:srgbClr val="182D45"/>
                          </a:solidFill>
                          <a:latin typeface="DejaVu Sans"/>
                          <a:ea typeface="DejaVu Sans"/>
                          <a:cs typeface="DejaVu Sans"/>
                        </a:rPr>
                        <a:t>Công vận hành</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Team quản lý model và hạ tầng</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Team tích hợp và theo dõi dịch vụ</a:t>
                      </a:r>
                    </a:p>
                  </a:txBody>
                  <a:tcPr marL="133350" marR="133350" marT="66675" marB="66675" anchor="ctr">
                    <a:solidFill>
                      <a:srgbClr val="EEF3F8"/>
                    </a:solidFill>
                  </a:tcPr>
                </a:tc>
              </a:tr>
              <a:tr h="611188">
                <a:tc>
                  <a:txBody>
                    <a:bodyPr/>
                    <a:lstStyle/>
                    <a:p>
                      <a:r>
                        <a:rPr sz="1650" b="0">
                          <a:solidFill>
                            <a:srgbClr val="182D45"/>
                          </a:solidFill>
                          <a:latin typeface="DejaVu Sans"/>
                          <a:ea typeface="DejaVu Sans"/>
                          <a:cs typeface="DejaVu Sans"/>
                        </a:rPr>
                        <a:t>Nơi xử lý audio</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Hạ tầng team lựa chọn</a:t>
                      </a:r>
                    </a:p>
                  </a:txBody>
                  <a:tcPr marL="133350" marR="133350" marT="66675" marB="66675" anchor="ctr">
                    <a:solidFill>
                      <a:srgbClr val="FFFFFF"/>
                    </a:solidFill>
                  </a:tcPr>
                </a:tc>
                <a:tc>
                  <a:txBody>
                    <a:bodyPr/>
                    <a:lstStyle/>
                    <a:p>
                      <a:r>
                        <a:rPr sz="1650" b="1">
                          <a:solidFill>
                            <a:srgbClr val="805B0A"/>
                          </a:solidFill>
                          <a:latin typeface="DejaVu Sans"/>
                          <a:ea typeface="DejaVu Sans"/>
                          <a:cs typeface="DejaVu Sans"/>
                        </a:rPr>
                        <a:t>Xác nhận theo nhà cung cấp</a:t>
                      </a:r>
                    </a:p>
                  </a:txBody>
                  <a:tcPr marL="133350" marR="133350" marT="66675" marB="66675" anchor="ctr">
                    <a:solidFill>
                      <a:srgbClr val="FFF1CD"/>
                    </a:solidFill>
                  </a:tcPr>
                </a:tc>
              </a:tr>
              <a:tr h="611188">
                <a:tc>
                  <a:txBody>
                    <a:bodyPr/>
                    <a:lstStyle/>
                    <a:p>
                      <a:r>
                        <a:rPr sz="1650" b="0">
                          <a:solidFill>
                            <a:srgbClr val="182D45"/>
                          </a:solidFill>
                          <a:latin typeface="DejaVu Sans"/>
                          <a:ea typeface="DejaVu Sans"/>
                          <a:cs typeface="DejaVu Sans"/>
                        </a:rPr>
                        <a:t>Đầu ra cho QA</a:t>
                      </a:r>
                    </a:p>
                  </a:txBody>
                  <a:tcPr marL="133350" marR="133350" marT="66675" marB="66675" anchor="ctr">
                    <a:solidFill>
                      <a:srgbClr val="EEF3F8"/>
                    </a:solidFill>
                  </a:tcPr>
                </a:tc>
                <a:tc>
                  <a:txBody>
                    <a:bodyPr/>
                    <a:lstStyle/>
                    <a:p>
                      <a:r>
                        <a:rPr sz="1650" b="1">
                          <a:solidFill>
                            <a:srgbClr val="805B0A"/>
                          </a:solidFill>
                          <a:latin typeface="DejaVu Sans"/>
                          <a:ea typeface="DejaVu Sans"/>
                          <a:cs typeface="DejaVu Sans"/>
                        </a:rPr>
                        <a:t>Có thể cần bổ sung người nói, thời gian</a:t>
                      </a:r>
                    </a:p>
                  </a:txBody>
                  <a:tcPr marL="133350" marR="133350" marT="66675" marB="66675" anchor="ctr">
                    <a:solidFill>
                      <a:srgbClr val="FFF1CD"/>
                    </a:solidFill>
                  </a:tcPr>
                </a:tc>
                <a:tc>
                  <a:txBody>
                    <a:bodyPr/>
                    <a:lstStyle/>
                    <a:p>
                      <a:r>
                        <a:rPr sz="1650" b="1">
                          <a:solidFill>
                            <a:srgbClr val="805B0A"/>
                          </a:solidFill>
                          <a:latin typeface="DejaVu Sans"/>
                          <a:ea typeface="DejaVu Sans"/>
                          <a:cs typeface="DejaVu Sans"/>
                        </a:rPr>
                        <a:t>Kiểm tra tính năng của từng gói</a:t>
                      </a:r>
                    </a:p>
                  </a:txBody>
                  <a:tcPr marL="133350" marR="133350" marT="66675" marB="66675" anchor="ctr">
                    <a:solidFill>
                      <a:srgbClr val="FFF1CD"/>
                    </a:solidFill>
                  </a:tcPr>
                </a:tc>
              </a:tr>
              <a:tr h="611188">
                <a:tc>
                  <a:txBody>
                    <a:bodyPr/>
                    <a:lstStyle/>
                    <a:p>
                      <a:r>
                        <a:rPr sz="1650" b="0">
                          <a:solidFill>
                            <a:srgbClr val="182D45"/>
                          </a:solidFill>
                          <a:latin typeface="DejaVu Sans"/>
                          <a:ea typeface="DejaVu Sans"/>
                          <a:cs typeface="DejaVu Sans"/>
                        </a:rPr>
                        <a:t>Quyết định</a:t>
                      </a:r>
                    </a:p>
                  </a:txBody>
                  <a:tcPr marL="133350" marR="133350" marT="66675" marB="66675" anchor="ctr">
                    <a:solidFill>
                      <a:srgbClr val="FFFFFF"/>
                    </a:solidFill>
                  </a:tcPr>
                </a:tc>
                <a:tc>
                  <a:txBody>
                    <a:bodyPr/>
                    <a:lstStyle/>
                    <a:p>
                      <a:r>
                        <a:rPr sz="1650" b="1">
                          <a:solidFill>
                            <a:srgbClr val="805B0A"/>
                          </a:solidFill>
                          <a:latin typeface="DejaVu Sans"/>
                          <a:ea typeface="DejaVu Sans"/>
                          <a:cs typeface="DejaVu Sans"/>
                        </a:rPr>
                        <a:t>Đo công sửa và thời gian chờ</a:t>
                      </a:r>
                    </a:p>
                  </a:txBody>
                  <a:tcPr marL="133350" marR="133350" marT="66675" marB="66675" anchor="ctr">
                    <a:solidFill>
                      <a:srgbClr val="FFF1CD"/>
                    </a:solidFill>
                  </a:tcPr>
                </a:tc>
                <a:tc>
                  <a:txBody>
                    <a:bodyPr/>
                    <a:lstStyle/>
                    <a:p>
                      <a:r>
                        <a:rPr sz="1650" b="1">
                          <a:solidFill>
                            <a:srgbClr val="805B0A"/>
                          </a:solidFill>
                          <a:latin typeface="DejaVu Sans"/>
                          <a:ea typeface="DejaVu Sans"/>
                          <a:cs typeface="DejaVu Sans"/>
                        </a:rPr>
                        <a:t>Đo lợi ích so với phí dịch vụ</a:t>
                      </a:r>
                    </a:p>
                  </a:txBody>
                  <a:tcPr marL="133350" marR="133350" marT="66675" marB="6667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B7A7834E-F807-4B42-8F4A-45E6C5163836}"/>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78"/>
                </a:solidFill>
                <a:latin typeface="DejaVu Sans"/>
                <a:ea typeface="DejaVu Sans"/>
                <a:cs typeface="DejaVu Sans"/>
              </a:defRPr>
            </a:pPr>
            <a:r>
              <a:rPr sz="1500" b="1">
                <a:solidFill>
                  <a:srgbClr val="087F78"/>
                </a:solidFill>
                <a:latin typeface="DejaVu Sans"/>
                <a:ea typeface="DejaVu Sans"/>
                <a:cs typeface="DejaVu Sans"/>
              </a:rPr>
              <a:t>Cần đo tổng chi phí trên cùng nhu cầu và khối lượng audio</a:t>
            </a:r>
          </a:p>
        </p:txBody>
      </p:sp>
      <p:sp>
        <p:nvSpPr>
          <p:cNvPr id="5" name="">
            <a:extLst xmlns:a="http://schemas.openxmlformats.org/drawingml/2006/main">
              <a:ext uri="{FF2B5EF4-FFF2-40B4-BE49-F238E27FC236}">
                <a16:creationId xmlns:a16="http://schemas.microsoft.com/office/drawing/2014/main" id="{A6162B7D-BDF7-451B-90B8-F8513B129631}"/>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9/21</a:t>
            </a:r>
          </a:p>
        </p:txBody>
      </p:sp>
    </p:spTree>
    <p:extLst>
      <p:ext uri="{BB962C8B-B14F-4D97-AF65-F5344CB8AC3E}">
        <p14:creationId xmlns:p14="http://schemas.microsoft.com/office/powerpoint/2010/main" val="1659187797"/>
      </p:ext>
    </p:extLst>
  </p:cSld>
</p:sld>
</file>

<file path=ppt/slides/slide10.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FC8D8C-145B-4F77-8AB5-A1FBC8C73E9A}"/>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Ma trận API quốc tế</a:t>
            </a:r>
          </a:p>
        </p:txBody>
      </p:sp>
      <p:sp>
        <p:nvSpPr>
          <p:cNvPr id="2" name="">
            <a:extLst xmlns:a="http://schemas.openxmlformats.org/drawingml/2006/main">
              <a:ext uri="{FF2B5EF4-FFF2-40B4-BE49-F238E27FC236}">
                <a16:creationId xmlns:a16="http://schemas.microsoft.com/office/drawing/2014/main" id="{612B07B4-0D6A-4077-82B4-AA92F2265D7B}"/>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Thông tin công bố và câu hỏi trước khi chọn thử</a:t>
            </a:r>
          </a:p>
        </p:txBody>
      </p:sp>
      <p:graphicFrame>
        <p:nvGraphicFramePr>
          <p:cNvPr id="8" name=""/>
          <p:cNvGraphicFramePr/>
          <p:nvPr/>
        </p:nvGraphicFramePr>
        <p:xfrm>
          <a:off xmlns:a="http://schemas.openxmlformats.org/drawingml/2006/main" x="609600" y="1752600"/>
          <a:ext xmlns:a="http://schemas.openxmlformats.org/drawingml/2006/main" cx="10972800" cy="3857625"/>
        </p:xfrm>
        <a:graphic xmlns:a="http://schemas.openxmlformats.org/drawingml/2006/main">
          <a:graphicData uri="http://schemas.openxmlformats.org/drawingml/2006/table">
            <a:tbl>
              <a:tblPr/>
              <a:tblGrid>
                <a:gridCol w="3657600"/>
                <a:gridCol w="3657600"/>
                <a:gridCol w="3657600"/>
              </a:tblGrid>
              <a:tr h="551089">
                <a:tc>
                  <a:txBody>
                    <a:bodyPr/>
                    <a:lstStyle/>
                    <a:p>
                      <a:r>
                        <a:rPr sz="1650" b="1">
                          <a:solidFill>
                            <a:srgbClr val="FFFFFF"/>
                          </a:solidFill>
                          <a:latin typeface="DejaVu Sans"/>
                          <a:ea typeface="DejaVu Sans"/>
                          <a:cs typeface="DejaVu Sans"/>
                        </a:rPr>
                        <a:t>API</a:t>
                      </a:r>
                    </a:p>
                  </a:txBody>
                  <a:tcPr marL="133350" marR="133350" marT="66675" marB="66675" anchor="ctr">
                    <a:solidFill>
                      <a:srgbClr val="3754A3"/>
                    </a:solidFill>
                  </a:tcPr>
                </a:tc>
                <a:tc>
                  <a:txBody>
                    <a:bodyPr/>
                    <a:lstStyle/>
                    <a:p>
                      <a:r>
                        <a:rPr sz="1650" b="1">
                          <a:solidFill>
                            <a:srgbClr val="FFFFFF"/>
                          </a:solidFill>
                          <a:latin typeface="DejaVu Sans"/>
                          <a:ea typeface="DejaVu Sans"/>
                          <a:cs typeface="DejaVu Sans"/>
                        </a:rPr>
                        <a:t>Lựa chọn khảo sát</a:t>
                      </a:r>
                    </a:p>
                  </a:txBody>
                  <a:tcPr marL="133350" marR="133350" marT="66675" marB="66675" anchor="ctr">
                    <a:solidFill>
                      <a:srgbClr val="3754A3"/>
                    </a:solidFill>
                  </a:tcPr>
                </a:tc>
                <a:tc>
                  <a:txBody>
                    <a:bodyPr/>
                    <a:lstStyle/>
                    <a:p>
                      <a:r>
                        <a:rPr sz="1650" b="1">
                          <a:solidFill>
                            <a:srgbClr val="FFFFFF"/>
                          </a:solidFill>
                          <a:latin typeface="DejaVu Sans"/>
                          <a:ea typeface="DejaVu Sans"/>
                          <a:cs typeface="DejaVu Sans"/>
                        </a:rPr>
                        <a:t>Điều cần kiểm chứng</a:t>
                      </a:r>
                    </a:p>
                  </a:txBody>
                  <a:tcPr marL="133350" marR="133350" marT="66675" marB="66675" anchor="ctr">
                    <a:solidFill>
                      <a:srgbClr val="3754A3"/>
                    </a:solidFill>
                  </a:tcPr>
                </a:tc>
              </a:tr>
              <a:tr h="551089">
                <a:tc>
                  <a:txBody>
                    <a:bodyPr/>
                    <a:lstStyle/>
                    <a:p>
                      <a:r>
                        <a:rPr sz="1500" b="0">
                          <a:solidFill>
                            <a:srgbClr val="182D45"/>
                          </a:solidFill>
                          <a:latin typeface="DejaVu Sans"/>
                          <a:ea typeface="DejaVu Sans"/>
                          <a:cs typeface="DejaVu Sans"/>
                        </a:rPr>
                        <a:t>OpenAI</a:t>
                      </a:r>
                    </a:p>
                  </a:txBody>
                  <a:tcPr marL="133350" marR="133350" marT="66675" marB="66675" anchor="ctr">
                    <a:solidFill>
                      <a:srgbClr val="FFFFFF"/>
                    </a:solidFill>
                  </a:tcPr>
                </a:tc>
                <a:tc>
                  <a:txBody>
                    <a:bodyPr/>
                    <a:lstStyle/>
                    <a:p>
                      <a:r>
                        <a:rPr sz="1500" b="0">
                          <a:solidFill>
                            <a:srgbClr val="182D45"/>
                          </a:solidFill>
                          <a:latin typeface="DejaVu Sans"/>
                          <a:ea typeface="DejaVu Sans"/>
                          <a:cs typeface="DejaVu Sans"/>
                        </a:rPr>
                        <a:t>gpt-transcribe / bản có người nói</a:t>
                      </a:r>
                    </a:p>
                  </a:txBody>
                  <a:tcPr marL="133350" marR="133350" marT="66675" marB="66675" anchor="ctr">
                    <a:solidFill>
                      <a:srgbClr val="FFFFFF"/>
                    </a:solidFill>
                  </a:tcPr>
                </a:tc>
                <a:tc>
                  <a:txBody>
                    <a:bodyPr/>
                    <a:lstStyle/>
                    <a:p>
                      <a:r>
                        <a:rPr sz="1500" b="1">
                          <a:solidFill>
                            <a:srgbClr val="805B0A"/>
                          </a:solidFill>
                          <a:latin typeface="DejaVu Sans"/>
                          <a:ea typeface="DejaVu Sans"/>
                          <a:cs typeface="DejaVu Sans"/>
                        </a:rPr>
                        <a:t>Đầu ra QA và công sửa</a:t>
                      </a:r>
                    </a:p>
                  </a:txBody>
                  <a:tcPr marL="133350" marR="133350" marT="66675" marB="66675" anchor="ctr">
                    <a:solidFill>
                      <a:srgbClr val="FFF1CD"/>
                    </a:solidFill>
                  </a:tcPr>
                </a:tc>
              </a:tr>
              <a:tr h="551089">
                <a:tc>
                  <a:txBody>
                    <a:bodyPr/>
                    <a:lstStyle/>
                    <a:p>
                      <a:r>
                        <a:rPr sz="1500" b="0">
                          <a:solidFill>
                            <a:srgbClr val="182D45"/>
                          </a:solidFill>
                          <a:latin typeface="DejaVu Sans"/>
                          <a:ea typeface="DejaVu Sans"/>
                          <a:cs typeface="DejaVu Sans"/>
                        </a:rPr>
                        <a:t>Google Cloud</a:t>
                      </a:r>
                    </a:p>
                  </a:txBody>
                  <a:tcPr marL="133350" marR="133350" marT="66675" marB="66675" anchor="ctr">
                    <a:solidFill>
                      <a:srgbClr val="EEF3F8"/>
                    </a:solidFill>
                  </a:tcPr>
                </a:tc>
                <a:tc>
                  <a:txBody>
                    <a:bodyPr/>
                    <a:lstStyle/>
                    <a:p>
                      <a:r>
                        <a:rPr sz="1500" b="0">
                          <a:solidFill>
                            <a:srgbClr val="182D45"/>
                          </a:solidFill>
                          <a:latin typeface="DejaVu Sans"/>
                          <a:ea typeface="DejaVu Sans"/>
                          <a:cs typeface="DejaVu Sans"/>
                        </a:rPr>
                        <a:t>Chirp 3, vi-VN</a:t>
                      </a:r>
                    </a:p>
                  </a:txBody>
                  <a:tcPr marL="133350" marR="133350" marT="66675" marB="66675" anchor="ctr">
                    <a:solidFill>
                      <a:srgbClr val="EEF3F8"/>
                    </a:solidFill>
                  </a:tcPr>
                </a:tc>
                <a:tc>
                  <a:txBody>
                    <a:bodyPr/>
                    <a:lstStyle/>
                    <a:p>
                      <a:r>
                        <a:rPr sz="1500" b="1">
                          <a:solidFill>
                            <a:srgbClr val="805B0A"/>
                          </a:solidFill>
                          <a:latin typeface="DejaVu Sans"/>
                          <a:ea typeface="DejaVu Sans"/>
                          <a:cs typeface="DejaVu Sans"/>
                        </a:rPr>
                        <a:t>Từ chuyên ngành, giới hạn người nói</a:t>
                      </a:r>
                    </a:p>
                  </a:txBody>
                  <a:tcPr marL="133350" marR="133350" marT="66675" marB="66675" anchor="ctr">
                    <a:solidFill>
                      <a:srgbClr val="FFF1CD"/>
                    </a:solidFill>
                  </a:tcPr>
                </a:tc>
              </a:tr>
              <a:tr h="551089">
                <a:tc>
                  <a:txBody>
                    <a:bodyPr/>
                    <a:lstStyle/>
                    <a:p>
                      <a:r>
                        <a:rPr sz="1500" b="0">
                          <a:solidFill>
                            <a:srgbClr val="182D45"/>
                          </a:solidFill>
                          <a:latin typeface="DejaVu Sans"/>
                          <a:ea typeface="DejaVu Sans"/>
                          <a:cs typeface="DejaVu Sans"/>
                        </a:rPr>
                        <a:t>Azure Speech</a:t>
                      </a:r>
                    </a:p>
                  </a:txBody>
                  <a:tcPr marL="133350" marR="133350" marT="66675" marB="66675" anchor="ctr">
                    <a:solidFill>
                      <a:srgbClr val="FFFFFF"/>
                    </a:solidFill>
                  </a:tcPr>
                </a:tc>
                <a:tc>
                  <a:txBody>
                    <a:bodyPr/>
                    <a:lstStyle/>
                    <a:p>
                      <a:r>
                        <a:rPr sz="1500" b="0">
                          <a:solidFill>
                            <a:srgbClr val="182D45"/>
                          </a:solidFill>
                          <a:latin typeface="DejaVu Sans"/>
                          <a:ea typeface="DejaVu Sans"/>
                          <a:cs typeface="DejaVu Sans"/>
                        </a:rPr>
                        <a:t>vi-VN, phrase list</a:t>
                      </a:r>
                    </a:p>
                  </a:txBody>
                  <a:tcPr marL="133350" marR="133350" marT="66675" marB="66675" anchor="ctr">
                    <a:solidFill>
                      <a:srgbClr val="FFFFFF"/>
                    </a:solidFill>
                  </a:tcPr>
                </a:tc>
                <a:tc>
                  <a:txBody>
                    <a:bodyPr/>
                    <a:lstStyle/>
                    <a:p>
                      <a:r>
                        <a:rPr sz="1500" b="1">
                          <a:solidFill>
                            <a:srgbClr val="805B0A"/>
                          </a:solidFill>
                          <a:latin typeface="DejaVu Sans"/>
                          <a:ea typeface="DejaVu Sans"/>
                          <a:cs typeface="DejaVu Sans"/>
                        </a:rPr>
                        <a:t>Lợi ích của gợi ý từ vựng</a:t>
                      </a:r>
                    </a:p>
                  </a:txBody>
                  <a:tcPr marL="133350" marR="133350" marT="66675" marB="66675" anchor="ctr">
                    <a:solidFill>
                      <a:srgbClr val="FFF1CD"/>
                    </a:solidFill>
                  </a:tcPr>
                </a:tc>
              </a:tr>
              <a:tr h="551089">
                <a:tc>
                  <a:txBody>
                    <a:bodyPr/>
                    <a:lstStyle/>
                    <a:p>
                      <a:r>
                        <a:rPr sz="1500" b="0">
                          <a:solidFill>
                            <a:srgbClr val="182D45"/>
                          </a:solidFill>
                          <a:latin typeface="DejaVu Sans"/>
                          <a:ea typeface="DejaVu Sans"/>
                          <a:cs typeface="DejaVu Sans"/>
                        </a:rPr>
                        <a:t>AWS Transcribe</a:t>
                      </a:r>
                    </a:p>
                  </a:txBody>
                  <a:tcPr marL="133350" marR="133350" marT="66675" marB="66675" anchor="ctr">
                    <a:solidFill>
                      <a:srgbClr val="EEF3F8"/>
                    </a:solidFill>
                  </a:tcPr>
                </a:tc>
                <a:tc>
                  <a:txBody>
                    <a:bodyPr/>
                    <a:lstStyle/>
                    <a:p>
                      <a:r>
                        <a:rPr sz="1500" b="0">
                          <a:solidFill>
                            <a:srgbClr val="182D45"/>
                          </a:solidFill>
                          <a:latin typeface="DejaVu Sans"/>
                          <a:ea typeface="DejaVu Sans"/>
                          <a:cs typeface="DejaVu Sans"/>
                        </a:rPr>
                        <a:t>vi-VN, batch / streaming</a:t>
                      </a:r>
                    </a:p>
                  </a:txBody>
                  <a:tcPr marL="133350" marR="133350" marT="66675" marB="66675" anchor="ctr">
                    <a:solidFill>
                      <a:srgbClr val="EEF3F8"/>
                    </a:solidFill>
                  </a:tcPr>
                </a:tc>
                <a:tc>
                  <a:txBody>
                    <a:bodyPr/>
                    <a:lstStyle/>
                    <a:p>
                      <a:r>
                        <a:rPr sz="1500" b="1">
                          <a:solidFill>
                            <a:srgbClr val="805B0A"/>
                          </a:solidFill>
                          <a:latin typeface="DejaVu Sans"/>
                          <a:ea typeface="DejaVu Sans"/>
                          <a:cs typeface="DejaVu Sans"/>
                        </a:rPr>
                        <a:t>Phạm vi phân tích cuộc gọi</a:t>
                      </a:r>
                    </a:p>
                  </a:txBody>
                  <a:tcPr marL="133350" marR="133350" marT="66675" marB="66675" anchor="ctr">
                    <a:solidFill>
                      <a:srgbClr val="FFF1CD"/>
                    </a:solidFill>
                  </a:tcPr>
                </a:tc>
              </a:tr>
              <a:tr h="551089">
                <a:tc>
                  <a:txBody>
                    <a:bodyPr/>
                    <a:lstStyle/>
                    <a:p>
                      <a:r>
                        <a:rPr sz="1500" b="0">
                          <a:solidFill>
                            <a:srgbClr val="182D45"/>
                          </a:solidFill>
                          <a:latin typeface="DejaVu Sans"/>
                          <a:ea typeface="DejaVu Sans"/>
                          <a:cs typeface="DejaVu Sans"/>
                        </a:rPr>
                        <a:t>Deepgram</a:t>
                      </a:r>
                    </a:p>
                  </a:txBody>
                  <a:tcPr marL="133350" marR="133350" marT="66675" marB="66675" anchor="ctr">
                    <a:solidFill>
                      <a:srgbClr val="FFFFFF"/>
                    </a:solidFill>
                  </a:tcPr>
                </a:tc>
                <a:tc>
                  <a:txBody>
                    <a:bodyPr/>
                    <a:lstStyle/>
                    <a:p>
                      <a:r>
                        <a:rPr sz="1500" b="0">
                          <a:solidFill>
                            <a:srgbClr val="182D45"/>
                          </a:solidFill>
                          <a:latin typeface="DejaVu Sans"/>
                          <a:ea typeface="DejaVu Sans"/>
                          <a:cs typeface="DejaVu Sans"/>
                        </a:rPr>
                        <a:t>Nova-3 / vi</a:t>
                      </a:r>
                    </a:p>
                  </a:txBody>
                  <a:tcPr marL="133350" marR="133350" marT="66675" marB="66675" anchor="ctr">
                    <a:solidFill>
                      <a:srgbClr val="FFFFFF"/>
                    </a:solidFill>
                  </a:tcPr>
                </a:tc>
                <a:tc>
                  <a:txBody>
                    <a:bodyPr/>
                    <a:lstStyle/>
                    <a:p>
                      <a:r>
                        <a:rPr sz="1500" b="1">
                          <a:solidFill>
                            <a:srgbClr val="805B0A"/>
                          </a:solidFill>
                          <a:latin typeface="DejaVu Sans"/>
                          <a:ea typeface="DejaVu Sans"/>
                          <a:cs typeface="DejaVu Sans"/>
                        </a:rPr>
                        <a:t>Đúng model và ngôn ngữ</a:t>
                      </a:r>
                    </a:p>
                  </a:txBody>
                  <a:tcPr marL="133350" marR="133350" marT="66675" marB="66675" anchor="ctr">
                    <a:solidFill>
                      <a:srgbClr val="FFF1CD"/>
                    </a:solidFill>
                  </a:tcPr>
                </a:tc>
              </a:tr>
              <a:tr h="551089">
                <a:tc>
                  <a:txBody>
                    <a:bodyPr/>
                    <a:lstStyle/>
                    <a:p>
                      <a:r>
                        <a:rPr sz="1500" b="0">
                          <a:solidFill>
                            <a:srgbClr val="182D45"/>
                          </a:solidFill>
                          <a:latin typeface="DejaVu Sans"/>
                          <a:ea typeface="DejaVu Sans"/>
                          <a:cs typeface="DejaVu Sans"/>
                        </a:rPr>
                        <a:t>Speechmatics</a:t>
                      </a:r>
                    </a:p>
                  </a:txBody>
                  <a:tcPr marL="133350" marR="133350" marT="66675" marB="66675" anchor="ctr">
                    <a:solidFill>
                      <a:srgbClr val="EEF3F8"/>
                    </a:solidFill>
                  </a:tcPr>
                </a:tc>
                <a:tc>
                  <a:txBody>
                    <a:bodyPr/>
                    <a:lstStyle/>
                    <a:p>
                      <a:r>
                        <a:rPr sz="1500" b="0">
                          <a:solidFill>
                            <a:srgbClr val="182D45"/>
                          </a:solidFill>
                          <a:latin typeface="DejaVu Sans"/>
                          <a:ea typeface="DejaVu Sans"/>
                          <a:cs typeface="DejaVu Sans"/>
                        </a:rPr>
                        <a:t>vi, cloud / container</a:t>
                      </a:r>
                    </a:p>
                  </a:txBody>
                  <a:tcPr marL="133350" marR="133350" marT="66675" marB="66675" anchor="ctr">
                    <a:solidFill>
                      <a:srgbClr val="EEF3F8"/>
                    </a:solidFill>
                  </a:tcPr>
                </a:tc>
                <a:tc>
                  <a:txBody>
                    <a:bodyPr/>
                    <a:lstStyle/>
                    <a:p>
                      <a:r>
                        <a:rPr sz="1500" b="1">
                          <a:solidFill>
                            <a:srgbClr val="805B0A"/>
                          </a:solidFill>
                          <a:latin typeface="DejaVu Sans"/>
                          <a:ea typeface="DejaVu Sans"/>
                          <a:cs typeface="DejaVu Sans"/>
                        </a:rPr>
                        <a:t>Gói triển khai và chi phí hỗ trợ</a:t>
                      </a:r>
                    </a:p>
                  </a:txBody>
                  <a:tcPr marL="133350" marR="133350" marT="66675" marB="6667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4CC3CDF7-971C-4069-9887-C6B16BAF0FD6}"/>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Lựa chọn trial miễn phí cần kiểm tra hạn mức và điều kiện hiện hành</a:t>
            </a:r>
          </a:p>
        </p:txBody>
      </p:sp>
      <p:sp>
        <p:nvSpPr>
          <p:cNvPr id="5" name="">
            <a:extLst xmlns:a="http://schemas.openxmlformats.org/drawingml/2006/main">
              <a:ext uri="{FF2B5EF4-FFF2-40B4-BE49-F238E27FC236}">
                <a16:creationId xmlns:a16="http://schemas.microsoft.com/office/drawing/2014/main" id="{C779B742-ED1A-48CD-8F8D-9609C58190A2}"/>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(n.d.b), Google Cloud (n.d.), Microsoft (n.d.), AWS (n.d.), Deepgram (n.d.), Speechmatics (n.d.a)     10/21</a:t>
            </a:r>
          </a:p>
        </p:txBody>
      </p:sp>
    </p:spTree>
    <p:extLst>
      <p:ext uri="{BB962C8B-B14F-4D97-AF65-F5344CB8AC3E}">
        <p14:creationId xmlns:p14="http://schemas.microsoft.com/office/powerpoint/2010/main" val="2117477576"/>
      </p:ext>
    </p:extLst>
  </p:cSld>
</p:sld>
</file>

<file path=ppt/slides/slide11.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9963EC-E060-41F9-B4DE-34B915F56B9D}"/>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OpenAI transcription API</a:t>
            </a:r>
          </a:p>
        </p:txBody>
      </p:sp>
      <p:sp>
        <p:nvSpPr>
          <p:cNvPr id="2" name="">
            <a:extLst xmlns:a="http://schemas.openxmlformats.org/drawingml/2006/main">
              <a:ext uri="{FF2B5EF4-FFF2-40B4-BE49-F238E27FC236}">
                <a16:creationId xmlns:a16="http://schemas.microsoft.com/office/drawing/2014/main" id="{3AC337B1-1497-4E33-890E-5578FEE304CB}"/>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Chọn model theo đầu ra cần nhận</a:t>
            </a:r>
          </a:p>
        </p:txBody>
      </p:sp>
      <p:sp>
        <p:nvSpPr>
          <p:cNvPr id="3" name="">
            <a:extLst xmlns:a="http://schemas.openxmlformats.org/drawingml/2006/main">
              <a:ext uri="{FF2B5EF4-FFF2-40B4-BE49-F238E27FC236}">
                <a16:creationId xmlns:a16="http://schemas.microsoft.com/office/drawing/2014/main" id="{241EAF5D-EBF4-4C1E-95F5-DBE8D316F73F}"/>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6DD418D3-39E5-487C-BB4E-CC48A16EAD5E}"/>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gpt-transcribe: tài liệu hiện khuyến nghị cho file ghi âm</a:t>
            </a:r>
          </a:p>
        </p:txBody>
      </p:sp>
      <p:sp>
        <p:nvSpPr>
          <p:cNvPr id="5" name="">
            <a:extLst xmlns:a="http://schemas.openxmlformats.org/drawingml/2006/main">
              <a:ext uri="{FF2B5EF4-FFF2-40B4-BE49-F238E27FC236}">
                <a16:creationId xmlns:a16="http://schemas.microsoft.com/office/drawing/2014/main" id="{6F3EF89B-14CB-45E2-9367-D7058E9C8B0B}"/>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01E35BA1-FA5B-47F6-A998-0379D1B57A77}"/>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gpt-4o-transcribe-diarize: nhãn người nói, định dạng diarized_json</a:t>
            </a:r>
          </a:p>
        </p:txBody>
      </p:sp>
      <p:sp>
        <p:nvSpPr>
          <p:cNvPr id="7" name="">
            <a:extLst xmlns:a="http://schemas.openxmlformats.org/drawingml/2006/main">
              <a:ext uri="{FF2B5EF4-FFF2-40B4-BE49-F238E27FC236}">
                <a16:creationId xmlns:a16="http://schemas.microsoft.com/office/drawing/2014/main" id="{7123A5B3-0728-47FC-9F2C-6DDB9B7CBF1F}"/>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6F91677D-05FC-4652-A7F9-B7AD01337985}"/>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whisper-1: lựa chọn chuyên biệt cho một số định dạng đầu ra</a:t>
            </a:r>
          </a:p>
        </p:txBody>
      </p:sp>
      <p:sp>
        <p:nvSpPr>
          <p:cNvPr id="9" name="">
            <a:extLst xmlns:a="http://schemas.openxmlformats.org/drawingml/2006/main">
              <a:ext uri="{FF2B5EF4-FFF2-40B4-BE49-F238E27FC236}">
                <a16:creationId xmlns:a16="http://schemas.microsoft.com/office/drawing/2014/main" id="{F21A0187-45B4-4E09-9EF8-7F7BCA5928F4}"/>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FF1CF9EF-058F-47D5-A051-0A87162F662A}"/>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File endpoint: /v1/audio/transcriptions. Live có luồng riêng</a:t>
            </a:r>
          </a:p>
        </p:txBody>
      </p:sp>
      <p:sp>
        <p:nvSpPr>
          <p:cNvPr id="11" name="">
            <a:extLst xmlns:a="http://schemas.openxmlformats.org/drawingml/2006/main">
              <a:ext uri="{FF2B5EF4-FFF2-40B4-BE49-F238E27FC236}">
                <a16:creationId xmlns:a16="http://schemas.microsoft.com/office/drawing/2014/main" id="{87E9219D-0C2A-42C4-AEC5-A9893C6B8A59}"/>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(n.d.b), OpenAI (n.d.c)     11/21</a:t>
            </a:r>
          </a:p>
        </p:txBody>
      </p:sp>
    </p:spTree>
    <p:extLst>
      <p:ext uri="{BB962C8B-B14F-4D97-AF65-F5344CB8AC3E}">
        <p14:creationId xmlns:p14="http://schemas.microsoft.com/office/powerpoint/2010/main" val="396777238"/>
      </p:ext>
    </p:extLst>
  </p:cSld>
</p:sld>
</file>

<file path=ppt/slides/slide12.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F2076B-76AA-4532-825A-C28FE4C326A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Google Chirp 3 và Azure Speech</a:t>
            </a:r>
          </a:p>
        </p:txBody>
      </p:sp>
      <p:sp>
        <p:nvSpPr>
          <p:cNvPr id="2" name="">
            <a:extLst xmlns:a="http://schemas.openxmlformats.org/drawingml/2006/main">
              <a:ext uri="{FF2B5EF4-FFF2-40B4-BE49-F238E27FC236}">
                <a16:creationId xmlns:a16="http://schemas.microsoft.com/office/drawing/2014/main" id="{C206CD9B-DC33-4A00-AB41-DB18E5FB81BF}"/>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Tính năng tiếng Việt cần đọc riêng</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733425">
                <a:tc>
                  <a:txBody>
                    <a:bodyPr/>
                    <a:lstStyle/>
                    <a:p>
                      <a:r>
                        <a:rPr sz="1650" b="1">
                          <a:solidFill>
                            <a:srgbClr val="FFFFFF"/>
                          </a:solidFill>
                          <a:latin typeface="DejaVu Sans"/>
                          <a:ea typeface="DejaVu Sans"/>
                          <a:cs typeface="DejaVu Sans"/>
                        </a:rPr>
                        <a:t>Tiêu chí</a:t>
                      </a:r>
                    </a:p>
                  </a:txBody>
                  <a:tcPr marL="133350" marR="133350" marT="66675" marB="66675" anchor="ctr">
                    <a:solidFill>
                      <a:srgbClr val="3754A3"/>
                    </a:solidFill>
                  </a:tcPr>
                </a:tc>
                <a:tc>
                  <a:txBody>
                    <a:bodyPr/>
                    <a:lstStyle/>
                    <a:p>
                      <a:r>
                        <a:rPr sz="1650" b="1">
                          <a:solidFill>
                            <a:srgbClr val="FFFFFF"/>
                          </a:solidFill>
                          <a:latin typeface="DejaVu Sans"/>
                          <a:ea typeface="DejaVu Sans"/>
                          <a:cs typeface="DejaVu Sans"/>
                        </a:rPr>
                        <a:t>Google Chirp 3</a:t>
                      </a:r>
                    </a:p>
                  </a:txBody>
                  <a:tcPr marL="133350" marR="133350" marT="66675" marB="66675" anchor="ctr">
                    <a:solidFill>
                      <a:srgbClr val="3754A3"/>
                    </a:solidFill>
                  </a:tcPr>
                </a:tc>
                <a:tc>
                  <a:txBody>
                    <a:bodyPr/>
                    <a:lstStyle/>
                    <a:p>
                      <a:r>
                        <a:rPr sz="1650" b="1">
                          <a:solidFill>
                            <a:srgbClr val="FFFFFF"/>
                          </a:solidFill>
                          <a:latin typeface="DejaVu Sans"/>
                          <a:ea typeface="DejaVu Sans"/>
                          <a:cs typeface="DejaVu Sans"/>
                        </a:rPr>
                        <a:t>Azure Speech</a:t>
                      </a:r>
                    </a:p>
                  </a:txBody>
                  <a:tcPr marL="133350" marR="133350" marT="66675" marB="66675" anchor="ctr">
                    <a:solidFill>
                      <a:srgbClr val="3754A3"/>
                    </a:solidFill>
                  </a:tcPr>
                </a:tc>
              </a:tr>
              <a:tr h="733425">
                <a:tc>
                  <a:txBody>
                    <a:bodyPr/>
                    <a:lstStyle/>
                    <a:p>
                      <a:r>
                        <a:rPr sz="1650" b="0">
                          <a:solidFill>
                            <a:srgbClr val="182D45"/>
                          </a:solidFill>
                          <a:latin typeface="DejaVu Sans"/>
                          <a:ea typeface="DejaVu Sans"/>
                          <a:cs typeface="DejaVu Sans"/>
                        </a:rPr>
                        <a:t>Tiếng Việt</a:t>
                      </a:r>
                    </a:p>
                  </a:txBody>
                  <a:tcPr marL="133350" marR="133350" marT="66675" marB="66675" anchor="ctr">
                    <a:solidFill>
                      <a:srgbClr val="FFFFFF"/>
                    </a:solidFill>
                  </a:tcPr>
                </a:tc>
                <a:tc>
                  <a:txBody>
                    <a:bodyPr/>
                    <a:lstStyle/>
                    <a:p>
                      <a:r>
                        <a:rPr sz="1650" b="1">
                          <a:solidFill>
                            <a:srgbClr val="116344"/>
                          </a:solidFill>
                          <a:latin typeface="DejaVu Sans"/>
                          <a:ea typeface="DejaVu Sans"/>
                          <a:cs typeface="DejaVu Sans"/>
                        </a:rPr>
                        <a:t>vi-VN cho transcription</a:t>
                      </a:r>
                    </a:p>
                  </a:txBody>
                  <a:tcPr marL="133350" marR="133350" marT="66675" marB="66675" anchor="ctr">
                    <a:solidFill>
                      <a:srgbClr val="DDF3EA"/>
                    </a:solidFill>
                  </a:tcPr>
                </a:tc>
                <a:tc>
                  <a:txBody>
                    <a:bodyPr/>
                    <a:lstStyle/>
                    <a:p>
                      <a:r>
                        <a:rPr sz="1650" b="1">
                          <a:solidFill>
                            <a:srgbClr val="116344"/>
                          </a:solidFill>
                          <a:latin typeface="DejaVu Sans"/>
                          <a:ea typeface="DejaVu Sans"/>
                          <a:cs typeface="DejaVu Sans"/>
                        </a:rPr>
                        <a:t>vi-VN cho fast transcription</a:t>
                      </a:r>
                    </a:p>
                  </a:txBody>
                  <a:tcPr marL="133350" marR="133350" marT="66675" marB="66675" anchor="ctr">
                    <a:solidFill>
                      <a:srgbClr val="DDF3EA"/>
                    </a:solidFill>
                  </a:tcPr>
                </a:tc>
              </a:tr>
              <a:tr h="733425">
                <a:tc>
                  <a:txBody>
                    <a:bodyPr/>
                    <a:lstStyle/>
                    <a:p>
                      <a:r>
                        <a:rPr sz="1650" b="0">
                          <a:solidFill>
                            <a:srgbClr val="182D45"/>
                          </a:solidFill>
                          <a:latin typeface="DejaVu Sans"/>
                          <a:ea typeface="DejaVu Sans"/>
                          <a:cs typeface="DejaVu Sans"/>
                        </a:rPr>
                        <a:t>Từ vựng</a:t>
                      </a:r>
                    </a:p>
                  </a:txBody>
                  <a:tcPr marL="133350" marR="133350" marT="66675" marB="66675" anchor="ctr">
                    <a:solidFill>
                      <a:srgbClr val="EEF3F8"/>
                    </a:solidFill>
                  </a:tcPr>
                </a:tc>
                <a:tc>
                  <a:txBody>
                    <a:bodyPr/>
                    <a:lstStyle/>
                    <a:p>
                      <a:r>
                        <a:rPr sz="1650" b="1">
                          <a:solidFill>
                            <a:srgbClr val="116344"/>
                          </a:solidFill>
                          <a:latin typeface="DejaVu Sans"/>
                          <a:ea typeface="DejaVu Sans"/>
                          <a:cs typeface="DejaVu Sans"/>
                        </a:rPr>
                        <a:t>Có speech adaptation</a:t>
                      </a:r>
                    </a:p>
                  </a:txBody>
                  <a:tcPr marL="133350" marR="133350" marT="66675" marB="66675" anchor="ctr">
                    <a:solidFill>
                      <a:srgbClr val="DDF3EA"/>
                    </a:solidFill>
                  </a:tcPr>
                </a:tc>
                <a:tc>
                  <a:txBody>
                    <a:bodyPr/>
                    <a:lstStyle/>
                    <a:p>
                      <a:r>
                        <a:rPr sz="1650" b="1">
                          <a:solidFill>
                            <a:srgbClr val="116344"/>
                          </a:solidFill>
                          <a:latin typeface="DejaVu Sans"/>
                          <a:ea typeface="DejaVu Sans"/>
                          <a:cs typeface="DejaVu Sans"/>
                        </a:rPr>
                        <a:t>Có phrase list / plain text</a:t>
                      </a:r>
                    </a:p>
                  </a:txBody>
                  <a:tcPr marL="133350" marR="133350" marT="66675" marB="66675" anchor="ctr">
                    <a:solidFill>
                      <a:srgbClr val="DDF3EA"/>
                    </a:solidFill>
                  </a:tcPr>
                </a:tc>
              </a:tr>
              <a:tr h="733425">
                <a:tc>
                  <a:txBody>
                    <a:bodyPr/>
                    <a:lstStyle/>
                    <a:p>
                      <a:r>
                        <a:rPr sz="1650" b="0">
                          <a:solidFill>
                            <a:srgbClr val="182D45"/>
                          </a:solidFill>
                          <a:latin typeface="DejaVu Sans"/>
                          <a:ea typeface="DejaVu Sans"/>
                          <a:cs typeface="DejaVu Sans"/>
                        </a:rPr>
                        <a:t>Người nói</a:t>
                      </a:r>
                    </a:p>
                  </a:txBody>
                  <a:tcPr marL="133350" marR="133350" marT="66675" marB="66675" anchor="ctr">
                    <a:solidFill>
                      <a:srgbClr val="FFFFFF"/>
                    </a:solidFill>
                  </a:tcPr>
                </a:tc>
                <a:tc>
                  <a:txBody>
                    <a:bodyPr/>
                    <a:lstStyle/>
                    <a:p>
                      <a:r>
                        <a:rPr sz="1650" b="1">
                          <a:solidFill>
                            <a:srgbClr val="9B2D24"/>
                          </a:solidFill>
                          <a:latin typeface="DejaVu Sans"/>
                          <a:ea typeface="DejaVu Sans"/>
                          <a:cs typeface="DejaVu Sans"/>
                        </a:rPr>
                        <a:t>Bảng diarization chưa có vi-VN</a:t>
                      </a:r>
                    </a:p>
                  </a:txBody>
                  <a:tcPr marL="133350" marR="133350" marT="66675" marB="66675" anchor="ctr">
                    <a:solidFill>
                      <a:srgbClr val="FCE1DE"/>
                    </a:solidFill>
                  </a:tcPr>
                </a:tc>
                <a:tc>
                  <a:txBody>
                    <a:bodyPr/>
                    <a:lstStyle/>
                    <a:p>
                      <a:r>
                        <a:rPr sz="1650" b="1">
                          <a:solidFill>
                            <a:srgbClr val="805B0A"/>
                          </a:solidFill>
                          <a:latin typeface="DejaVu Sans"/>
                          <a:ea typeface="DejaVu Sans"/>
                          <a:cs typeface="DejaVu Sans"/>
                        </a:rPr>
                        <a:t>Cần chốt endpoint / cấu hình</a:t>
                      </a:r>
                    </a:p>
                  </a:txBody>
                  <a:tcPr marL="133350" marR="133350" marT="66675" marB="66675" anchor="ctr">
                    <a:solidFill>
                      <a:srgbClr val="FFF1CD"/>
                    </a:solidFill>
                  </a:tcPr>
                </a:tc>
              </a:tr>
              <a:tr h="733425">
                <a:tc>
                  <a:txBody>
                    <a:bodyPr/>
                    <a:lstStyle/>
                    <a:p>
                      <a:r>
                        <a:rPr sz="1650" b="0">
                          <a:solidFill>
                            <a:srgbClr val="182D45"/>
                          </a:solidFill>
                          <a:latin typeface="DejaVu Sans"/>
                          <a:ea typeface="DejaVu Sans"/>
                          <a:cs typeface="DejaVu Sans"/>
                        </a:rPr>
                        <a:t>Thử nghiệm gợi ý</a:t>
                      </a:r>
                    </a:p>
                  </a:txBody>
                  <a:tcPr marL="133350" marR="133350" marT="66675" marB="66675" anchor="ctr">
                    <a:solidFill>
                      <a:srgbClr val="EEF3F8"/>
                    </a:solidFill>
                  </a:tcPr>
                </a:tc>
                <a:tc>
                  <a:txBody>
                    <a:bodyPr/>
                    <a:lstStyle/>
                    <a:p>
                      <a:r>
                        <a:rPr sz="1650" b="1">
                          <a:solidFill>
                            <a:srgbClr val="805B0A"/>
                          </a:solidFill>
                          <a:latin typeface="DejaVu Sans"/>
                          <a:ea typeface="DejaVu Sans"/>
                          <a:cs typeface="DejaVu Sans"/>
                        </a:rPr>
                        <a:t>Có và không có biasing</a:t>
                      </a:r>
                    </a:p>
                  </a:txBody>
                  <a:tcPr marL="133350" marR="133350" marT="66675" marB="66675" anchor="ctr">
                    <a:solidFill>
                      <a:srgbClr val="FFF1CD"/>
                    </a:solidFill>
                  </a:tcPr>
                </a:tc>
                <a:tc>
                  <a:txBody>
                    <a:bodyPr/>
                    <a:lstStyle/>
                    <a:p>
                      <a:r>
                        <a:rPr sz="1650" b="1">
                          <a:solidFill>
                            <a:srgbClr val="805B0A"/>
                          </a:solidFill>
                          <a:latin typeface="DejaVu Sans"/>
                          <a:ea typeface="DejaVu Sans"/>
                          <a:cs typeface="DejaVu Sans"/>
                        </a:rPr>
                        <a:t>Có và không có phrase list</a:t>
                      </a:r>
                    </a:p>
                  </a:txBody>
                  <a:tcPr marL="133350" marR="133350" marT="66675" marB="6667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E75EAB1D-FBE7-47E6-B783-00D4FE7E38DB}"/>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Xanh: có công bố   Vàng: cần xác nhận   Đỏ: giới hạn trong tài liệu</a:t>
            </a:r>
          </a:p>
        </p:txBody>
      </p:sp>
      <p:sp>
        <p:nvSpPr>
          <p:cNvPr id="5" name="">
            <a:extLst xmlns:a="http://schemas.openxmlformats.org/drawingml/2006/main">
              <a:ext uri="{FF2B5EF4-FFF2-40B4-BE49-F238E27FC236}">
                <a16:creationId xmlns:a16="http://schemas.microsoft.com/office/drawing/2014/main" id="{0051F8EE-C6C9-46C3-A6FD-3FD6BF1A232B}"/>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Google Cloud (n.d.), Microsoft (n.d.)     12/21</a:t>
            </a:r>
          </a:p>
        </p:txBody>
      </p:sp>
    </p:spTree>
    <p:extLst>
      <p:ext uri="{BB962C8B-B14F-4D97-AF65-F5344CB8AC3E}">
        <p14:creationId xmlns:p14="http://schemas.microsoft.com/office/powerpoint/2010/main" val="287555569"/>
      </p:ext>
    </p:extLst>
  </p:cSld>
</p:sld>
</file>

<file path=ppt/slides/slide13.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256043D-C068-4B75-8D1B-9CD0D281498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AWS Transcribe và Deepgram</a:t>
            </a:r>
          </a:p>
        </p:txBody>
      </p:sp>
      <p:sp>
        <p:nvSpPr>
          <p:cNvPr id="2" name="">
            <a:extLst xmlns:a="http://schemas.openxmlformats.org/drawingml/2006/main">
              <a:ext uri="{FF2B5EF4-FFF2-40B4-BE49-F238E27FC236}">
                <a16:creationId xmlns:a16="http://schemas.microsoft.com/office/drawing/2014/main" id="{0F18F6C7-819C-4EB0-B8D9-94FA7B4048A3}"/>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Tên tính năng và ngôn ngữ có thể không cùng phạm vi</a:t>
            </a:r>
          </a:p>
        </p:txBody>
      </p:sp>
      <p:sp>
        <p:nvSpPr>
          <p:cNvPr id="3" name="">
            <a:extLst xmlns:a="http://schemas.openxmlformats.org/drawingml/2006/main">
              <a:ext uri="{FF2B5EF4-FFF2-40B4-BE49-F238E27FC236}">
                <a16:creationId xmlns:a16="http://schemas.microsoft.com/office/drawing/2014/main" id="{D83BEC0A-E675-48D6-92B8-629F55CD7302}"/>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0D0A3A02-DFA3-4E9B-B925-B515735DB313}"/>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AWS vi-VN: có batch và streaming</a:t>
            </a:r>
          </a:p>
        </p:txBody>
      </p:sp>
      <p:sp>
        <p:nvSpPr>
          <p:cNvPr id="5" name="">
            <a:extLst xmlns:a="http://schemas.openxmlformats.org/drawingml/2006/main">
              <a:ext uri="{FF2B5EF4-FFF2-40B4-BE49-F238E27FC236}">
                <a16:creationId xmlns:a16="http://schemas.microsoft.com/office/drawing/2014/main" id="{DBED3EAC-3E35-490A-A7A4-8A60A5A949DD}"/>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9B323001-528D-4D43-9F88-0EE86BF156DD}"/>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AWS vi-VN: bảng ghi không có Call Analytics, redaction, custom language model</a:t>
            </a:r>
          </a:p>
        </p:txBody>
      </p:sp>
      <p:sp>
        <p:nvSpPr>
          <p:cNvPr id="7" name="">
            <a:extLst xmlns:a="http://schemas.openxmlformats.org/drawingml/2006/main">
              <a:ext uri="{FF2B5EF4-FFF2-40B4-BE49-F238E27FC236}">
                <a16:creationId xmlns:a16="http://schemas.microsoft.com/office/drawing/2014/main" id="{4163B04F-1498-49EA-BDDB-DF3AD6B76CB4}"/>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D17F8BB5-799E-49DD-940F-8C3E4E1C3BD7}"/>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Deepgram nova-3 và nova-2 có vi trong danh sách</a:t>
            </a:r>
          </a:p>
        </p:txBody>
      </p:sp>
      <p:sp>
        <p:nvSpPr>
          <p:cNvPr id="9" name="">
            <a:extLst xmlns:a="http://schemas.openxmlformats.org/drawingml/2006/main">
              <a:ext uri="{FF2B5EF4-FFF2-40B4-BE49-F238E27FC236}">
                <a16:creationId xmlns:a16="http://schemas.microsoft.com/office/drawing/2014/main" id="{5A7266BA-5B8F-462E-A8FF-0E0D57A89C30}"/>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2B921F30-C892-4ED2-89A1-026BC06DBAA1}"/>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Deepgram nova-2-phonecall và nova-2-finance được liệt kê cho tiếng Anh</a:t>
            </a:r>
          </a:p>
        </p:txBody>
      </p:sp>
      <p:sp>
        <p:nvSpPr>
          <p:cNvPr id="11" name="">
            <a:extLst xmlns:a="http://schemas.openxmlformats.org/drawingml/2006/main">
              <a:ext uri="{FF2B5EF4-FFF2-40B4-BE49-F238E27FC236}">
                <a16:creationId xmlns:a16="http://schemas.microsoft.com/office/drawing/2014/main" id="{A9FEBAA4-63DB-461F-AF64-EF38D71D706C}"/>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AWS (n.d.), Deepgram (n.d.)     13/21</a:t>
            </a:r>
          </a:p>
        </p:txBody>
      </p:sp>
    </p:spTree>
    <p:extLst>
      <p:ext uri="{BB962C8B-B14F-4D97-AF65-F5344CB8AC3E}">
        <p14:creationId xmlns:p14="http://schemas.microsoft.com/office/powerpoint/2010/main" val="16990991"/>
      </p:ext>
    </p:extLst>
  </p:cSld>
</p:sld>
</file>

<file path=ppt/slides/slide14.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586D07-2E5C-47E5-8A82-90E2210FC002}"/>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Speechmatics</a:t>
            </a:r>
          </a:p>
        </p:txBody>
      </p:sp>
      <p:sp>
        <p:nvSpPr>
          <p:cNvPr id="2" name="">
            <a:extLst xmlns:a="http://schemas.openxmlformats.org/drawingml/2006/main">
              <a:ext uri="{FF2B5EF4-FFF2-40B4-BE49-F238E27FC236}">
                <a16:creationId xmlns:a16="http://schemas.microsoft.com/office/drawing/2014/main" id="{67A763C3-CB7A-416C-9254-EAB0B0EE6382}"/>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Có cả dịch vụ cloud và container thương mại</a:t>
            </a:r>
          </a:p>
        </p:txBody>
      </p:sp>
      <p:sp>
        <p:nvSpPr>
          <p:cNvPr id="3" name="">
            <a:extLst xmlns:a="http://schemas.openxmlformats.org/drawingml/2006/main">
              <a:ext uri="{FF2B5EF4-FFF2-40B4-BE49-F238E27FC236}">
                <a16:creationId xmlns:a16="http://schemas.microsoft.com/office/drawing/2014/main" id="{5A3A4887-11A5-40B8-8AB4-08C74DE4DE0A}"/>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F581E16F-16E6-4056-9F2B-78AEE79B28ED}"/>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Danh sách ngôn ngữ có Vietnamese / vi</a:t>
            </a:r>
          </a:p>
        </p:txBody>
      </p:sp>
      <p:sp>
        <p:nvSpPr>
          <p:cNvPr id="5" name="">
            <a:extLst xmlns:a="http://schemas.openxmlformats.org/drawingml/2006/main">
              <a:ext uri="{FF2B5EF4-FFF2-40B4-BE49-F238E27FC236}">
                <a16:creationId xmlns:a16="http://schemas.microsoft.com/office/drawing/2014/main" id="{555F707C-F95D-483A-822D-A52683ED8A60}"/>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E4BAD8C6-A52C-4724-B563-6B5DC9087580}"/>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Có hướng cloud và container trên hạ tầng quản lý</a:t>
            </a:r>
          </a:p>
        </p:txBody>
      </p:sp>
      <p:sp>
        <p:nvSpPr>
          <p:cNvPr id="7" name="">
            <a:extLst xmlns:a="http://schemas.openxmlformats.org/drawingml/2006/main">
              <a:ext uri="{FF2B5EF4-FFF2-40B4-BE49-F238E27FC236}">
                <a16:creationId xmlns:a16="http://schemas.microsoft.com/office/drawing/2014/main" id="{A2B5B24C-7ADE-4F9D-BE21-92A6A7CED142}"/>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405088D5-9240-41DB-A237-887396A4A34B}"/>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Tài liệu triển khai có diarization và custom dictionary</a:t>
            </a:r>
          </a:p>
        </p:txBody>
      </p:sp>
      <p:sp>
        <p:nvSpPr>
          <p:cNvPr id="9" name="">
            <a:extLst xmlns:a="http://schemas.openxmlformats.org/drawingml/2006/main">
              <a:ext uri="{FF2B5EF4-FFF2-40B4-BE49-F238E27FC236}">
                <a16:creationId xmlns:a16="http://schemas.microsoft.com/office/drawing/2014/main" id="{787E6DFB-B29C-4C89-B69F-51109D31F6FB}"/>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754A3"/>
                </a:solidFill>
                <a:latin typeface="DejaVu Sans"/>
                <a:ea typeface="DejaVu Sans"/>
                <a:cs typeface="DejaVu Sans"/>
              </a:defRPr>
            </a:pPr>
            <a:r>
              <a:rPr sz="1875" b="1">
                <a:solidFill>
                  <a:srgbClr val="3754A3"/>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1E2774ED-0A86-4C48-B6C3-5835D4419482}"/>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Tính năng phụ thuộc deployment, mode và ngôn ngữ theo hợp đồng</a:t>
            </a:r>
          </a:p>
        </p:txBody>
      </p:sp>
      <p:sp>
        <p:nvSpPr>
          <p:cNvPr id="11" name="">
            <a:extLst xmlns:a="http://schemas.openxmlformats.org/drawingml/2006/main">
              <a:ext uri="{FF2B5EF4-FFF2-40B4-BE49-F238E27FC236}">
                <a16:creationId xmlns:a16="http://schemas.microsoft.com/office/drawing/2014/main" id="{A1E7741C-75B3-47C9-9931-CB95B20DF4C5}"/>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Speechmatics (n.d.a), Speechmatics (n.d.b)     14/21</a:t>
            </a:r>
          </a:p>
        </p:txBody>
      </p:sp>
    </p:spTree>
    <p:extLst>
      <p:ext uri="{BB962C8B-B14F-4D97-AF65-F5344CB8AC3E}">
        <p14:creationId xmlns:p14="http://schemas.microsoft.com/office/powerpoint/2010/main" val="994129750"/>
      </p:ext>
    </p:extLst>
  </p:cSld>
</p:sld>
</file>

<file path=ppt/slides/slide15.xml><?xml version="1.0" encoding="utf-8"?>
<p:sld xmlns:p="http://schemas.openxmlformats.org/presentationml/2006/main">
  <p:cSld>
    <p:bg>
      <p:bgPr>
        <a:solidFill xmlns:a="http://schemas.openxmlformats.org/drawingml/2006/main">
          <a:srgbClr val="F8FA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78C513-9952-4896-AE68-9D2FF8A963E6}"/>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3754A3"/>
                </a:solidFill>
                <a:latin typeface="DejaVu Sans"/>
                <a:ea typeface="DejaVu Sans"/>
                <a:cs typeface="DejaVu Sans"/>
              </a:defRPr>
            </a:pPr>
            <a:r>
              <a:rPr sz="2925" b="1">
                <a:solidFill>
                  <a:srgbClr val="3754A3"/>
                </a:solidFill>
                <a:latin typeface="DejaVu Sans"/>
                <a:ea typeface="DejaVu Sans"/>
                <a:cs typeface="DejaVu Sans"/>
              </a:rPr>
              <a:t>API Việt Nam</a:t>
            </a:r>
          </a:p>
        </p:txBody>
      </p:sp>
      <p:sp>
        <p:nvSpPr>
          <p:cNvPr id="2" name="">
            <a:extLst xmlns:a="http://schemas.openxmlformats.org/drawingml/2006/main">
              <a:ext uri="{FF2B5EF4-FFF2-40B4-BE49-F238E27FC236}">
                <a16:creationId xmlns:a16="http://schemas.microsoft.com/office/drawing/2014/main" id="{8A60AA85-9BFD-4FBF-BDAF-61EAD2C6CA7C}"/>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Tài liệu tích hợp cung cấp bằng chứng cụ thể</a:t>
            </a:r>
          </a:p>
        </p:txBody>
      </p:sp>
      <p:graphicFrame>
        <p:nvGraphicFramePr>
          <p:cNvPr id="8" name=""/>
          <p:cNvGraphicFramePr/>
          <p:nvPr/>
        </p:nvGraphicFramePr>
        <p:xfrm>
          <a:off xmlns:a="http://schemas.openxmlformats.org/drawingml/2006/main" x="609600" y="1752600"/>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857250">
                <a:tc>
                  <a:txBody>
                    <a:bodyPr/>
                    <a:lstStyle/>
                    <a:p>
                      <a:r>
                        <a:rPr sz="1650" b="1">
                          <a:solidFill>
                            <a:srgbClr val="FFFFFF"/>
                          </a:solidFill>
                          <a:latin typeface="DejaVu Sans"/>
                          <a:ea typeface="DejaVu Sans"/>
                          <a:cs typeface="DejaVu Sans"/>
                        </a:rPr>
                        <a:t>Ứng viên</a:t>
                      </a:r>
                    </a:p>
                  </a:txBody>
                  <a:tcPr marL="133350" marR="133350" marT="66675" marB="66675" anchor="ctr">
                    <a:solidFill>
                      <a:srgbClr val="3754A3"/>
                    </a:solidFill>
                  </a:tcPr>
                </a:tc>
                <a:tc>
                  <a:txBody>
                    <a:bodyPr/>
                    <a:lstStyle/>
                    <a:p>
                      <a:r>
                        <a:rPr sz="1650" b="1">
                          <a:solidFill>
                            <a:srgbClr val="FFFFFF"/>
                          </a:solidFill>
                          <a:latin typeface="DejaVu Sans"/>
                          <a:ea typeface="DejaVu Sans"/>
                          <a:cs typeface="DejaVu Sans"/>
                        </a:rPr>
                        <a:t>Thông tin đang có</a:t>
                      </a:r>
                    </a:p>
                  </a:txBody>
                  <a:tcPr marL="133350" marR="133350" marT="66675" marB="66675" anchor="ctr">
                    <a:solidFill>
                      <a:srgbClr val="3754A3"/>
                    </a:solidFill>
                  </a:tcPr>
                </a:tc>
                <a:tc>
                  <a:txBody>
                    <a:bodyPr/>
                    <a:lstStyle/>
                    <a:p>
                      <a:r>
                        <a:rPr sz="1650" b="1">
                          <a:solidFill>
                            <a:srgbClr val="FFFFFF"/>
                          </a:solidFill>
                          <a:latin typeface="DejaVu Sans"/>
                          <a:ea typeface="DejaVu Sans"/>
                          <a:cs typeface="DejaVu Sans"/>
                        </a:rPr>
                        <a:t>Cần xác nhận trước khi thử</a:t>
                      </a:r>
                    </a:p>
                  </a:txBody>
                  <a:tcPr marL="133350" marR="133350" marT="66675" marB="66675" anchor="ctr">
                    <a:solidFill>
                      <a:srgbClr val="3754A3"/>
                    </a:solidFill>
                  </a:tcPr>
                </a:tc>
              </a:tr>
              <a:tr h="857250">
                <a:tc>
                  <a:txBody>
                    <a:bodyPr/>
                    <a:lstStyle/>
                    <a:p>
                      <a:r>
                        <a:rPr sz="1650" b="0">
                          <a:solidFill>
                            <a:srgbClr val="182D45"/>
                          </a:solidFill>
                          <a:latin typeface="DejaVu Sans"/>
                          <a:ea typeface="DejaVu Sans"/>
                          <a:cs typeface="DejaVu Sans"/>
                        </a:rPr>
                        <a:t>VNPT SmartVoice</a:t>
                      </a:r>
                    </a:p>
                  </a:txBody>
                  <a:tcPr marL="133350" marR="133350" marT="66675" marB="66675" anchor="ctr">
                    <a:solidFill>
                      <a:srgbClr val="FFFFFF"/>
                    </a:solidFill>
                  </a:tcPr>
                </a:tc>
                <a:tc>
                  <a:txBody>
                    <a:bodyPr/>
                    <a:lstStyle/>
                    <a:p>
                      <a:r>
                        <a:rPr sz="1650" b="1">
                          <a:solidFill>
                            <a:srgbClr val="116344"/>
                          </a:solidFill>
                          <a:latin typeface="DejaVu Sans"/>
                          <a:ea typeface="DejaVu Sans"/>
                          <a:cs typeface="DejaVu Sans"/>
                        </a:rPr>
                        <a:t>Tài liệu API / SDK</a:t>
                      </a:r>
                    </a:p>
                  </a:txBody>
                  <a:tcPr marL="133350" marR="133350" marT="66675" marB="66675" anchor="ctr">
                    <a:solidFill>
                      <a:srgbClr val="DDF3EA"/>
                    </a:solidFill>
                  </a:tcPr>
                </a:tc>
                <a:tc>
                  <a:txBody>
                    <a:bodyPr/>
                    <a:lstStyle/>
                    <a:p>
                      <a:r>
                        <a:rPr sz="1650" b="1">
                          <a:solidFill>
                            <a:srgbClr val="805B0A"/>
                          </a:solidFill>
                          <a:latin typeface="DejaVu Sans"/>
                          <a:ea typeface="DejaVu Sans"/>
                          <a:cs typeface="DejaVu Sans"/>
                        </a:rPr>
                        <a:t>Người nói, thời gian, nơi xử lý, giá</a:t>
                      </a:r>
                    </a:p>
                  </a:txBody>
                  <a:tcPr marL="133350" marR="133350" marT="66675" marB="66675" anchor="ctr">
                    <a:solidFill>
                      <a:srgbClr val="FFF1CD"/>
                    </a:solidFill>
                  </a:tcPr>
                </a:tc>
              </a:tr>
              <a:tr h="857250">
                <a:tc>
                  <a:txBody>
                    <a:bodyPr/>
                    <a:lstStyle/>
                    <a:p>
                      <a:r>
                        <a:rPr sz="1650" b="0">
                          <a:solidFill>
                            <a:srgbClr val="182D45"/>
                          </a:solidFill>
                          <a:latin typeface="DejaVu Sans"/>
                          <a:ea typeface="DejaVu Sans"/>
                          <a:cs typeface="DejaVu Sans"/>
                        </a:rPr>
                        <a:t>FPT.AI Speech</a:t>
                      </a:r>
                    </a:p>
                  </a:txBody>
                  <a:tcPr marL="133350" marR="133350" marT="66675" marB="66675" anchor="ctr">
                    <a:solidFill>
                      <a:srgbClr val="EEF3F8"/>
                    </a:solidFill>
                  </a:tcPr>
                </a:tc>
                <a:tc>
                  <a:txBody>
                    <a:bodyPr/>
                    <a:lstStyle/>
                    <a:p>
                      <a:r>
                        <a:rPr sz="1650" b="1">
                          <a:solidFill>
                            <a:srgbClr val="116344"/>
                          </a:solidFill>
                          <a:latin typeface="DejaVu Sans"/>
                          <a:ea typeface="DejaVu Sans"/>
                          <a:cs typeface="DejaVu Sans"/>
                        </a:rPr>
                        <a:t>API trả nội dung nhận dạng</a:t>
                      </a:r>
                    </a:p>
                  </a:txBody>
                  <a:tcPr marL="133350" marR="133350" marT="66675" marB="66675" anchor="ctr">
                    <a:solidFill>
                      <a:srgbClr val="DDF3EA"/>
                    </a:solidFill>
                  </a:tcPr>
                </a:tc>
                <a:tc>
                  <a:txBody>
                    <a:bodyPr/>
                    <a:lstStyle/>
                    <a:p>
                      <a:r>
                        <a:rPr sz="1650" b="1">
                          <a:solidFill>
                            <a:srgbClr val="805B0A"/>
                          </a:solidFill>
                          <a:latin typeface="DejaVu Sans"/>
                          <a:ea typeface="DejaVu Sans"/>
                          <a:cs typeface="DejaVu Sans"/>
                        </a:rPr>
                        <a:t>Đầu ra hiện tại và giới hạn dịch vụ</a:t>
                      </a:r>
                    </a:p>
                  </a:txBody>
                  <a:tcPr marL="133350" marR="133350" marT="66675" marB="66675" anchor="ctr">
                    <a:solidFill>
                      <a:srgbClr val="FFF1CD"/>
                    </a:solidFill>
                  </a:tcPr>
                </a:tc>
              </a:tr>
              <a:tr h="857250">
                <a:tc>
                  <a:txBody>
                    <a:bodyPr/>
                    <a:lstStyle/>
                    <a:p>
                      <a:r>
                        <a:rPr sz="1650" b="0">
                          <a:solidFill>
                            <a:srgbClr val="182D45"/>
                          </a:solidFill>
                          <a:latin typeface="DejaVu Sans"/>
                          <a:ea typeface="DejaVu Sans"/>
                          <a:cs typeface="DejaVu Sans"/>
                        </a:rPr>
                        <a:t>Viettel AI</a:t>
                      </a:r>
                    </a:p>
                  </a:txBody>
                  <a:tcPr marL="133350" marR="133350" marT="66675" marB="66675" anchor="ctr">
                    <a:solidFill>
                      <a:srgbClr val="FFFFFF"/>
                    </a:solidFill>
                  </a:tcPr>
                </a:tc>
                <a:tc>
                  <a:txBody>
                    <a:bodyPr/>
                    <a:lstStyle/>
                    <a:p>
                      <a:r>
                        <a:rPr sz="1650" b="1">
                          <a:solidFill>
                            <a:srgbClr val="805B0A"/>
                          </a:solidFill>
                          <a:latin typeface="DejaVu Sans"/>
                          <a:ea typeface="DejaVu Sans"/>
                          <a:cs typeface="DejaVu Sans"/>
                        </a:rPr>
                        <a:t>Ứng viên khảo sát bổ sung</a:t>
                      </a:r>
                    </a:p>
                  </a:txBody>
                  <a:tcPr marL="133350" marR="133350" marT="66675" marB="66675" anchor="ctr">
                    <a:solidFill>
                      <a:srgbClr val="FFF1CD"/>
                    </a:solidFill>
                  </a:tcPr>
                </a:tc>
                <a:tc>
                  <a:txBody>
                    <a:bodyPr/>
                    <a:lstStyle/>
                    <a:p>
                      <a:r>
                        <a:rPr sz="1650" b="1">
                          <a:solidFill>
                            <a:srgbClr val="805B0A"/>
                          </a:solidFill>
                          <a:latin typeface="DejaVu Sans"/>
                          <a:ea typeface="DejaVu Sans"/>
                          <a:cs typeface="DejaVu Sans"/>
                        </a:rPr>
                        <a:t>Tài liệu dịch vụ hiện hành</a:t>
                      </a:r>
                    </a:p>
                  </a:txBody>
                  <a:tcPr marL="133350" marR="133350" marT="66675" marB="66675" anchor="ctr">
                    <a:solidFill>
                      <a:srgbClr val="FFF1CD"/>
                    </a:solidFill>
                  </a:tcPr>
                </a:tc>
              </a:tr>
            </a:tbl>
          </a:graphicData>
        </a:graphic>
      </p:graphicFrame>
      <p:sp>
        <p:nvSpPr>
          <p:cNvPr id="4" name="">
            <a:extLst xmlns:a="http://schemas.openxmlformats.org/drawingml/2006/main">
              <a:ext uri="{FF2B5EF4-FFF2-40B4-BE49-F238E27FC236}">
                <a16:creationId xmlns:a16="http://schemas.microsoft.com/office/drawing/2014/main" id="{C900561C-421A-405D-91A0-B8BEAAD46ADE}"/>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3754A3"/>
                </a:solidFill>
                <a:latin typeface="DejaVu Sans"/>
                <a:ea typeface="DejaVu Sans"/>
                <a:cs typeface="DejaVu Sans"/>
              </a:defRPr>
            </a:pPr>
            <a:r>
              <a:rPr sz="1500" b="1">
                <a:solidFill>
                  <a:srgbClr val="3754A3"/>
                </a:solidFill>
                <a:latin typeface="DejaVu Sans"/>
                <a:ea typeface="DejaVu Sans"/>
                <a:cs typeface="DejaVu Sans"/>
              </a:rPr>
              <a:t>Nhà cung cấp trong nước: vẫn cần xác nhận nơi xử lý dữ liệu</a:t>
            </a:r>
          </a:p>
        </p:txBody>
      </p:sp>
      <p:sp>
        <p:nvSpPr>
          <p:cNvPr id="5" name="">
            <a:extLst xmlns:a="http://schemas.openxmlformats.org/drawingml/2006/main">
              <a:ext uri="{FF2B5EF4-FFF2-40B4-BE49-F238E27FC236}">
                <a16:creationId xmlns:a16="http://schemas.microsoft.com/office/drawing/2014/main" id="{6A4379D9-E0DE-4E4C-81EC-0890FCCEFD8C}"/>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VNPT AI (n.d.), FPT.AI (n.d.)     15/21</a:t>
            </a:r>
          </a:p>
        </p:txBody>
      </p:sp>
    </p:spTree>
    <p:extLst>
      <p:ext uri="{BB962C8B-B14F-4D97-AF65-F5344CB8AC3E}">
        <p14:creationId xmlns:p14="http://schemas.microsoft.com/office/powerpoint/2010/main" val="975706368"/>
      </p:ext>
    </p:extLst>
  </p:cSld>
</p:sld>
</file>

<file path=ppt/slides/slide16.xml><?xml version="1.0" encoding="utf-8"?>
<p:sld xmlns:p="http://schemas.openxmlformats.org/presentationml/2006/main">
  <p:cSld>
    <p:bg>
      <p:bgPr>
        <a:solidFill xmlns:a="http://schemas.openxmlformats.org/drawingml/2006/main">
          <a:srgbClr val="FCFA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81572A-4087-4EA0-B893-218B88635227}"/>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Ma trận nhu cầu và bằng chứng</a:t>
            </a:r>
          </a:p>
        </p:txBody>
      </p:sp>
      <p:sp>
        <p:nvSpPr>
          <p:cNvPr id="2" name="">
            <a:extLst xmlns:a="http://schemas.openxmlformats.org/drawingml/2006/main">
              <a:ext uri="{FF2B5EF4-FFF2-40B4-BE49-F238E27FC236}">
                <a16:creationId xmlns:a16="http://schemas.microsoft.com/office/drawing/2014/main" id="{28CF6631-3CA2-43E7-8403-30076CF7D98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Mỗi nhu cầu business cần một kiểm chứng cụ thể</a:t>
            </a:r>
          </a:p>
        </p:txBody>
      </p:sp>
      <p:graphicFrame>
        <p:nvGraphicFramePr>
          <p:cNvPr id="8" name=""/>
          <p:cNvGraphicFramePr/>
          <p:nvPr/>
        </p:nvGraphicFramePr>
        <p:xfrm>
          <a:off xmlns:a="http://schemas.openxmlformats.org/drawingml/2006/main" x="609600" y="1752600"/>
          <a:ext xmlns:a="http://schemas.openxmlformats.org/drawingml/2006/main" cx="10972800" cy="3667125"/>
        </p:xfrm>
        <a:graphic xmlns:a="http://schemas.openxmlformats.org/drawingml/2006/main">
          <a:graphicData uri="http://schemas.openxmlformats.org/drawingml/2006/table">
            <a:tbl>
              <a:tblPr/>
              <a:tblGrid>
                <a:gridCol w="3657600"/>
                <a:gridCol w="3657600"/>
                <a:gridCol w="3657600"/>
              </a:tblGrid>
              <a:tr h="611188">
                <a:tc>
                  <a:txBody>
                    <a:bodyPr/>
                    <a:lstStyle/>
                    <a:p>
                      <a:r>
                        <a:rPr sz="1650" b="1">
                          <a:solidFill>
                            <a:srgbClr val="FFFFFF"/>
                          </a:solidFill>
                          <a:latin typeface="DejaVu Sans"/>
                          <a:ea typeface="DejaVu Sans"/>
                          <a:cs typeface="DejaVu Sans"/>
                        </a:rPr>
                        <a:t>Nhu cầu QA</a:t>
                      </a:r>
                    </a:p>
                  </a:txBody>
                  <a:tcPr marL="133350" marR="133350" marT="66675" marB="66675" anchor="ctr">
                    <a:solidFill>
                      <a:srgbClr val="7B459C"/>
                    </a:solidFill>
                  </a:tcPr>
                </a:tc>
                <a:tc>
                  <a:txBody>
                    <a:bodyPr/>
                    <a:lstStyle/>
                    <a:p>
                      <a:r>
                        <a:rPr sz="1650" b="1">
                          <a:solidFill>
                            <a:srgbClr val="FFFFFF"/>
                          </a:solidFill>
                          <a:latin typeface="DejaVu Sans"/>
                          <a:ea typeface="DejaVu Sans"/>
                          <a:cs typeface="DejaVu Sans"/>
                        </a:rPr>
                        <a:t>Điểm cần kiểm tra</a:t>
                      </a:r>
                    </a:p>
                  </a:txBody>
                  <a:tcPr marL="133350" marR="133350" marT="66675" marB="66675" anchor="ctr">
                    <a:solidFill>
                      <a:srgbClr val="7B459C"/>
                    </a:solidFill>
                  </a:tcPr>
                </a:tc>
                <a:tc>
                  <a:txBody>
                    <a:bodyPr/>
                    <a:lstStyle/>
                    <a:p>
                      <a:r>
                        <a:rPr sz="1650" b="1">
                          <a:solidFill>
                            <a:srgbClr val="FFFFFF"/>
                          </a:solidFill>
                          <a:latin typeface="DejaVu Sans"/>
                          <a:ea typeface="DejaVu Sans"/>
                          <a:cs typeface="DejaVu Sans"/>
                        </a:rPr>
                        <a:t>Cách đo ở Part 2</a:t>
                      </a:r>
                    </a:p>
                  </a:txBody>
                  <a:tcPr marL="133350" marR="133350" marT="66675" marB="66675" anchor="ctr">
                    <a:solidFill>
                      <a:srgbClr val="7B459C"/>
                    </a:solidFill>
                  </a:tcPr>
                </a:tc>
              </a:tr>
              <a:tr h="611188">
                <a:tc>
                  <a:txBody>
                    <a:bodyPr/>
                    <a:lstStyle/>
                    <a:p>
                      <a:r>
                        <a:rPr sz="1650" b="0">
                          <a:solidFill>
                            <a:srgbClr val="182D45"/>
                          </a:solidFill>
                          <a:latin typeface="DejaVu Sans"/>
                          <a:ea typeface="DejaVu Sans"/>
                          <a:cs typeface="DejaVu Sans"/>
                        </a:rPr>
                        <a:t>Đọc đúng nội dung</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Số tiền, mã, câu phủ định</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Lỗi quan trọng và công sửa</a:t>
                      </a:r>
                    </a:p>
                  </a:txBody>
                  <a:tcPr marL="133350" marR="133350" marT="66675" marB="66675" anchor="ctr">
                    <a:solidFill>
                      <a:srgbClr val="FFFFFF"/>
                    </a:solidFill>
                  </a:tcPr>
                </a:tc>
              </a:tr>
              <a:tr h="611188">
                <a:tc>
                  <a:txBody>
                    <a:bodyPr/>
                    <a:lstStyle/>
                    <a:p>
                      <a:r>
                        <a:rPr sz="1650" b="0">
                          <a:solidFill>
                            <a:srgbClr val="182D45"/>
                          </a:solidFill>
                          <a:latin typeface="DejaVu Sans"/>
                          <a:ea typeface="DejaVu Sans"/>
                          <a:cs typeface="DejaVu Sans"/>
                        </a:rPr>
                        <a:t>Tìm đúng đoạn audio</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Mốc thời gian khớp nội dung</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Thời gian tìm và nghe lại</a:t>
                      </a:r>
                    </a:p>
                  </a:txBody>
                  <a:tcPr marL="133350" marR="133350" marT="66675" marB="66675" anchor="ctr">
                    <a:solidFill>
                      <a:srgbClr val="EEF3F8"/>
                    </a:solidFill>
                  </a:tcPr>
                </a:tc>
              </a:tr>
              <a:tr h="611188">
                <a:tc>
                  <a:txBody>
                    <a:bodyPr/>
                    <a:lstStyle/>
                    <a:p>
                      <a:r>
                        <a:rPr sz="1650" b="0">
                          <a:solidFill>
                            <a:srgbClr val="182D45"/>
                          </a:solidFill>
                          <a:latin typeface="DejaVu Sans"/>
                          <a:ea typeface="DejaVu Sans"/>
                          <a:cs typeface="DejaVu Sans"/>
                        </a:rPr>
                        <a:t>Phân biệt người nói</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Nhãn người nói, vai trò đúng</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Lỗi gán câu cho sai người</a:t>
                      </a:r>
                    </a:p>
                  </a:txBody>
                  <a:tcPr marL="133350" marR="133350" marT="66675" marB="66675" anchor="ctr">
                    <a:solidFill>
                      <a:srgbClr val="FFFFFF"/>
                    </a:solidFill>
                  </a:tcPr>
                </a:tc>
              </a:tr>
              <a:tr h="611188">
                <a:tc>
                  <a:txBody>
                    <a:bodyPr/>
                    <a:lstStyle/>
                    <a:p>
                      <a:r>
                        <a:rPr sz="1650" b="0">
                          <a:solidFill>
                            <a:srgbClr val="182D45"/>
                          </a:solidFill>
                          <a:latin typeface="DejaVu Sans"/>
                          <a:ea typeface="DejaVu Sans"/>
                          <a:cs typeface="DejaVu Sans"/>
                        </a:rPr>
                        <a:t>Kịp lịch review</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Xử lý ổn định trên audio đại diện</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Thời gian chờ và lỗi xử lý</a:t>
                      </a:r>
                    </a:p>
                  </a:txBody>
                  <a:tcPr marL="133350" marR="133350" marT="66675" marB="66675" anchor="ctr">
                    <a:solidFill>
                      <a:srgbClr val="EEF3F8"/>
                    </a:solidFill>
                  </a:tcPr>
                </a:tc>
              </a:tr>
              <a:tr h="611188">
                <a:tc>
                  <a:txBody>
                    <a:bodyPr/>
                    <a:lstStyle/>
                    <a:p>
                      <a:r>
                        <a:rPr sz="1650" b="0">
                          <a:solidFill>
                            <a:srgbClr val="182D45"/>
                          </a:solidFill>
                          <a:latin typeface="DejaVu Sans"/>
                          <a:ea typeface="DejaVu Sans"/>
                          <a:cs typeface="DejaVu Sans"/>
                        </a:rPr>
                        <a:t>Chi phí phù hợp</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Phí, tài nguyên, công vận hành</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Tổng chi phí theo khối lượng</a:t>
                      </a:r>
                    </a:p>
                  </a:txBody>
                  <a:tcPr marL="133350" marR="13335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3E13A87-E2C1-430D-9985-E0A7B6AA765F}"/>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B459C"/>
                </a:solidFill>
                <a:latin typeface="DejaVu Sans"/>
                <a:ea typeface="DejaVu Sans"/>
                <a:cs typeface="DejaVu Sans"/>
              </a:defRPr>
            </a:pPr>
            <a:r>
              <a:rPr sz="1500" b="1">
                <a:solidFill>
                  <a:srgbClr val="7B459C"/>
                </a:solidFill>
                <a:latin typeface="DejaVu Sans"/>
                <a:ea typeface="DejaVu Sans"/>
                <a:cs typeface="DejaVu Sans"/>
              </a:rPr>
              <a:t>Đây là đề xuất đo lường, chưa phải kết quả thử nghiệm</a:t>
            </a:r>
          </a:p>
        </p:txBody>
      </p:sp>
      <p:sp>
        <p:nvSpPr>
          <p:cNvPr id="5" name="">
            <a:extLst xmlns:a="http://schemas.openxmlformats.org/drawingml/2006/main">
              <a:ext uri="{FF2B5EF4-FFF2-40B4-BE49-F238E27FC236}">
                <a16:creationId xmlns:a16="http://schemas.microsoft.com/office/drawing/2014/main" id="{141A411F-6BCA-4657-935C-D7A857DDF665}"/>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16/21</a:t>
            </a:r>
          </a:p>
        </p:txBody>
      </p:sp>
    </p:spTree>
    <p:extLst>
      <p:ext uri="{BB962C8B-B14F-4D97-AF65-F5344CB8AC3E}">
        <p14:creationId xmlns:p14="http://schemas.microsoft.com/office/powerpoint/2010/main" val="857795875"/>
      </p:ext>
    </p:extLst>
  </p:cSld>
</p:sld>
</file>

<file path=ppt/slides/slide17.xml><?xml version="1.0" encoding="utf-8"?>
<p:sld xmlns:p="http://schemas.openxmlformats.org/presentationml/2006/main">
  <p:cSld>
    <p:bg>
      <p:bgPr>
        <a:solidFill xmlns:a="http://schemas.openxmlformats.org/drawingml/2006/main">
          <a:srgbClr val="FCFA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F3AC242-5DEF-4868-B3E4-D6FADE277D2C}"/>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Shortlist đề xuất cho Evaluation</a:t>
            </a:r>
          </a:p>
        </p:txBody>
      </p:sp>
      <p:sp>
        <p:nvSpPr>
          <p:cNvPr id="2" name="">
            <a:extLst xmlns:a="http://schemas.openxmlformats.org/drawingml/2006/main">
              <a:ext uri="{FF2B5EF4-FFF2-40B4-BE49-F238E27FC236}">
                <a16:creationId xmlns:a16="http://schemas.microsoft.com/office/drawing/2014/main" id="{1C4536F1-80F5-420A-BEE1-FA7196A28236}"/>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Ưu tiên không trả phí API, mở rộng từng vòng</a:t>
            </a:r>
          </a:p>
        </p:txBody>
      </p:sp>
      <p:graphicFrame>
        <p:nvGraphicFramePr>
          <p:cNvPr id="8" name=""/>
          <p:cNvGraphicFramePr/>
          <p:nvPr/>
        </p:nvGraphicFramePr>
        <p:xfrm>
          <a:off xmlns:a="http://schemas.openxmlformats.org/drawingml/2006/main" x="609600" y="1752600"/>
          <a:ext xmlns:a="http://schemas.openxmlformats.org/drawingml/2006/main" cx="10972800" cy="3429000"/>
        </p:xfrm>
        <a:graphic xmlns:a="http://schemas.openxmlformats.org/drawingml/2006/main">
          <a:graphicData uri="http://schemas.openxmlformats.org/drawingml/2006/table">
            <a:tbl>
              <a:tblPr/>
              <a:tblGrid>
                <a:gridCol w="3657600"/>
                <a:gridCol w="3657600"/>
                <a:gridCol w="3657600"/>
              </a:tblGrid>
              <a:tr h="857250">
                <a:tc>
                  <a:txBody>
                    <a:bodyPr/>
                    <a:lstStyle/>
                    <a:p>
                      <a:r>
                        <a:rPr sz="1650" b="1">
                          <a:solidFill>
                            <a:srgbClr val="FFFFFF"/>
                          </a:solidFill>
                          <a:latin typeface="DejaVu Sans"/>
                          <a:ea typeface="DejaVu Sans"/>
                          <a:cs typeface="DejaVu Sans"/>
                        </a:rPr>
                        <a:t>Vòng</a:t>
                      </a:r>
                    </a:p>
                  </a:txBody>
                  <a:tcPr marL="133350" marR="133350" marT="66675" marB="66675" anchor="ctr">
                    <a:solidFill>
                      <a:srgbClr val="7B459C"/>
                    </a:solidFill>
                  </a:tcPr>
                </a:tc>
                <a:tc>
                  <a:txBody>
                    <a:bodyPr/>
                    <a:lstStyle/>
                    <a:p>
                      <a:r>
                        <a:rPr sz="1650" b="1">
                          <a:solidFill>
                            <a:srgbClr val="FFFFFF"/>
                          </a:solidFill>
                          <a:latin typeface="DejaVu Sans"/>
                          <a:ea typeface="DejaVu Sans"/>
                          <a:cs typeface="DejaVu Sans"/>
                        </a:rPr>
                        <a:t>Ứng viên</a:t>
                      </a:r>
                    </a:p>
                  </a:txBody>
                  <a:tcPr marL="133350" marR="133350" marT="66675" marB="66675" anchor="ctr">
                    <a:solidFill>
                      <a:srgbClr val="7B459C"/>
                    </a:solidFill>
                  </a:tcPr>
                </a:tc>
                <a:tc>
                  <a:txBody>
                    <a:bodyPr/>
                    <a:lstStyle/>
                    <a:p>
                      <a:r>
                        <a:rPr sz="1650" b="1">
                          <a:solidFill>
                            <a:srgbClr val="FFFFFF"/>
                          </a:solidFill>
                          <a:latin typeface="DejaVu Sans"/>
                          <a:ea typeface="DejaVu Sans"/>
                          <a:cs typeface="DejaVu Sans"/>
                        </a:rPr>
                        <a:t>Câu hỏi cần trả lời</a:t>
                      </a:r>
                    </a:p>
                  </a:txBody>
                  <a:tcPr marL="133350" marR="133350" marT="66675" marB="66675" anchor="ctr">
                    <a:solidFill>
                      <a:srgbClr val="7B459C"/>
                    </a:solidFill>
                  </a:tcPr>
                </a:tc>
              </a:tr>
              <a:tr h="857250">
                <a:tc>
                  <a:txBody>
                    <a:bodyPr/>
                    <a:lstStyle/>
                    <a:p>
                      <a:r>
                        <a:rPr sz="1650" b="1">
                          <a:solidFill>
                            <a:srgbClr val="116344"/>
                          </a:solidFill>
                          <a:latin typeface="DejaVu Sans"/>
                          <a:ea typeface="DejaVu Sans"/>
                          <a:cs typeface="DejaVu Sans"/>
                        </a:rPr>
                        <a:t>1 / điểm xuất phát</a:t>
                      </a:r>
                    </a:p>
                  </a:txBody>
                  <a:tcPr marL="133350" marR="133350" marT="66675" marB="66675" anchor="ctr">
                    <a:solidFill>
                      <a:srgbClr val="DDF3EA"/>
                    </a:solidFill>
                  </a:tcPr>
                </a:tc>
                <a:tc>
                  <a:txBody>
                    <a:bodyPr/>
                    <a:lstStyle/>
                    <a:p>
                      <a:r>
                        <a:rPr sz="1650" b="0">
                          <a:solidFill>
                            <a:srgbClr val="182D45"/>
                          </a:solidFill>
                          <a:latin typeface="DejaVu Sans"/>
                          <a:ea typeface="DejaVu Sans"/>
                          <a:cs typeface="DejaVu Sans"/>
                        </a:rPr>
                        <a:t>PhoWhisper-base, Whisper-base</a:t>
                      </a:r>
                    </a:p>
                    <a:p>
                      <a:r>
                        <a:rPr sz="1650" b="0">
                          <a:solidFill>
                            <a:srgbClr val="182D45"/>
                          </a:solidFill>
                          <a:latin typeface="DejaVu Sans"/>
                          <a:ea typeface="DejaVu Sans"/>
                          <a:cs typeface="DejaVu Sans"/>
                        </a:rPr>
                        <a:t>PhoWhisper-small, Whisper-small</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Có giảm lỗi và công sửa so với base hiện tại?</a:t>
                      </a:r>
                    </a:p>
                  </a:txBody>
                  <a:tcPr marL="133350" marR="133350" marT="66675" marB="66675" anchor="ctr">
                    <a:solidFill>
                      <a:srgbClr val="FFFFFF"/>
                    </a:solidFill>
                  </a:tcPr>
                </a:tc>
              </a:tr>
              <a:tr h="857250">
                <a:tc>
                  <a:txBody>
                    <a:bodyPr/>
                    <a:lstStyle/>
                    <a:p>
                      <a:r>
                        <a:rPr sz="1650" b="1">
                          <a:solidFill>
                            <a:srgbClr val="805B0A"/>
                          </a:solidFill>
                          <a:latin typeface="DejaVu Sans"/>
                          <a:ea typeface="DejaVu Sans"/>
                          <a:cs typeface="DejaVu Sans"/>
                        </a:rPr>
                        <a:t>2 / khác họ</a:t>
                      </a:r>
                    </a:p>
                  </a:txBody>
                  <a:tcPr marL="133350" marR="133350" marT="66675" marB="66675" anchor="ctr">
                    <a:solidFill>
                      <a:srgbClr val="FFF1CD"/>
                    </a:solidFill>
                  </a:tcPr>
                </a:tc>
                <a:tc>
                  <a:txBody>
                    <a:bodyPr/>
                    <a:lstStyle/>
                    <a:p>
                      <a:r>
                        <a:rPr sz="1650" b="0">
                          <a:solidFill>
                            <a:srgbClr val="182D45"/>
                          </a:solidFill>
                          <a:latin typeface="DejaVu Sans"/>
                          <a:ea typeface="DejaVu Sans"/>
                          <a:cs typeface="DejaVu Sans"/>
                        </a:rPr>
                        <a:t>Parakeet Vietnamese</a:t>
                      </a:r>
                    </a:p>
                    <a:p>
                      <a:r>
                        <a:rPr sz="1650" b="0">
                          <a:solidFill>
                            <a:srgbClr val="182D45"/>
                          </a:solidFill>
                          <a:latin typeface="DejaVu Sans"/>
                          <a:ea typeface="DejaVu Sans"/>
                          <a:cs typeface="DejaVu Sans"/>
                        </a:rPr>
                        <a:t>Qwen3-ASR-0.6B</a:t>
                      </a:r>
                    </a:p>
                  </a:txBody>
                  <a:tcPr marL="133350" marR="133350" marT="66675" marB="66675" anchor="ctr">
                    <a:solidFill>
                      <a:srgbClr val="EEF3F8"/>
                    </a:solidFill>
                  </a:tcPr>
                </a:tc>
                <a:tc>
                  <a:txBody>
                    <a:bodyPr/>
                    <a:lstStyle/>
                    <a:p>
                      <a:r>
                        <a:rPr sz="1650" b="0">
                          <a:solidFill>
                            <a:srgbClr val="182D45"/>
                          </a:solidFill>
                          <a:latin typeface="DejaVu Sans"/>
                          <a:ea typeface="DejaVu Sans"/>
                          <a:cs typeface="DejaVu Sans"/>
                        </a:rPr>
                        <a:t>Lợi ích có đủ bù công triển khai thêm?</a:t>
                      </a:r>
                    </a:p>
                  </a:txBody>
                  <a:tcPr marL="133350" marR="133350" marT="66675" marB="66675" anchor="ctr">
                    <a:solidFill>
                      <a:srgbClr val="EEF3F8"/>
                    </a:solidFill>
                  </a:tcPr>
                </a:tc>
              </a:tr>
              <a:tr h="857250">
                <a:tc>
                  <a:txBody>
                    <a:bodyPr/>
                    <a:lstStyle/>
                    <a:p>
                      <a:r>
                        <a:rPr sz="1650" b="1">
                          <a:solidFill>
                            <a:srgbClr val="805B0A"/>
                          </a:solidFill>
                          <a:latin typeface="DejaVu Sans"/>
                          <a:ea typeface="DejaVu Sans"/>
                          <a:cs typeface="DejaVu Sans"/>
                        </a:rPr>
                        <a:t>3 / API có điều kiện</a:t>
                      </a:r>
                    </a:p>
                  </a:txBody>
                  <a:tcPr marL="133350" marR="133350" marT="66675" marB="66675" anchor="ctr">
                    <a:solidFill>
                      <a:srgbClr val="FFF1CD"/>
                    </a:solidFill>
                  </a:tcPr>
                </a:tc>
                <a:tc>
                  <a:txBody>
                    <a:bodyPr/>
                    <a:lstStyle/>
                    <a:p>
                      <a:r>
                        <a:rPr sz="1650" b="0">
                          <a:solidFill>
                            <a:srgbClr val="182D45"/>
                          </a:solidFill>
                          <a:latin typeface="DejaVu Sans"/>
                          <a:ea typeface="DejaVu Sans"/>
                          <a:cs typeface="DejaVu Sans"/>
                        </a:rPr>
                        <a:t>Chọn 1–2 API theo đầu ra cần dùng</a:t>
                      </a:r>
                    </a:p>
                  </a:txBody>
                  <a:tcPr marL="133350" marR="133350" marT="66675" marB="66675" anchor="ctr">
                    <a:solidFill>
                      <a:srgbClr val="FFFFFF"/>
                    </a:solidFill>
                  </a:tcPr>
                </a:tc>
                <a:tc>
                  <a:txBody>
                    <a:bodyPr/>
                    <a:lstStyle/>
                    <a:p>
                      <a:r>
                        <a:rPr sz="1650" b="0">
                          <a:solidFill>
                            <a:srgbClr val="182D45"/>
                          </a:solidFill>
                          <a:latin typeface="DejaVu Sans"/>
                          <a:ea typeface="DejaVu Sans"/>
                          <a:cs typeface="DejaVu Sans"/>
                        </a:rPr>
                        <a:t>Lợi ích có đủ bù phí dịch vụ?</a:t>
                      </a:r>
                    </a:p>
                  </a:txBody>
                  <a:tcPr marL="133350" marR="133350" marT="66675" marB="6667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5757540-08E7-4988-9FCA-DFAB0FCD41F5}"/>
              </a:ext>
            </a:extLst>
          </p:cNvPr>
          <p:cNvSpPr>
            <a:spLocks xmlns:a="http://schemas.openxmlformats.org/drawingml/2006/main" noGrp="1"/>
          </p:cNvSpPr>
          <p:nvPr/>
        </p:nvSpPr>
        <p:spPr>
          <a:xfrm xmlns:a="http://schemas.openxmlformats.org/drawingml/2006/main">
            <a:off x="609600" y="575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7B459C"/>
                </a:solidFill>
                <a:latin typeface="DejaVu Sans"/>
                <a:ea typeface="DejaVu Sans"/>
                <a:cs typeface="DejaVu Sans"/>
              </a:defRPr>
            </a:pPr>
            <a:r>
              <a:rPr sz="1500" b="1">
                <a:solidFill>
                  <a:srgbClr val="7B459C"/>
                </a:solidFill>
                <a:latin typeface="DejaVu Sans"/>
                <a:ea typeface="DejaVu Sans"/>
                <a:cs typeface="DejaVu Sans"/>
              </a:rPr>
              <a:t>Shortlist là đề xuất thử nghiệm, chưa phải thứ hạng chất lượng</a:t>
            </a:r>
          </a:p>
        </p:txBody>
      </p:sp>
      <p:sp>
        <p:nvSpPr>
          <p:cNvPr id="5" name="">
            <a:extLst xmlns:a="http://schemas.openxmlformats.org/drawingml/2006/main">
              <a:ext uri="{FF2B5EF4-FFF2-40B4-BE49-F238E27FC236}">
                <a16:creationId xmlns:a16="http://schemas.microsoft.com/office/drawing/2014/main" id="{63438BE4-C042-457D-9C5D-2EF7F2296C07}"/>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Nguyen Vu Le Binh (n.d.)     17/21</a:t>
            </a:r>
          </a:p>
        </p:txBody>
      </p:sp>
    </p:spTree>
    <p:extLst>
      <p:ext uri="{BB962C8B-B14F-4D97-AF65-F5344CB8AC3E}">
        <p14:creationId xmlns:p14="http://schemas.microsoft.com/office/powerpoint/2010/main" val="1911576091"/>
      </p:ext>
    </p:extLst>
  </p:cSld>
</p:sld>
</file>

<file path=ppt/slides/slide18.xml><?xml version="1.0" encoding="utf-8"?>
<p:sld xmlns:p="http://schemas.openxmlformats.org/presentationml/2006/main">
  <p:cSld>
    <p:bg>
      <p:bgPr>
        <a:solidFill xmlns:a="http://schemas.openxmlformats.org/drawingml/2006/main">
          <a:srgbClr val="FCFA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EB6577-47F3-4496-B4C3-163B221D0FA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Đầu ra của Part 1</a:t>
            </a:r>
          </a:p>
        </p:txBody>
      </p:sp>
      <p:sp>
        <p:nvSpPr>
          <p:cNvPr id="2" name="">
            <a:extLst xmlns:a="http://schemas.openxmlformats.org/drawingml/2006/main">
              <a:ext uri="{FF2B5EF4-FFF2-40B4-BE49-F238E27FC236}">
                <a16:creationId xmlns:a16="http://schemas.microsoft.com/office/drawing/2014/main" id="{B976E7F6-055B-46DE-AFF4-2F187B28F03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Danh sách cụ thể và câu hỏi có thể kiểm chứng</a:t>
            </a:r>
          </a:p>
        </p:txBody>
      </p:sp>
      <p:sp>
        <p:nvSpPr>
          <p:cNvPr id="3" name="">
            <a:extLst xmlns:a="http://schemas.openxmlformats.org/drawingml/2006/main">
              <a:ext uri="{FF2B5EF4-FFF2-40B4-BE49-F238E27FC236}">
                <a16:creationId xmlns:a16="http://schemas.microsoft.com/office/drawing/2014/main" id="{4F123409-3AA4-4EFB-A06B-C67D82315C06}"/>
              </a:ext>
            </a:extLst>
          </p:cNvPr>
          <p:cNvSpPr>
            <a:spLocks xmlns:a="http://schemas.openxmlformats.org/drawingml/2006/main" noGrp="1"/>
          </p:cNvSpPr>
          <p:nvPr/>
        </p:nvSpPr>
        <p:spPr>
          <a:xfrm xmlns:a="http://schemas.openxmlformats.org/drawingml/2006/main">
            <a:off x="609600" y="188595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B459C"/>
                </a:solidFill>
                <a:latin typeface="DejaVu Sans"/>
                <a:ea typeface="DejaVu Sans"/>
                <a:cs typeface="DejaVu Sans"/>
              </a:defRPr>
            </a:pPr>
            <a:r>
              <a:rPr sz="1875" b="1">
                <a:solidFill>
                  <a:srgbClr val="7B459C"/>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0D8E406C-B908-406F-8406-E6460E026932}"/>
              </a:ext>
            </a:extLst>
          </p:cNvPr>
          <p:cNvSpPr>
            <a:spLocks xmlns:a="http://schemas.openxmlformats.org/drawingml/2006/main" noGrp="1"/>
          </p:cNvSpPr>
          <p:nvPr/>
        </p:nvSpPr>
        <p:spPr>
          <a:xfrm xmlns:a="http://schemas.openxmlformats.org/drawingml/2006/main">
            <a:off x="1285875" y="180975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Đã xác định checkpoint, runtime và API đại diện</a:t>
            </a:r>
          </a:p>
        </p:txBody>
      </p:sp>
      <p:sp>
        <p:nvSpPr>
          <p:cNvPr id="5" name="">
            <a:extLst xmlns:a="http://schemas.openxmlformats.org/drawingml/2006/main">
              <a:ext uri="{FF2B5EF4-FFF2-40B4-BE49-F238E27FC236}">
                <a16:creationId xmlns:a16="http://schemas.microsoft.com/office/drawing/2014/main" id="{3775C682-40FC-4E67-94EB-D10DBBABC2B2}"/>
              </a:ext>
            </a:extLst>
          </p:cNvPr>
          <p:cNvSpPr>
            <a:spLocks xmlns:a="http://schemas.openxmlformats.org/drawingml/2006/main" noGrp="1"/>
          </p:cNvSpPr>
          <p:nvPr/>
        </p:nvSpPr>
        <p:spPr>
          <a:xfrm xmlns:a="http://schemas.openxmlformats.org/drawingml/2006/main">
            <a:off x="609600" y="280987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B459C"/>
                </a:solidFill>
                <a:latin typeface="DejaVu Sans"/>
                <a:ea typeface="DejaVu Sans"/>
                <a:cs typeface="DejaVu Sans"/>
              </a:defRPr>
            </a:pPr>
            <a:r>
              <a:rPr sz="1875" b="1">
                <a:solidFill>
                  <a:srgbClr val="7B459C"/>
                </a:solidFill>
                <a:latin typeface="DejaVu Sans"/>
                <a:ea typeface="DejaVu Sans"/>
                <a:cs typeface="DejaVu Sans"/>
              </a:rPr>
              <a:t>02</a:t>
            </a:r>
          </a:p>
        </p:txBody>
      </p:sp>
      <p:sp>
        <p:nvSpPr>
          <p:cNvPr id="6" name="">
            <a:extLst xmlns:a="http://schemas.openxmlformats.org/drawingml/2006/main">
              <a:ext uri="{FF2B5EF4-FFF2-40B4-BE49-F238E27FC236}">
                <a16:creationId xmlns:a16="http://schemas.microsoft.com/office/drawing/2014/main" id="{C5AD7BE0-32E2-4B42-97E1-F7E34596FF38}"/>
              </a:ext>
            </a:extLst>
          </p:cNvPr>
          <p:cNvSpPr>
            <a:spLocks xmlns:a="http://schemas.openxmlformats.org/drawingml/2006/main" noGrp="1"/>
          </p:cNvSpPr>
          <p:nvPr/>
        </p:nvSpPr>
        <p:spPr>
          <a:xfrm xmlns:a="http://schemas.openxmlformats.org/drawingml/2006/main">
            <a:off x="1285875" y="273367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Đã ghi các khả năng công bố cùng giới hạn tiếng Việt</a:t>
            </a:r>
          </a:p>
        </p:txBody>
      </p:sp>
      <p:sp>
        <p:nvSpPr>
          <p:cNvPr id="7" name="">
            <a:extLst xmlns:a="http://schemas.openxmlformats.org/drawingml/2006/main">
              <a:ext uri="{FF2B5EF4-FFF2-40B4-BE49-F238E27FC236}">
                <a16:creationId xmlns:a16="http://schemas.microsoft.com/office/drawing/2014/main" id="{34D5EC68-0280-411B-9C00-5B3D625E2DBC}"/>
              </a:ext>
            </a:extLst>
          </p:cNvPr>
          <p:cNvSpPr>
            <a:spLocks xmlns:a="http://schemas.openxmlformats.org/drawingml/2006/main" noGrp="1"/>
          </p:cNvSpPr>
          <p:nvPr/>
        </p:nvSpPr>
        <p:spPr>
          <a:xfrm xmlns:a="http://schemas.openxmlformats.org/drawingml/2006/main">
            <a:off x="609600" y="3733800"/>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B459C"/>
                </a:solidFill>
                <a:latin typeface="DejaVu Sans"/>
                <a:ea typeface="DejaVu Sans"/>
                <a:cs typeface="DejaVu Sans"/>
              </a:defRPr>
            </a:pPr>
            <a:r>
              <a:rPr sz="1875" b="1">
                <a:solidFill>
                  <a:srgbClr val="7B459C"/>
                </a:solidFill>
                <a:latin typeface="DejaVu Sans"/>
                <a:ea typeface="DejaVu Sans"/>
                <a:cs typeface="DejaVu Sans"/>
              </a:rPr>
              <a:t>03</a:t>
            </a:r>
          </a:p>
        </p:txBody>
      </p:sp>
      <p:sp>
        <p:nvSpPr>
          <p:cNvPr id="8" name="">
            <a:extLst xmlns:a="http://schemas.openxmlformats.org/drawingml/2006/main">
              <a:ext uri="{FF2B5EF4-FFF2-40B4-BE49-F238E27FC236}">
                <a16:creationId xmlns:a16="http://schemas.microsoft.com/office/drawing/2014/main" id="{1AB34272-B419-423D-8943-5BD0DB70135F}"/>
              </a:ext>
            </a:extLst>
          </p:cNvPr>
          <p:cNvSpPr>
            <a:spLocks xmlns:a="http://schemas.openxmlformats.org/drawingml/2006/main" noGrp="1"/>
          </p:cNvSpPr>
          <p:nvPr/>
        </p:nvSpPr>
        <p:spPr>
          <a:xfrm xmlns:a="http://schemas.openxmlformats.org/drawingml/2006/main">
            <a:off x="1285875" y="3657600"/>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Cần chốt máy chạy, audio đại diện và đầu ra QA cần dùng</a:t>
            </a:r>
          </a:p>
        </p:txBody>
      </p:sp>
      <p:sp>
        <p:nvSpPr>
          <p:cNvPr id="9" name="">
            <a:extLst xmlns:a="http://schemas.openxmlformats.org/drawingml/2006/main">
              <a:ext uri="{FF2B5EF4-FFF2-40B4-BE49-F238E27FC236}">
                <a16:creationId xmlns:a16="http://schemas.microsoft.com/office/drawing/2014/main" id="{3252FC16-FE6C-4C63-AA23-163EC29867FF}"/>
              </a:ext>
            </a:extLst>
          </p:cNvPr>
          <p:cNvSpPr>
            <a:spLocks xmlns:a="http://schemas.openxmlformats.org/drawingml/2006/main" noGrp="1"/>
          </p:cNvSpPr>
          <p:nvPr/>
        </p:nvSpPr>
        <p:spPr>
          <a:xfrm xmlns:a="http://schemas.openxmlformats.org/drawingml/2006/main">
            <a:off x="609600" y="4657725"/>
            <a:ext cx="52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7B459C"/>
                </a:solidFill>
                <a:latin typeface="DejaVu Sans"/>
                <a:ea typeface="DejaVu Sans"/>
                <a:cs typeface="DejaVu Sans"/>
              </a:defRPr>
            </a:pPr>
            <a:r>
              <a:rPr sz="1875" b="1">
                <a:solidFill>
                  <a:srgbClr val="7B459C"/>
                </a:solidFill>
                <a:latin typeface="DejaVu Sans"/>
                <a:ea typeface="DejaVu Sans"/>
                <a:cs typeface="DejaVu Sans"/>
              </a:rPr>
              <a:t>04</a:t>
            </a:r>
          </a:p>
        </p:txBody>
      </p:sp>
      <p:sp>
        <p:nvSpPr>
          <p:cNvPr id="10" name="">
            <a:extLst xmlns:a="http://schemas.openxmlformats.org/drawingml/2006/main">
              <a:ext uri="{FF2B5EF4-FFF2-40B4-BE49-F238E27FC236}">
                <a16:creationId xmlns:a16="http://schemas.microsoft.com/office/drawing/2014/main" id="{3E76295C-44ED-48C8-A38F-ACC92C546D14}"/>
              </a:ext>
            </a:extLst>
          </p:cNvPr>
          <p:cNvSpPr>
            <a:spLocks xmlns:a="http://schemas.openxmlformats.org/drawingml/2006/main" noGrp="1"/>
          </p:cNvSpPr>
          <p:nvPr/>
        </p:nvSpPr>
        <p:spPr>
          <a:xfrm xmlns:a="http://schemas.openxmlformats.org/drawingml/2006/main">
            <a:off x="1285875" y="4581525"/>
            <a:ext cx="10239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5"/>
                </a:solidFill>
                <a:latin typeface="DejaVu Sans"/>
                <a:ea typeface="DejaVu Sans"/>
                <a:cs typeface="DejaVu Sans"/>
              </a:defRPr>
            </a:pPr>
            <a:r>
              <a:rPr sz="2175" b="0">
                <a:solidFill>
                  <a:srgbClr val="182D45"/>
                </a:solidFill>
                <a:latin typeface="DejaVu Sans"/>
                <a:ea typeface="DejaVu Sans"/>
                <a:cs typeface="DejaVu Sans"/>
              </a:rPr>
              <a:t>Part 2: đo trên cùng audio, phân tích lỗi, đối chiếu yêu cầu và đề xuất</a:t>
            </a:r>
          </a:p>
        </p:txBody>
      </p:sp>
      <p:sp>
        <p:nvSpPr>
          <p:cNvPr id="11" name="">
            <a:extLst xmlns:a="http://schemas.openxmlformats.org/drawingml/2006/main">
              <a:ext uri="{FF2B5EF4-FFF2-40B4-BE49-F238E27FC236}">
                <a16:creationId xmlns:a16="http://schemas.microsoft.com/office/drawing/2014/main" id="{96CBABF3-A7C7-4093-8C98-1309C8AB15B7}"/>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Đề xuất nghiên cứu của tác giả     18/21</a:t>
            </a:r>
          </a:p>
        </p:txBody>
      </p:sp>
    </p:spTree>
    <p:extLst>
      <p:ext uri="{BB962C8B-B14F-4D97-AF65-F5344CB8AC3E}">
        <p14:creationId xmlns:p14="http://schemas.microsoft.com/office/powerpoint/2010/main" val="2018310516"/>
      </p:ext>
    </p:extLst>
  </p:cSld>
</p:sld>
</file>

<file path=ppt/slides/slide19.xml><?xml version="1.0" encoding="utf-8"?>
<p:sld xmlns:p="http://schemas.openxmlformats.org/presentationml/2006/main">
  <p:cSld>
    <p:bg>
      <p:bgPr>
        <a:solidFill xmlns:a="http://schemas.openxmlformats.org/drawingml/2006/main">
          <a:srgbClr val="FCFA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A307A7-86D6-46AE-810C-9DD6B3D6AD0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Tài liệu tham khảo 1 / 3</a:t>
            </a:r>
          </a:p>
        </p:txBody>
      </p:sp>
      <p:sp>
        <p:nvSpPr>
          <p:cNvPr id="2" name="">
            <a:extLst xmlns:a="http://schemas.openxmlformats.org/drawingml/2006/main">
              <a:ext uri="{FF2B5EF4-FFF2-40B4-BE49-F238E27FC236}">
                <a16:creationId xmlns:a16="http://schemas.microsoft.com/office/drawing/2014/main" id="{AD860162-36A1-492C-A303-D1351E1D08A5}"/>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E1D22A2E-A3AF-4C3C-9F5F-4EB1A15CD9D8}"/>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(n.d.a) Whisper</a:t>
            </a:r>
          </a:p>
        </p:txBody>
      </p:sp>
      <p:sp>
        <p:nvSpPr>
          <p:cNvPr id="4" name="">
            <a:extLst xmlns:a="http://schemas.openxmlformats.org/drawingml/2006/main">
              <a:ext uri="{FF2B5EF4-FFF2-40B4-BE49-F238E27FC236}">
                <a16:creationId xmlns:a16="http://schemas.microsoft.com/office/drawing/2014/main" id="{E8832B04-21A8-47E0-B876-CD9969B95D5C}"/>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https://github.com/openai/whisper</a:t>
            </a:r>
          </a:p>
        </p:txBody>
      </p:sp>
      <p:sp>
        <p:nvSpPr>
          <p:cNvPr id="5" name="">
            <a:extLst xmlns:a="http://schemas.openxmlformats.org/drawingml/2006/main">
              <a:ext uri="{FF2B5EF4-FFF2-40B4-BE49-F238E27FC236}">
                <a16:creationId xmlns:a16="http://schemas.microsoft.com/office/drawing/2014/main" id="{DE8A5AE0-0A64-4487-9C11-77EE80D0D919}"/>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VinAI Research (n.d.) PhoWhisper</a:t>
            </a:r>
          </a:p>
        </p:txBody>
      </p:sp>
      <p:sp>
        <p:nvSpPr>
          <p:cNvPr id="6" name="">
            <a:extLst xmlns:a="http://schemas.openxmlformats.org/drawingml/2006/main">
              <a:ext uri="{FF2B5EF4-FFF2-40B4-BE49-F238E27FC236}">
                <a16:creationId xmlns:a16="http://schemas.microsoft.com/office/drawing/2014/main" id="{F10E3DD2-104E-47E5-A6C0-25F13BC1F51F}"/>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https://github.com/VinAIResearch/PhoWhisper</a:t>
            </a:r>
          </a:p>
        </p:txBody>
      </p:sp>
      <p:sp>
        <p:nvSpPr>
          <p:cNvPr id="7" name="">
            <a:extLst xmlns:a="http://schemas.openxmlformats.org/drawingml/2006/main">
              <a:ext uri="{FF2B5EF4-FFF2-40B4-BE49-F238E27FC236}">
                <a16:creationId xmlns:a16="http://schemas.microsoft.com/office/drawing/2014/main" id="{7787A29F-75C0-4253-B175-C28232DB5FF9}"/>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NVIDIA (n.d.) Parakeet CTC 0.6B Vietnamese model card</a:t>
            </a:r>
          </a:p>
        </p:txBody>
      </p:sp>
      <p:sp>
        <p:nvSpPr>
          <p:cNvPr id="8" name="">
            <a:extLst xmlns:a="http://schemas.openxmlformats.org/drawingml/2006/main">
              <a:ext uri="{FF2B5EF4-FFF2-40B4-BE49-F238E27FC236}">
                <a16:creationId xmlns:a16="http://schemas.microsoft.com/office/drawing/2014/main" id="{7065D870-7E21-4E5A-A629-64AB6472102D}"/>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https://huggingface.co/nvidia/parakeet-ctc-0.6b-Vietnamese</a:t>
            </a:r>
          </a:p>
        </p:txBody>
      </p:sp>
      <p:sp>
        <p:nvSpPr>
          <p:cNvPr id="9" name="">
            <a:extLst xmlns:a="http://schemas.openxmlformats.org/drawingml/2006/main">
              <a:ext uri="{FF2B5EF4-FFF2-40B4-BE49-F238E27FC236}">
                <a16:creationId xmlns:a16="http://schemas.microsoft.com/office/drawing/2014/main" id="{220822CD-9882-41C7-9247-F032C23D136C}"/>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Qwen Team (n.d.a) Qwen3 ASR repository</a:t>
            </a:r>
          </a:p>
        </p:txBody>
      </p:sp>
      <p:sp>
        <p:nvSpPr>
          <p:cNvPr id="10" name="">
            <a:extLst xmlns:a="http://schemas.openxmlformats.org/drawingml/2006/main">
              <a:ext uri="{FF2B5EF4-FFF2-40B4-BE49-F238E27FC236}">
                <a16:creationId xmlns:a16="http://schemas.microsoft.com/office/drawing/2014/main" id="{2A42926D-B977-46B0-B1DC-A253AD5594FF}"/>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https://github.com/QwenLM/Qwen3-ASR</a:t>
            </a:r>
          </a:p>
        </p:txBody>
      </p:sp>
      <p:sp>
        <p:nvSpPr>
          <p:cNvPr id="11" name="">
            <a:extLst xmlns:a="http://schemas.openxmlformats.org/drawingml/2006/main">
              <a:ext uri="{FF2B5EF4-FFF2-40B4-BE49-F238E27FC236}">
                <a16:creationId xmlns:a16="http://schemas.microsoft.com/office/drawing/2014/main" id="{3CCD6BDD-F8B4-4BCB-8012-86146BB5423D}"/>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Qwen Team (n.d.b) Qwen3 ASR 0.6B model card</a:t>
            </a:r>
          </a:p>
        </p:txBody>
      </p:sp>
      <p:sp>
        <p:nvSpPr>
          <p:cNvPr id="12" name="">
            <a:extLst xmlns:a="http://schemas.openxmlformats.org/drawingml/2006/main">
              <a:ext uri="{FF2B5EF4-FFF2-40B4-BE49-F238E27FC236}">
                <a16:creationId xmlns:a16="http://schemas.microsoft.com/office/drawing/2014/main" id="{98B57B59-236E-4332-BF29-C354E0A3922B}"/>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https://huggingface.co/Qwen/Qwen3-ASR-0.6B</a:t>
            </a:r>
          </a:p>
        </p:txBody>
      </p:sp>
      <p:sp>
        <p:nvSpPr>
          <p:cNvPr id="13" name="">
            <a:extLst xmlns:a="http://schemas.openxmlformats.org/drawingml/2006/main">
              <a:ext uri="{FF2B5EF4-FFF2-40B4-BE49-F238E27FC236}">
                <a16:creationId xmlns:a16="http://schemas.microsoft.com/office/drawing/2014/main" id="{5D1C59A4-266A-4E77-ABFE-039CB507B1C9}"/>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Nguyen Vu Le Binh (n.d.) Wav2Vec2 base Vietnamese 250h model card</a:t>
            </a:r>
          </a:p>
        </p:txBody>
      </p:sp>
      <p:sp>
        <p:nvSpPr>
          <p:cNvPr id="14" name="">
            <a:extLst xmlns:a="http://schemas.openxmlformats.org/drawingml/2006/main">
              <a:ext uri="{FF2B5EF4-FFF2-40B4-BE49-F238E27FC236}">
                <a16:creationId xmlns:a16="http://schemas.microsoft.com/office/drawing/2014/main" id="{E6351378-B6CD-4503-A251-CB67D85C8D76}"/>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https://huggingface.co/nguyenvulebinh/wav2vec2-base-vietnamese-250h</a:t>
            </a:r>
          </a:p>
        </p:txBody>
      </p:sp>
      <p:sp>
        <p:nvSpPr>
          <p:cNvPr id="15" name="">
            <a:extLst xmlns:a="http://schemas.openxmlformats.org/drawingml/2006/main">
              <a:ext uri="{FF2B5EF4-FFF2-40B4-BE49-F238E27FC236}">
                <a16:creationId xmlns:a16="http://schemas.microsoft.com/office/drawing/2014/main" id="{5B398152-9F19-43AC-A70B-C111753FC6FD}"/>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OpenAI (n.d.a), VinAI Research (n.d.), NVIDIA (n.d.), Qwen Team (n.d.a), Qwen Team (n.d.b), Nguyen Vu Le Binh (n.d.)     19/21</a:t>
            </a:r>
          </a:p>
        </p:txBody>
      </p:sp>
    </p:spTree>
    <p:extLst>
      <p:ext uri="{BB962C8B-B14F-4D97-AF65-F5344CB8AC3E}">
        <p14:creationId xmlns:p14="http://schemas.microsoft.com/office/powerpoint/2010/main" val="396533564"/>
      </p:ext>
    </p:extLst>
  </p:cSld>
</p:sld>
</file>

<file path=ppt/slides/slide20.xml><?xml version="1.0" encoding="utf-8"?>
<p:sld xmlns:p="http://schemas.openxmlformats.org/presentationml/2006/main">
  <p:cSld>
    <p:bg>
      <p:bgPr>
        <a:solidFill xmlns:a="http://schemas.openxmlformats.org/drawingml/2006/main">
          <a:srgbClr val="FCFA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0E3638-9120-4AC3-AD5A-008631BF8BE3}"/>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Tài liệu tham khảo 2 / 3</a:t>
            </a:r>
          </a:p>
        </p:txBody>
      </p:sp>
      <p:sp>
        <p:nvSpPr>
          <p:cNvPr id="2" name="">
            <a:extLst xmlns:a="http://schemas.openxmlformats.org/drawingml/2006/main">
              <a:ext uri="{FF2B5EF4-FFF2-40B4-BE49-F238E27FC236}">
                <a16:creationId xmlns:a16="http://schemas.microsoft.com/office/drawing/2014/main" id="{9E73D485-5040-47BE-AA19-2DE8E6B634B8}"/>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1A8E1891-5A60-48C2-8C32-656C838788A3}"/>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Baevski et al. (2020) wav2vec 2.0 A Framework for Self Supervised Learning of Speech Representations</a:t>
            </a:r>
          </a:p>
        </p:txBody>
      </p:sp>
      <p:sp>
        <p:nvSpPr>
          <p:cNvPr id="4" name="">
            <a:extLst xmlns:a="http://schemas.openxmlformats.org/drawingml/2006/main">
              <a:ext uri="{FF2B5EF4-FFF2-40B4-BE49-F238E27FC236}">
                <a16:creationId xmlns:a16="http://schemas.microsoft.com/office/drawing/2014/main" id="{55614879-1444-43A4-BA35-B95FAE8C1292}"/>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https://arxiv.org/abs/2006.11477</a:t>
            </a:r>
          </a:p>
        </p:txBody>
      </p:sp>
      <p:sp>
        <p:nvSpPr>
          <p:cNvPr id="5" name="">
            <a:extLst xmlns:a="http://schemas.openxmlformats.org/drawingml/2006/main">
              <a:ext uri="{FF2B5EF4-FFF2-40B4-BE49-F238E27FC236}">
                <a16:creationId xmlns:a16="http://schemas.microsoft.com/office/drawing/2014/main" id="{E9A054AD-9EBA-40A1-A40E-7816A32AD8ED}"/>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SYSTRAN (n.d.) faster whisper</a:t>
            </a:r>
          </a:p>
        </p:txBody>
      </p:sp>
      <p:sp>
        <p:nvSpPr>
          <p:cNvPr id="6" name="">
            <a:extLst xmlns:a="http://schemas.openxmlformats.org/drawingml/2006/main">
              <a:ext uri="{FF2B5EF4-FFF2-40B4-BE49-F238E27FC236}">
                <a16:creationId xmlns:a16="http://schemas.microsoft.com/office/drawing/2014/main" id="{615A0516-455B-430C-AC5A-4636DC70033D}"/>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https://github.com/SYSTRAN/faster-whisper</a:t>
            </a:r>
          </a:p>
        </p:txBody>
      </p:sp>
      <p:sp>
        <p:nvSpPr>
          <p:cNvPr id="7" name="">
            <a:extLst xmlns:a="http://schemas.openxmlformats.org/drawingml/2006/main">
              <a:ext uri="{FF2B5EF4-FFF2-40B4-BE49-F238E27FC236}">
                <a16:creationId xmlns:a16="http://schemas.microsoft.com/office/drawing/2014/main" id="{1724F3B0-48A5-442F-8587-2C1CECBFB742}"/>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(n.d.b) File transcription</a:t>
            </a:r>
          </a:p>
        </p:txBody>
      </p:sp>
      <p:sp>
        <p:nvSpPr>
          <p:cNvPr id="8" name="">
            <a:extLst xmlns:a="http://schemas.openxmlformats.org/drawingml/2006/main">
              <a:ext uri="{FF2B5EF4-FFF2-40B4-BE49-F238E27FC236}">
                <a16:creationId xmlns:a16="http://schemas.microsoft.com/office/drawing/2014/main" id="{72E59304-9790-4219-8423-D77CAB5FB81F}"/>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https://developers.openai.com/api/docs/guides/speech-to-text</a:t>
            </a:r>
          </a:p>
        </p:txBody>
      </p:sp>
      <p:sp>
        <p:nvSpPr>
          <p:cNvPr id="9" name="">
            <a:extLst xmlns:a="http://schemas.openxmlformats.org/drawingml/2006/main">
              <a:ext uri="{FF2B5EF4-FFF2-40B4-BE49-F238E27FC236}">
                <a16:creationId xmlns:a16="http://schemas.microsoft.com/office/drawing/2014/main" id="{C9D3315C-8377-4388-AF00-D4320A6F09FF}"/>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OpenAI (n.d.c) GPT Transcribe model</a:t>
            </a:r>
          </a:p>
        </p:txBody>
      </p:sp>
      <p:sp>
        <p:nvSpPr>
          <p:cNvPr id="10" name="">
            <a:extLst xmlns:a="http://schemas.openxmlformats.org/drawingml/2006/main">
              <a:ext uri="{FF2B5EF4-FFF2-40B4-BE49-F238E27FC236}">
                <a16:creationId xmlns:a16="http://schemas.microsoft.com/office/drawing/2014/main" id="{34BEE31A-EE0C-409C-A56C-7DC5E6406C8D}"/>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https://developers.openai.com/api/docs/models/gpt-transcribe</a:t>
            </a:r>
          </a:p>
        </p:txBody>
      </p:sp>
      <p:sp>
        <p:nvSpPr>
          <p:cNvPr id="11" name="">
            <a:extLst xmlns:a="http://schemas.openxmlformats.org/drawingml/2006/main">
              <a:ext uri="{FF2B5EF4-FFF2-40B4-BE49-F238E27FC236}">
                <a16:creationId xmlns:a16="http://schemas.microsoft.com/office/drawing/2014/main" id="{D04B672D-26A0-4885-BF31-CA5D163852D7}"/>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Google Cloud (n.d.) Chirp 3 transcription</a:t>
            </a:r>
          </a:p>
        </p:txBody>
      </p:sp>
      <p:sp>
        <p:nvSpPr>
          <p:cNvPr id="12" name="">
            <a:extLst xmlns:a="http://schemas.openxmlformats.org/drawingml/2006/main">
              <a:ext uri="{FF2B5EF4-FFF2-40B4-BE49-F238E27FC236}">
                <a16:creationId xmlns:a16="http://schemas.microsoft.com/office/drawing/2014/main" id="{38F3C7C3-62F4-4B23-B63E-5F5956029A18}"/>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https://docs.cloud.google.com/speech-to-text/docs/models/chirp-3</a:t>
            </a:r>
          </a:p>
        </p:txBody>
      </p:sp>
      <p:sp>
        <p:nvSpPr>
          <p:cNvPr id="13" name="">
            <a:extLst xmlns:a="http://schemas.openxmlformats.org/drawingml/2006/main">
              <a:ext uri="{FF2B5EF4-FFF2-40B4-BE49-F238E27FC236}">
                <a16:creationId xmlns:a16="http://schemas.microsoft.com/office/drawing/2014/main" id="{6331E398-80E6-4AB0-87AF-3B78CB329B9B}"/>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Microsoft (n.d.) Language and voice support for Azure Speech</a:t>
            </a:r>
          </a:p>
        </p:txBody>
      </p:sp>
      <p:sp>
        <p:nvSpPr>
          <p:cNvPr id="14" name="">
            <a:extLst xmlns:a="http://schemas.openxmlformats.org/drawingml/2006/main">
              <a:ext uri="{FF2B5EF4-FFF2-40B4-BE49-F238E27FC236}">
                <a16:creationId xmlns:a16="http://schemas.microsoft.com/office/drawing/2014/main" id="{FD78ABBA-E781-4DA1-B8CA-71BB264C324B}"/>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https://learn.microsoft.com/en-us/azure/ai-services/speech-service/language-support?tabs=stt</a:t>
            </a:r>
          </a:p>
        </p:txBody>
      </p:sp>
      <p:sp>
        <p:nvSpPr>
          <p:cNvPr id="15" name="">
            <a:extLst xmlns:a="http://schemas.openxmlformats.org/drawingml/2006/main">
              <a:ext uri="{FF2B5EF4-FFF2-40B4-BE49-F238E27FC236}">
                <a16:creationId xmlns:a16="http://schemas.microsoft.com/office/drawing/2014/main" id="{14329D6C-B27D-4541-98F2-EB1B0C90A1F2}"/>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Baevski et al. (2020), SYSTRAN (n.d.), OpenAI (n.d.b), OpenAI (n.d.c), Google Cloud (n.d.), Microsoft (n.d.)     20/21</a:t>
            </a:r>
          </a:p>
        </p:txBody>
      </p:sp>
    </p:spTree>
    <p:extLst>
      <p:ext uri="{BB962C8B-B14F-4D97-AF65-F5344CB8AC3E}">
        <p14:creationId xmlns:p14="http://schemas.microsoft.com/office/powerpoint/2010/main" val="1869716224"/>
      </p:ext>
    </p:extLst>
  </p:cSld>
</p:sld>
</file>

<file path=ppt/slides/slide21.xml><?xml version="1.0" encoding="utf-8"?>
<p:sld xmlns:p="http://schemas.openxmlformats.org/presentationml/2006/main">
  <p:cSld>
    <p:bg>
      <p:bgPr>
        <a:solidFill xmlns:a="http://schemas.openxmlformats.org/drawingml/2006/main">
          <a:srgbClr val="FCFAF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D997CC-9793-4FCA-A8EF-7A48F828BCF5}"/>
              </a:ext>
            </a:extLst>
          </p:cNvPr>
          <p:cNvSpPr>
            <a:spLocks xmlns:a="http://schemas.openxmlformats.org/drawingml/2006/main" noGrp="1"/>
          </p:cNvSpPr>
          <p:nvPr/>
        </p:nvSpPr>
        <p:spPr>
          <a:xfrm xmlns:a="http://schemas.openxmlformats.org/drawingml/2006/main">
            <a:off x="609600" y="38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B459C"/>
                </a:solidFill>
                <a:latin typeface="DejaVu Sans"/>
                <a:ea typeface="DejaVu Sans"/>
                <a:cs typeface="DejaVu Sans"/>
              </a:defRPr>
            </a:pPr>
            <a:r>
              <a:rPr sz="2925" b="1">
                <a:solidFill>
                  <a:srgbClr val="7B459C"/>
                </a:solidFill>
                <a:latin typeface="DejaVu Sans"/>
                <a:ea typeface="DejaVu Sans"/>
                <a:cs typeface="DejaVu Sans"/>
              </a:rPr>
              <a:t>Tài liệu tham khảo 3 / 3</a:t>
            </a:r>
          </a:p>
        </p:txBody>
      </p:sp>
      <p:sp>
        <p:nvSpPr>
          <p:cNvPr id="2" name="">
            <a:extLst xmlns:a="http://schemas.openxmlformats.org/drawingml/2006/main">
              <a:ext uri="{FF2B5EF4-FFF2-40B4-BE49-F238E27FC236}">
                <a16:creationId xmlns:a16="http://schemas.microsoft.com/office/drawing/2014/main" id="{AF1152CA-5849-4396-952B-BC96F85B5BD7}"/>
              </a:ext>
            </a:extLst>
          </p:cNvPr>
          <p:cNvSpPr>
            <a:spLocks xmlns:a="http://schemas.openxmlformats.org/drawingml/2006/main" noGrp="1"/>
          </p:cNvSpPr>
          <p:nvPr/>
        </p:nvSpPr>
        <p:spPr>
          <a:xfrm xmlns:a="http://schemas.openxmlformats.org/drawingml/2006/main">
            <a:off x="609600" y="11049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7087"/>
                </a:solidFill>
                <a:latin typeface="DejaVu Sans"/>
                <a:ea typeface="DejaVu Sans"/>
                <a:cs typeface="DejaVu Sans"/>
              </a:defRPr>
            </a:pPr>
            <a:r>
              <a:rPr sz="1650" b="0">
                <a:solidFill>
                  <a:srgbClr val="557087"/>
                </a:solidFill>
                <a:latin typeface="DejaVu Sans"/>
                <a:ea typeface="DejaVu Sans"/>
                <a:cs typeface="DejaVu Sans"/>
              </a:rPr>
              <a:t>Nguồn chính thức và nghiên cứu gốc • Truy cập 7 October 2026</a:t>
            </a:r>
          </a:p>
        </p:txBody>
      </p:sp>
      <p:sp>
        <p:nvSpPr>
          <p:cNvPr id="3" name="">
            <a:extLst xmlns:a="http://schemas.openxmlformats.org/drawingml/2006/main">
              <a:ext uri="{FF2B5EF4-FFF2-40B4-BE49-F238E27FC236}">
                <a16:creationId xmlns:a16="http://schemas.microsoft.com/office/drawing/2014/main" id="{49376A7F-0074-4A15-AD79-F567916D20F1}"/>
              </a:ext>
            </a:extLst>
          </p:cNvPr>
          <p:cNvSpPr>
            <a:spLocks xmlns:a="http://schemas.openxmlformats.org/drawingml/2006/main" noGrp="1"/>
          </p:cNvSpPr>
          <p:nvPr/>
        </p:nvSpPr>
        <p:spPr>
          <a:xfrm xmlns:a="http://schemas.openxmlformats.org/drawingml/2006/main">
            <a:off x="609600" y="17240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AWS (n.d.) Supported languages and language specific features</a:t>
            </a:r>
          </a:p>
        </p:txBody>
      </p:sp>
      <p:sp>
        <p:nvSpPr>
          <p:cNvPr id="4" name="">
            <a:extLst xmlns:a="http://schemas.openxmlformats.org/drawingml/2006/main">
              <a:ext uri="{FF2B5EF4-FFF2-40B4-BE49-F238E27FC236}">
                <a16:creationId xmlns:a16="http://schemas.microsoft.com/office/drawing/2014/main" id="{93A30DC4-918C-4399-8E96-053307A02991}"/>
              </a:ext>
            </a:extLst>
          </p:cNvPr>
          <p:cNvSpPr>
            <a:spLocks xmlns:a="http://schemas.openxmlformats.org/drawingml/2006/main" noGrp="1"/>
          </p:cNvSpPr>
          <p:nvPr/>
        </p:nvSpPr>
        <p:spPr>
          <a:xfrm xmlns:a="http://schemas.openxmlformats.org/drawingml/2006/main">
            <a:off x="609600" y="20097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https://docs.aws.amazon.com/transcribe/latest/dg/supported-languages.html</a:t>
            </a:r>
          </a:p>
        </p:txBody>
      </p:sp>
      <p:sp>
        <p:nvSpPr>
          <p:cNvPr id="5" name="">
            <a:extLst xmlns:a="http://schemas.openxmlformats.org/drawingml/2006/main">
              <a:ext uri="{FF2B5EF4-FFF2-40B4-BE49-F238E27FC236}">
                <a16:creationId xmlns:a16="http://schemas.microsoft.com/office/drawing/2014/main" id="{58F753BC-9DA8-4984-9E21-E8D2AE410C07}"/>
              </a:ext>
            </a:extLst>
          </p:cNvPr>
          <p:cNvSpPr>
            <a:spLocks xmlns:a="http://schemas.openxmlformats.org/drawingml/2006/main" noGrp="1"/>
          </p:cNvSpPr>
          <p:nvPr/>
        </p:nvSpPr>
        <p:spPr>
          <a:xfrm xmlns:a="http://schemas.openxmlformats.org/drawingml/2006/main">
            <a:off x="609600" y="24003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Deepgram (n.d.) Models and languages overview</a:t>
            </a:r>
          </a:p>
        </p:txBody>
      </p:sp>
      <p:sp>
        <p:nvSpPr>
          <p:cNvPr id="6" name="">
            <a:extLst xmlns:a="http://schemas.openxmlformats.org/drawingml/2006/main">
              <a:ext uri="{FF2B5EF4-FFF2-40B4-BE49-F238E27FC236}">
                <a16:creationId xmlns:a16="http://schemas.microsoft.com/office/drawing/2014/main" id="{474FC093-5FAF-4684-948A-F468B7A15FD1}"/>
              </a:ext>
            </a:extLst>
          </p:cNvPr>
          <p:cNvSpPr>
            <a:spLocks xmlns:a="http://schemas.openxmlformats.org/drawingml/2006/main" noGrp="1"/>
          </p:cNvSpPr>
          <p:nvPr/>
        </p:nvSpPr>
        <p:spPr>
          <a:xfrm xmlns:a="http://schemas.openxmlformats.org/drawingml/2006/main">
            <a:off x="609600" y="26860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https://developers.deepgram.com/docs/models-languages-overview</a:t>
            </a:r>
          </a:p>
        </p:txBody>
      </p:sp>
      <p:sp>
        <p:nvSpPr>
          <p:cNvPr id="7" name="">
            <a:extLst xmlns:a="http://schemas.openxmlformats.org/drawingml/2006/main">
              <a:ext uri="{FF2B5EF4-FFF2-40B4-BE49-F238E27FC236}">
                <a16:creationId xmlns:a16="http://schemas.microsoft.com/office/drawing/2014/main" id="{738CD432-E55B-4C38-8F64-F718E3C9ABA2}"/>
              </a:ext>
            </a:extLst>
          </p:cNvPr>
          <p:cNvSpPr>
            <a:spLocks xmlns:a="http://schemas.openxmlformats.org/drawingml/2006/main" noGrp="1"/>
          </p:cNvSpPr>
          <p:nvPr/>
        </p:nvSpPr>
        <p:spPr>
          <a:xfrm xmlns:a="http://schemas.openxmlformats.org/drawingml/2006/main">
            <a:off x="609600" y="3076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Speechmatics (n.d.a) Languages</a:t>
            </a:r>
          </a:p>
        </p:txBody>
      </p:sp>
      <p:sp>
        <p:nvSpPr>
          <p:cNvPr id="8" name="">
            <a:extLst xmlns:a="http://schemas.openxmlformats.org/drawingml/2006/main">
              <a:ext uri="{FF2B5EF4-FFF2-40B4-BE49-F238E27FC236}">
                <a16:creationId xmlns:a16="http://schemas.microsoft.com/office/drawing/2014/main" id="{C670D8EF-4002-43DB-ACB9-F504F6D3FECC}"/>
              </a:ext>
            </a:extLst>
          </p:cNvPr>
          <p:cNvSpPr>
            <a:spLocks xmlns:a="http://schemas.openxmlformats.org/drawingml/2006/main" noGrp="1"/>
          </p:cNvSpPr>
          <p:nvPr/>
        </p:nvSpPr>
        <p:spPr>
          <a:xfrm xmlns:a="http://schemas.openxmlformats.org/drawingml/2006/main">
            <a:off x="609600" y="33623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https://docs.speechmatics.com/speech-to-text/languages</a:t>
            </a:r>
          </a:p>
        </p:txBody>
      </p:sp>
      <p:sp>
        <p:nvSpPr>
          <p:cNvPr id="9" name="">
            <a:extLst xmlns:a="http://schemas.openxmlformats.org/drawingml/2006/main">
              <a:ext uri="{FF2B5EF4-FFF2-40B4-BE49-F238E27FC236}">
                <a16:creationId xmlns:a16="http://schemas.microsoft.com/office/drawing/2014/main" id="{63CA02BE-B70F-469A-A3A9-74653519BA8A}"/>
              </a:ext>
            </a:extLst>
          </p:cNvPr>
          <p:cNvSpPr>
            <a:spLocks xmlns:a="http://schemas.openxmlformats.org/drawingml/2006/main" noGrp="1"/>
          </p:cNvSpPr>
          <p:nvPr/>
        </p:nvSpPr>
        <p:spPr>
          <a:xfrm xmlns:a="http://schemas.openxmlformats.org/drawingml/2006/main">
            <a:off x="609600" y="37528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Speechmatics (n.d.b) Deployments overview</a:t>
            </a:r>
          </a:p>
        </p:txBody>
      </p:sp>
      <p:sp>
        <p:nvSpPr>
          <p:cNvPr id="10" name="">
            <a:extLst xmlns:a="http://schemas.openxmlformats.org/drawingml/2006/main">
              <a:ext uri="{FF2B5EF4-FFF2-40B4-BE49-F238E27FC236}">
                <a16:creationId xmlns:a16="http://schemas.microsoft.com/office/drawing/2014/main" id="{C5C68F88-BFDF-4E15-B0F3-15B3F31CCBD2}"/>
              </a:ext>
            </a:extLst>
          </p:cNvPr>
          <p:cNvSpPr>
            <a:spLocks xmlns:a="http://schemas.openxmlformats.org/drawingml/2006/main" noGrp="1"/>
          </p:cNvSpPr>
          <p:nvPr/>
        </p:nvSpPr>
        <p:spPr>
          <a:xfrm xmlns:a="http://schemas.openxmlformats.org/drawingml/2006/main">
            <a:off x="609600" y="40386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https://docs.speechmatics.com/deployments</a:t>
            </a:r>
          </a:p>
        </p:txBody>
      </p:sp>
      <p:sp>
        <p:nvSpPr>
          <p:cNvPr id="11" name="">
            <a:extLst xmlns:a="http://schemas.openxmlformats.org/drawingml/2006/main">
              <a:ext uri="{FF2B5EF4-FFF2-40B4-BE49-F238E27FC236}">
                <a16:creationId xmlns:a16="http://schemas.microsoft.com/office/drawing/2014/main" id="{621A23A2-A68B-4DA7-B3FC-FEB922A709BD}"/>
              </a:ext>
            </a:extLst>
          </p:cNvPr>
          <p:cNvSpPr>
            <a:spLocks xmlns:a="http://schemas.openxmlformats.org/drawingml/2006/main" noGrp="1"/>
          </p:cNvSpPr>
          <p:nvPr/>
        </p:nvSpPr>
        <p:spPr>
          <a:xfrm xmlns:a="http://schemas.openxmlformats.org/drawingml/2006/main">
            <a:off x="609600" y="4429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VNPT AI (n.d.) SmartVoice thông số kỹ thuật</a:t>
            </a:r>
          </a:p>
        </p:txBody>
      </p:sp>
      <p:sp>
        <p:nvSpPr>
          <p:cNvPr id="12" name="">
            <a:extLst xmlns:a="http://schemas.openxmlformats.org/drawingml/2006/main">
              <a:ext uri="{FF2B5EF4-FFF2-40B4-BE49-F238E27FC236}">
                <a16:creationId xmlns:a16="http://schemas.microsoft.com/office/drawing/2014/main" id="{00362A97-7B10-4CDE-81C0-A05FBC6CE9D3}"/>
              </a:ext>
            </a:extLst>
          </p:cNvPr>
          <p:cNvSpPr>
            <a:spLocks xmlns:a="http://schemas.openxmlformats.org/drawingml/2006/main" noGrp="1"/>
          </p:cNvSpPr>
          <p:nvPr/>
        </p:nvSpPr>
        <p:spPr>
          <a:xfrm xmlns:a="http://schemas.openxmlformats.org/drawingml/2006/main">
            <a:off x="609600" y="471487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https://vnptai.io/smartvoice/vi/engine-specs</a:t>
            </a:r>
          </a:p>
        </p:txBody>
      </p:sp>
      <p:sp>
        <p:nvSpPr>
          <p:cNvPr id="13" name="">
            <a:extLst xmlns:a="http://schemas.openxmlformats.org/drawingml/2006/main">
              <a:ext uri="{FF2B5EF4-FFF2-40B4-BE49-F238E27FC236}">
                <a16:creationId xmlns:a16="http://schemas.microsoft.com/office/drawing/2014/main" id="{BD2625A9-F6B5-4AEE-A506-2FACEFB1367D}"/>
              </a:ext>
            </a:extLst>
          </p:cNvPr>
          <p:cNvSpPr>
            <a:spLocks xmlns:a="http://schemas.openxmlformats.org/drawingml/2006/main" noGrp="1"/>
          </p:cNvSpPr>
          <p:nvPr/>
        </p:nvSpPr>
        <p:spPr>
          <a:xfrm xmlns:a="http://schemas.openxmlformats.org/drawingml/2006/main">
            <a:off x="609600" y="51054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82D45"/>
                </a:solidFill>
                <a:latin typeface="DejaVu Sans"/>
                <a:ea typeface="DejaVu Sans"/>
                <a:cs typeface="DejaVu Sans"/>
              </a:defRPr>
            </a:pPr>
            <a:r>
              <a:rPr sz="1425" b="1">
                <a:solidFill>
                  <a:srgbClr val="182D45"/>
                </a:solidFill>
                <a:latin typeface="DejaVu Sans"/>
                <a:ea typeface="DejaVu Sans"/>
                <a:cs typeface="DejaVu Sans"/>
              </a:rPr>
              <a:t>FPT.AI (n.d.) Speech to Text API</a:t>
            </a:r>
          </a:p>
        </p:txBody>
      </p:sp>
      <p:sp>
        <p:nvSpPr>
          <p:cNvPr id="14" name="">
            <a:extLst xmlns:a="http://schemas.openxmlformats.org/drawingml/2006/main">
              <a:ext uri="{FF2B5EF4-FFF2-40B4-BE49-F238E27FC236}">
                <a16:creationId xmlns:a16="http://schemas.microsoft.com/office/drawing/2014/main" id="{1A683AED-3877-4203-9035-D7604D82BC2E}"/>
              </a:ext>
            </a:extLst>
          </p:cNvPr>
          <p:cNvSpPr>
            <a:spLocks xmlns:a="http://schemas.openxmlformats.org/drawingml/2006/main" noGrp="1"/>
          </p:cNvSpPr>
          <p:nvPr/>
        </p:nvSpPr>
        <p:spPr>
          <a:xfrm xmlns:a="http://schemas.openxmlformats.org/drawingml/2006/main">
            <a:off x="609600" y="53911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6D80"/>
                </a:solidFill>
                <a:latin typeface="DejaVu Sans"/>
                <a:ea typeface="DejaVu Sans"/>
                <a:cs typeface="DejaVu Sans"/>
              </a:defRPr>
            </a:pPr>
            <a:r>
              <a:rPr sz="1200" b="0">
                <a:solidFill>
                  <a:srgbClr val="176D80"/>
                </a:solidFill>
                <a:latin typeface="DejaVu Sans"/>
                <a:ea typeface="DejaVu Sans"/>
                <a:cs typeface="DejaVu Sans"/>
              </a:rPr>
              <a:t>https://docs.fpt.ai/docs/en/speech/api/speech-to-text/</a:t>
            </a:r>
          </a:p>
        </p:txBody>
      </p:sp>
      <p:sp>
        <p:nvSpPr>
          <p:cNvPr id="15" name="">
            <a:extLst xmlns:a="http://schemas.openxmlformats.org/drawingml/2006/main">
              <a:ext uri="{FF2B5EF4-FFF2-40B4-BE49-F238E27FC236}">
                <a16:creationId xmlns:a16="http://schemas.microsoft.com/office/drawing/2014/main" id="{7FEDF8D2-8743-4055-8101-EBC5D914C294}"/>
              </a:ext>
            </a:extLst>
          </p:cNvPr>
          <p:cNvSpPr>
            <a:spLocks xmlns:a="http://schemas.openxmlformats.org/drawingml/2006/main" noGrp="1"/>
          </p:cNvSpPr>
          <p:nvPr/>
        </p:nvSpPr>
        <p:spPr>
          <a:xfrm xmlns:a="http://schemas.openxmlformats.org/drawingml/2006/main">
            <a:off x="609600" y="62865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57087"/>
                </a:solidFill>
                <a:latin typeface="DejaVu Sans"/>
                <a:ea typeface="DejaVu Sans"/>
                <a:cs typeface="DejaVu Sans"/>
              </a:defRPr>
            </a:pPr>
            <a:r>
              <a:rPr sz="1050" b="0">
                <a:solidFill>
                  <a:srgbClr val="557087"/>
                </a:solidFill>
                <a:latin typeface="DejaVu Sans"/>
                <a:ea typeface="DejaVu Sans"/>
                <a:cs typeface="DejaVu Sans"/>
              </a:rPr>
              <a:t>Nguồn: AWS (n.d.), Deepgram (n.d.), Speechmatics (n.d.a), Speechmatics (n.d.b), VNPT AI (n.d.), FPT.AI (n.d.)     21/21</a:t>
            </a:r>
          </a:p>
        </p:txBody>
      </p:sp>
    </p:spTree>
    <p:extLst>
      <p:ext uri="{BB962C8B-B14F-4D97-AF65-F5344CB8AC3E}">
        <p14:creationId xmlns:p14="http://schemas.microsoft.com/office/powerpoint/2010/main" val="278226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2026-10-07T04:17:15.5340000Z</dcterms:created>
  <dcterms:modified xsi:type="dcterms:W3CDTF">2026-10-07T04:17:15.5340000Z</dcterms:modified>
</coreProperties>
</file>