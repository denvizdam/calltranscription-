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c7a0606eff4d30" /><Relationship Type="http://schemas.openxmlformats.org/officeDocument/2006/relationships/extended-properties" Target="/docProps/app.xml" Id="Rdb01b204d0a4486b" /><Relationship Type="http://schemas.openxmlformats.org/officeDocument/2006/relationships/officeDocument" Target="/ppt/presentation.xml" Id="R987179ef2e934fc3" /></Relationships>
</file>

<file path=ppt/presentation.xml><?xml version="1.0" encoding="utf-8"?>
<p:presentation xmlns:p="http://schemas.openxmlformats.org/presentationml/2006/main">
  <p:sldMasterIdLst>
    <p:sldMasterId xmlns:r="http://schemas.openxmlformats.org/officeDocument/2006/relationships" id="2147483648" r:id="R83fcb6a186ea45ab"/>
  </p:sldMasterIdLst>
  <p:notesMasterIdLst>
    <p:notesMasterId xmlns:r="http://schemas.openxmlformats.org/officeDocument/2006/relationships" r:id="Ref388e27c8c2413c"/>
  </p:notesMasterIdLst>
  <p:sldIdLst>
    <p:sldId xmlns:r="http://schemas.openxmlformats.org/officeDocument/2006/relationships" id="256" r:id="R66472b8b8fe44944"/>
    <p:sldId xmlns:r="http://schemas.openxmlformats.org/officeDocument/2006/relationships" id="257" r:id="R6d83cdf7f9174528"/>
    <p:sldId xmlns:r="http://schemas.openxmlformats.org/officeDocument/2006/relationships" id="258" r:id="Re643b916e0dd4f13"/>
    <p:sldId xmlns:r="http://schemas.openxmlformats.org/officeDocument/2006/relationships" id="259" r:id="R5d1cc85d071b481f"/>
    <p:sldId xmlns:r="http://schemas.openxmlformats.org/officeDocument/2006/relationships" id="260" r:id="Ra6049160c4eb4847"/>
    <p:sldId xmlns:r="http://schemas.openxmlformats.org/officeDocument/2006/relationships" id="261" r:id="R1dc4097933764bb5"/>
    <p:sldId xmlns:r="http://schemas.openxmlformats.org/officeDocument/2006/relationships" id="262" r:id="R87c83857dd274367"/>
    <p:sldId xmlns:r="http://schemas.openxmlformats.org/officeDocument/2006/relationships" id="263" r:id="Re27aa8000b374aed"/>
    <p:sldId xmlns:r="http://schemas.openxmlformats.org/officeDocument/2006/relationships" id="264" r:id="Raff47c92a05a49a5"/>
    <p:sldId xmlns:r="http://schemas.openxmlformats.org/officeDocument/2006/relationships" id="265" r:id="Refcbf8cc7a6848b7"/>
    <p:sldId xmlns:r="http://schemas.openxmlformats.org/officeDocument/2006/relationships" id="266" r:id="R259695fd16ac47cd"/>
    <p:sldId xmlns:r="http://schemas.openxmlformats.org/officeDocument/2006/relationships" id="267" r:id="R077855ee0e5d431a"/>
    <p:sldId xmlns:r="http://schemas.openxmlformats.org/officeDocument/2006/relationships" id="268" r:id="R7a2a677845dd4a94"/>
    <p:sldId xmlns:r="http://schemas.openxmlformats.org/officeDocument/2006/relationships" id="269" r:id="R904b6a0606a742e1"/>
    <p:sldId xmlns:r="http://schemas.openxmlformats.org/officeDocument/2006/relationships" id="270" r:id="R3210b03c28b44404"/>
    <p:sldId xmlns:r="http://schemas.openxmlformats.org/officeDocument/2006/relationships" id="271" r:id="Rc03a4801fc4248ae"/>
    <p:sldId xmlns:r="http://schemas.openxmlformats.org/officeDocument/2006/relationships" id="272" r:id="R694b428cfe53408f"/>
    <p:sldId xmlns:r="http://schemas.openxmlformats.org/officeDocument/2006/relationships" id="273" r:id="Rddd193b0935440e5"/>
    <p:sldId xmlns:r="http://schemas.openxmlformats.org/officeDocument/2006/relationships" id="274" r:id="Rc8fd2dde58324c10"/>
    <p:sldId xmlns:r="http://schemas.openxmlformats.org/officeDocument/2006/relationships" id="275" r:id="Ra27d792640144434"/>
    <p:sldId xmlns:r="http://schemas.openxmlformats.org/officeDocument/2006/relationships" id="276" r:id="Rbd3d927b91fe42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1d6f7475394dc6" /><Relationship Type="http://schemas.openxmlformats.org/officeDocument/2006/relationships/slideMaster" Target="/ppt/slideMasters/slideMaster1.xml" Id="R83fcb6a186ea45ab" /><Relationship Type="http://schemas.openxmlformats.org/officeDocument/2006/relationships/notesMaster" Target="/ppt/notesMasters/notesMaster1.xml" Id="Ref388e27c8c2413c" /><Relationship Type="http://schemas.openxmlformats.org/officeDocument/2006/relationships/presProps" Target="/ppt/presProps.xml" Id="R01603c7017a8487b" /><Relationship Type="http://schemas.openxmlformats.org/officeDocument/2006/relationships/tableStyles" Target="/ppt/tableStyles.xml" Id="Rdf2546e1ae6a4aee" /><Relationship Type="http://schemas.openxmlformats.org/officeDocument/2006/relationships/slide" Target="/ppt/slides/slide1.xml" Id="R66472b8b8fe44944" /><Relationship Type="http://schemas.openxmlformats.org/officeDocument/2006/relationships/slide" Target="/ppt/slides/slide2.xml" Id="R6d83cdf7f9174528" /><Relationship Type="http://schemas.openxmlformats.org/officeDocument/2006/relationships/slide" Target="/ppt/slides/slide3.xml" Id="Re643b916e0dd4f13" /><Relationship Type="http://schemas.openxmlformats.org/officeDocument/2006/relationships/slide" Target="/ppt/slides/slide4.xml" Id="R5d1cc85d071b481f" /><Relationship Type="http://schemas.openxmlformats.org/officeDocument/2006/relationships/slide" Target="/ppt/slides/slide5.xml" Id="Ra6049160c4eb4847" /><Relationship Type="http://schemas.openxmlformats.org/officeDocument/2006/relationships/slide" Target="/ppt/slides/slide6.xml" Id="R1dc4097933764bb5" /><Relationship Type="http://schemas.openxmlformats.org/officeDocument/2006/relationships/slide" Target="/ppt/slides/slide7.xml" Id="R87c83857dd274367" /><Relationship Type="http://schemas.openxmlformats.org/officeDocument/2006/relationships/slide" Target="/ppt/slides/slide8.xml" Id="Re27aa8000b374aed" /><Relationship Type="http://schemas.openxmlformats.org/officeDocument/2006/relationships/slide" Target="/ppt/slides/slide9.xml" Id="Raff47c92a05a49a5" /><Relationship Type="http://schemas.openxmlformats.org/officeDocument/2006/relationships/slide" Target="/ppt/slides/slide10.xml" Id="Refcbf8cc7a6848b7" /><Relationship Type="http://schemas.openxmlformats.org/officeDocument/2006/relationships/slide" Target="/ppt/slides/slide11.xml" Id="R259695fd16ac47cd" /><Relationship Type="http://schemas.openxmlformats.org/officeDocument/2006/relationships/slide" Target="/ppt/slides/slide12.xml" Id="R077855ee0e5d431a" /><Relationship Type="http://schemas.openxmlformats.org/officeDocument/2006/relationships/slide" Target="/ppt/slides/slide13.xml" Id="R7a2a677845dd4a94" /><Relationship Type="http://schemas.openxmlformats.org/officeDocument/2006/relationships/slide" Target="/ppt/slides/slide14.xml" Id="R904b6a0606a742e1" /><Relationship Type="http://schemas.openxmlformats.org/officeDocument/2006/relationships/slide" Target="/ppt/slides/slide15.xml" Id="R3210b03c28b44404" /><Relationship Type="http://schemas.openxmlformats.org/officeDocument/2006/relationships/slide" Target="/ppt/slides/slide16.xml" Id="Rc03a4801fc4248ae" /><Relationship Type="http://schemas.openxmlformats.org/officeDocument/2006/relationships/slide" Target="/ppt/slides/slide17.xml" Id="R694b428cfe53408f" /><Relationship Type="http://schemas.openxmlformats.org/officeDocument/2006/relationships/slide" Target="/ppt/slides/slide18.xml" Id="Rddd193b0935440e5" /><Relationship Type="http://schemas.openxmlformats.org/officeDocument/2006/relationships/slide" Target="/ppt/slides/slide19.xml" Id="Rc8fd2dde58324c10" /><Relationship Type="http://schemas.openxmlformats.org/officeDocument/2006/relationships/slide" Target="/ppt/slides/slide20.xml" Id="Ra27d792640144434" /><Relationship Type="http://schemas.openxmlformats.org/officeDocument/2006/relationships/slide" Target="/ppt/slides/slide21.xml" Id="Rbd3d927b91fe42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a5e578b3834e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3ea2f97fa24d54" /><Relationship Type="http://schemas.openxmlformats.org/officeDocument/2006/relationships/notesMaster" Target="/ppt/notesMasters/notesMaster1.xml" Id="R3d323702d7fc46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cdf4c56f354c75" /><Relationship Type="http://schemas.openxmlformats.org/officeDocument/2006/relationships/notesMaster" Target="/ppt/notesMasters/notesMaster1.xml" Id="Re2591dc6c16f4b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52dcb4bf540af" /><Relationship Type="http://schemas.openxmlformats.org/officeDocument/2006/relationships/notesMaster" Target="/ppt/notesMasters/notesMaster1.xml" Id="Rdf5a8fe6e0d14b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a6651a49c6452b" /><Relationship Type="http://schemas.openxmlformats.org/officeDocument/2006/relationships/notesMaster" Target="/ppt/notesMasters/notesMaster1.xml" Id="Redf751b3240f44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b0d2295aff4544" /><Relationship Type="http://schemas.openxmlformats.org/officeDocument/2006/relationships/notesMaster" Target="/ppt/notesMasters/notesMaster1.xml" Id="R605891c1ee814d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502d06c5084c21" /><Relationship Type="http://schemas.openxmlformats.org/officeDocument/2006/relationships/notesMaster" Target="/ppt/notesMasters/notesMaster1.xml" Id="Rc8a0cf37ddde4a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fcd186dec14fd1" /><Relationship Type="http://schemas.openxmlformats.org/officeDocument/2006/relationships/notesMaster" Target="/ppt/notesMasters/notesMaster1.xml" Id="R7b293fb522c746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15a226b5ea48c3" /><Relationship Type="http://schemas.openxmlformats.org/officeDocument/2006/relationships/notesMaster" Target="/ppt/notesMasters/notesMaster1.xml" Id="Re51d01cbefbc44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3e3decd44c4d3b" /><Relationship Type="http://schemas.openxmlformats.org/officeDocument/2006/relationships/notesMaster" Target="/ppt/notesMasters/notesMaster1.xml" Id="R239fd87d7c3444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da39c27e4141bf" /><Relationship Type="http://schemas.openxmlformats.org/officeDocument/2006/relationships/notesMaster" Target="/ppt/notesMasters/notesMaster1.xml" Id="Rf1e0d336025a44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779aa9d89a4d76" /><Relationship Type="http://schemas.openxmlformats.org/officeDocument/2006/relationships/notesMaster" Target="/ppt/notesMasters/notesMaster1.xml" Id="R00c91f10271640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85215ba27d416a" /><Relationship Type="http://schemas.openxmlformats.org/officeDocument/2006/relationships/notesMaster" Target="/ppt/notesMasters/notesMaster1.xml" Id="R68186019eded41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d67b336a564d64" /><Relationship Type="http://schemas.openxmlformats.org/officeDocument/2006/relationships/notesMaster" Target="/ppt/notesMasters/notesMaster1.xml" Id="R5934eb334b3649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149e7d066b45bf" /><Relationship Type="http://schemas.openxmlformats.org/officeDocument/2006/relationships/notesMaster" Target="/ppt/notesMasters/notesMaster1.xml" Id="R2369cc722f6744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f04d13e3564da1" /><Relationship Type="http://schemas.openxmlformats.org/officeDocument/2006/relationships/notesMaster" Target="/ppt/notesMasters/notesMaster1.xml" Id="Rf1c657cba69a4d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b15afb5dd0450d" /><Relationship Type="http://schemas.openxmlformats.org/officeDocument/2006/relationships/notesMaster" Target="/ppt/notesMasters/notesMaster1.xml" Id="R80728aa6c6fc4c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5cffc5c02948b9" /><Relationship Type="http://schemas.openxmlformats.org/officeDocument/2006/relationships/notesMaster" Target="/ppt/notesMasters/notesMaster1.xml" Id="Rec0ead0bfda64f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a5731061d74ae4" /><Relationship Type="http://schemas.openxmlformats.org/officeDocument/2006/relationships/notesMaster" Target="/ppt/notesMasters/notesMaster1.xml" Id="Rd632e8327bee4b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d103989da14ed7" /><Relationship Type="http://schemas.openxmlformats.org/officeDocument/2006/relationships/notesMaster" Target="/ppt/notesMasters/notesMaster1.xml" Id="Rbddb557e577947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3a5b4f1f654f3c" /><Relationship Type="http://schemas.openxmlformats.org/officeDocument/2006/relationships/notesMaster" Target="/ppt/notesMasters/notesMaster1.xml" Id="R76e5784b678f4a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c2ea2dcc6814a46" /><Relationship Type="http://schemas.openxmlformats.org/officeDocument/2006/relationships/notesMaster" Target="/ppt/notesMasters/notesMaster1.xml" Id="R8276dc3eb23d4c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xin trình bày khảo sát các model và API chuyển cuộc gọi tiếng Việt thành văn bản. Hiện em đang chạy PhoWhisper-base, vì vậy em lấy cấu hình này làm điểm xuất phát. Mục tiêu của phần này là hiểu những hướng khác có gì đáng thử và chọn câu hỏi nghiên cứu cho bước Evaluation. Em ưu tiên model tải về chạy trên hạ tầng quản lý, đồng thời giữ API thương mại để hiểu khả năng của thị trường. Các ví dụ trong bài đều là giả lập. Bài chưa có kết quả benchmark trên cuộc gọi của công ty.</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khảo sát các đại diện có tài liệu chính thức và có liên quan đến tiếng Việt. Đây là danh sách có chọn lọc, chưa bao quát toàn bộ thị trường. Em dùng ba mức đọc bằng chứng: tài liệu xác nhận, điểm cần kiểm tra thêm, và giả thuyết cần đo. Ví dụ, tài liệu ghi hỗ trợ tiếng Việt xác nhận ngôn ngữ có trong sản phẩm. Câu hỏi nghe đúng số tiền trong cuộc gọi nhiễu vẫn thuộc thử nghiệm. Với vai trò Data Analyst, mình có thể coi survey là bước xác định các phương án và biến cần đo, trước khi thu thập kết quả so sánh.</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OpenAI (n.d.b) File transcription. https://developers.openai.com/api/docs/guides/speech-to-text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này giúp tránh gom tất cả model tải được vào cùng một nhóm miễn phí sử dụng cho doanh nghiệp. Whisper và PhoWhisper là hai hướng gần nhau. Parakeet và Qwen3-ASR mở rộng sang các thiết kế khác. Với checkpoint Wav2Vec2 đã nêu, model card giới hạn phi thương mại, nên em giữ trong nhóm nghiên cứu và cần làm rõ quyền sử dụng trước khi thử trong bối cảnh công ty. Em chưa có cấu hình máy hiện tại để chốt RAM hay VRAM cần thiết. Free trong bài nghĩa là không mua lượt gọi API cho model tự chạy, còn máy và công sức vận hành vẫn có chi phí.</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Whisper là model đa ngôn ngữ với thiết kế encoder-decoder. Hiểu đơn giản, phần đầu đọc đặc trưng âm thanh và phần sau tạo chuỗi chữ. Em đề xuất Whisper-base để đối chiếu với PhoWhisper-base cùng kích thước, và Whisper-small để đối chiếu với PhoWhisper-small. Ví dụ giả lập, cả hai nghe câu “Phí kỳ này là hai triệu rưỡi, tôi chưa đồng ý đổi thông tin”. Mình muốn biết model nào giữ số tiền và từ “chưa” tốt hơn. Đây là câu hỏi thực nghiệm. Chọn bản đa ngôn ngữ giúp tránh dùng nhầm checkpoint có hậu tố .en dành cho tiếng Anh.</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PhoWhisper tiếp tục tinh chỉnh model Whisper bằng dữ liệu tiếng Việt. Tham số có thể hiểu là những giá trị model đã học, còn số lượng tham số chưa cho biết trực tiếp thời gian xử lý một cuộc gọi. Hiện em đang chạy base. Nâng lên small là hướng thử ít thay đổi luồng tích hợp, nhưng vẫn cần đo lại. Ví dụ giả lập, khách nói giọng miền Nam “kỳ phí này em đóng rồi nha”. Em muốn kiểm tra model có giữ đúng câu, số tiền đi kèm và cách nói tự nhiên không. Kết quả công bố trên bộ dữ liệu nghiên cứu là bằng chứng để chọn thử. Em chưa dùng nó làm kết luận chất lượng trên cuộc gọi bảo hiểm.</a:t>
            </a:r>
          </a:p>
          <a:p xmlns:a="http://schemas.openxmlformats.org/drawingml/2006/main">
            <a:r>
              <a:t/>
            </a:r>
          </a:p>
          <a:p xmlns:a="http://schemas.openxmlformats.org/drawingml/2006/main">
            <a:r>
              <a:t>Nguồn tham khảo</a:t>
            </a:r>
          </a:p>
          <a:p xmlns:a="http://schemas.openxmlformats.org/drawingml/2006/main">
            <a:r>
              <a:t>VinAI Research (n.d.) PhoWhisper. https://github.com/VinAIResearch/PhoWhisper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Parakeet Vietnamese dùng thiết kế FastConformer-CTC. Có thể hình dung CTC ghép các dự đoán theo thời gian thành chuỗi chữ, thay vì cùng cơ chế tạo chữ của Whisper. Em đưa model này vào để kiểm tra một họ khác. Ví dụ giả lập, khách đọc mã “A không hai bảy” rồi nói số tiền. Mình sẽ so chữ model tạo ra trước khi chuẩn hóa mã. NeMo là công cụ chạy checkpoint, còn NIM là một cách đóng gói dịch vụ có điều kiện riêng. Em đề xuất kiểm tra khả năng chạy checkpoint bằng NeMo trước, khi có GPU phù hợp. Nếu thử thêm bộ giải mã dùng language model, em sẽ ghi thành cấu hình khác để thấy phần cải thiện đến từ đâu.</a:t>
            </a:r>
          </a:p>
          <a:p xmlns:a="http://schemas.openxmlformats.org/drawingml/2006/main">
            <a:r>
              <a:t/>
            </a:r>
          </a:p>
          <a:p xmlns:a="http://schemas.openxmlformats.org/drawingml/2006/main">
            <a:r>
              <a:t>Nguồn tham khảo</a:t>
            </a:r>
          </a:p>
          <a:p xmlns:a="http://schemas.openxmlformats.org/drawingml/2006/main">
            <a:r>
              <a:t>NVIDIA (n.d.) Parakeet CTC 0.6B Vietnamese model card. https://huggingface.co/nvidia/parakeet-ctc-0.6b-Vietnamese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Qwen3-ASR là một ứng viên mới đáng khám phá ngoài nhóm mình đang chạy. Em ưu tiên bản 0.6B để thăm dò khả năng tích hợp và tài nguyên trước bản 1.7B. Ví dụ giả lập, một cuộc gọi xen thuật ngữ “premium” với câu tiếng Việt. Câu hỏi là model có giữ đúng nội dung hai ngôn ngữ không. Điểm đáng chú ý là khả năng chuyển chữ và khả năng tạo mốc thời gian có thể thuộc hai thành phần khác nhau. Danh sách ForcedAligner chính thức chưa có tiếng Việt, nên em chưa hứa đầu ra timestamp tiếng Việt từ bộ này. Mình có thể đo chất lượng chữ trước, rồi khảo sát giải pháp căn thời gian riêng nếu cần.</a:t>
            </a:r>
          </a:p>
          <a:p xmlns:a="http://schemas.openxmlformats.org/drawingml/2006/main">
            <a:r>
              <a:t/>
            </a:r>
          </a:p>
          <a:p xmlns:a="http://schemas.openxmlformats.org/drawingml/2006/main">
            <a:r>
              <a:t>Nguồn tham khảo</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Wav2Vec2 là một họ model, còn tên Vietnamese 250h là checkpoint cụ thể đã tinh chỉnh cho tiếng Việt. Giấy phép phải đọc ở checkpoint mình dùng, không suy ra từ tên kiến trúc hoặc thư viện. Vì model parameters ghi phi thương mại, em chưa đưa checkpoint này vào shortlist triển khai công ty. Nó vẫn giúp mình nghiên cứu cách CTC nhận dạng âm thanh. Ví dụ giả lập, em muốn quan sát lỗi khi người nói kéo dài âm hoặc ngập ngừng. Nếu team muốn dùng trong công việc, cần làm rõ quyền sử dụng hoặc chọn checkpoint khác có giấy phép phù hợp. Đề xuất trước đây của em cần bổ sung điều kiện này.</a:t>
            </a:r>
          </a:p>
          <a:p xmlns:a="http://schemas.openxmlformats.org/drawingml/2006/main">
            <a:r>
              <a:t/>
            </a:r>
          </a:p>
          <a:p xmlns:a="http://schemas.openxmlformats.org/drawingml/2006/main">
            <a:r>
              <a:t>Nguồn tham khảo</a:t>
            </a:r>
          </a:p>
          <a:p xmlns:a="http://schemas.openxmlformats.org/drawingml/2006/main">
            <a:r>
              <a:t>Nguyen Vu Le Binh (n.d.) Wav2Vec2 base Vietnamese 250h model card. https://huggingface.co/nguyenvulebinh/wav2vec2-base-vietnamese-250h (Accessed: 7 October 2026).</a:t>
            </a:r>
          </a:p>
          <a:p xmlns:a="http://schemas.openxmlformats.org/drawingml/2006/main">
            <a:r>
              <a:t>Baevski et al. (2020) wav2vec 2.0 A Framework for Self Supervised Learning of Speech Representations. https://arxiv.org/abs/2006.11477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là trọng số đã học. Runtime là phần mềm nạp trọng số và thực hiện tính toán. faster-whisper chạy Whisper bằng CTranslate2 và có lựa chọn lượng tử hóa để giảm bộ nhớ. Lượng tử hóa có thể hiểu là dùng cách biểu diễn số gọn hơn. Nếu so Whisper-small chạy bằng PyTorch với Whisper-small chạy INT8 bằng CTranslate2, mình đang thử cách chạy model. Nếu so PhoWhisper-small với Whisper-small, mình đang thử checkpoint. Ví dụ, cùng một bản ghi xử lý nhanh hơn sau khi đổi runtime không tự chứng minh chữ chính xác hơn. Vì vậy bảng kết quả cần ghi cả checkpoint, runtime, precision và máy.</a:t>
            </a:r>
          </a:p>
          <a:p xmlns:a="http://schemas.openxmlformats.org/drawingml/2006/main">
            <a:r>
              <a:t/>
            </a:r>
          </a:p>
          <a:p xmlns:a="http://schemas.openxmlformats.org/drawingml/2006/main">
            <a:r>
              <a:t>Nguồn tham khảo</a:t>
            </a:r>
          </a:p>
          <a:p xmlns:a="http://schemas.openxmlformats.org/drawingml/2006/main">
            <a:r>
              <a:t>SYSTRAN (n.d.) faster whisper. https://github.com/SYSTRAN/faster-whisper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là giao diện để chương trình gửi audio và lấy kết quả. Dịch vụ có thể giấu chi tiết checkpoint, nên khi khảo sát em ghi model hoặc phiên bản dịch vụ mà tài liệu cho phép chọn. Điểm đáng thử của API là ngoài chữ, dịch vụ có thể cung cấp các chức năng như ngữ cảnh, người nói hoặc mốc thời gian. Em chưa đánh dấu tất cả tính năng cho mọi tiếng Việt. Các API trong bảng là dịch vụ thương mại. Trial hay quota miễn phí cần kiểm tra theo tài khoản và thời điểm, nên em chưa đưa ra cam kết free lâu dài. Ví dụ giả lập, cùng call-demo.wav, API có thể trả chữ ngay hoặc trả job_id rồi cho ứng dụng lấy kết quả sau.</a:t>
            </a:r>
          </a:p>
          <a:p xmlns:a="http://schemas.openxmlformats.org/drawingml/2006/main">
            <a:r>
              <a:t/>
            </a:r>
          </a:p>
          <a:p xmlns:a="http://schemas.openxmlformats.org/drawingml/2006/main">
            <a:r>
              <a:t>Nguồn tham khảo</a:t>
            </a:r>
          </a:p>
          <a:p xmlns:a="http://schemas.openxmlformats.org/drawingml/2006/main">
            <a:r>
              <a:t>OpenAI (n.d.b) File transcription. https://developers.openai.com/api/docs/guides/speech-to-text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Với OpenAI, điểm khảo sát là lựa chọn model theo đầu ra. Ví dụ giả lập, ứng dụng gửi một cuộc gọi đã ghi xong đến audio/transcriptions. Nếu chỉ cần chữ, mình khảo sát gpt-transcribe. Nếu cần nhãn người nói, mình xem model diarize và cách ứng dụng đọc các đoạn trả về. Ví dụ cấu trúc minh họa: speaker A, thời gian bắt đầu và kết thúc, rồi nội dung “Tôi chưa đồng ý”. Đây là minh họa dữ liệu ứng dụng cần đọc, không phải kết quả thử. Model diarize không hỗ trợ prompt theo tài liệu. Còn ngữ cảnh và từ khóa trên model khác phải thử riêng, vì gợi ý từ vựng chưa đảm bảo model nghe đúng mã hoặc thuật ngữ.</a:t>
            </a:r>
          </a:p>
          <a:p xmlns:a="http://schemas.openxmlformats.org/drawingml/2006/main">
            <a:r>
              <a:t/>
            </a:r>
          </a:p>
          <a:p xmlns:a="http://schemas.openxmlformats.org/drawingml/2006/main">
            <a:r>
              <a:t>Nguồn tham khảo</a:t>
            </a:r>
          </a:p>
          <a:p xmlns:a="http://schemas.openxmlformats.org/drawingml/2006/main">
            <a:r>
              <a:t>OpenAI (n.d.b) File transcription. https://developers.openai.com/api/docs/guides/speech-to-text (Accessed: 7 October 2026).</a:t>
            </a:r>
          </a:p>
          <a:p xmlns:a="http://schemas.openxmlformats.org/drawingml/2006/main">
            <a:r>
              <a:t>OpenAI (n.d.c) GPT Transcribe model. https://developers.openai.com/api/docs/models/gpt-transcribe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ghi tiếng Việt vi-VN cho transcription, nhưng bảng ngôn ngữ diarization chưa có vi-VN. Vì vậy trong khảo sát này em không đánh dấu tách người nói tiếng Việt là đã xác nhận cho Chirp 3. Azure ghi vi-VN trong fast transcription và có plain text cùng phrase list ở bảng tùy chỉnh. Phrase list có thể hiểu là danh sách từ gợi ý để model chú ý. Ví dụ giả lập, mình cung cấp “kỳ phí”, “bên mua bảo hiểm” rồi xem có cải thiện nhận dạng không. Với diarization hoặc batch của Azure, team vẫn cần chốt endpoint, phiên bản và region phù hợp. Điều đáng khám phá là thuật ngữ có thể được hỗ trợ bằng cấu hình, nhưng phải đo cả lợi ích lẫn lỗi mới.</a:t>
            </a:r>
          </a:p>
          <a:p xmlns:a="http://schemas.openxmlformats.org/drawingml/2006/main">
            <a:r>
              <a:t/>
            </a:r>
          </a:p>
          <a:p xmlns:a="http://schemas.openxmlformats.org/drawingml/2006/main">
            <a:r>
              <a:t>Nguồn tham khảo</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Ở AWS, hỗ trợ transcription tiếng Việt không đồng nghĩa có toàn bộ chức năng Call Analytics tiếng Việt. Bảng ngôn ngữ ghi rõ các giới hạn. Điều này giúp team dự tính phần phân tích cần xây thêm. Deepgram minh họa một bẫy khác: model có tên phonecall nghe rất sát bài toán, nhưng tài liệu liệt kê phiên bản đó cho tiếng Anh. Với tiếng Việt, em khảo sát nova-3 với language vi. Ví dụ giả lập, cuộc gọi về phí bảo hiểm có từ “premium”. Mình cần thử xem cấu hình vi có giữ thuật ngữ tiếng Anh hay không. Em chưa suy ra chế độ multilingual có tiếng Việt chỉ vì model đơn ngôn ngữ hỗ trợ vi.</a:t>
            </a:r>
          </a:p>
          <a:p xmlns:a="http://schemas.openxmlformats.org/drawingml/2006/main">
            <a:r>
              <a:t/>
            </a:r>
          </a:p>
          <a:p xmlns:a="http://schemas.openxmlformats.org/drawingml/2006/main">
            <a:r>
              <a:t>Nguồn tham khảo</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Speechmatics giúp mở rộng cách nhìn về API. Một nhà cung cấp thương mại có thể cho gọi cloud hoặc vận hành container trong môi trường của team. Mình cần phân biệt quyền chạy container với tải model miễn phí. Tài liệu triển khai ghi các tính năng như diarization và từ điển tùy chỉnh, nhưng quyền sử dụng ngôn ngữ còn phụ thuộc hợp đồng. Ví dụ giả lập, nếu công ty muốn xử lý nội bộ nhưng không muốn tự vận hành model mở, đây là hướng đáng hỏi thêm. Em đề xuất xin cấu hình tiếng Việt cụ thể, tài nguyên container và điều kiện giá trước khi chọn thử. Bài chưa xác nhận một gói Speechmatics đáp ứng yêu cầu của công ty.</a:t>
            </a:r>
          </a:p>
          <a:p xmlns:a="http://schemas.openxmlformats.org/drawingml/2006/main">
            <a:r>
              <a:t/>
            </a:r>
          </a:p>
          <a:p xmlns:a="http://schemas.openxmlformats.org/drawingml/2006/main">
            <a:r>
              <a:t>Nguồn tham khảo</a:t>
            </a:r>
          </a:p>
          <a:p xmlns:a="http://schemas.openxmlformats.org/drawingml/2006/main">
            <a:r>
              <a:t>Speechmatics (n.d.a) Languages. https://docs.speechmatics.com/speech-to-text/languages (Accessed: 7 October 2026).</a:t>
            </a:r>
          </a:p>
          <a:p xmlns:a="http://schemas.openxmlformats.org/drawingml/2006/main">
            <a:r>
              <a:t>Speechmatics (n.d.b) Deployments overview. https://docs.speechmatics.com/deployments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VNPT công bố API và SDK, file WAV hoặc MP3, có xử lý bất đồng bộ và yêu cầu sample rate 16 kHz. FPT.AI có endpoint POST cụ thể và response chứa hypotheses với utterance. Ví dụ giả lập, ứng dụng đọc utterance để hiển thị chữ cho QA. Nếu giao diện cần speaker hay timestamp, response mẫu đó chưa đủ để xác nhận hai trường này, nên cần xin schema và điều kiện gói hiện tại. Em giữ Viettel AI trong danh sách cần bổ sung tài liệu API hiện hành. Em chưa dùng thông tin quảng bá để điền cấu hình chưa kiểm chứng. Lợi ích của survey là biết chính xác cần hỏi gì, thay vì chỉ ghi tên vendor.</a:t>
            </a:r>
          </a:p>
          <a:p xmlns:a="http://schemas.openxmlformats.org/drawingml/2006/main">
            <a:r>
              <a:t/>
            </a:r>
          </a:p>
          <a:p xmlns:a="http://schemas.openxmlformats.org/drawingml/2006/main">
            <a:r>
              <a:t>Nguồn tham khảo</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 khảo sát, em rút ra các điều cần biến thành câu hỏi thử nghiệm. Thứ nhất là chọn đúng checkpoint có điều kiện sử dụng phù hợp. Thứ hai là tách chất lượng chữ khỏi khả năng tạo mốc thời gian và người nói. Thứ ba là ghi cấu hình phụ trợ để biết phần cải thiện đến từ đâu. Ví dụ giả lập, nếu transcript gốc là “hai triệu rưỡi” nhưng bước chuẩn hóa tạo 25 triệu, lỗi nằm sau STT. Nếu thêm phrase list khiến một từ không có trong audio xuất hiện, đó cũng là lỗi cần ghi. Những ví dụ này là giả thuyết để kiểm tra. Survey chưa cho điểm hay chọn người thắng.</a:t>
            </a:r>
          </a:p>
          <a:p xmlns:a="http://schemas.openxmlformats.org/drawingml/2006/main">
            <a:r>
              <a:t/>
            </a:r>
          </a:p>
          <a:p xmlns:a="http://schemas.openxmlformats.org/drawingml/2006/main">
            <a:r>
              <a:t>Nguồn tham khảo</a:t>
            </a:r>
          </a:p>
          <a:p xmlns:a="http://schemas.openxmlformats.org/drawingml/2006/main">
            <a:r>
              <a:t>Qwen Team (n.d.a) Qwen3 ASR repository. https://github.com/QwenLM/Qwen3-ASR (Accessed: 7 October 2026).</a:t>
            </a:r>
          </a:p>
          <a:p xmlns:a="http://schemas.openxmlformats.org/drawingml/2006/main">
            <a:r>
              <a:t>Nguyen Vu Le Binh (n.d.) Wav2Vec2 base Vietnamese 250h model card. https://huggingface.co/nguyenvulebinh/wav2vec2-base-vietnamese-250h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đề xuất vòng đầu gồm PhoWhisper-base đang chạy, Whisper-base, PhoWhisper-small và Whisper-small. Các cặp cùng kích thước giúp mình hỏi việc tinh chỉnh tiếng Việt có ích thế nào, còn base so với small giúp hỏi việc tăng kích thước có đáng không. Vòng mở rộng có Parakeet Vietnamese và Qwen3-ASR-0.6B khi xác nhận máy đủ chạy. Đây là so sánh các giải pháp có thể dùng, không phải thí nghiệm cô lập kiến trúc vì kích thước và dữ liệu huấn luyện khác nhau. API chỉ thêm khi có ngân sách và điều kiện dữ liệu phù hợp. Wav2Vec2 checkpoint này nằm trong nhóm nghiên cứu có giới hạn quyền sử dụng.</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Đầu ra của Part 1 là bản đồ lựa chọn và shortlist có lý do. Trước Evaluation, em cần chốt CPU hoặc GPU, cấu hình hiện tại của PhoWhisper-base, cách ghi âm và đầu ra QA cần. Em đề xuất ưu tiên chữ trước, sau đó đánh giá người nói và mốc thời gian ở những cấu hình hỗ trợ. Trong Part 2, cùng một bộ audio và transcript tham chiếu sẽ giúp so tỷ lệ lỗi cùng lỗi số tiền, mã và phủ định. Sau benchmark, team phân tích nguyên nhân và cân đối tốc độ với tài nguyên. Phạm vi kết luận sẽ giới hạn ở những cấu hình đã thử. Nhờ vậy nghiên cứu dẫn tới một đề xuất có bằng chứng, còn triển khai production là bước tiếp theo.</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Baevski et al. (2020) wav2vec 2.0 A Framework for Self Supervised Learning of Speech Representations. https://arxiv.org/abs/2006.11477 (Accessed: 7 October 2026).</a:t>
            </a:r>
          </a:p>
          <a:p xmlns:a="http://schemas.openxmlformats.org/drawingml/2006/main">
            <a:r>
              <a:t>SYSTRAN (n.d.) faster whisper. https://github.com/SYSTRAN/faster-whisper (Accessed: 7 October 2026).</a:t>
            </a:r>
          </a:p>
          <a:p xmlns:a="http://schemas.openxmlformats.org/drawingml/2006/main">
            <a:r>
              <a:t>OpenAI (n.d.b) File transcription. https://developers.openai.com/api/docs/guides/speech-to-text (Accessed: 7 October 2026).</a:t>
            </a:r>
          </a:p>
          <a:p xmlns:a="http://schemas.openxmlformats.org/drawingml/2006/main">
            <a:r>
              <a:t>OpenAI (n.d.c) GPT Transcribe model. https://developers.openai.com/api/docs/models/gpt-transcribe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a:p xmlns:a="http://schemas.openxmlformats.org/drawingml/2006/main">
            <a:r>
              <a:t>Speechmatics (n.d.b) Deployments overview. https://docs.speechmatics.com/deployments (Accessed: 7 October 2026).</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4794c474774c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a7b7fbb8f64f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ee2fd80d0e44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39a250118a45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f6242c436f44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a68b174fd341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00F8EB5-B3F0-4DEB-9551-CE6379C8266A}"/>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FAE0D09-7FB3-4837-8540-E9D0F7404E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74884E7-86B6-44A8-B401-611919A5EE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A9D83B2-F8F3-4A53-AFA6-81560B41D1B1}"/>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A46EDF9-D200-45CB-8D84-E6E6F48972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B2D22BC-24B6-49F0-ABC6-714F56E95E7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47E914F-B16F-499C-B40B-90477E7670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94D3560-C73C-4A21-8679-67902073D1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E69899E-CF69-40DB-AD9C-05E3B963110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0AA948E-715C-4BCF-B988-89A412CBEF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0BE8BD8-D305-4D96-ABF1-79B2FC8CEE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05A31D0-FF26-4E66-A8C6-39B076E3FE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9E4FDE3-1380-46EC-874C-D585B442DD8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54DBC3D-8C1B-4727-B085-CF29776F2D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4B01BB2-EEF0-499D-8514-053E8126AE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f093a1405545cc" /><Relationship Type="http://schemas.openxmlformats.org/officeDocument/2006/relationships/slideLayout" Target="/ppt/slideLayouts/slideLayout1.xml" Id="Rde1bcece67474ad4" /><Relationship Type="http://schemas.openxmlformats.org/officeDocument/2006/relationships/slideLayout" Target="/ppt/slideLayouts/slideLayout2.xml" Id="Rb1246c1475554eef" /><Relationship Type="http://schemas.openxmlformats.org/officeDocument/2006/relationships/slideLayout" Target="/ppt/slideLayouts/slideLayout3.xml" Id="R9190b607962f4c11" /><Relationship Type="http://schemas.openxmlformats.org/officeDocument/2006/relationships/slideLayout" Target="/ppt/slideLayouts/slideLayout4.xml" Id="R33cec9d4d611464e" /><Relationship Type="http://schemas.openxmlformats.org/officeDocument/2006/relationships/slideLayout" Target="/ppt/slideLayouts/slideLayout5.xml" Id="R6b72162f58d8471a" /><Relationship Type="http://schemas.openxmlformats.org/officeDocument/2006/relationships/slideLayout" Target="/ppt/slideLayouts/slideLayout6.xml" Id="R2911b22c592143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1bcece67474ad4"/>
    <p:sldLayoutId xmlns:r="http://schemas.openxmlformats.org/officeDocument/2006/relationships" id="2147483650" r:id="Rb1246c1475554eef"/>
    <p:sldLayoutId xmlns:r="http://schemas.openxmlformats.org/officeDocument/2006/relationships" id="2147483651" r:id="R9190b607962f4c11"/>
    <p:sldLayoutId xmlns:r="http://schemas.openxmlformats.org/officeDocument/2006/relationships" id="2147483652" r:id="R33cec9d4d611464e"/>
    <p:sldLayoutId xmlns:r="http://schemas.openxmlformats.org/officeDocument/2006/relationships" id="2147483653" r:id="R6b72162f58d8471a"/>
    <p:sldLayoutId xmlns:r="http://schemas.openxmlformats.org/officeDocument/2006/relationships" id="2147483654" r:id="R2911b22c592143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2ff58d28744b77" /><Relationship Type="http://schemas.openxmlformats.org/officeDocument/2006/relationships/notesSlide" Target="/ppt/notesSlides/notesSlide1.xml" Id="Re6ccbd1d9d2043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2bda8474044bd1" /><Relationship Type="http://schemas.openxmlformats.org/officeDocument/2006/relationships/notesSlide" Target="/ppt/notesSlides/notesSlide2.xml" Id="R294f79084ee245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9beef5f3d04a17" /><Relationship Type="http://schemas.openxmlformats.org/officeDocument/2006/relationships/notesSlide" Target="/ppt/notesSlides/notesSlide3.xml" Id="Reff684b9d43943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908efda5de41b7" /><Relationship Type="http://schemas.openxmlformats.org/officeDocument/2006/relationships/notesSlide" Target="/ppt/notesSlides/notesSlide4.xml" Id="Rfc08fbfbce1c4d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6cb59b6ea1045a8" /><Relationship Type="http://schemas.openxmlformats.org/officeDocument/2006/relationships/notesSlide" Target="/ppt/notesSlides/notesSlide5.xml" Id="R0a748903b0984d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95e3df92fde46d0" /><Relationship Type="http://schemas.openxmlformats.org/officeDocument/2006/relationships/notesSlide" Target="/ppt/notesSlides/notesSlide6.xml" Id="Ra765144f663f4d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c23fe1d1a84474" /><Relationship Type="http://schemas.openxmlformats.org/officeDocument/2006/relationships/notesSlide" Target="/ppt/notesSlides/notesSlide7.xml" Id="Rbab370b1a36c44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17c98deb8f4060" /><Relationship Type="http://schemas.openxmlformats.org/officeDocument/2006/relationships/notesSlide" Target="/ppt/notesSlides/notesSlide8.xml" Id="R9b041c3a2d2e4d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26bcdf779b48cd" /><Relationship Type="http://schemas.openxmlformats.org/officeDocument/2006/relationships/notesSlide" Target="/ppt/notesSlides/notesSlide9.xml" Id="R3eb21703a5c040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21d167f37b4590" /><Relationship Type="http://schemas.openxmlformats.org/officeDocument/2006/relationships/notesSlide" Target="/ppt/notesSlides/notesSlide10.xml" Id="R81e867418d2b4e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a9186fd9a34cf2" /><Relationship Type="http://schemas.openxmlformats.org/officeDocument/2006/relationships/notesSlide" Target="/ppt/notesSlides/notesSlide11.xml" Id="R2732d3e5ed2d4b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72bd00ce6af44b2" /><Relationship Type="http://schemas.openxmlformats.org/officeDocument/2006/relationships/notesSlide" Target="/ppt/notesSlides/notesSlide12.xml" Id="Re102c7335e0240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eb73be4da444442" /><Relationship Type="http://schemas.openxmlformats.org/officeDocument/2006/relationships/notesSlide" Target="/ppt/notesSlides/notesSlide13.xml" Id="R9460627e3c5249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badcb2c5263408b" /><Relationship Type="http://schemas.openxmlformats.org/officeDocument/2006/relationships/notesSlide" Target="/ppt/notesSlides/notesSlide14.xml" Id="Rb7a3ed77f17949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1282e38a7a545ca" /><Relationship Type="http://schemas.openxmlformats.org/officeDocument/2006/relationships/notesSlide" Target="/ppt/notesSlides/notesSlide15.xml" Id="R3686a1065f3245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fdb747957647a4" /><Relationship Type="http://schemas.openxmlformats.org/officeDocument/2006/relationships/notesSlide" Target="/ppt/notesSlides/notesSlide16.xml" Id="R1d39064e87af46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b9d4915b5cd47c4" /><Relationship Type="http://schemas.openxmlformats.org/officeDocument/2006/relationships/notesSlide" Target="/ppt/notesSlides/notesSlide17.xml" Id="R7c83cac7e6f64e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33e22f63e364827" /><Relationship Type="http://schemas.openxmlformats.org/officeDocument/2006/relationships/notesSlide" Target="/ppt/notesSlides/notesSlide18.xml" Id="R606885a95dcd4a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679d0d13e384d94" /><Relationship Type="http://schemas.openxmlformats.org/officeDocument/2006/relationships/notesSlide" Target="/ppt/notesSlides/notesSlide19.xml" Id="Rd26a2db88caf4b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f00feb788c0419f" /><Relationship Type="http://schemas.openxmlformats.org/officeDocument/2006/relationships/notesSlide" Target="/ppt/notesSlides/notesSlide20.xml" Id="Ra8d782918af24a4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ff562bc9c304a21" /><Relationship Type="http://schemas.openxmlformats.org/officeDocument/2006/relationships/notesSlide" Target="/ppt/notesSlides/notesSlide21.xml" Id="R3d79860b1be441ff" /></Relationships>
</file>

<file path=ppt/slides/slide1.xml><?xml version="1.0" encoding="utf-8"?>
<p:sld xmlns:p="http://schemas.openxmlformats.org/presentationml/2006/main">
  <p:cSld>
    <p:bg>
      <p:bgPr>
        <a:solidFill xmlns:a="http://schemas.openxmlformats.org/drawingml/2006/main">
          <a:srgbClr val="1226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7BCBB4-478E-43A0-935D-5F0960DAF96C}"/>
              </a:ext>
            </a:extLst>
          </p:cNvPr>
          <p:cNvSpPr>
            <a:spLocks xmlns:a="http://schemas.openxmlformats.org/drawingml/2006/main" noGrp="1"/>
          </p:cNvSpPr>
          <p:nvPr/>
        </p:nvSpPr>
        <p:spPr>
          <a:xfrm xmlns:a="http://schemas.openxmlformats.org/drawingml/2006/main">
            <a:off x="685800" y="9048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9D6CB"/>
                </a:solidFill>
                <a:latin typeface="DejaVu Sans"/>
                <a:ea typeface="DejaVu Sans"/>
                <a:cs typeface="DejaVu Sans"/>
              </a:defRPr>
            </a:pPr>
            <a:r>
              <a:rPr sz="1800" b="1">
                <a:solidFill>
                  <a:srgbClr val="79D6CB"/>
                </a:solidFill>
                <a:latin typeface="DejaVu Sans"/>
                <a:ea typeface="DejaVu Sans"/>
                <a:cs typeface="DejaVu Sans"/>
              </a:rPr>
              <a:t>PART 1</a:t>
            </a:r>
          </a:p>
        </p:txBody>
      </p:sp>
      <p:sp>
        <p:nvSpPr>
          <p:cNvPr id="2" name="">
            <a:extLst xmlns:a="http://schemas.openxmlformats.org/drawingml/2006/main">
              <a:ext uri="{FF2B5EF4-FFF2-40B4-BE49-F238E27FC236}">
                <a16:creationId xmlns:a16="http://schemas.microsoft.com/office/drawing/2014/main" id="{B6F2F30E-9D10-4ED1-B371-81AAB3E94BC3}"/>
              </a:ext>
            </a:extLst>
          </p:cNvPr>
          <p:cNvSpPr>
            <a:spLocks xmlns:a="http://schemas.openxmlformats.org/drawingml/2006/main" noGrp="1"/>
          </p:cNvSpPr>
          <p:nvPr/>
        </p:nvSpPr>
        <p:spPr>
          <a:xfrm xmlns:a="http://schemas.openxmlformats.org/drawingml/2006/main">
            <a:off x="685800" y="1790700"/>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Khảo sát model và API</a:t>
            </a:r>
          </a:p>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Speech to Text tiếng Việt</a:t>
            </a:r>
          </a:p>
        </p:txBody>
      </p:sp>
      <p:sp>
        <p:nvSpPr>
          <p:cNvPr id="3" name="">
            <a:extLst xmlns:a="http://schemas.openxmlformats.org/drawingml/2006/main">
              <a:ext uri="{FF2B5EF4-FFF2-40B4-BE49-F238E27FC236}">
                <a16:creationId xmlns:a16="http://schemas.microsoft.com/office/drawing/2014/main" id="{5B302A4D-711A-47E7-92CD-6B12F3C04AC1}"/>
              </a:ext>
            </a:extLst>
          </p:cNvPr>
          <p:cNvSpPr>
            <a:spLocks xmlns:a="http://schemas.openxmlformats.org/drawingml/2006/main" noGrp="1"/>
          </p:cNvSpPr>
          <p:nvPr/>
        </p:nvSpPr>
        <p:spPr>
          <a:xfrm xmlns:a="http://schemas.openxmlformats.org/drawingml/2006/main">
            <a:off x="685800" y="40005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9D9E7"/>
                </a:solidFill>
                <a:latin typeface="DejaVu Sans"/>
                <a:ea typeface="DejaVu Sans"/>
                <a:cs typeface="DejaVu Sans"/>
              </a:defRPr>
            </a:pPr>
            <a:r>
              <a:rPr sz="2100" b="0">
                <a:solidFill>
                  <a:srgbClr val="C9D9E7"/>
                </a:solidFill>
                <a:latin typeface="DejaVu Sans"/>
                <a:ea typeface="DejaVu Sans"/>
                <a:cs typeface="DejaVu Sans"/>
              </a:rPr>
              <a:t>Nghiên cứu các lựa chọn và điều đáng thử</a:t>
            </a:r>
          </a:p>
        </p:txBody>
      </p:sp>
      <p:sp>
        <p:nvSpPr>
          <p:cNvPr id="4" name="">
            <a:extLst xmlns:a="http://schemas.openxmlformats.org/drawingml/2006/main">
              <a:ext uri="{FF2B5EF4-FFF2-40B4-BE49-F238E27FC236}">
                <a16:creationId xmlns:a16="http://schemas.microsoft.com/office/drawing/2014/main" id="{92CEFE71-6514-4C29-9F34-BF7E2428FB86}"/>
              </a:ext>
            </a:extLst>
          </p:cNvPr>
          <p:cNvSpPr>
            <a:spLocks xmlns:a="http://schemas.openxmlformats.org/drawingml/2006/main" noGrp="1"/>
          </p:cNvSpPr>
          <p:nvPr/>
        </p:nvSpPr>
        <p:spPr>
          <a:xfrm xmlns:a="http://schemas.openxmlformats.org/drawingml/2006/main">
            <a:off x="685800" y="50482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Part 1</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Cuộc gọi bảo hiểm</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Tien Phat Dam</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7 October 2026</a:t>
            </a:r>
          </a:p>
        </p:txBody>
      </p:sp>
    </p:spTree>
    <p:extLst>
      <p:ext uri="{BB962C8B-B14F-4D97-AF65-F5344CB8AC3E}">
        <p14:creationId xmlns:p14="http://schemas.microsoft.com/office/powerpoint/2010/main" val="12441012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DDFF27-6F7D-49D3-9A69-610D4306FE34}"/>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Bản đồ nghiên cứu</a:t>
            </a:r>
          </a:p>
        </p:txBody>
      </p:sp>
      <p:sp>
        <p:nvSpPr>
          <p:cNvPr id="2" name="">
            <a:extLst xmlns:a="http://schemas.openxmlformats.org/drawingml/2006/main">
              <a:ext uri="{FF2B5EF4-FFF2-40B4-BE49-F238E27FC236}">
                <a16:creationId xmlns:a16="http://schemas.microsoft.com/office/drawing/2014/main" id="{8D4F85EE-DEB9-4499-8F97-50457C9CB82C}"/>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Câu hỏi chính: ngoài PhoWhisper-base, điều gì đáng thử?</a:t>
            </a:r>
          </a:p>
        </p:txBody>
      </p:sp>
      <p:sp>
        <p:nvSpPr>
          <p:cNvPr id="3" name="">
            <a:extLst xmlns:a="http://schemas.openxmlformats.org/drawingml/2006/main">
              <a:ext uri="{FF2B5EF4-FFF2-40B4-BE49-F238E27FC236}">
                <a16:creationId xmlns:a16="http://schemas.microsoft.com/office/drawing/2014/main" id="{34D6C35B-CEDB-44CE-B056-EFE026A9155C}"/>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01E5AEE-F0F9-4556-8A64-CAD3B9FC3A27}"/>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Model tự chạy: Whisper, PhoWhisper, Parakeet, Qwen3-ASR, Wav2Vec2</a:t>
            </a:r>
          </a:p>
        </p:txBody>
      </p:sp>
      <p:sp>
        <p:nvSpPr>
          <p:cNvPr id="5" name="">
            <a:extLst xmlns:a="http://schemas.openxmlformats.org/drawingml/2006/main">
              <a:ext uri="{FF2B5EF4-FFF2-40B4-BE49-F238E27FC236}">
                <a16:creationId xmlns:a16="http://schemas.microsoft.com/office/drawing/2014/main" id="{5B205559-F6DA-409B-A818-7C769DD4CFBD}"/>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54085723-DB89-4310-99D5-E2D0857EBB3C}"/>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API: OpenAI, Google, Azure, AWS, Deepgram, Speechmatics, VNPT, FPT.AI</a:t>
            </a:r>
          </a:p>
        </p:txBody>
      </p:sp>
      <p:sp>
        <p:nvSpPr>
          <p:cNvPr id="7" name="">
            <a:extLst xmlns:a="http://schemas.openxmlformats.org/drawingml/2006/main">
              <a:ext uri="{FF2B5EF4-FFF2-40B4-BE49-F238E27FC236}">
                <a16:creationId xmlns:a16="http://schemas.microsoft.com/office/drawing/2014/main" id="{CA4B992D-F4C3-437F-A85B-1CEA96891EF2}"/>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3D57688C-2397-4EE5-8C4C-6CE422F4D1DA}"/>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Mỗi lựa chọn: cấu hình cụ thể, điểm đáng khám phá, giới hạn và chi phí</a:t>
            </a:r>
          </a:p>
        </p:txBody>
      </p:sp>
      <p:sp>
        <p:nvSpPr>
          <p:cNvPr id="9" name="">
            <a:extLst xmlns:a="http://schemas.openxmlformats.org/drawingml/2006/main">
              <a:ext uri="{FF2B5EF4-FFF2-40B4-BE49-F238E27FC236}">
                <a16:creationId xmlns:a16="http://schemas.microsoft.com/office/drawing/2014/main" id="{0C6AFCC5-4C51-498E-9295-F3120A1E0EB5}"/>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9C5773F6-7471-4571-830F-A87BBFA829EB}"/>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Đầu ra: shortlist có lý do và các giả thuyết cần kiểm chứng</a:t>
            </a:r>
          </a:p>
        </p:txBody>
      </p:sp>
      <p:sp>
        <p:nvSpPr>
          <p:cNvPr id="11" name="">
            <a:extLst xmlns:a="http://schemas.openxmlformats.org/drawingml/2006/main">
              <a:ext uri="{FF2B5EF4-FFF2-40B4-BE49-F238E27FC236}">
                <a16:creationId xmlns:a16="http://schemas.microsoft.com/office/drawing/2014/main" id="{7AF2D739-2175-4597-8ED9-74061A680327}"/>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OpenAI (n.d.b), Google Cloud (n.d.), Microsoft (n.d.), AWS (n.d.), Deepgram (n.d.), Speechmatics (n.d.a), VNPT AI (n.d.), FPT.AI (n.d.)     2/21</a:t>
            </a:r>
          </a:p>
        </p:txBody>
      </p:sp>
    </p:spTree>
    <p:extLst>
      <p:ext uri="{BB962C8B-B14F-4D97-AF65-F5344CB8AC3E}">
        <p14:creationId xmlns:p14="http://schemas.microsoft.com/office/powerpoint/2010/main" val="34200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CB56D9-A87B-4B7E-8F65-FB146759B9C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Model tự triển khai</a:t>
            </a:r>
          </a:p>
        </p:txBody>
      </p:sp>
      <p:sp>
        <p:nvSpPr>
          <p:cNvPr id="2" name="">
            <a:extLst xmlns:a="http://schemas.openxmlformats.org/drawingml/2006/main">
              <a:ext uri="{FF2B5EF4-FFF2-40B4-BE49-F238E27FC236}">
                <a16:creationId xmlns:a16="http://schemas.microsoft.com/office/drawing/2014/main" id="{A6F94377-B185-4036-8317-8607F6CC0956}"/>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Có thể tải về chạy, nhưng giấy phép và tài nguyên khác nhau</a:t>
            </a:r>
          </a:p>
        </p:txBody>
      </p:sp>
      <p:graphicFrame>
        <p:nvGraphicFramePr>
          <p:cNvPr id="7"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650" b="1">
                          <a:solidFill>
                            <a:srgbClr val="FFFFFF"/>
                          </a:solidFill>
                          <a:latin typeface="DejaVu Sans"/>
                          <a:ea typeface="DejaVu Sans"/>
                          <a:cs typeface="DejaVu Sans"/>
                        </a:rPr>
                        <a:t>Model / checkpoint</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Cách chạy</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Giấy phép công bố</a:t>
                      </a:r>
                    </a:p>
                  </a:txBody>
                  <a:tcPr marL="133350" marR="133350" marT="114300" marB="95250" anchor="ctr">
                    <a:solidFill>
                      <a:srgbClr val="12263D"/>
                    </a:solidFill>
                  </a:tcPr>
                </a:tc>
              </a:tr>
              <a:tr h="611188">
                <a:tc>
                  <a:txBody>
                    <a:bodyPr/>
                    <a:lstStyle/>
                    <a:p>
                      <a:r>
                        <a:rPr sz="1725" b="0">
                          <a:solidFill>
                            <a:srgbClr val="182D45"/>
                          </a:solidFill>
                          <a:latin typeface="DejaVu Sans"/>
                          <a:ea typeface="DejaVu Sans"/>
                          <a:cs typeface="DejaVu Sans"/>
                        </a:rPr>
                        <a:t>Whisper base / small</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Whisper hoặc CTranslate2</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MIT</a:t>
                      </a:r>
                    </a:p>
                  </a:txBody>
                  <a:tcPr marL="133350" marR="133350" marT="114300" marB="95250" anchor="ctr">
                    <a:solidFill>
                      <a:srgbClr val="FFFFFF"/>
                    </a:solidFill>
                  </a:tcPr>
                </a:tc>
              </a:tr>
              <a:tr h="611188">
                <a:tc>
                  <a:txBody>
                    <a:bodyPr/>
                    <a:lstStyle/>
                    <a:p>
                      <a:r>
                        <a:rPr sz="1725" b="0">
                          <a:solidFill>
                            <a:srgbClr val="182D45"/>
                          </a:solidFill>
                          <a:latin typeface="DejaVu Sans"/>
                          <a:ea typeface="DejaVu Sans"/>
                          <a:cs typeface="DejaVu Sans"/>
                        </a:rPr>
                        <a:t>vinai/PhoWhisper-base / small</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Transformers</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Repo BSD-3-Clause</a:t>
                      </a:r>
                    </a:p>
                  </a:txBody>
                  <a:tcPr marL="133350" marR="133350" marT="114300" marB="95250" anchor="ctr">
                    <a:solidFill>
                      <a:srgbClr val="F0F5F8"/>
                    </a:solidFill>
                  </a:tcPr>
                </a:tc>
              </a:tr>
              <a:tr h="611188">
                <a:tc>
                  <a:txBody>
                    <a:bodyPr/>
                    <a:lstStyle/>
                    <a:p>
                      <a:r>
                        <a:rPr sz="1725" b="0">
                          <a:solidFill>
                            <a:srgbClr val="182D45"/>
                          </a:solidFill>
                          <a:latin typeface="DejaVu Sans"/>
                          <a:ea typeface="DejaVu Sans"/>
                          <a:cs typeface="DejaVu Sans"/>
                        </a:rPr>
                        <a:t>Parakeet CTC 0.6B Vietnamese</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NeMo</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NVIDIA Open Model License</a:t>
                      </a:r>
                    </a:p>
                  </a:txBody>
                  <a:tcPr marL="133350" marR="133350" marT="114300" marB="95250" anchor="ctr">
                    <a:solidFill>
                      <a:srgbClr val="FFFFFF"/>
                    </a:solidFill>
                  </a:tcPr>
                </a:tc>
              </a:tr>
              <a:tr h="611188">
                <a:tc>
                  <a:txBody>
                    <a:bodyPr/>
                    <a:lstStyle/>
                    <a:p>
                      <a:r>
                        <a:rPr sz="1725" b="0">
                          <a:solidFill>
                            <a:srgbClr val="182D45"/>
                          </a:solidFill>
                          <a:latin typeface="DejaVu Sans"/>
                          <a:ea typeface="DejaVu Sans"/>
                          <a:cs typeface="DejaVu Sans"/>
                        </a:rPr>
                        <a:t>Qwen/Qwen3-ASR-0.6B</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qwen-asr</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Apache 2.0</a:t>
                      </a:r>
                    </a:p>
                  </a:txBody>
                  <a:tcPr marL="133350" marR="133350" marT="114300" marB="95250" anchor="ctr">
                    <a:solidFill>
                      <a:srgbClr val="F0F5F8"/>
                    </a:solidFill>
                  </a:tcPr>
                </a:tc>
              </a:tr>
              <a:tr h="611188">
                <a:tc>
                  <a:txBody>
                    <a:bodyPr/>
                    <a:lstStyle/>
                    <a:p>
                      <a:r>
                        <a:rPr sz="1725" b="0">
                          <a:solidFill>
                            <a:srgbClr val="182D45"/>
                          </a:solidFill>
                          <a:latin typeface="DejaVu Sans"/>
                          <a:ea typeface="DejaVu Sans"/>
                          <a:cs typeface="DejaVu Sans"/>
                        </a:rPr>
                        <a:t>Wav2Vec2 Vietnamese 250h</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Transformers / CTC</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CC BY-NC 4.0</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92D089-599C-4786-AE63-72985819FED0}"/>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(n.d.b), Nguyen Vu Le Binh (n.d.)     3/21</a:t>
            </a:r>
          </a:p>
        </p:txBody>
      </p:sp>
    </p:spTree>
    <p:extLst>
      <p:ext uri="{BB962C8B-B14F-4D97-AF65-F5344CB8AC3E}">
        <p14:creationId xmlns:p14="http://schemas.microsoft.com/office/powerpoint/2010/main" val="7148474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762AE3-D3DC-42D5-9AF1-0F10307B911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Whisper</a:t>
            </a:r>
          </a:p>
        </p:txBody>
      </p:sp>
      <p:sp>
        <p:nvSpPr>
          <p:cNvPr id="2" name="">
            <a:extLst xmlns:a="http://schemas.openxmlformats.org/drawingml/2006/main">
              <a:ext uri="{FF2B5EF4-FFF2-40B4-BE49-F238E27FC236}">
                <a16:creationId xmlns:a16="http://schemas.microsoft.com/office/drawing/2014/main" id="{14E25985-E816-4BA7-B6AC-3006DBDB8909}"/>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Model đa ngôn ngữ để làm mốc đối chiếu</a:t>
            </a:r>
          </a:p>
        </p:txBody>
      </p:sp>
      <p:sp>
        <p:nvSpPr>
          <p:cNvPr id="3" name="">
            <a:extLst xmlns:a="http://schemas.openxmlformats.org/drawingml/2006/main">
              <a:ext uri="{FF2B5EF4-FFF2-40B4-BE49-F238E27FC236}">
                <a16:creationId xmlns:a16="http://schemas.microsoft.com/office/drawing/2014/main" id="{5A134A5E-B0BF-4B9A-8ADF-F23E12403630}"/>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D2712A69-4F91-4E2A-9823-3B81DD9A9576}"/>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Cấu hình đầu tiên: Whisper-base và Whisper-small bản đa ngôn ngữ</a:t>
            </a:r>
          </a:p>
        </p:txBody>
      </p:sp>
      <p:sp>
        <p:nvSpPr>
          <p:cNvPr id="5" name="">
            <a:extLst xmlns:a="http://schemas.openxmlformats.org/drawingml/2006/main">
              <a:ext uri="{FF2B5EF4-FFF2-40B4-BE49-F238E27FC236}">
                <a16:creationId xmlns:a16="http://schemas.microsoft.com/office/drawing/2014/main" id="{F5E547C7-CCE7-4C64-AC0E-B63E448DF0E5}"/>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4314370D-ED4F-4B00-9F2F-CC67581C68E4}"/>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Thiết kế: nghe audio rồi sinh chuỗi chữ theo từng bước</a:t>
            </a:r>
          </a:p>
        </p:txBody>
      </p:sp>
      <p:sp>
        <p:nvSpPr>
          <p:cNvPr id="7" name="">
            <a:extLst xmlns:a="http://schemas.openxmlformats.org/drawingml/2006/main">
              <a:ext uri="{FF2B5EF4-FFF2-40B4-BE49-F238E27FC236}">
                <a16:creationId xmlns:a16="http://schemas.microsoft.com/office/drawing/2014/main" id="{D6150CDB-F129-4F72-961D-007807A80AB0}"/>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EA4BBF35-8FE3-4B00-B29F-8E5BFCD7A177}"/>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Điểm nghiên cứu: model gốc so với phiên bản tinh chỉnh tiếng Việt</a:t>
            </a:r>
          </a:p>
        </p:txBody>
      </p:sp>
      <p:sp>
        <p:nvSpPr>
          <p:cNvPr id="9" name="">
            <a:extLst xmlns:a="http://schemas.openxmlformats.org/drawingml/2006/main">
              <a:ext uri="{FF2B5EF4-FFF2-40B4-BE49-F238E27FC236}">
                <a16:creationId xmlns:a16="http://schemas.microsoft.com/office/drawing/2014/main" id="{1DCA041B-473E-4FC7-BAA7-00733F3B91B3}"/>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F1A7F318-C2C5-45F2-8B48-D8DE6C64AFDA}"/>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Mở rộng sau: medium, large-v3 hoặc turbo nếu tài nguyên phù hợp</a:t>
            </a:r>
          </a:p>
        </p:txBody>
      </p:sp>
      <p:sp>
        <p:nvSpPr>
          <p:cNvPr id="11" name="">
            <a:extLst xmlns:a="http://schemas.openxmlformats.org/drawingml/2006/main">
              <a:ext uri="{FF2B5EF4-FFF2-40B4-BE49-F238E27FC236}">
                <a16:creationId xmlns:a16="http://schemas.microsoft.com/office/drawing/2014/main" id="{16CBA9AF-120D-43D3-A1A9-15CB6C14ABB7}"/>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4/21</a:t>
            </a:r>
          </a:p>
        </p:txBody>
      </p:sp>
    </p:spTree>
    <p:extLst>
      <p:ext uri="{BB962C8B-B14F-4D97-AF65-F5344CB8AC3E}">
        <p14:creationId xmlns:p14="http://schemas.microsoft.com/office/powerpoint/2010/main" val="5258622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9EF505-72DA-40B5-8856-88CBEB08531E}"/>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PhoWhisper</a:t>
            </a:r>
          </a:p>
        </p:txBody>
      </p:sp>
      <p:sp>
        <p:nvSpPr>
          <p:cNvPr id="2" name="">
            <a:extLst xmlns:a="http://schemas.openxmlformats.org/drawingml/2006/main">
              <a:ext uri="{FF2B5EF4-FFF2-40B4-BE49-F238E27FC236}">
                <a16:creationId xmlns:a16="http://schemas.microsoft.com/office/drawing/2014/main" id="{1B591D6A-E43B-4830-8D94-9E7F361319CF}"/>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Điểm xuất phát hiện tại: PhoWhisper-base</a:t>
            </a:r>
          </a:p>
        </p:txBody>
      </p:sp>
      <p:sp>
        <p:nvSpPr>
          <p:cNvPr id="3" name="">
            <a:extLst xmlns:a="http://schemas.openxmlformats.org/drawingml/2006/main">
              <a:ext uri="{FF2B5EF4-FFF2-40B4-BE49-F238E27FC236}">
                <a16:creationId xmlns:a16="http://schemas.microsoft.com/office/drawing/2014/main" id="{D2DB33DC-585A-42F6-AB23-C883129596B8}"/>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0A12051A-CBD4-4238-9AFC-D7B775265763}"/>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VinAI tinh chỉnh Whisper trên 844 giờ tiếng Việt với nhiều giọng</a:t>
            </a:r>
          </a:p>
        </p:txBody>
      </p:sp>
      <p:sp>
        <p:nvSpPr>
          <p:cNvPr id="5" name="">
            <a:extLst xmlns:a="http://schemas.openxmlformats.org/drawingml/2006/main">
              <a:ext uri="{FF2B5EF4-FFF2-40B4-BE49-F238E27FC236}">
                <a16:creationId xmlns:a16="http://schemas.microsoft.com/office/drawing/2014/main" id="{F29242C4-C2FB-4D08-AEDD-67F748EAAE97}"/>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1AAAE4A0-CBD6-4763-9E4F-3A9AB880104D}"/>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Base: 74 triệu tham số. Small: 244 triệu. Medium: 769 triệu</a:t>
            </a:r>
          </a:p>
        </p:txBody>
      </p:sp>
      <p:sp>
        <p:nvSpPr>
          <p:cNvPr id="7" name="">
            <a:extLst xmlns:a="http://schemas.openxmlformats.org/drawingml/2006/main">
              <a:ext uri="{FF2B5EF4-FFF2-40B4-BE49-F238E27FC236}">
                <a16:creationId xmlns:a16="http://schemas.microsoft.com/office/drawing/2014/main" id="{9001AADD-6A70-4DD9-A0CB-F2ADA04E3B87}"/>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0FAF2BF9-1BDD-4CB3-A30B-F30D0017B5C1}"/>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Thử small trước để đo mức cải thiện so với base</a:t>
            </a:r>
          </a:p>
        </p:txBody>
      </p:sp>
      <p:sp>
        <p:nvSpPr>
          <p:cNvPr id="9" name="">
            <a:extLst xmlns:a="http://schemas.openxmlformats.org/drawingml/2006/main">
              <a:ext uri="{FF2B5EF4-FFF2-40B4-BE49-F238E27FC236}">
                <a16:creationId xmlns:a16="http://schemas.microsoft.com/office/drawing/2014/main" id="{DDDDA461-E355-4000-A572-95D3171DE850}"/>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1030F376-CFB0-4FAB-8AA7-4A8E536CEC4D}"/>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Câu hỏi: lợi ích trên audio công ty có đủ bù thời gian và tài nguyên?</a:t>
            </a:r>
          </a:p>
        </p:txBody>
      </p:sp>
      <p:sp>
        <p:nvSpPr>
          <p:cNvPr id="11" name="">
            <a:extLst xmlns:a="http://schemas.openxmlformats.org/drawingml/2006/main">
              <a:ext uri="{FF2B5EF4-FFF2-40B4-BE49-F238E27FC236}">
                <a16:creationId xmlns:a16="http://schemas.microsoft.com/office/drawing/2014/main" id="{DFEB771A-47C1-4AF1-A215-0B1331F6C14D}"/>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VinAI Research (n.d.)     5/21</a:t>
            </a:r>
          </a:p>
        </p:txBody>
      </p:sp>
    </p:spTree>
    <p:extLst>
      <p:ext uri="{BB962C8B-B14F-4D97-AF65-F5344CB8AC3E}">
        <p14:creationId xmlns:p14="http://schemas.microsoft.com/office/powerpoint/2010/main" val="527423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16C1BE2-46CE-46C1-9912-CEDE94E5BBE1}"/>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Parakeet Vietnamese</a:t>
            </a:r>
          </a:p>
        </p:txBody>
      </p:sp>
      <p:sp>
        <p:nvSpPr>
          <p:cNvPr id="2" name="">
            <a:extLst xmlns:a="http://schemas.openxmlformats.org/drawingml/2006/main">
              <a:ext uri="{FF2B5EF4-FFF2-40B4-BE49-F238E27FC236}">
                <a16:creationId xmlns:a16="http://schemas.microsoft.com/office/drawing/2014/main" id="{DB4A5FBC-34E9-4C0A-A778-FEBEC610DBAD}"/>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Một model ngoài họ Whisper cho tiếng Việt</a:t>
            </a:r>
          </a:p>
        </p:txBody>
      </p:sp>
      <p:sp>
        <p:nvSpPr>
          <p:cNvPr id="3" name="">
            <a:extLst xmlns:a="http://schemas.openxmlformats.org/drawingml/2006/main">
              <a:ext uri="{FF2B5EF4-FFF2-40B4-BE49-F238E27FC236}">
                <a16:creationId xmlns:a16="http://schemas.microsoft.com/office/drawing/2014/main" id="{AD892976-3F80-48A7-A0C5-FAAFB1CD1423}"/>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DB071B84-1F32-4C4D-BEA2-3B75DCC6F234}"/>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Checkpoint: nvidia/parakeet-ctc-0.6b-Vietnamese</a:t>
            </a:r>
          </a:p>
        </p:txBody>
      </p:sp>
      <p:sp>
        <p:nvSpPr>
          <p:cNvPr id="5" name="">
            <a:extLst xmlns:a="http://schemas.openxmlformats.org/drawingml/2006/main">
              <a:ext uri="{FF2B5EF4-FFF2-40B4-BE49-F238E27FC236}">
                <a16:creationId xmlns:a16="http://schemas.microsoft.com/office/drawing/2014/main" id="{0366A6A2-733A-46A8-8A05-27D5AF80CDEB}"/>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B46E7040-5F10-402F-9515-0DB203EAA8C3}"/>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Thiết kế FastConformer-CTC, khoảng 600 triệu tham số</a:t>
            </a:r>
          </a:p>
        </p:txBody>
      </p:sp>
      <p:sp>
        <p:nvSpPr>
          <p:cNvPr id="7" name="">
            <a:extLst xmlns:a="http://schemas.openxmlformats.org/drawingml/2006/main">
              <a:ext uri="{FF2B5EF4-FFF2-40B4-BE49-F238E27FC236}">
                <a16:creationId xmlns:a16="http://schemas.microsoft.com/office/drawing/2014/main" id="{1E5A579E-75E0-48C6-BCE6-D89787AA31C0}"/>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52423537-0301-41E9-AE44-DDA23DFACC46}"/>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Tự chạy bằng NeMo. Tài liệu ưu tiên Linux và GPU NVIDIA</a:t>
            </a:r>
          </a:p>
        </p:txBody>
      </p:sp>
      <p:sp>
        <p:nvSpPr>
          <p:cNvPr id="9" name="">
            <a:extLst xmlns:a="http://schemas.openxmlformats.org/drawingml/2006/main">
              <a:ext uri="{FF2B5EF4-FFF2-40B4-BE49-F238E27FC236}">
                <a16:creationId xmlns:a16="http://schemas.microsoft.com/office/drawing/2014/main" id="{9BB236C1-2E4E-4C2B-90F0-4EE5A9198A72}"/>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DD2FCB66-13A7-415B-8BD9-75147AA1E8B6}"/>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Cần ghi rõ phiên bản và cách giải mã, có hoặc không có language model</a:t>
            </a:r>
          </a:p>
        </p:txBody>
      </p:sp>
      <p:sp>
        <p:nvSpPr>
          <p:cNvPr id="11" name="">
            <a:extLst xmlns:a="http://schemas.openxmlformats.org/drawingml/2006/main">
              <a:ext uri="{FF2B5EF4-FFF2-40B4-BE49-F238E27FC236}">
                <a16:creationId xmlns:a16="http://schemas.microsoft.com/office/drawing/2014/main" id="{AFA67C6B-6E35-416A-8B54-BAE977625F0A}"/>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NVIDIA (n.d.)     6/21</a:t>
            </a:r>
          </a:p>
        </p:txBody>
      </p:sp>
    </p:spTree>
    <p:extLst>
      <p:ext uri="{BB962C8B-B14F-4D97-AF65-F5344CB8AC3E}">
        <p14:creationId xmlns:p14="http://schemas.microsoft.com/office/powerpoint/2010/main" val="21167160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EDC962-BF3F-4C3C-8B24-C23B6A8E7BB5}"/>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Qwen3-ASR</a:t>
            </a:r>
          </a:p>
        </p:txBody>
      </p:sp>
      <p:sp>
        <p:nvSpPr>
          <p:cNvPr id="2" name="">
            <a:extLst xmlns:a="http://schemas.openxmlformats.org/drawingml/2006/main">
              <a:ext uri="{FF2B5EF4-FFF2-40B4-BE49-F238E27FC236}">
                <a16:creationId xmlns:a16="http://schemas.microsoft.com/office/drawing/2014/main" id="{C9D97B2D-174A-4929-B3B0-7873C9AFE58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Hướng mở rộng mới có hỗ trợ tiếng Việt</a:t>
            </a:r>
          </a:p>
        </p:txBody>
      </p:sp>
      <p:sp>
        <p:nvSpPr>
          <p:cNvPr id="3" name="">
            <a:extLst xmlns:a="http://schemas.openxmlformats.org/drawingml/2006/main">
              <a:ext uri="{FF2B5EF4-FFF2-40B4-BE49-F238E27FC236}">
                <a16:creationId xmlns:a16="http://schemas.microsoft.com/office/drawing/2014/main" id="{4B4E81F7-6FAB-4B3C-912C-2C1DD826FDE3}"/>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E18FB7B-B62F-49BD-9A97-F628BE68AF8C}"/>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Checkpoint ưu tiên: Qwen/Qwen3-ASR-0.6B</a:t>
            </a:r>
          </a:p>
        </p:txBody>
      </p:sp>
      <p:sp>
        <p:nvSpPr>
          <p:cNvPr id="5" name="">
            <a:extLst xmlns:a="http://schemas.openxmlformats.org/drawingml/2006/main">
              <a:ext uri="{FF2B5EF4-FFF2-40B4-BE49-F238E27FC236}">
                <a16:creationId xmlns:a16="http://schemas.microsoft.com/office/drawing/2014/main" id="{FD0423DB-FC7E-4065-8945-F82761B677A5}"/>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CEA802F3-64A8-4A7F-9A15-9E42A89750EE}"/>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Bản 0.6B và 1.7B hỗ trợ tiếng Việt. Giấy phép Apache 2.0</a:t>
            </a:r>
          </a:p>
        </p:txBody>
      </p:sp>
      <p:sp>
        <p:nvSpPr>
          <p:cNvPr id="7" name="">
            <a:extLst xmlns:a="http://schemas.openxmlformats.org/drawingml/2006/main">
              <a:ext uri="{FF2B5EF4-FFF2-40B4-BE49-F238E27FC236}">
                <a16:creationId xmlns:a16="http://schemas.microsoft.com/office/drawing/2014/main" id="{7742BD6B-2E39-4EEE-AC05-6114F1C529A8}"/>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BD67DAD8-E540-42D6-A61F-944D752E9842}"/>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qwen-asr có backend Transformers và vLLM</a:t>
            </a:r>
          </a:p>
        </p:txBody>
      </p:sp>
      <p:sp>
        <p:nvSpPr>
          <p:cNvPr id="9" name="">
            <a:extLst xmlns:a="http://schemas.openxmlformats.org/drawingml/2006/main">
              <a:ext uri="{FF2B5EF4-FFF2-40B4-BE49-F238E27FC236}">
                <a16:creationId xmlns:a16="http://schemas.microsoft.com/office/drawing/2014/main" id="{D833758E-1516-4A90-A48D-AB068BC90823}"/>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8A2C457E-FA14-499F-998A-73DAF7D14B2F}"/>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ASR có tiếng Việt, nhưng ForcedAligner công bố 11 ngôn ngữ chưa có tiếng Việt</a:t>
            </a:r>
          </a:p>
        </p:txBody>
      </p:sp>
      <p:sp>
        <p:nvSpPr>
          <p:cNvPr id="11" name="">
            <a:extLst xmlns:a="http://schemas.openxmlformats.org/drawingml/2006/main">
              <a:ext uri="{FF2B5EF4-FFF2-40B4-BE49-F238E27FC236}">
                <a16:creationId xmlns:a16="http://schemas.microsoft.com/office/drawing/2014/main" id="{A024CC2B-35CA-4C84-94AD-A2CC395F0F0A}"/>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Qwen Team (n.d.a), Qwen Team (n.d.b)     7/21</a:t>
            </a:r>
          </a:p>
        </p:txBody>
      </p:sp>
    </p:spTree>
    <p:extLst>
      <p:ext uri="{BB962C8B-B14F-4D97-AF65-F5344CB8AC3E}">
        <p14:creationId xmlns:p14="http://schemas.microsoft.com/office/powerpoint/2010/main" val="15795150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B2EE1C-843F-4054-8825-47B0AE1C90D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Wav2Vec2 tiếng Việt</a:t>
            </a:r>
          </a:p>
        </p:txBody>
      </p:sp>
      <p:sp>
        <p:nvSpPr>
          <p:cNvPr id="2" name="">
            <a:extLst xmlns:a="http://schemas.openxmlformats.org/drawingml/2006/main">
              <a:ext uri="{FF2B5EF4-FFF2-40B4-BE49-F238E27FC236}">
                <a16:creationId xmlns:a16="http://schemas.microsoft.com/office/drawing/2014/main" id="{CA4469ED-8FBE-4ED2-B8A8-9564458C203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Giá trị nghiên cứu và giới hạn của checkpoint</a:t>
            </a:r>
          </a:p>
        </p:txBody>
      </p:sp>
      <p:sp>
        <p:nvSpPr>
          <p:cNvPr id="3" name="">
            <a:extLst xmlns:a="http://schemas.openxmlformats.org/drawingml/2006/main">
              <a:ext uri="{FF2B5EF4-FFF2-40B4-BE49-F238E27FC236}">
                <a16:creationId xmlns:a16="http://schemas.microsoft.com/office/drawing/2014/main" id="{90896706-74F7-4CBD-83FA-2BB585D6CDB9}"/>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4BDB0ED7-8CE2-44F6-A12E-8B2B374861B4}"/>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Wav2Vec2 học biểu diễn âm thanh, rồi tinh chỉnh để nhận dạng chữ</a:t>
            </a:r>
          </a:p>
        </p:txBody>
      </p:sp>
      <p:sp>
        <p:nvSpPr>
          <p:cNvPr id="5" name="">
            <a:extLst xmlns:a="http://schemas.openxmlformats.org/drawingml/2006/main">
              <a:ext uri="{FF2B5EF4-FFF2-40B4-BE49-F238E27FC236}">
                <a16:creationId xmlns:a16="http://schemas.microsoft.com/office/drawing/2014/main" id="{8C5B645D-BAEE-49BD-AEC8-2B0AE61A29E3}"/>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660A02E4-F195-4F8B-A066-291F4660E31B}"/>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Checkpoint khảo sát: nguyenvulebinh/wav2vec2-base-vietnamese-250h</a:t>
            </a:r>
          </a:p>
        </p:txBody>
      </p:sp>
      <p:sp>
        <p:nvSpPr>
          <p:cNvPr id="7" name="">
            <a:extLst xmlns:a="http://schemas.openxmlformats.org/drawingml/2006/main">
              <a:ext uri="{FF2B5EF4-FFF2-40B4-BE49-F238E27FC236}">
                <a16:creationId xmlns:a16="http://schemas.microsoft.com/office/drawing/2014/main" id="{11EA96BB-B0C6-486E-921C-6EB9C3ED831B}"/>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BF84B951-801C-4ED5-90AD-1163B99C3B54}"/>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Một hướng CTC khác để tìm hiểu cơ chế nhận dạng</a:t>
            </a:r>
          </a:p>
        </p:txBody>
      </p:sp>
      <p:sp>
        <p:nvSpPr>
          <p:cNvPr id="9" name="">
            <a:extLst xmlns:a="http://schemas.openxmlformats.org/drawingml/2006/main">
              <a:ext uri="{FF2B5EF4-FFF2-40B4-BE49-F238E27FC236}">
                <a16:creationId xmlns:a16="http://schemas.microsoft.com/office/drawing/2014/main" id="{1B3EE83E-0A0A-4A19-9137-B2954A15721E}"/>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EA66F214-22A2-4DA3-BBD4-5352975F7430}"/>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Model parameters ghi CC BY-NC 4.0, chỉ cho phi thương mại</a:t>
            </a:r>
          </a:p>
        </p:txBody>
      </p:sp>
      <p:sp>
        <p:nvSpPr>
          <p:cNvPr id="11" name="">
            <a:extLst xmlns:a="http://schemas.openxmlformats.org/drawingml/2006/main">
              <a:ext uri="{FF2B5EF4-FFF2-40B4-BE49-F238E27FC236}">
                <a16:creationId xmlns:a16="http://schemas.microsoft.com/office/drawing/2014/main" id="{52327E89-2A70-4907-920C-930EDC804B39}"/>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Nguyen Vu Le Binh (n.d.), Baevski et al. (2020)     8/21</a:t>
            </a:r>
          </a:p>
        </p:txBody>
      </p:sp>
    </p:spTree>
    <p:extLst>
      <p:ext uri="{BB962C8B-B14F-4D97-AF65-F5344CB8AC3E}">
        <p14:creationId xmlns:p14="http://schemas.microsoft.com/office/powerpoint/2010/main" val="6447459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B460FC-0DEF-41D4-A65A-3149C48B36DB}"/>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Model và công cụ chạy</a:t>
            </a:r>
          </a:p>
        </p:txBody>
      </p:sp>
      <p:sp>
        <p:nvSpPr>
          <p:cNvPr id="2" name="">
            <a:extLst xmlns:a="http://schemas.openxmlformats.org/drawingml/2006/main">
              <a:ext uri="{FF2B5EF4-FFF2-40B4-BE49-F238E27FC236}">
                <a16:creationId xmlns:a16="http://schemas.microsoft.com/office/drawing/2014/main" id="{27D08EF5-7589-4130-B37A-07229137A9E0}"/>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Một model có thể có nhiều cấu hình vận hành</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733425">
                <a:tc>
                  <a:txBody>
                    <a:bodyPr/>
                    <a:lstStyle/>
                    <a:p>
                      <a:r>
                        <a:rPr sz="1650" b="1">
                          <a:solidFill>
                            <a:srgbClr val="FFFFFF"/>
                          </a:solidFill>
                          <a:latin typeface="DejaVu Sans"/>
                          <a:ea typeface="DejaVu Sans"/>
                          <a:cs typeface="DejaVu Sans"/>
                        </a:rPr>
                        <a:t>Thành phần</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Ví dụ</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Ý nghĩa khi nghiên cứu</a:t>
                      </a:r>
                    </a:p>
                  </a:txBody>
                  <a:tcPr marL="133350" marR="133350" marT="114300" marB="95250" anchor="ctr">
                    <a:solidFill>
                      <a:srgbClr val="12263D"/>
                    </a:solidFill>
                  </a:tcPr>
                </a:tc>
              </a:tr>
              <a:tr h="733425">
                <a:tc>
                  <a:txBody>
                    <a:bodyPr/>
                    <a:lstStyle/>
                    <a:p>
                      <a:r>
                        <a:rPr sz="1725" b="0">
                          <a:solidFill>
                            <a:srgbClr val="182D45"/>
                          </a:solidFill>
                          <a:latin typeface="DejaVu Sans"/>
                          <a:ea typeface="DejaVu Sans"/>
                          <a:cs typeface="DejaVu Sans"/>
                        </a:rPr>
                        <a:t>Model</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Whisper-small</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Trọng số nhận dạng</a:t>
                      </a:r>
                    </a:p>
                  </a:txBody>
                  <a:tcPr marL="133350" marR="133350" marT="114300" marB="95250" anchor="ctr">
                    <a:solidFill>
                      <a:srgbClr val="FFFFFF"/>
                    </a:solidFill>
                  </a:tcPr>
                </a:tc>
              </a:tr>
              <a:tr h="733425">
                <a:tc>
                  <a:txBody>
                    <a:bodyPr/>
                    <a:lstStyle/>
                    <a:p>
                      <a:r>
                        <a:rPr sz="1725" b="0">
                          <a:solidFill>
                            <a:srgbClr val="182D45"/>
                          </a:solidFill>
                          <a:latin typeface="DejaVu Sans"/>
                          <a:ea typeface="DejaVu Sans"/>
                          <a:cs typeface="DejaVu Sans"/>
                        </a:rPr>
                        <a:t>Runtime</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faster-whisper / CTranslate2</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Cách thực thi model</a:t>
                      </a:r>
                    </a:p>
                  </a:txBody>
                  <a:tcPr marL="133350" marR="133350" marT="114300" marB="95250" anchor="ctr">
                    <a:solidFill>
                      <a:srgbClr val="F0F5F8"/>
                    </a:solidFill>
                  </a:tcPr>
                </a:tc>
              </a:tr>
              <a:tr h="733425">
                <a:tc>
                  <a:txBody>
                    <a:bodyPr/>
                    <a:lstStyle/>
                    <a:p>
                      <a:r>
                        <a:rPr sz="1725" b="0">
                          <a:solidFill>
                            <a:srgbClr val="182D45"/>
                          </a:solidFill>
                          <a:latin typeface="DejaVu Sans"/>
                          <a:ea typeface="DejaVu Sans"/>
                          <a:cs typeface="DejaVu Sans"/>
                        </a:rPr>
                        <a:t>Precision</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FP16 hoặc INT8</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Đổi tài nguyên, có thể đổi kết quả</a:t>
                      </a:r>
                    </a:p>
                  </a:txBody>
                  <a:tcPr marL="133350" marR="133350" marT="114300" marB="95250" anchor="ctr">
                    <a:solidFill>
                      <a:srgbClr val="FFFFFF"/>
                    </a:solidFill>
                  </a:tcPr>
                </a:tc>
              </a:tr>
              <a:tr h="733425">
                <a:tc>
                  <a:txBody>
                    <a:bodyPr/>
                    <a:lstStyle/>
                    <a:p>
                      <a:r>
                        <a:rPr sz="1725" b="0">
                          <a:solidFill>
                            <a:srgbClr val="182D45"/>
                          </a:solidFill>
                          <a:latin typeface="DejaVu Sans"/>
                          <a:ea typeface="DejaVu Sans"/>
                          <a:cs typeface="DejaVu Sans"/>
                        </a:rPr>
                        <a:t>API nội bộ</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POST /transcribe</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Team tự bọc model thành dịch vụ</a:t>
                      </a:r>
                    </a:p>
                  </a:txBody>
                  <a:tcPr marL="133350" marR="133350" marT="114300" marB="95250" anchor="ctr">
                    <a:solidFill>
                      <a:srgbClr val="F0F5F8"/>
                    </a:solidFill>
                  </a:tcPr>
                </a:tc>
              </a:tr>
            </a:tbl>
          </a:graphicData>
        </a:graphic>
      </p:graphicFrame>
      <p:sp>
        <p:nvSpPr>
          <p:cNvPr id="4" name="">
            <a:extLst xmlns:a="http://schemas.openxmlformats.org/drawingml/2006/main">
              <a:ext uri="{FF2B5EF4-FFF2-40B4-BE49-F238E27FC236}">
                <a16:creationId xmlns:a16="http://schemas.microsoft.com/office/drawing/2014/main" id="{F611CB6C-5D17-45FF-8FF1-02FE03A9D609}"/>
              </a:ext>
            </a:extLst>
          </p:cNvPr>
          <p:cNvSpPr>
            <a:spLocks xmlns:a="http://schemas.openxmlformats.org/drawingml/2006/main" noGrp="1"/>
          </p:cNvSpPr>
          <p:nvPr/>
        </p:nvSpPr>
        <p:spPr>
          <a:xfrm xmlns:a="http://schemas.openxmlformats.org/drawingml/2006/main">
            <a:off x="609600" y="56578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779"/>
                </a:solidFill>
                <a:latin typeface="DejaVu Sans"/>
                <a:ea typeface="DejaVu Sans"/>
                <a:cs typeface="DejaVu Sans"/>
              </a:defRPr>
            </a:pPr>
            <a:r>
              <a:rPr sz="1650" b="1">
                <a:solidFill>
                  <a:srgbClr val="168779"/>
                </a:solidFill>
                <a:latin typeface="DejaVu Sans"/>
                <a:ea typeface="DejaVu Sans"/>
                <a:cs typeface="DejaVu Sans"/>
              </a:rPr>
              <a:t>API có thể do team tự xây quanh model nội bộ</a:t>
            </a:r>
          </a:p>
        </p:txBody>
      </p:sp>
      <p:sp>
        <p:nvSpPr>
          <p:cNvPr id="5" name="">
            <a:extLst xmlns:a="http://schemas.openxmlformats.org/drawingml/2006/main">
              <a:ext uri="{FF2B5EF4-FFF2-40B4-BE49-F238E27FC236}">
                <a16:creationId xmlns:a16="http://schemas.microsoft.com/office/drawing/2014/main" id="{8472111F-9E39-44EB-9C7E-E13E755C402D}"/>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SYSTRAN (n.d.)     9/21</a:t>
            </a:r>
          </a:p>
        </p:txBody>
      </p:sp>
    </p:spTree>
    <p:extLst>
      <p:ext uri="{BB962C8B-B14F-4D97-AF65-F5344CB8AC3E}">
        <p14:creationId xmlns:p14="http://schemas.microsoft.com/office/powerpoint/2010/main" val="15150288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5DB069-082D-461B-BBC7-A11298E267BD}"/>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API Speech to Text</a:t>
            </a:r>
          </a:p>
        </p:txBody>
      </p:sp>
      <p:sp>
        <p:nvSpPr>
          <p:cNvPr id="2" name="">
            <a:extLst xmlns:a="http://schemas.openxmlformats.org/drawingml/2006/main">
              <a:ext uri="{FF2B5EF4-FFF2-40B4-BE49-F238E27FC236}">
                <a16:creationId xmlns:a16="http://schemas.microsoft.com/office/drawing/2014/main" id="{38D555CF-6271-457D-AA2A-77511451FE51}"/>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Nhà cung cấp chạy model, ứng dụng gọi dịch vụ</a:t>
            </a:r>
          </a:p>
        </p:txBody>
      </p:sp>
      <p:graphicFrame>
        <p:nvGraphicFramePr>
          <p:cNvPr id="7" name=""/>
          <p:cNvGraphicFramePr/>
          <p:nvPr/>
        </p:nvGraphicFramePr>
        <p:xfrm>
          <a:off xmlns:a="http://schemas.openxmlformats.org/drawingml/2006/main" x="609600" y="1752600"/>
          <a:ext xmlns:a="http://schemas.openxmlformats.org/drawingml/2006/main" cx="10972800" cy="4000500"/>
        </p:xfrm>
        <a:graphic xmlns:a="http://schemas.openxmlformats.org/drawingml/2006/main">
          <a:graphicData uri="http://schemas.openxmlformats.org/drawingml/2006/table">
            <a:tbl>
              <a:tblPr/>
              <a:tblGrid>
                <a:gridCol w="3657600"/>
                <a:gridCol w="3657600"/>
                <a:gridCol w="3657600"/>
              </a:tblGrid>
              <a:tr h="571500">
                <a:tc>
                  <a:txBody>
                    <a:bodyPr/>
                    <a:lstStyle/>
                    <a:p>
                      <a:r>
                        <a:rPr sz="1650" b="1">
                          <a:solidFill>
                            <a:srgbClr val="FFFFFF"/>
                          </a:solidFill>
                          <a:latin typeface="DejaVu Sans"/>
                          <a:ea typeface="DejaVu Sans"/>
                          <a:cs typeface="DejaVu Sans"/>
                        </a:rPr>
                        <a:t>Dịch vụ</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Cấu hình / tiếng Việt</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Điểm đáng khảo sát</a:t>
                      </a:r>
                    </a:p>
                  </a:txBody>
                  <a:tcPr marL="133350" marR="133350" marT="114300" marB="95250" anchor="ctr">
                    <a:solidFill>
                      <a:srgbClr val="12263D"/>
                    </a:solidFill>
                  </a:tcPr>
                </a:tc>
              </a:tr>
              <a:tr h="571500">
                <a:tc>
                  <a:txBody>
                    <a:bodyPr/>
                    <a:lstStyle/>
                    <a:p>
                      <a:r>
                        <a:rPr sz="1575" b="0">
                          <a:solidFill>
                            <a:srgbClr val="182D45"/>
                          </a:solidFill>
                          <a:latin typeface="DejaVu Sans"/>
                          <a:ea typeface="DejaVu Sans"/>
                          <a:cs typeface="DejaVu Sans"/>
                        </a:rPr>
                        <a:t>OpenAI</a:t>
                      </a:r>
                    </a:p>
                  </a:txBody>
                  <a:tcPr marL="133350" marR="133350" marT="114300" marB="95250" anchor="ctr">
                    <a:solidFill>
                      <a:srgbClr val="FFFFFF"/>
                    </a:solidFill>
                  </a:tcPr>
                </a:tc>
                <a:tc>
                  <a:txBody>
                    <a:bodyPr/>
                    <a:lstStyle/>
                    <a:p>
                      <a:r>
                        <a:rPr sz="1575" b="0">
                          <a:solidFill>
                            <a:srgbClr val="182D45"/>
                          </a:solidFill>
                          <a:latin typeface="DejaVu Sans"/>
                          <a:ea typeface="DejaVu Sans"/>
                          <a:cs typeface="DejaVu Sans"/>
                        </a:rPr>
                        <a:t>gpt-transcribe và model chuyên biệt</a:t>
                      </a:r>
                    </a:p>
                  </a:txBody>
                  <a:tcPr marL="133350" marR="133350" marT="114300" marB="95250" anchor="ctr">
                    <a:solidFill>
                      <a:srgbClr val="FFFFFF"/>
                    </a:solidFill>
                  </a:tcPr>
                </a:tc>
                <a:tc>
                  <a:txBody>
                    <a:bodyPr/>
                    <a:lstStyle/>
                    <a:p>
                      <a:r>
                        <a:rPr sz="1575" b="0">
                          <a:solidFill>
                            <a:srgbClr val="182D45"/>
                          </a:solidFill>
                          <a:latin typeface="DejaVu Sans"/>
                          <a:ea typeface="DejaVu Sans"/>
                          <a:cs typeface="DejaVu Sans"/>
                        </a:rPr>
                        <a:t>Ngữ cảnh, đầu ra theo model</a:t>
                      </a:r>
                    </a:p>
                  </a:txBody>
                  <a:tcPr marL="133350" marR="133350" marT="114300" marB="95250" anchor="ctr">
                    <a:solidFill>
                      <a:srgbClr val="FFFFFF"/>
                    </a:solidFill>
                  </a:tcPr>
                </a:tc>
              </a:tr>
              <a:tr h="571500">
                <a:tc>
                  <a:txBody>
                    <a:bodyPr/>
                    <a:lstStyle/>
                    <a:p>
                      <a:r>
                        <a:rPr sz="1575" b="0">
                          <a:solidFill>
                            <a:srgbClr val="182D45"/>
                          </a:solidFill>
                          <a:latin typeface="DejaVu Sans"/>
                          <a:ea typeface="DejaVu Sans"/>
                          <a:cs typeface="DejaVu Sans"/>
                        </a:rPr>
                        <a:t>Google Cloud</a:t>
                      </a:r>
                    </a:p>
                  </a:txBody>
                  <a:tcPr marL="133350" marR="133350" marT="114300" marB="95250" anchor="ctr">
                    <a:solidFill>
                      <a:srgbClr val="F0F5F8"/>
                    </a:solidFill>
                  </a:tcPr>
                </a:tc>
                <a:tc>
                  <a:txBody>
                    <a:bodyPr/>
                    <a:lstStyle/>
                    <a:p>
                      <a:r>
                        <a:rPr sz="1575" b="0">
                          <a:solidFill>
                            <a:srgbClr val="182D45"/>
                          </a:solidFill>
                          <a:latin typeface="DejaVu Sans"/>
                          <a:ea typeface="DejaVu Sans"/>
                          <a:cs typeface="DejaVu Sans"/>
                        </a:rPr>
                        <a:t>chirp_3 / vi-VN</a:t>
                      </a:r>
                    </a:p>
                  </a:txBody>
                  <a:tcPr marL="133350" marR="133350" marT="114300" marB="95250" anchor="ctr">
                    <a:solidFill>
                      <a:srgbClr val="F0F5F8"/>
                    </a:solidFill>
                  </a:tcPr>
                </a:tc>
                <a:tc>
                  <a:txBody>
                    <a:bodyPr/>
                    <a:lstStyle/>
                    <a:p>
                      <a:r>
                        <a:rPr sz="1575" b="0">
                          <a:solidFill>
                            <a:srgbClr val="182D45"/>
                          </a:solidFill>
                          <a:latin typeface="DejaVu Sans"/>
                          <a:ea typeface="DejaVu Sans"/>
                          <a:cs typeface="DejaVu Sans"/>
                        </a:rPr>
                        <a:t>Biasing và giới hạn từng feature</a:t>
                      </a:r>
                    </a:p>
                  </a:txBody>
                  <a:tcPr marL="133350" marR="133350" marT="114300" marB="95250" anchor="ctr">
                    <a:solidFill>
                      <a:srgbClr val="F0F5F8"/>
                    </a:solidFill>
                  </a:tcPr>
                </a:tc>
              </a:tr>
              <a:tr h="571500">
                <a:tc>
                  <a:txBody>
                    <a:bodyPr/>
                    <a:lstStyle/>
                    <a:p>
                      <a:r>
                        <a:rPr sz="1575" b="0">
                          <a:solidFill>
                            <a:srgbClr val="182D45"/>
                          </a:solidFill>
                          <a:latin typeface="DejaVu Sans"/>
                          <a:ea typeface="DejaVu Sans"/>
                          <a:cs typeface="DejaVu Sans"/>
                        </a:rPr>
                        <a:t>Azure Speech</a:t>
                      </a:r>
                    </a:p>
                  </a:txBody>
                  <a:tcPr marL="133350" marR="133350" marT="114300" marB="95250" anchor="ctr">
                    <a:solidFill>
                      <a:srgbClr val="FFFFFF"/>
                    </a:solidFill>
                  </a:tcPr>
                </a:tc>
                <a:tc>
                  <a:txBody>
                    <a:bodyPr/>
                    <a:lstStyle/>
                    <a:p>
                      <a:r>
                        <a:rPr sz="1575" b="0">
                          <a:solidFill>
                            <a:srgbClr val="182D45"/>
                          </a:solidFill>
                          <a:latin typeface="DejaVu Sans"/>
                          <a:ea typeface="DejaVu Sans"/>
                          <a:cs typeface="DejaVu Sans"/>
                        </a:rPr>
                        <a:t>vi-VN</a:t>
                      </a:r>
                    </a:p>
                  </a:txBody>
                  <a:tcPr marL="133350" marR="133350" marT="114300" marB="95250" anchor="ctr">
                    <a:solidFill>
                      <a:srgbClr val="FFFFFF"/>
                    </a:solidFill>
                  </a:tcPr>
                </a:tc>
                <a:tc>
                  <a:txBody>
                    <a:bodyPr/>
                    <a:lstStyle/>
                    <a:p>
                      <a:r>
                        <a:rPr sz="1575" b="0">
                          <a:solidFill>
                            <a:srgbClr val="182D45"/>
                          </a:solidFill>
                          <a:latin typeface="DejaVu Sans"/>
                          <a:ea typeface="DejaVu Sans"/>
                          <a:cs typeface="DejaVu Sans"/>
                        </a:rPr>
                        <a:t>Fast transcription, phrase list</a:t>
                      </a:r>
                    </a:p>
                  </a:txBody>
                  <a:tcPr marL="133350" marR="133350" marT="114300" marB="95250" anchor="ctr">
                    <a:solidFill>
                      <a:srgbClr val="FFFFFF"/>
                    </a:solidFill>
                  </a:tcPr>
                </a:tc>
              </a:tr>
              <a:tr h="571500">
                <a:tc>
                  <a:txBody>
                    <a:bodyPr/>
                    <a:lstStyle/>
                    <a:p>
                      <a:r>
                        <a:rPr sz="1575" b="0">
                          <a:solidFill>
                            <a:srgbClr val="182D45"/>
                          </a:solidFill>
                          <a:latin typeface="DejaVu Sans"/>
                          <a:ea typeface="DejaVu Sans"/>
                          <a:cs typeface="DejaVu Sans"/>
                        </a:rPr>
                        <a:t>AWS Transcribe</a:t>
                      </a:r>
                    </a:p>
                  </a:txBody>
                  <a:tcPr marL="133350" marR="133350" marT="114300" marB="95250" anchor="ctr">
                    <a:solidFill>
                      <a:srgbClr val="F0F5F8"/>
                    </a:solidFill>
                  </a:tcPr>
                </a:tc>
                <a:tc>
                  <a:txBody>
                    <a:bodyPr/>
                    <a:lstStyle/>
                    <a:p>
                      <a:r>
                        <a:rPr sz="1575" b="0">
                          <a:solidFill>
                            <a:srgbClr val="182D45"/>
                          </a:solidFill>
                          <a:latin typeface="DejaVu Sans"/>
                          <a:ea typeface="DejaVu Sans"/>
                          <a:cs typeface="DejaVu Sans"/>
                        </a:rPr>
                        <a:t>vi-VN</a:t>
                      </a:r>
                    </a:p>
                  </a:txBody>
                  <a:tcPr marL="133350" marR="133350" marT="114300" marB="95250" anchor="ctr">
                    <a:solidFill>
                      <a:srgbClr val="F0F5F8"/>
                    </a:solidFill>
                  </a:tcPr>
                </a:tc>
                <a:tc>
                  <a:txBody>
                    <a:bodyPr/>
                    <a:lstStyle/>
                    <a:p>
                      <a:r>
                        <a:rPr sz="1575" b="0">
                          <a:solidFill>
                            <a:srgbClr val="182D45"/>
                          </a:solidFill>
                          <a:latin typeface="DejaVu Sans"/>
                          <a:ea typeface="DejaVu Sans"/>
                          <a:cs typeface="DejaVu Sans"/>
                        </a:rPr>
                        <a:t>Batch và streaming</a:t>
                      </a:r>
                    </a:p>
                  </a:txBody>
                  <a:tcPr marL="133350" marR="133350" marT="114300" marB="95250" anchor="ctr">
                    <a:solidFill>
                      <a:srgbClr val="F0F5F8"/>
                    </a:solidFill>
                  </a:tcPr>
                </a:tc>
              </a:tr>
              <a:tr h="571500">
                <a:tc>
                  <a:txBody>
                    <a:bodyPr/>
                    <a:lstStyle/>
                    <a:p>
                      <a:r>
                        <a:rPr sz="1575" b="0">
                          <a:solidFill>
                            <a:srgbClr val="182D45"/>
                          </a:solidFill>
                          <a:latin typeface="DejaVu Sans"/>
                          <a:ea typeface="DejaVu Sans"/>
                          <a:cs typeface="DejaVu Sans"/>
                        </a:rPr>
                        <a:t>Deepgram</a:t>
                      </a:r>
                    </a:p>
                  </a:txBody>
                  <a:tcPr marL="133350" marR="133350" marT="114300" marB="95250" anchor="ctr">
                    <a:solidFill>
                      <a:srgbClr val="FFFFFF"/>
                    </a:solidFill>
                  </a:tcPr>
                </a:tc>
                <a:tc>
                  <a:txBody>
                    <a:bodyPr/>
                    <a:lstStyle/>
                    <a:p>
                      <a:r>
                        <a:rPr sz="1575" b="0">
                          <a:solidFill>
                            <a:srgbClr val="182D45"/>
                          </a:solidFill>
                          <a:latin typeface="DejaVu Sans"/>
                          <a:ea typeface="DejaVu Sans"/>
                          <a:cs typeface="DejaVu Sans"/>
                        </a:rPr>
                        <a:t>nova-3 / vi</a:t>
                      </a:r>
                    </a:p>
                  </a:txBody>
                  <a:tcPr marL="133350" marR="133350" marT="114300" marB="95250" anchor="ctr">
                    <a:solidFill>
                      <a:srgbClr val="FFFFFF"/>
                    </a:solidFill>
                  </a:tcPr>
                </a:tc>
                <a:tc>
                  <a:txBody>
                    <a:bodyPr/>
                    <a:lstStyle/>
                    <a:p>
                      <a:r>
                        <a:rPr sz="1575" b="0">
                          <a:solidFill>
                            <a:srgbClr val="182D45"/>
                          </a:solidFill>
                          <a:latin typeface="DejaVu Sans"/>
                          <a:ea typeface="DejaVu Sans"/>
                          <a:cs typeface="DejaVu Sans"/>
                        </a:rPr>
                        <a:t>Model và language phải đúng</a:t>
                      </a:r>
                    </a:p>
                  </a:txBody>
                  <a:tcPr marL="133350" marR="133350" marT="114300" marB="95250" anchor="ctr">
                    <a:solidFill>
                      <a:srgbClr val="FFFFFF"/>
                    </a:solidFill>
                  </a:tcPr>
                </a:tc>
              </a:tr>
              <a:tr h="571500">
                <a:tc>
                  <a:txBody>
                    <a:bodyPr/>
                    <a:lstStyle/>
                    <a:p>
                      <a:r>
                        <a:rPr sz="1575" b="0">
                          <a:solidFill>
                            <a:srgbClr val="182D45"/>
                          </a:solidFill>
                          <a:latin typeface="DejaVu Sans"/>
                          <a:ea typeface="DejaVu Sans"/>
                          <a:cs typeface="DejaVu Sans"/>
                        </a:rPr>
                        <a:t>Speechmatics</a:t>
                      </a:r>
                    </a:p>
                  </a:txBody>
                  <a:tcPr marL="133350" marR="133350" marT="114300" marB="95250" anchor="ctr">
                    <a:solidFill>
                      <a:srgbClr val="F0F5F8"/>
                    </a:solidFill>
                  </a:tcPr>
                </a:tc>
                <a:tc>
                  <a:txBody>
                    <a:bodyPr/>
                    <a:lstStyle/>
                    <a:p>
                      <a:r>
                        <a:rPr sz="1575" b="0">
                          <a:solidFill>
                            <a:srgbClr val="182D45"/>
                          </a:solidFill>
                          <a:latin typeface="DejaVu Sans"/>
                          <a:ea typeface="DejaVu Sans"/>
                          <a:cs typeface="DejaVu Sans"/>
                        </a:rPr>
                        <a:t>vi</a:t>
                      </a:r>
                    </a:p>
                  </a:txBody>
                  <a:tcPr marL="133350" marR="133350" marT="114300" marB="95250" anchor="ctr">
                    <a:solidFill>
                      <a:srgbClr val="F0F5F8"/>
                    </a:solidFill>
                  </a:tcPr>
                </a:tc>
                <a:tc>
                  <a:txBody>
                    <a:bodyPr/>
                    <a:lstStyle/>
                    <a:p>
                      <a:r>
                        <a:rPr sz="1575" b="0">
                          <a:solidFill>
                            <a:srgbClr val="182D45"/>
                          </a:solidFill>
                          <a:latin typeface="DejaVu Sans"/>
                          <a:ea typeface="DejaVu Sans"/>
                          <a:cs typeface="DejaVu Sans"/>
                        </a:rPr>
                        <a:t>Cloud hoặc container thương mại</a:t>
                      </a:r>
                    </a:p>
                  </a:txBody>
                  <a:tcPr marL="133350" marR="133350" marT="114300" marB="95250" anchor="ctr">
                    <a:solidFill>
                      <a:srgbClr val="F0F5F8"/>
                    </a:solidFill>
                  </a:tcPr>
                </a:tc>
              </a:tr>
            </a:tbl>
          </a:graphicData>
        </a:graphic>
      </p:graphicFrame>
      <p:sp>
        <p:nvSpPr>
          <p:cNvPr id="4" name="">
            <a:extLst xmlns:a="http://schemas.openxmlformats.org/drawingml/2006/main">
              <a:ext uri="{FF2B5EF4-FFF2-40B4-BE49-F238E27FC236}">
                <a16:creationId xmlns:a16="http://schemas.microsoft.com/office/drawing/2014/main" id="{424DD249-7617-4B4C-85BC-F4DC944F3EFC}"/>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(n.d.b), Google Cloud (n.d.), Microsoft (n.d.), AWS (n.d.), Deepgram (n.d.), Speechmatics (n.d.a)     10/21</a:t>
            </a:r>
          </a:p>
        </p:txBody>
      </p:sp>
    </p:spTree>
    <p:extLst>
      <p:ext uri="{BB962C8B-B14F-4D97-AF65-F5344CB8AC3E}">
        <p14:creationId xmlns:p14="http://schemas.microsoft.com/office/powerpoint/2010/main" val="21050488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819CFE9-E314-4148-889A-62A01ED613A4}"/>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OpenAI transcription API</a:t>
            </a:r>
          </a:p>
        </p:txBody>
      </p:sp>
      <p:sp>
        <p:nvSpPr>
          <p:cNvPr id="2" name="">
            <a:extLst xmlns:a="http://schemas.openxmlformats.org/drawingml/2006/main">
              <a:ext uri="{FF2B5EF4-FFF2-40B4-BE49-F238E27FC236}">
                <a16:creationId xmlns:a16="http://schemas.microsoft.com/office/drawing/2014/main" id="{CCD72E4F-5867-4B79-BFAA-9B591A13263A}"/>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Chọn model theo đầu ra cần nhận</a:t>
            </a:r>
          </a:p>
        </p:txBody>
      </p:sp>
      <p:sp>
        <p:nvSpPr>
          <p:cNvPr id="3" name="">
            <a:extLst xmlns:a="http://schemas.openxmlformats.org/drawingml/2006/main">
              <a:ext uri="{FF2B5EF4-FFF2-40B4-BE49-F238E27FC236}">
                <a16:creationId xmlns:a16="http://schemas.microsoft.com/office/drawing/2014/main" id="{8340243C-F9EB-4DC9-A036-E9D6B81516AB}"/>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314F0742-3122-423B-8114-EBFF4751EB01}"/>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gpt-transcribe: tài liệu hiện khuyến nghị cho file ghi âm</a:t>
            </a:r>
          </a:p>
        </p:txBody>
      </p:sp>
      <p:sp>
        <p:nvSpPr>
          <p:cNvPr id="5" name="">
            <a:extLst xmlns:a="http://schemas.openxmlformats.org/drawingml/2006/main">
              <a:ext uri="{FF2B5EF4-FFF2-40B4-BE49-F238E27FC236}">
                <a16:creationId xmlns:a16="http://schemas.microsoft.com/office/drawing/2014/main" id="{C90CB985-D552-46BF-AF91-3713FE904B12}"/>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C9527268-F906-4395-922D-755C7B062E73}"/>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gpt-4o-transcribe-diarize: nhãn người nói, định dạng diarized_json</a:t>
            </a:r>
          </a:p>
        </p:txBody>
      </p:sp>
      <p:sp>
        <p:nvSpPr>
          <p:cNvPr id="7" name="">
            <a:extLst xmlns:a="http://schemas.openxmlformats.org/drawingml/2006/main">
              <a:ext uri="{FF2B5EF4-FFF2-40B4-BE49-F238E27FC236}">
                <a16:creationId xmlns:a16="http://schemas.microsoft.com/office/drawing/2014/main" id="{728D7927-CF40-47E0-8D2C-75AFBA1E29B1}"/>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B50B1D44-A7EB-41BA-89C2-34982EC8CE46}"/>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whisper-1: lựa chọn chuyên biệt cho một số định dạng đầu ra</a:t>
            </a:r>
          </a:p>
        </p:txBody>
      </p:sp>
      <p:sp>
        <p:nvSpPr>
          <p:cNvPr id="9" name="">
            <a:extLst xmlns:a="http://schemas.openxmlformats.org/drawingml/2006/main">
              <a:ext uri="{FF2B5EF4-FFF2-40B4-BE49-F238E27FC236}">
                <a16:creationId xmlns:a16="http://schemas.microsoft.com/office/drawing/2014/main" id="{0A28BC27-3C99-47C4-96F2-48DB13925572}"/>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8556248B-C6EA-4DA2-ADE7-C53FD918F1F9}"/>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File endpoint: /v1/audio/transcriptions. Live có luồng riêng</a:t>
            </a:r>
          </a:p>
        </p:txBody>
      </p:sp>
      <p:sp>
        <p:nvSpPr>
          <p:cNvPr id="11" name="">
            <a:extLst xmlns:a="http://schemas.openxmlformats.org/drawingml/2006/main">
              <a:ext uri="{FF2B5EF4-FFF2-40B4-BE49-F238E27FC236}">
                <a16:creationId xmlns:a16="http://schemas.microsoft.com/office/drawing/2014/main" id="{8718FD75-64B2-4056-B839-1738EA61C672}"/>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(n.d.b), OpenAI (n.d.c)     11/21</a:t>
            </a:r>
          </a:p>
        </p:txBody>
      </p:sp>
    </p:spTree>
    <p:extLst>
      <p:ext uri="{BB962C8B-B14F-4D97-AF65-F5344CB8AC3E}">
        <p14:creationId xmlns:p14="http://schemas.microsoft.com/office/powerpoint/2010/main" val="21354300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783913-5C97-4AD6-B3BA-A3727C734CDD}"/>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Google Chirp 3 và Azure Speech</a:t>
            </a:r>
          </a:p>
        </p:txBody>
      </p:sp>
      <p:sp>
        <p:nvSpPr>
          <p:cNvPr id="2" name="">
            <a:extLst xmlns:a="http://schemas.openxmlformats.org/drawingml/2006/main">
              <a:ext uri="{FF2B5EF4-FFF2-40B4-BE49-F238E27FC236}">
                <a16:creationId xmlns:a16="http://schemas.microsoft.com/office/drawing/2014/main" id="{5F55163D-9B83-4DFB-AA84-38CE0116CD93}"/>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Tính năng tiếng Việt cần đọc riêng</a:t>
            </a:r>
          </a:p>
        </p:txBody>
      </p:sp>
      <p:graphicFrame>
        <p:nvGraphicFramePr>
          <p:cNvPr id="7"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733425">
                <a:tc>
                  <a:txBody>
                    <a:bodyPr/>
                    <a:lstStyle/>
                    <a:p>
                      <a:r>
                        <a:rPr sz="1650" b="1">
                          <a:solidFill>
                            <a:srgbClr val="FFFFFF"/>
                          </a:solidFill>
                          <a:latin typeface="DejaVu Sans"/>
                          <a:ea typeface="DejaVu Sans"/>
                          <a:cs typeface="DejaVu Sans"/>
                        </a:rPr>
                        <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Google Chirp 3</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Azure Speech</a:t>
                      </a:r>
                    </a:p>
                  </a:txBody>
                  <a:tcPr marL="133350" marR="133350" marT="114300" marB="95250" anchor="ctr">
                    <a:solidFill>
                      <a:srgbClr val="12263D"/>
                    </a:solidFill>
                  </a:tcPr>
                </a:tc>
              </a:tr>
              <a:tr h="733425">
                <a:tc>
                  <a:txBody>
                    <a:bodyPr/>
                    <a:lstStyle/>
                    <a:p>
                      <a:r>
                        <a:rPr sz="1725" b="0">
                          <a:solidFill>
                            <a:srgbClr val="182D45"/>
                          </a:solidFill>
                          <a:latin typeface="DejaVu Sans"/>
                          <a:ea typeface="DejaVu Sans"/>
                          <a:cs typeface="DejaVu Sans"/>
                        </a:rPr>
                        <a:t>Tiếng Việt</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vi-VN cho transcription</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vi-VN cho fast transcription</a:t>
                      </a:r>
                    </a:p>
                  </a:txBody>
                  <a:tcPr marL="133350" marR="133350" marT="114300" marB="95250" anchor="ctr">
                    <a:solidFill>
                      <a:srgbClr val="FFFFFF"/>
                    </a:solidFill>
                  </a:tcPr>
                </a:tc>
              </a:tr>
              <a:tr h="733425">
                <a:tc>
                  <a:txBody>
                    <a:bodyPr/>
                    <a:lstStyle/>
                    <a:p>
                      <a:r>
                        <a:rPr sz="1725" b="0">
                          <a:solidFill>
                            <a:srgbClr val="182D45"/>
                          </a:solidFill>
                          <a:latin typeface="DejaVu Sans"/>
                          <a:ea typeface="DejaVu Sans"/>
                          <a:cs typeface="DejaVu Sans"/>
                        </a:rPr>
                        <a:t>Từ vựng</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Có speech adaptation</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Có phrase list / plain text</a:t>
                      </a:r>
                    </a:p>
                  </a:txBody>
                  <a:tcPr marL="133350" marR="133350" marT="114300" marB="95250" anchor="ctr">
                    <a:solidFill>
                      <a:srgbClr val="F0F5F8"/>
                    </a:solidFill>
                  </a:tcPr>
                </a:tc>
              </a:tr>
              <a:tr h="733425">
                <a:tc>
                  <a:txBody>
                    <a:bodyPr/>
                    <a:lstStyle/>
                    <a:p>
                      <a:r>
                        <a:rPr sz="1725" b="0">
                          <a:solidFill>
                            <a:srgbClr val="182D45"/>
                          </a:solidFill>
                          <a:latin typeface="DejaVu Sans"/>
                          <a:ea typeface="DejaVu Sans"/>
                          <a:cs typeface="DejaVu Sans"/>
                        </a:rPr>
                        <a:t>Người nói</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Bảng diarization chưa có vi-VN</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Cần chốt endpoint / cấu hình</a:t>
                      </a:r>
                    </a:p>
                  </a:txBody>
                  <a:tcPr marL="133350" marR="133350" marT="114300" marB="95250" anchor="ctr">
                    <a:solidFill>
                      <a:srgbClr val="FFFFFF"/>
                    </a:solidFill>
                  </a:tcPr>
                </a:tc>
              </a:tr>
              <a:tr h="733425">
                <a:tc>
                  <a:txBody>
                    <a:bodyPr/>
                    <a:lstStyle/>
                    <a:p>
                      <a:r>
                        <a:rPr sz="1725" b="0">
                          <a:solidFill>
                            <a:srgbClr val="182D45"/>
                          </a:solidFill>
                          <a:latin typeface="DejaVu Sans"/>
                          <a:ea typeface="DejaVu Sans"/>
                          <a:cs typeface="DejaVu Sans"/>
                        </a:rPr>
                        <a:t>Thử nghiệm gợi ý</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Có và không có biasing</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Có và không có phrase list</a:t>
                      </a:r>
                    </a:p>
                  </a:txBody>
                  <a:tcPr marL="133350" marR="133350" marT="114300" marB="95250" anchor="ctr">
                    <a:solidFill>
                      <a:srgbClr val="F0F5F8"/>
                    </a:solidFill>
                  </a:tcPr>
                </a:tc>
              </a:tr>
            </a:tbl>
          </a:graphicData>
        </a:graphic>
      </p:graphicFrame>
      <p:sp>
        <p:nvSpPr>
          <p:cNvPr id="4" name="">
            <a:extLst xmlns:a="http://schemas.openxmlformats.org/drawingml/2006/main">
              <a:ext uri="{FF2B5EF4-FFF2-40B4-BE49-F238E27FC236}">
                <a16:creationId xmlns:a16="http://schemas.microsoft.com/office/drawing/2014/main" id="{D42C5174-1EB6-4D22-A8D3-BD2587AC9016}"/>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Google Cloud (n.d.), Microsoft (n.d.)     12/21</a:t>
            </a:r>
          </a:p>
        </p:txBody>
      </p:sp>
    </p:spTree>
    <p:extLst>
      <p:ext uri="{BB962C8B-B14F-4D97-AF65-F5344CB8AC3E}">
        <p14:creationId xmlns:p14="http://schemas.microsoft.com/office/powerpoint/2010/main" val="12342946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35F631-0FDC-4660-9E4C-D1D20120D20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AWS Transcribe và Deepgram</a:t>
            </a:r>
          </a:p>
        </p:txBody>
      </p:sp>
      <p:sp>
        <p:nvSpPr>
          <p:cNvPr id="2" name="">
            <a:extLst xmlns:a="http://schemas.openxmlformats.org/drawingml/2006/main">
              <a:ext uri="{FF2B5EF4-FFF2-40B4-BE49-F238E27FC236}">
                <a16:creationId xmlns:a16="http://schemas.microsoft.com/office/drawing/2014/main" id="{DAEB0091-BB24-4CA5-8A0F-CC912AF9D083}"/>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Tên tính năng và ngôn ngữ có thể không cùng phạm vi</a:t>
            </a:r>
          </a:p>
        </p:txBody>
      </p:sp>
      <p:sp>
        <p:nvSpPr>
          <p:cNvPr id="3" name="">
            <a:extLst xmlns:a="http://schemas.openxmlformats.org/drawingml/2006/main">
              <a:ext uri="{FF2B5EF4-FFF2-40B4-BE49-F238E27FC236}">
                <a16:creationId xmlns:a16="http://schemas.microsoft.com/office/drawing/2014/main" id="{4004F1C4-7044-472C-89A2-5BCB0E211636}"/>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BC25E363-492B-4026-9D55-F4B43F75B892}"/>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AWS vi-VN: có batch và streaming</a:t>
            </a:r>
          </a:p>
        </p:txBody>
      </p:sp>
      <p:sp>
        <p:nvSpPr>
          <p:cNvPr id="5" name="">
            <a:extLst xmlns:a="http://schemas.openxmlformats.org/drawingml/2006/main">
              <a:ext uri="{FF2B5EF4-FFF2-40B4-BE49-F238E27FC236}">
                <a16:creationId xmlns:a16="http://schemas.microsoft.com/office/drawing/2014/main" id="{416BED38-2AB8-494E-93DE-7C2D83E650AC}"/>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D38E9385-F043-4F49-AE9A-F54D5087FA50}"/>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AWS vi-VN: bảng ghi không có Call Analytics, redaction, custom language model</a:t>
            </a:r>
          </a:p>
        </p:txBody>
      </p:sp>
      <p:sp>
        <p:nvSpPr>
          <p:cNvPr id="7" name="">
            <a:extLst xmlns:a="http://schemas.openxmlformats.org/drawingml/2006/main">
              <a:ext uri="{FF2B5EF4-FFF2-40B4-BE49-F238E27FC236}">
                <a16:creationId xmlns:a16="http://schemas.microsoft.com/office/drawing/2014/main" id="{CDE30F88-0421-4F6D-BC03-22C07C94865D}"/>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38A32D01-8CAB-4363-824B-96DAAC323CA3}"/>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Deepgram nova-3 và nova-2 có vi trong danh sách</a:t>
            </a:r>
          </a:p>
        </p:txBody>
      </p:sp>
      <p:sp>
        <p:nvSpPr>
          <p:cNvPr id="9" name="">
            <a:extLst xmlns:a="http://schemas.openxmlformats.org/drawingml/2006/main">
              <a:ext uri="{FF2B5EF4-FFF2-40B4-BE49-F238E27FC236}">
                <a16:creationId xmlns:a16="http://schemas.microsoft.com/office/drawing/2014/main" id="{C5775241-1294-40CA-B433-1BA5F48D50A3}"/>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BEA80C13-7840-4EB0-B4CF-E60CAA44DCD4}"/>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Deepgram nova-2-phonecall và nova-2-finance được liệt kê cho tiếng Anh</a:t>
            </a:r>
          </a:p>
        </p:txBody>
      </p:sp>
      <p:sp>
        <p:nvSpPr>
          <p:cNvPr id="11" name="">
            <a:extLst xmlns:a="http://schemas.openxmlformats.org/drawingml/2006/main">
              <a:ext uri="{FF2B5EF4-FFF2-40B4-BE49-F238E27FC236}">
                <a16:creationId xmlns:a16="http://schemas.microsoft.com/office/drawing/2014/main" id="{448AB366-1E9A-4750-9C53-2F6006EBC458}"/>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AWS (n.d.), Deepgram (n.d.)     13/21</a:t>
            </a:r>
          </a:p>
        </p:txBody>
      </p:sp>
    </p:spTree>
    <p:extLst>
      <p:ext uri="{BB962C8B-B14F-4D97-AF65-F5344CB8AC3E}">
        <p14:creationId xmlns:p14="http://schemas.microsoft.com/office/powerpoint/2010/main" val="18433371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0F0B9B-6385-480D-9E10-B41F1F0EE49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Speechmatics</a:t>
            </a:r>
          </a:p>
        </p:txBody>
      </p:sp>
      <p:sp>
        <p:nvSpPr>
          <p:cNvPr id="2" name="">
            <a:extLst xmlns:a="http://schemas.openxmlformats.org/drawingml/2006/main">
              <a:ext uri="{FF2B5EF4-FFF2-40B4-BE49-F238E27FC236}">
                <a16:creationId xmlns:a16="http://schemas.microsoft.com/office/drawing/2014/main" id="{757B19AB-A628-44E4-8FF0-E33F9759990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Có cả dịch vụ cloud và container thương mại</a:t>
            </a:r>
          </a:p>
        </p:txBody>
      </p:sp>
      <p:sp>
        <p:nvSpPr>
          <p:cNvPr id="3" name="">
            <a:extLst xmlns:a="http://schemas.openxmlformats.org/drawingml/2006/main">
              <a:ext uri="{FF2B5EF4-FFF2-40B4-BE49-F238E27FC236}">
                <a16:creationId xmlns:a16="http://schemas.microsoft.com/office/drawing/2014/main" id="{ED541ED5-A29C-4679-8ACF-FDCC4A91B434}"/>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806787C0-56B7-47D6-8D01-05B3122E0817}"/>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Danh sách ngôn ngữ có Vietnamese / vi</a:t>
            </a:r>
          </a:p>
        </p:txBody>
      </p:sp>
      <p:sp>
        <p:nvSpPr>
          <p:cNvPr id="5" name="">
            <a:extLst xmlns:a="http://schemas.openxmlformats.org/drawingml/2006/main">
              <a:ext uri="{FF2B5EF4-FFF2-40B4-BE49-F238E27FC236}">
                <a16:creationId xmlns:a16="http://schemas.microsoft.com/office/drawing/2014/main" id="{002508B8-3DA1-479C-A04B-0F0110820A30}"/>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710199AA-BFE4-47D0-9762-A3FC4D5B71C3}"/>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Có hướng cloud và container trên hạ tầng quản lý</a:t>
            </a:r>
          </a:p>
        </p:txBody>
      </p:sp>
      <p:sp>
        <p:nvSpPr>
          <p:cNvPr id="7" name="">
            <a:extLst xmlns:a="http://schemas.openxmlformats.org/drawingml/2006/main">
              <a:ext uri="{FF2B5EF4-FFF2-40B4-BE49-F238E27FC236}">
                <a16:creationId xmlns:a16="http://schemas.microsoft.com/office/drawing/2014/main" id="{6566DBF2-D804-4664-8847-C56371AC6A04}"/>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792AE66B-F515-4E21-B273-27E8A093C251}"/>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Tài liệu triển khai có diarization và custom dictionary</a:t>
            </a:r>
          </a:p>
        </p:txBody>
      </p:sp>
      <p:sp>
        <p:nvSpPr>
          <p:cNvPr id="9" name="">
            <a:extLst xmlns:a="http://schemas.openxmlformats.org/drawingml/2006/main">
              <a:ext uri="{FF2B5EF4-FFF2-40B4-BE49-F238E27FC236}">
                <a16:creationId xmlns:a16="http://schemas.microsoft.com/office/drawing/2014/main" id="{3A12BF12-866E-44EC-88E3-1BBF62A11852}"/>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B22DF6E3-512E-47FB-A50C-6EF9FE55E3EA}"/>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Tính năng phụ thuộc deployment, mode và ngôn ngữ theo hợp đồng</a:t>
            </a:r>
          </a:p>
        </p:txBody>
      </p:sp>
      <p:sp>
        <p:nvSpPr>
          <p:cNvPr id="11" name="">
            <a:extLst xmlns:a="http://schemas.openxmlformats.org/drawingml/2006/main">
              <a:ext uri="{FF2B5EF4-FFF2-40B4-BE49-F238E27FC236}">
                <a16:creationId xmlns:a16="http://schemas.microsoft.com/office/drawing/2014/main" id="{D2845983-90E6-41F8-B531-37B4279ACCA9}"/>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Speechmatics (n.d.a), Speechmatics (n.d.b)     14/21</a:t>
            </a:r>
          </a:p>
        </p:txBody>
      </p:sp>
    </p:spTree>
    <p:extLst>
      <p:ext uri="{BB962C8B-B14F-4D97-AF65-F5344CB8AC3E}">
        <p14:creationId xmlns:p14="http://schemas.microsoft.com/office/powerpoint/2010/main" val="49343832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CBE888-A0BF-44FF-910B-CF08C48D1A12}"/>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API Việt Nam</a:t>
            </a:r>
          </a:p>
        </p:txBody>
      </p:sp>
      <p:sp>
        <p:nvSpPr>
          <p:cNvPr id="2" name="">
            <a:extLst xmlns:a="http://schemas.openxmlformats.org/drawingml/2006/main">
              <a:ext uri="{FF2B5EF4-FFF2-40B4-BE49-F238E27FC236}">
                <a16:creationId xmlns:a16="http://schemas.microsoft.com/office/drawing/2014/main" id="{01A5B1D6-927C-4794-AAB9-9F854977B471}"/>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Tài liệu tích hợp cung cấp bằng chứng cụ thể</a:t>
            </a:r>
          </a:p>
        </p:txBody>
      </p:sp>
      <p:graphicFrame>
        <p:nvGraphicFramePr>
          <p:cNvPr id="8" name=""/>
          <p:cNvGraphicFramePr/>
          <p:nvPr/>
        </p:nvGraphicFramePr>
        <p:xfrm>
          <a:off xmlns:a="http://schemas.openxmlformats.org/drawingml/2006/main" x="609600" y="1752600"/>
          <a:ext xmlns:a="http://schemas.openxmlformats.org/drawingml/2006/main" cx="10972800" cy="3286125"/>
        </p:xfrm>
        <a:graphic xmlns:a="http://schemas.openxmlformats.org/drawingml/2006/main">
          <a:graphicData uri="http://schemas.openxmlformats.org/drawingml/2006/table">
            <a:tbl>
              <a:tblPr/>
              <a:tblGrid>
                <a:gridCol w="3657600"/>
                <a:gridCol w="3657600"/>
                <a:gridCol w="3657600"/>
              </a:tblGrid>
              <a:tr h="821531">
                <a:tc>
                  <a:txBody>
                    <a:bodyPr/>
                    <a:lstStyle/>
                    <a:p>
                      <a:r>
                        <a:rPr sz="1650" b="1">
                          <a:solidFill>
                            <a:srgbClr val="FFFFFF"/>
                          </a:solidFill>
                          <a:latin typeface="DejaVu Sans"/>
                          <a:ea typeface="DejaVu Sans"/>
                          <a:cs typeface="DejaVu Sans"/>
                        </a:rPr>
                        <a:t>Ứng viên</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Bằng chứng công khai</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Điều cần xác nhận</a:t>
                      </a:r>
                    </a:p>
                  </a:txBody>
                  <a:tcPr marL="133350" marR="133350" marT="114300" marB="95250" anchor="ctr">
                    <a:solidFill>
                      <a:srgbClr val="12263D"/>
                    </a:solidFill>
                  </a:tcPr>
                </a:tc>
              </a:tr>
              <a:tr h="821531">
                <a:tc>
                  <a:txBody>
                    <a:bodyPr/>
                    <a:lstStyle/>
                    <a:p>
                      <a:r>
                        <a:rPr sz="1725" b="0">
                          <a:solidFill>
                            <a:srgbClr val="182D45"/>
                          </a:solidFill>
                          <a:latin typeface="DejaVu Sans"/>
                          <a:ea typeface="DejaVu Sans"/>
                          <a:cs typeface="DejaVu Sans"/>
                        </a:rPr>
                        <a:t>VNPT SmartVoice</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API / SDK, WAV / MP3, 16 kHz</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Speaker, timestamp, dữ liệu, giá</a:t>
                      </a:r>
                    </a:p>
                  </a:txBody>
                  <a:tcPr marL="133350" marR="133350" marT="114300" marB="95250" anchor="ctr">
                    <a:solidFill>
                      <a:srgbClr val="FFFFFF"/>
                    </a:solidFill>
                  </a:tcPr>
                </a:tc>
              </a:tr>
              <a:tr h="821531">
                <a:tc>
                  <a:txBody>
                    <a:bodyPr/>
                    <a:lstStyle/>
                    <a:p>
                      <a:r>
                        <a:rPr sz="1725" b="0">
                          <a:solidFill>
                            <a:srgbClr val="182D45"/>
                          </a:solidFill>
                          <a:latin typeface="DejaVu Sans"/>
                          <a:ea typeface="DejaVu Sans"/>
                          <a:cs typeface="DejaVu Sans"/>
                        </a:rPr>
                        <a:t>FPT.AI Speech</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POST /hmi/asr/general</a:t>
                      </a:r>
                    </a:p>
                    <a:p>
                      <a:r>
                        <a:rPr sz="1725" b="0">
                          <a:solidFill>
                            <a:srgbClr val="182D45"/>
                          </a:solidFill>
                          <a:latin typeface="DejaVu Sans"/>
                          <a:ea typeface="DejaVu Sans"/>
                          <a:cs typeface="DejaVu Sans"/>
                        </a:rPr>
                        <a:t>JSON hypotheses[].utterance</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Schema hiện tại, giới hạn, speaker</a:t>
                      </a:r>
                    </a:p>
                  </a:txBody>
                  <a:tcPr marL="133350" marR="133350" marT="114300" marB="95250" anchor="ctr">
                    <a:solidFill>
                      <a:srgbClr val="F0F5F8"/>
                    </a:solidFill>
                  </a:tcPr>
                </a:tc>
              </a:tr>
              <a:tr h="821531">
                <a:tc>
                  <a:txBody>
                    <a:bodyPr/>
                    <a:lstStyle/>
                    <a:p>
                      <a:r>
                        <a:rPr sz="1725" b="0">
                          <a:solidFill>
                            <a:srgbClr val="182D45"/>
                          </a:solidFill>
                          <a:latin typeface="DejaVu Sans"/>
                          <a:ea typeface="DejaVu Sans"/>
                          <a:cs typeface="DejaVu Sans"/>
                        </a:rPr>
                        <a:t>Viettel AI</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Giữ trong danh sách khảo sát bổ sung</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Tài liệu endpoint hiện hành</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500B798-F719-4CBC-9F2C-6D1224837712}"/>
              </a:ext>
            </a:extLst>
          </p:cNvPr>
          <p:cNvSpPr>
            <a:spLocks xmlns:a="http://schemas.openxmlformats.org/drawingml/2006/main" noGrp="1"/>
          </p:cNvSpPr>
          <p:nvPr/>
        </p:nvSpPr>
        <p:spPr>
          <a:xfrm xmlns:a="http://schemas.openxmlformats.org/drawingml/2006/main">
            <a:off x="609600" y="56578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779"/>
                </a:solidFill>
                <a:latin typeface="DejaVu Sans"/>
                <a:ea typeface="DejaVu Sans"/>
                <a:cs typeface="DejaVu Sans"/>
              </a:defRPr>
            </a:pPr>
            <a:r>
              <a:rPr sz="1650" b="1">
                <a:solidFill>
                  <a:srgbClr val="168779"/>
                </a:solidFill>
                <a:latin typeface="DejaVu Sans"/>
                <a:ea typeface="DejaVu Sans"/>
                <a:cs typeface="DejaVu Sans"/>
              </a:rPr>
              <a:t>Nhà cung cấp trong nước: vẫn cần xác nhận nơi xử lý dữ liệu</a:t>
            </a:r>
          </a:p>
        </p:txBody>
      </p:sp>
      <p:sp>
        <p:nvSpPr>
          <p:cNvPr id="5" name="">
            <a:extLst xmlns:a="http://schemas.openxmlformats.org/drawingml/2006/main">
              <a:ext uri="{FF2B5EF4-FFF2-40B4-BE49-F238E27FC236}">
                <a16:creationId xmlns:a16="http://schemas.microsoft.com/office/drawing/2014/main" id="{D99C87B4-6D76-4148-B1A0-6F12A2A00156}"/>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VNPT AI (n.d.), FPT.AI (n.d.)     15/21</a:t>
            </a:r>
          </a:p>
        </p:txBody>
      </p:sp>
    </p:spTree>
    <p:extLst>
      <p:ext uri="{BB962C8B-B14F-4D97-AF65-F5344CB8AC3E}">
        <p14:creationId xmlns:p14="http://schemas.microsoft.com/office/powerpoint/2010/main" val="7739135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6FE164-197E-46A5-A5BE-7ABBE8658CE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Những điều rút ra từ khảo sát</a:t>
            </a:r>
          </a:p>
        </p:txBody>
      </p:sp>
      <p:sp>
        <p:nvSpPr>
          <p:cNvPr id="2" name="">
            <a:extLst xmlns:a="http://schemas.openxmlformats.org/drawingml/2006/main">
              <a:ext uri="{FF2B5EF4-FFF2-40B4-BE49-F238E27FC236}">
                <a16:creationId xmlns:a16="http://schemas.microsoft.com/office/drawing/2014/main" id="{91FD40D1-03E1-4988-8F9F-F414A79E1065}"/>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Các phát hiện giúp thiết kế thử nghiệm tốt hơn</a:t>
            </a:r>
          </a:p>
        </p:txBody>
      </p:sp>
      <p:sp>
        <p:nvSpPr>
          <p:cNvPr id="3" name="">
            <a:extLst xmlns:a="http://schemas.openxmlformats.org/drawingml/2006/main">
              <a:ext uri="{FF2B5EF4-FFF2-40B4-BE49-F238E27FC236}">
                <a16:creationId xmlns:a16="http://schemas.microsoft.com/office/drawing/2014/main" id="{C531B19D-FAAA-4643-9F23-A51197968A34}"/>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0128288D-1976-428E-AD03-EC3F6B90C5D2}"/>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Tải được model chưa đồng nghĩa được dùng thương mại: Wav2Vec2 checkpoint có giới hạn</a:t>
            </a:r>
          </a:p>
        </p:txBody>
      </p:sp>
      <p:sp>
        <p:nvSpPr>
          <p:cNvPr id="5" name="">
            <a:extLst xmlns:a="http://schemas.openxmlformats.org/drawingml/2006/main">
              <a:ext uri="{FF2B5EF4-FFF2-40B4-BE49-F238E27FC236}">
                <a16:creationId xmlns:a16="http://schemas.microsoft.com/office/drawing/2014/main" id="{49F49D92-4D14-4ACF-BCDD-9B105B45609E}"/>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1D18E3FE-B4AB-4B95-8447-6307990FB859}"/>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ASR có tiếng Việt chưa đồng nghĩa aligner hoặc diarization có tiếng Việt</a:t>
            </a:r>
          </a:p>
        </p:txBody>
      </p:sp>
      <p:sp>
        <p:nvSpPr>
          <p:cNvPr id="7" name="">
            <a:extLst xmlns:a="http://schemas.openxmlformats.org/drawingml/2006/main">
              <a:ext uri="{FF2B5EF4-FFF2-40B4-BE49-F238E27FC236}">
                <a16:creationId xmlns:a16="http://schemas.microsoft.com/office/drawing/2014/main" id="{01AED917-DB4F-4E57-81D1-0A58B172CDDD}"/>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53F73A6F-D118-410E-AE55-89681D7DE69C}"/>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Cấu hình giải mã và gợi ý từ vựng có thể tạo thêm ứng viên thử nghiệm</a:t>
            </a:r>
          </a:p>
        </p:txBody>
      </p:sp>
      <p:sp>
        <p:nvSpPr>
          <p:cNvPr id="9" name="">
            <a:extLst xmlns:a="http://schemas.openxmlformats.org/drawingml/2006/main">
              <a:ext uri="{FF2B5EF4-FFF2-40B4-BE49-F238E27FC236}">
                <a16:creationId xmlns:a16="http://schemas.microsoft.com/office/drawing/2014/main" id="{BAF38719-70CC-472F-924B-D0FEBB2AC3FF}"/>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9E7423D9-F3B4-426F-900D-9B059BA6DA76}"/>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Qwen3-ASR mở rộng nghiên cứu ra ngoài Whisper và CTC</a:t>
            </a:r>
          </a:p>
        </p:txBody>
      </p:sp>
      <p:sp>
        <p:nvSpPr>
          <p:cNvPr id="11" name="">
            <a:extLst xmlns:a="http://schemas.openxmlformats.org/drawingml/2006/main">
              <a:ext uri="{FF2B5EF4-FFF2-40B4-BE49-F238E27FC236}">
                <a16:creationId xmlns:a16="http://schemas.microsoft.com/office/drawing/2014/main" id="{00315681-DA36-444C-945A-D9DD03B522CD}"/>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Qwen Team (n.d.a), Nguyen Vu Le Binh (n.d.), Google Cloud (n.d.), Microsoft (n.d.)     16/21</a:t>
            </a:r>
          </a:p>
        </p:txBody>
      </p:sp>
    </p:spTree>
    <p:extLst>
      <p:ext uri="{BB962C8B-B14F-4D97-AF65-F5344CB8AC3E}">
        <p14:creationId xmlns:p14="http://schemas.microsoft.com/office/powerpoint/2010/main" val="16210121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4EF2F3-E0A4-4509-9306-8D521F6AE04D}"/>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Shortlist đề xuất cho Evaluation</a:t>
            </a:r>
          </a:p>
        </p:txBody>
      </p:sp>
      <p:sp>
        <p:nvSpPr>
          <p:cNvPr id="2" name="">
            <a:extLst xmlns:a="http://schemas.openxmlformats.org/drawingml/2006/main">
              <a:ext uri="{FF2B5EF4-FFF2-40B4-BE49-F238E27FC236}">
                <a16:creationId xmlns:a16="http://schemas.microsoft.com/office/drawing/2014/main" id="{44D51CBB-16EE-48A8-AFFE-F65346E5FA1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Ưu tiên không trả phí API, mở rộng từng vòng</a:t>
            </a:r>
          </a:p>
        </p:txBody>
      </p:sp>
      <p:graphicFrame>
        <p:nvGraphicFramePr>
          <p:cNvPr id="8" name=""/>
          <p:cNvGraphicFramePr/>
          <p:nvPr/>
        </p:nvGraphicFramePr>
        <p:xfrm>
          <a:off xmlns:a="http://schemas.openxmlformats.org/drawingml/2006/main" x="609600" y="1752600"/>
          <a:ext xmlns:a="http://schemas.openxmlformats.org/drawingml/2006/main" cx="10972800" cy="3286125"/>
        </p:xfrm>
        <a:graphic xmlns:a="http://schemas.openxmlformats.org/drawingml/2006/main">
          <a:graphicData uri="http://schemas.openxmlformats.org/drawingml/2006/table">
            <a:tbl>
              <a:tblPr/>
              <a:tblGrid>
                <a:gridCol w="3657600"/>
                <a:gridCol w="3657600"/>
                <a:gridCol w="3657600"/>
              </a:tblGrid>
              <a:tr h="821531">
                <a:tc>
                  <a:txBody>
                    <a:bodyPr/>
                    <a:lstStyle/>
                    <a:p>
                      <a:r>
                        <a:rPr sz="1650" b="1">
                          <a:solidFill>
                            <a:srgbClr val="FFFFFF"/>
                          </a:solidFill>
                          <a:latin typeface="DejaVu Sans"/>
                          <a:ea typeface="DejaVu Sans"/>
                          <a:cs typeface="DejaVu Sans"/>
                        </a:rPr>
                        <a:t>Vòng</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Ứng viên</a:t>
                      </a:r>
                    </a:p>
                  </a:txBody>
                  <a:tcPr marL="133350" marR="133350" marT="114300" marB="95250" anchor="ctr">
                    <a:solidFill>
                      <a:srgbClr val="12263D"/>
                    </a:solidFill>
                  </a:tcPr>
                </a:tc>
                <a:tc>
                  <a:txBody>
                    <a:bodyPr/>
                    <a:lstStyle/>
                    <a:p>
                      <a:r>
                        <a:rPr sz="1650" b="1">
                          <a:solidFill>
                            <a:srgbClr val="FFFFFF"/>
                          </a:solidFill>
                          <a:latin typeface="DejaVu Sans"/>
                          <a:ea typeface="DejaVu Sans"/>
                          <a:cs typeface="DejaVu Sans"/>
                        </a:rPr>
                        <a:t>Câu hỏi cần trả lời</a:t>
                      </a:r>
                    </a:p>
                  </a:txBody>
                  <a:tcPr marL="133350" marR="133350" marT="114300" marB="95250" anchor="ctr">
                    <a:solidFill>
                      <a:srgbClr val="12263D"/>
                    </a:solidFill>
                  </a:tcPr>
                </a:tc>
              </a:tr>
              <a:tr h="821531">
                <a:tc>
                  <a:txBody>
                    <a:bodyPr/>
                    <a:lstStyle/>
                    <a:p>
                      <a:r>
                        <a:rPr sz="1725" b="0">
                          <a:solidFill>
                            <a:srgbClr val="182D45"/>
                          </a:solidFill>
                          <a:latin typeface="DejaVu Sans"/>
                          <a:ea typeface="DejaVu Sans"/>
                          <a:cs typeface="DejaVu Sans"/>
                        </a:rPr>
                        <a:t>1 / điểm xuất phát</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PhoWhisper-base, Whisper-base</a:t>
                      </a:r>
                    </a:p>
                    <a:p>
                      <a:r>
                        <a:rPr sz="1725" b="0">
                          <a:solidFill>
                            <a:srgbClr val="182D45"/>
                          </a:solidFill>
                          <a:latin typeface="DejaVu Sans"/>
                          <a:ea typeface="DejaVu Sans"/>
                          <a:cs typeface="DejaVu Sans"/>
                        </a:rPr>
                        <a:t>PhoWhisper-small, Whisper-small</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Tinh chỉnh tiếng Việt và tăng kích thước giúp gì?</a:t>
                      </a:r>
                    </a:p>
                  </a:txBody>
                  <a:tcPr marL="133350" marR="133350" marT="114300" marB="95250" anchor="ctr">
                    <a:solidFill>
                      <a:srgbClr val="FFFFFF"/>
                    </a:solidFill>
                  </a:tcPr>
                </a:tc>
              </a:tr>
              <a:tr h="821531">
                <a:tc>
                  <a:txBody>
                    <a:bodyPr/>
                    <a:lstStyle/>
                    <a:p>
                      <a:r>
                        <a:rPr sz="1725" b="0">
                          <a:solidFill>
                            <a:srgbClr val="182D45"/>
                          </a:solidFill>
                          <a:latin typeface="DejaVu Sans"/>
                          <a:ea typeface="DejaVu Sans"/>
                          <a:cs typeface="DejaVu Sans"/>
                        </a:rPr>
                        <a:t>2 / khác họ</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Parakeet Vietnamese</a:t>
                      </a:r>
                    </a:p>
                    <a:p>
                      <a:r>
                        <a:rPr sz="1725" b="0">
                          <a:solidFill>
                            <a:srgbClr val="182D45"/>
                          </a:solidFill>
                          <a:latin typeface="DejaVu Sans"/>
                          <a:ea typeface="DejaVu Sans"/>
                          <a:cs typeface="DejaVu Sans"/>
                        </a:rPr>
                        <a:t>Qwen3-ASR-0.6B</a:t>
                      </a:r>
                    </a:p>
                  </a:txBody>
                  <a:tcPr marL="133350" marR="133350" marT="114300" marB="95250" anchor="ctr">
                    <a:solidFill>
                      <a:srgbClr val="F0F5F8"/>
                    </a:solidFill>
                  </a:tcPr>
                </a:tc>
                <a:tc>
                  <a:txBody>
                    <a:bodyPr/>
                    <a:lstStyle/>
                    <a:p>
                      <a:r>
                        <a:rPr sz="1725" b="0">
                          <a:solidFill>
                            <a:srgbClr val="182D45"/>
                          </a:solidFill>
                          <a:latin typeface="DejaVu Sans"/>
                          <a:ea typeface="DejaVu Sans"/>
                          <a:cs typeface="DejaVu Sans"/>
                        </a:rPr>
                        <a:t>Có hướng nào đáng dùng ngoài Whisper?</a:t>
                      </a:r>
                    </a:p>
                  </a:txBody>
                  <a:tcPr marL="133350" marR="133350" marT="114300" marB="95250" anchor="ctr">
                    <a:solidFill>
                      <a:srgbClr val="F0F5F8"/>
                    </a:solidFill>
                  </a:tcPr>
                </a:tc>
              </a:tr>
              <a:tr h="821531">
                <a:tc>
                  <a:txBody>
                    <a:bodyPr/>
                    <a:lstStyle/>
                    <a:p>
                      <a:r>
                        <a:rPr sz="1725" b="0">
                          <a:solidFill>
                            <a:srgbClr val="182D45"/>
                          </a:solidFill>
                          <a:latin typeface="DejaVu Sans"/>
                          <a:ea typeface="DejaVu Sans"/>
                          <a:cs typeface="DejaVu Sans"/>
                        </a:rPr>
                        <a:t>3 / API có điều kiện</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Chọn 1–2 API theo đầu ra cần dùng</a:t>
                      </a:r>
                    </a:p>
                  </a:txBody>
                  <a:tcPr marL="133350" marR="133350" marT="114300" marB="95250" anchor="ctr">
                    <a:solidFill>
                      <a:srgbClr val="FFFFFF"/>
                    </a:solidFill>
                  </a:tcPr>
                </a:tc>
                <a:tc>
                  <a:txBody>
                    <a:bodyPr/>
                    <a:lstStyle/>
                    <a:p>
                      <a:r>
                        <a:rPr sz="1725" b="0">
                          <a:solidFill>
                            <a:srgbClr val="182D45"/>
                          </a:solidFill>
                          <a:latin typeface="DejaVu Sans"/>
                          <a:ea typeface="DejaVu Sans"/>
                          <a:cs typeface="DejaVu Sans"/>
                        </a:rPr>
                        <a:t>Dịch vụ đem lại lợi ích gì so với tự chạy?</a:t>
                      </a:r>
                    </a:p>
                  </a:txBody>
                  <a:tcPr marL="133350" marR="133350" marT="11430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2BBB093-26F6-4793-AA14-E803BB11FA33}"/>
              </a:ext>
            </a:extLst>
          </p:cNvPr>
          <p:cNvSpPr>
            <a:spLocks xmlns:a="http://schemas.openxmlformats.org/drawingml/2006/main" noGrp="1"/>
          </p:cNvSpPr>
          <p:nvPr/>
        </p:nvSpPr>
        <p:spPr>
          <a:xfrm xmlns:a="http://schemas.openxmlformats.org/drawingml/2006/main">
            <a:off x="609600" y="56578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779"/>
                </a:solidFill>
                <a:latin typeface="DejaVu Sans"/>
                <a:ea typeface="DejaVu Sans"/>
                <a:cs typeface="DejaVu Sans"/>
              </a:defRPr>
            </a:pPr>
            <a:r>
              <a:rPr sz="1650" b="1">
                <a:solidFill>
                  <a:srgbClr val="168779"/>
                </a:solidFill>
                <a:latin typeface="DejaVu Sans"/>
                <a:ea typeface="DejaVu Sans"/>
                <a:cs typeface="DejaVu Sans"/>
              </a:rPr>
              <a:t>Shortlist là đề xuất thử nghiệm, chưa phải thứ hạng chất lượng</a:t>
            </a:r>
          </a:p>
        </p:txBody>
      </p:sp>
      <p:sp>
        <p:nvSpPr>
          <p:cNvPr id="5" name="">
            <a:extLst xmlns:a="http://schemas.openxmlformats.org/drawingml/2006/main">
              <a:ext uri="{FF2B5EF4-FFF2-40B4-BE49-F238E27FC236}">
                <a16:creationId xmlns:a16="http://schemas.microsoft.com/office/drawing/2014/main" id="{15C8791A-6134-4CB7-93A4-08DF3CF3E4B0}"/>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Nguyen Vu Le Binh (n.d.)     17/21</a:t>
            </a:r>
          </a:p>
        </p:txBody>
      </p:sp>
    </p:spTree>
    <p:extLst>
      <p:ext uri="{BB962C8B-B14F-4D97-AF65-F5344CB8AC3E}">
        <p14:creationId xmlns:p14="http://schemas.microsoft.com/office/powerpoint/2010/main" val="3980487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70C784-46BB-4223-913C-488C4D36F894}"/>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Đầu ra của Part 1</a:t>
            </a:r>
          </a:p>
        </p:txBody>
      </p:sp>
      <p:sp>
        <p:nvSpPr>
          <p:cNvPr id="2" name="">
            <a:extLst xmlns:a="http://schemas.openxmlformats.org/drawingml/2006/main">
              <a:ext uri="{FF2B5EF4-FFF2-40B4-BE49-F238E27FC236}">
                <a16:creationId xmlns:a16="http://schemas.microsoft.com/office/drawing/2014/main" id="{6335F275-B621-456A-A822-768C984F00E0}"/>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Danh sách cụ thể và câu hỏi có thể kiểm chứng</a:t>
            </a:r>
          </a:p>
        </p:txBody>
      </p:sp>
      <p:sp>
        <p:nvSpPr>
          <p:cNvPr id="3" name="">
            <a:extLst xmlns:a="http://schemas.openxmlformats.org/drawingml/2006/main">
              <a:ext uri="{FF2B5EF4-FFF2-40B4-BE49-F238E27FC236}">
                <a16:creationId xmlns:a16="http://schemas.microsoft.com/office/drawing/2014/main" id="{43E32817-7D09-4A65-B5C6-3A0E1476F217}"/>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C751C9E5-C43B-4E95-800B-E1A6DD6865C6}"/>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Đã xác định checkpoint, runtime và API đại diện</a:t>
            </a:r>
          </a:p>
        </p:txBody>
      </p:sp>
      <p:sp>
        <p:nvSpPr>
          <p:cNvPr id="5" name="">
            <a:extLst xmlns:a="http://schemas.openxmlformats.org/drawingml/2006/main">
              <a:ext uri="{FF2B5EF4-FFF2-40B4-BE49-F238E27FC236}">
                <a16:creationId xmlns:a16="http://schemas.microsoft.com/office/drawing/2014/main" id="{B7507C8A-0EDF-44BF-8AE7-3277BE9BDD54}"/>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BD5A3E4A-6B95-46BA-A885-40015FE9EFA0}"/>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Đã ghi các khả năng công bố cùng giới hạn tiếng Việt</a:t>
            </a:r>
          </a:p>
        </p:txBody>
      </p:sp>
      <p:sp>
        <p:nvSpPr>
          <p:cNvPr id="7" name="">
            <a:extLst xmlns:a="http://schemas.openxmlformats.org/drawingml/2006/main">
              <a:ext uri="{FF2B5EF4-FFF2-40B4-BE49-F238E27FC236}">
                <a16:creationId xmlns:a16="http://schemas.microsoft.com/office/drawing/2014/main" id="{0C938C7C-641A-45C4-815D-5ED90B664645}"/>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57FE4806-9477-46E3-AC4B-FCE31CF960A2}"/>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Cần chốt máy chạy, audio đại diện và đầu ra QA cần dùng</a:t>
            </a:r>
          </a:p>
        </p:txBody>
      </p:sp>
      <p:sp>
        <p:nvSpPr>
          <p:cNvPr id="9" name="">
            <a:extLst xmlns:a="http://schemas.openxmlformats.org/drawingml/2006/main">
              <a:ext uri="{FF2B5EF4-FFF2-40B4-BE49-F238E27FC236}">
                <a16:creationId xmlns:a16="http://schemas.microsoft.com/office/drawing/2014/main" id="{5AAAEF89-8A3B-49BD-BEE3-FC0186036936}"/>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779"/>
                </a:solidFill>
                <a:latin typeface="DejaVu Sans"/>
                <a:ea typeface="DejaVu Sans"/>
                <a:cs typeface="DejaVu Sans"/>
              </a:defRPr>
            </a:pPr>
            <a:r>
              <a:rPr sz="1875" b="1">
                <a:solidFill>
                  <a:srgbClr val="168779"/>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EF95F71B-C2D9-45B9-9913-AF67E730E389}"/>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Part 2: đo trên cùng audio, phân tích lỗi, đối chiếu yêu cầu và đề xuất</a:t>
            </a:r>
          </a:p>
        </p:txBody>
      </p:sp>
      <p:sp>
        <p:nvSpPr>
          <p:cNvPr id="11" name="">
            <a:extLst xmlns:a="http://schemas.openxmlformats.org/drawingml/2006/main">
              <a:ext uri="{FF2B5EF4-FFF2-40B4-BE49-F238E27FC236}">
                <a16:creationId xmlns:a16="http://schemas.microsoft.com/office/drawing/2014/main" id="{EAFC4D56-F3AD-4AC4-BFD0-FA5075FCEF82}"/>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18/21</a:t>
            </a:r>
          </a:p>
        </p:txBody>
      </p:sp>
    </p:spTree>
    <p:extLst>
      <p:ext uri="{BB962C8B-B14F-4D97-AF65-F5344CB8AC3E}">
        <p14:creationId xmlns:p14="http://schemas.microsoft.com/office/powerpoint/2010/main" val="195961626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38791EA-7E88-4C04-A87E-959733C7704E}"/>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Tài liệu tham khảo 1 / 3</a:t>
            </a:r>
          </a:p>
        </p:txBody>
      </p:sp>
      <p:sp>
        <p:nvSpPr>
          <p:cNvPr id="2" name="">
            <a:extLst xmlns:a="http://schemas.openxmlformats.org/drawingml/2006/main">
              <a:ext uri="{FF2B5EF4-FFF2-40B4-BE49-F238E27FC236}">
                <a16:creationId xmlns:a16="http://schemas.microsoft.com/office/drawing/2014/main" id="{0A86D5C7-706B-44D1-B6E7-423408834C1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DB84B19E-30F8-418A-BB33-F2EBF1993AD3}"/>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(n.d.a) Whisper</a:t>
            </a:r>
          </a:p>
        </p:txBody>
      </p:sp>
      <p:sp>
        <p:nvSpPr>
          <p:cNvPr id="4" name="">
            <a:extLst xmlns:a="http://schemas.openxmlformats.org/drawingml/2006/main">
              <a:ext uri="{FF2B5EF4-FFF2-40B4-BE49-F238E27FC236}">
                <a16:creationId xmlns:a16="http://schemas.microsoft.com/office/drawing/2014/main" id="{67C677F3-08C4-496B-83EC-69FDAD3C1F54}"/>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https://github.com/openai/whisper</a:t>
            </a:r>
          </a:p>
        </p:txBody>
      </p:sp>
      <p:sp>
        <p:nvSpPr>
          <p:cNvPr id="5" name="">
            <a:extLst xmlns:a="http://schemas.openxmlformats.org/drawingml/2006/main">
              <a:ext uri="{FF2B5EF4-FFF2-40B4-BE49-F238E27FC236}">
                <a16:creationId xmlns:a16="http://schemas.microsoft.com/office/drawing/2014/main" id="{3C9A8097-E200-4976-8B05-D146258E6EA6}"/>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VinAI Research (n.d.) PhoWhisper</a:t>
            </a:r>
          </a:p>
        </p:txBody>
      </p:sp>
      <p:sp>
        <p:nvSpPr>
          <p:cNvPr id="6" name="">
            <a:extLst xmlns:a="http://schemas.openxmlformats.org/drawingml/2006/main">
              <a:ext uri="{FF2B5EF4-FFF2-40B4-BE49-F238E27FC236}">
                <a16:creationId xmlns:a16="http://schemas.microsoft.com/office/drawing/2014/main" id="{33D75204-C23B-4C0E-8CCA-C6FE90A37C67}"/>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https://github.com/VinAIResearch/PhoWhisper</a:t>
            </a:r>
          </a:p>
        </p:txBody>
      </p:sp>
      <p:sp>
        <p:nvSpPr>
          <p:cNvPr id="7" name="">
            <a:extLst xmlns:a="http://schemas.openxmlformats.org/drawingml/2006/main">
              <a:ext uri="{FF2B5EF4-FFF2-40B4-BE49-F238E27FC236}">
                <a16:creationId xmlns:a16="http://schemas.microsoft.com/office/drawing/2014/main" id="{092CEB59-40BC-4E28-B28B-5D976D93D901}"/>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NVIDIA (n.d.) Parakeet CTC 0.6B Vietnamese model card</a:t>
            </a:r>
          </a:p>
        </p:txBody>
      </p:sp>
      <p:sp>
        <p:nvSpPr>
          <p:cNvPr id="8" name="">
            <a:extLst xmlns:a="http://schemas.openxmlformats.org/drawingml/2006/main">
              <a:ext uri="{FF2B5EF4-FFF2-40B4-BE49-F238E27FC236}">
                <a16:creationId xmlns:a16="http://schemas.microsoft.com/office/drawing/2014/main" id="{D047C97C-2955-4240-B551-D32AC9C9881D}"/>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https://huggingface.co/nvidia/parakeet-ctc-0.6b-Vietnamese</a:t>
            </a:r>
          </a:p>
        </p:txBody>
      </p:sp>
      <p:sp>
        <p:nvSpPr>
          <p:cNvPr id="9" name="">
            <a:extLst xmlns:a="http://schemas.openxmlformats.org/drawingml/2006/main">
              <a:ext uri="{FF2B5EF4-FFF2-40B4-BE49-F238E27FC236}">
                <a16:creationId xmlns:a16="http://schemas.microsoft.com/office/drawing/2014/main" id="{E42B5B84-E28B-410E-B3C4-F219FC0235FD}"/>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Qwen Team (n.d.a) Qwen3 ASR repository</a:t>
            </a:r>
          </a:p>
        </p:txBody>
      </p:sp>
      <p:sp>
        <p:nvSpPr>
          <p:cNvPr id="10" name="">
            <a:extLst xmlns:a="http://schemas.openxmlformats.org/drawingml/2006/main">
              <a:ext uri="{FF2B5EF4-FFF2-40B4-BE49-F238E27FC236}">
                <a16:creationId xmlns:a16="http://schemas.microsoft.com/office/drawing/2014/main" id="{D1A0D868-E4E4-48FE-98D9-35E33CFA2807}"/>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https://github.com/QwenLM/Qwen3-ASR</a:t>
            </a:r>
          </a:p>
        </p:txBody>
      </p:sp>
      <p:sp>
        <p:nvSpPr>
          <p:cNvPr id="11" name="">
            <a:extLst xmlns:a="http://schemas.openxmlformats.org/drawingml/2006/main">
              <a:ext uri="{FF2B5EF4-FFF2-40B4-BE49-F238E27FC236}">
                <a16:creationId xmlns:a16="http://schemas.microsoft.com/office/drawing/2014/main" id="{390FEFCC-990C-44CC-A246-6D64030B000D}"/>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Qwen Team (n.d.b) Qwen3 ASR 0.6B model card</a:t>
            </a:r>
          </a:p>
        </p:txBody>
      </p:sp>
      <p:sp>
        <p:nvSpPr>
          <p:cNvPr id="12" name="">
            <a:extLst xmlns:a="http://schemas.openxmlformats.org/drawingml/2006/main">
              <a:ext uri="{FF2B5EF4-FFF2-40B4-BE49-F238E27FC236}">
                <a16:creationId xmlns:a16="http://schemas.microsoft.com/office/drawing/2014/main" id="{D323523D-28AF-4996-8DFF-92ECAB7CB2FB}"/>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https://huggingface.co/Qwen/Qwen3-ASR-0.6B</a:t>
            </a:r>
          </a:p>
        </p:txBody>
      </p:sp>
      <p:sp>
        <p:nvSpPr>
          <p:cNvPr id="13" name="">
            <a:extLst xmlns:a="http://schemas.openxmlformats.org/drawingml/2006/main">
              <a:ext uri="{FF2B5EF4-FFF2-40B4-BE49-F238E27FC236}">
                <a16:creationId xmlns:a16="http://schemas.microsoft.com/office/drawing/2014/main" id="{D8BF1AD8-8D14-4DA7-8B9B-87DE0B34244D}"/>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Nguyen Vu Le Binh (n.d.) Wav2Vec2 base Vietnamese 250h model card</a:t>
            </a:r>
          </a:p>
        </p:txBody>
      </p:sp>
      <p:sp>
        <p:nvSpPr>
          <p:cNvPr id="14" name="">
            <a:extLst xmlns:a="http://schemas.openxmlformats.org/drawingml/2006/main">
              <a:ext uri="{FF2B5EF4-FFF2-40B4-BE49-F238E27FC236}">
                <a16:creationId xmlns:a16="http://schemas.microsoft.com/office/drawing/2014/main" id="{3447DC59-8B36-4CC6-99E6-580511493A8F}"/>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https://huggingface.co/nguyenvulebinh/wav2vec2-base-vietnamese-250h</a:t>
            </a:r>
          </a:p>
        </p:txBody>
      </p:sp>
      <p:sp>
        <p:nvSpPr>
          <p:cNvPr id="15" name="">
            <a:extLst xmlns:a="http://schemas.openxmlformats.org/drawingml/2006/main">
              <a:ext uri="{FF2B5EF4-FFF2-40B4-BE49-F238E27FC236}">
                <a16:creationId xmlns:a16="http://schemas.microsoft.com/office/drawing/2014/main" id="{DEB80D2F-B4CE-4B54-B1A1-14A7501F8B75}"/>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19/21</a:t>
            </a:r>
          </a:p>
        </p:txBody>
      </p:sp>
    </p:spTree>
    <p:extLst>
      <p:ext uri="{BB962C8B-B14F-4D97-AF65-F5344CB8AC3E}">
        <p14:creationId xmlns:p14="http://schemas.microsoft.com/office/powerpoint/2010/main" val="5681155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2C618AD-C9AB-4600-9702-940A67BF87FB}"/>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Tài liệu tham khảo 2 / 3</a:t>
            </a:r>
          </a:p>
        </p:txBody>
      </p:sp>
      <p:sp>
        <p:nvSpPr>
          <p:cNvPr id="2" name="">
            <a:extLst xmlns:a="http://schemas.openxmlformats.org/drawingml/2006/main">
              <a:ext uri="{FF2B5EF4-FFF2-40B4-BE49-F238E27FC236}">
                <a16:creationId xmlns:a16="http://schemas.microsoft.com/office/drawing/2014/main" id="{2B38A3E5-8906-42E6-B9F4-9AFA10F6916C}"/>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4D4559F5-947F-4399-B879-040165034D8C}"/>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Baevski et al. (2020) wav2vec 2.0 A Framework for Self Supervised Learning of Speech Representations</a:t>
            </a:r>
          </a:p>
        </p:txBody>
      </p:sp>
      <p:sp>
        <p:nvSpPr>
          <p:cNvPr id="4" name="">
            <a:extLst xmlns:a="http://schemas.openxmlformats.org/drawingml/2006/main">
              <a:ext uri="{FF2B5EF4-FFF2-40B4-BE49-F238E27FC236}">
                <a16:creationId xmlns:a16="http://schemas.microsoft.com/office/drawing/2014/main" id="{DDE739D8-AB71-4008-AE2A-50E0B59012BD}"/>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https://arxiv.org/abs/2006.11477</a:t>
            </a:r>
          </a:p>
        </p:txBody>
      </p:sp>
      <p:sp>
        <p:nvSpPr>
          <p:cNvPr id="5" name="">
            <a:extLst xmlns:a="http://schemas.openxmlformats.org/drawingml/2006/main">
              <a:ext uri="{FF2B5EF4-FFF2-40B4-BE49-F238E27FC236}">
                <a16:creationId xmlns:a16="http://schemas.microsoft.com/office/drawing/2014/main" id="{D9D21490-BC72-4DAD-83E4-DB1D93453609}"/>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SYSTRAN (n.d.) faster whisper</a:t>
            </a:r>
          </a:p>
        </p:txBody>
      </p:sp>
      <p:sp>
        <p:nvSpPr>
          <p:cNvPr id="6" name="">
            <a:extLst xmlns:a="http://schemas.openxmlformats.org/drawingml/2006/main">
              <a:ext uri="{FF2B5EF4-FFF2-40B4-BE49-F238E27FC236}">
                <a16:creationId xmlns:a16="http://schemas.microsoft.com/office/drawing/2014/main" id="{766F64DD-FB95-4478-ADDF-3E21EC970DEA}"/>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https://github.com/SYSTRAN/faster-whisper</a:t>
            </a:r>
          </a:p>
        </p:txBody>
      </p:sp>
      <p:sp>
        <p:nvSpPr>
          <p:cNvPr id="7" name="">
            <a:extLst xmlns:a="http://schemas.openxmlformats.org/drawingml/2006/main">
              <a:ext uri="{FF2B5EF4-FFF2-40B4-BE49-F238E27FC236}">
                <a16:creationId xmlns:a16="http://schemas.microsoft.com/office/drawing/2014/main" id="{5C14729F-7B4A-465E-9EAA-5F2EB9B15BD2}"/>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(n.d.b) File transcription</a:t>
            </a:r>
          </a:p>
        </p:txBody>
      </p:sp>
      <p:sp>
        <p:nvSpPr>
          <p:cNvPr id="8" name="">
            <a:extLst xmlns:a="http://schemas.openxmlformats.org/drawingml/2006/main">
              <a:ext uri="{FF2B5EF4-FFF2-40B4-BE49-F238E27FC236}">
                <a16:creationId xmlns:a16="http://schemas.microsoft.com/office/drawing/2014/main" id="{67278A05-29F2-4360-99F6-CC3A143CB6D7}"/>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https://developers.openai.com/api/docs/guides/speech-to-text</a:t>
            </a:r>
          </a:p>
        </p:txBody>
      </p:sp>
      <p:sp>
        <p:nvSpPr>
          <p:cNvPr id="9" name="">
            <a:extLst xmlns:a="http://schemas.openxmlformats.org/drawingml/2006/main">
              <a:ext uri="{FF2B5EF4-FFF2-40B4-BE49-F238E27FC236}">
                <a16:creationId xmlns:a16="http://schemas.microsoft.com/office/drawing/2014/main" id="{D269D561-B5AE-4B07-848C-157B9C779390}"/>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(n.d.c) GPT Transcribe model</a:t>
            </a:r>
          </a:p>
        </p:txBody>
      </p:sp>
      <p:sp>
        <p:nvSpPr>
          <p:cNvPr id="10" name="">
            <a:extLst xmlns:a="http://schemas.openxmlformats.org/drawingml/2006/main">
              <a:ext uri="{FF2B5EF4-FFF2-40B4-BE49-F238E27FC236}">
                <a16:creationId xmlns:a16="http://schemas.microsoft.com/office/drawing/2014/main" id="{BE0E9F08-71E3-4892-A3AC-62C3ECE25A43}"/>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https://developers.openai.com/api/docs/models/gpt-transcribe</a:t>
            </a:r>
          </a:p>
        </p:txBody>
      </p:sp>
      <p:sp>
        <p:nvSpPr>
          <p:cNvPr id="11" name="">
            <a:extLst xmlns:a="http://schemas.openxmlformats.org/drawingml/2006/main">
              <a:ext uri="{FF2B5EF4-FFF2-40B4-BE49-F238E27FC236}">
                <a16:creationId xmlns:a16="http://schemas.microsoft.com/office/drawing/2014/main" id="{0D4B8C5C-B77E-47FF-9B20-8F323450A36C}"/>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Google Cloud (n.d.) Chirp 3 transcription</a:t>
            </a:r>
          </a:p>
        </p:txBody>
      </p:sp>
      <p:sp>
        <p:nvSpPr>
          <p:cNvPr id="12" name="">
            <a:extLst xmlns:a="http://schemas.openxmlformats.org/drawingml/2006/main">
              <a:ext uri="{FF2B5EF4-FFF2-40B4-BE49-F238E27FC236}">
                <a16:creationId xmlns:a16="http://schemas.microsoft.com/office/drawing/2014/main" id="{076DB676-B6A0-41D8-A325-67288520B9D1}"/>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https://docs.cloud.google.com/speech-to-text/docs/models/chirp-3</a:t>
            </a:r>
          </a:p>
        </p:txBody>
      </p:sp>
      <p:sp>
        <p:nvSpPr>
          <p:cNvPr id="13" name="">
            <a:extLst xmlns:a="http://schemas.openxmlformats.org/drawingml/2006/main">
              <a:ext uri="{FF2B5EF4-FFF2-40B4-BE49-F238E27FC236}">
                <a16:creationId xmlns:a16="http://schemas.microsoft.com/office/drawing/2014/main" id="{75FB70D7-2CB9-4E60-B65C-0688CA8FA6C9}"/>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Microsoft (n.d.) Language and voice support for Azure Speech</a:t>
            </a:r>
          </a:p>
        </p:txBody>
      </p:sp>
      <p:sp>
        <p:nvSpPr>
          <p:cNvPr id="14" name="">
            <a:extLst xmlns:a="http://schemas.openxmlformats.org/drawingml/2006/main">
              <a:ext uri="{FF2B5EF4-FFF2-40B4-BE49-F238E27FC236}">
                <a16:creationId xmlns:a16="http://schemas.microsoft.com/office/drawing/2014/main" id="{DD2DD7E1-C5F7-4DF5-B419-B5E68E31DA9B}"/>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https://learn.microsoft.com/en-us/azure/ai-services/speech-service/language-support?tabs=stt</a:t>
            </a:r>
          </a:p>
        </p:txBody>
      </p:sp>
      <p:sp>
        <p:nvSpPr>
          <p:cNvPr id="15" name="">
            <a:extLst xmlns:a="http://schemas.openxmlformats.org/drawingml/2006/main">
              <a:ext uri="{FF2B5EF4-FFF2-40B4-BE49-F238E27FC236}">
                <a16:creationId xmlns:a16="http://schemas.microsoft.com/office/drawing/2014/main" id="{F3B660D7-6B86-4BEB-A125-4ED76B4AB575}"/>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Baevski et al. (2020), SYSTRAN (n.d.), OpenAI (n.d.b), OpenAI (n.d.c), Google Cloud (n.d.), Microsoft (n.d.)     20/21</a:t>
            </a:r>
          </a:p>
        </p:txBody>
      </p:sp>
    </p:spTree>
    <p:extLst>
      <p:ext uri="{BB962C8B-B14F-4D97-AF65-F5344CB8AC3E}">
        <p14:creationId xmlns:p14="http://schemas.microsoft.com/office/powerpoint/2010/main" val="10454409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94403A-88F2-46FE-B87E-E6B0CB066192}"/>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263D"/>
                </a:solidFill>
                <a:latin typeface="DejaVu Sans"/>
                <a:ea typeface="DejaVu Sans"/>
                <a:cs typeface="DejaVu Sans"/>
              </a:defRPr>
            </a:pPr>
            <a:r>
              <a:rPr sz="2925" b="1">
                <a:solidFill>
                  <a:srgbClr val="12263D"/>
                </a:solidFill>
                <a:latin typeface="DejaVu Sans"/>
                <a:ea typeface="DejaVu Sans"/>
                <a:cs typeface="DejaVu Sans"/>
              </a:rPr>
              <a:t>Tài liệu tham khảo 3 / 3</a:t>
            </a:r>
          </a:p>
        </p:txBody>
      </p:sp>
      <p:sp>
        <p:nvSpPr>
          <p:cNvPr id="2" name="">
            <a:extLst xmlns:a="http://schemas.openxmlformats.org/drawingml/2006/main">
              <a:ext uri="{FF2B5EF4-FFF2-40B4-BE49-F238E27FC236}">
                <a16:creationId xmlns:a16="http://schemas.microsoft.com/office/drawing/2014/main" id="{0DF340FF-B484-48EF-87F5-649F1E3B0216}"/>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3E5ABCCA-F025-4B10-A883-C9CE1D88DF38}"/>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AWS (n.d.) Supported languages and language specific features</a:t>
            </a:r>
          </a:p>
        </p:txBody>
      </p:sp>
      <p:sp>
        <p:nvSpPr>
          <p:cNvPr id="4" name="">
            <a:extLst xmlns:a="http://schemas.openxmlformats.org/drawingml/2006/main">
              <a:ext uri="{FF2B5EF4-FFF2-40B4-BE49-F238E27FC236}">
                <a16:creationId xmlns:a16="http://schemas.microsoft.com/office/drawing/2014/main" id="{8B82529A-73FE-475B-BA1A-1B365A343D3A}"/>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https://docs.aws.amazon.com/transcribe/latest/dg/supported-languages.html</a:t>
            </a:r>
          </a:p>
        </p:txBody>
      </p:sp>
      <p:sp>
        <p:nvSpPr>
          <p:cNvPr id="5" name="">
            <a:extLst xmlns:a="http://schemas.openxmlformats.org/drawingml/2006/main">
              <a:ext uri="{FF2B5EF4-FFF2-40B4-BE49-F238E27FC236}">
                <a16:creationId xmlns:a16="http://schemas.microsoft.com/office/drawing/2014/main" id="{4D149D51-ED18-46C0-86FF-175DA174ECF7}"/>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Deepgram (n.d.) Models and languages overview</a:t>
            </a:r>
          </a:p>
        </p:txBody>
      </p:sp>
      <p:sp>
        <p:nvSpPr>
          <p:cNvPr id="6" name="">
            <a:extLst xmlns:a="http://schemas.openxmlformats.org/drawingml/2006/main">
              <a:ext uri="{FF2B5EF4-FFF2-40B4-BE49-F238E27FC236}">
                <a16:creationId xmlns:a16="http://schemas.microsoft.com/office/drawing/2014/main" id="{CB20DCC5-A105-4F52-93DC-54C8D0A9CD96}"/>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https://developers.deepgram.com/docs/models-languages-overview</a:t>
            </a:r>
          </a:p>
        </p:txBody>
      </p:sp>
      <p:sp>
        <p:nvSpPr>
          <p:cNvPr id="7" name="">
            <a:extLst xmlns:a="http://schemas.openxmlformats.org/drawingml/2006/main">
              <a:ext uri="{FF2B5EF4-FFF2-40B4-BE49-F238E27FC236}">
                <a16:creationId xmlns:a16="http://schemas.microsoft.com/office/drawing/2014/main" id="{23EE7C92-DE35-4151-9F10-76695C4FB6C4}"/>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Speechmatics (n.d.a) Languages</a:t>
            </a:r>
          </a:p>
        </p:txBody>
      </p:sp>
      <p:sp>
        <p:nvSpPr>
          <p:cNvPr id="8" name="">
            <a:extLst xmlns:a="http://schemas.openxmlformats.org/drawingml/2006/main">
              <a:ext uri="{FF2B5EF4-FFF2-40B4-BE49-F238E27FC236}">
                <a16:creationId xmlns:a16="http://schemas.microsoft.com/office/drawing/2014/main" id="{85DE800E-989F-4AEB-A838-7E9442D73D1F}"/>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https://docs.speechmatics.com/speech-to-text/languages</a:t>
            </a:r>
          </a:p>
        </p:txBody>
      </p:sp>
      <p:sp>
        <p:nvSpPr>
          <p:cNvPr id="9" name="">
            <a:extLst xmlns:a="http://schemas.openxmlformats.org/drawingml/2006/main">
              <a:ext uri="{FF2B5EF4-FFF2-40B4-BE49-F238E27FC236}">
                <a16:creationId xmlns:a16="http://schemas.microsoft.com/office/drawing/2014/main" id="{A0F35A2D-406A-45B7-874B-61343B3B72D8}"/>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Speechmatics (n.d.b) Deployments overview</a:t>
            </a:r>
          </a:p>
        </p:txBody>
      </p:sp>
      <p:sp>
        <p:nvSpPr>
          <p:cNvPr id="10" name="">
            <a:extLst xmlns:a="http://schemas.openxmlformats.org/drawingml/2006/main">
              <a:ext uri="{FF2B5EF4-FFF2-40B4-BE49-F238E27FC236}">
                <a16:creationId xmlns:a16="http://schemas.microsoft.com/office/drawing/2014/main" id="{4AE28900-2893-4C76-9B5B-0602F9A1F774}"/>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https://docs.speechmatics.com/deployments</a:t>
            </a:r>
          </a:p>
        </p:txBody>
      </p:sp>
      <p:sp>
        <p:nvSpPr>
          <p:cNvPr id="11" name="">
            <a:extLst xmlns:a="http://schemas.openxmlformats.org/drawingml/2006/main">
              <a:ext uri="{FF2B5EF4-FFF2-40B4-BE49-F238E27FC236}">
                <a16:creationId xmlns:a16="http://schemas.microsoft.com/office/drawing/2014/main" id="{324B3305-965B-4937-81D4-B7840AD435CC}"/>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VNPT AI (n.d.) SmartVoice thông số kỹ thuật</a:t>
            </a:r>
          </a:p>
        </p:txBody>
      </p:sp>
      <p:sp>
        <p:nvSpPr>
          <p:cNvPr id="12" name="">
            <a:extLst xmlns:a="http://schemas.openxmlformats.org/drawingml/2006/main">
              <a:ext uri="{FF2B5EF4-FFF2-40B4-BE49-F238E27FC236}">
                <a16:creationId xmlns:a16="http://schemas.microsoft.com/office/drawing/2014/main" id="{A914D8FF-6128-4805-BC2A-08FD63BB7642}"/>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https://vnptai.io/smartvoice/vi/engine-specs</a:t>
            </a:r>
          </a:p>
        </p:txBody>
      </p:sp>
      <p:sp>
        <p:nvSpPr>
          <p:cNvPr id="13" name="">
            <a:extLst xmlns:a="http://schemas.openxmlformats.org/drawingml/2006/main">
              <a:ext uri="{FF2B5EF4-FFF2-40B4-BE49-F238E27FC236}">
                <a16:creationId xmlns:a16="http://schemas.microsoft.com/office/drawing/2014/main" id="{6F778451-264A-4399-BB4B-C4320A1FA17D}"/>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FPT.AI (n.d.) Speech to Text API</a:t>
            </a:r>
          </a:p>
        </p:txBody>
      </p:sp>
      <p:sp>
        <p:nvSpPr>
          <p:cNvPr id="14" name="">
            <a:extLst xmlns:a="http://schemas.openxmlformats.org/drawingml/2006/main">
              <a:ext uri="{FF2B5EF4-FFF2-40B4-BE49-F238E27FC236}">
                <a16:creationId xmlns:a16="http://schemas.microsoft.com/office/drawing/2014/main" id="{4180ADC2-7932-478A-8554-8751DAE5BDE2}"/>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https://docs.fpt.ai/docs/en/speech/api/speech-to-text/</a:t>
            </a:r>
          </a:p>
        </p:txBody>
      </p:sp>
      <p:sp>
        <p:nvSpPr>
          <p:cNvPr id="15" name="">
            <a:extLst xmlns:a="http://schemas.openxmlformats.org/drawingml/2006/main">
              <a:ext uri="{FF2B5EF4-FFF2-40B4-BE49-F238E27FC236}">
                <a16:creationId xmlns:a16="http://schemas.microsoft.com/office/drawing/2014/main" id="{8CDC0C3B-1390-4466-ADDD-FEEF7BA0C918}"/>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AWS (n.d.), Deepgram (n.d.), Speechmatics (n.d.a), Speechmatics (n.d.b), VNPT AI (n.d.), FPT.AI (n.d.)     21/21</a:t>
            </a:r>
          </a:p>
        </p:txBody>
      </p:sp>
    </p:spTree>
    <p:extLst>
      <p:ext uri="{BB962C8B-B14F-4D97-AF65-F5344CB8AC3E}">
        <p14:creationId xmlns:p14="http://schemas.microsoft.com/office/powerpoint/2010/main" val="3890572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2026-10-07T01:45:44.0550000Z</dcterms:created>
  <dcterms:modified xsi:type="dcterms:W3CDTF">2026-10-07T01:45:44.0550000Z</dcterms:modified>
</coreProperties>
</file>