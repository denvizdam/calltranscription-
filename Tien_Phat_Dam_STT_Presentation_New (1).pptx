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Chuyển cuộc gọi thành văn bản</a:t>
            </a:r>
          </a:p>
          <a:p/>
          <a:p>
            <a:r>
              <a:t>Thời lượng gợi ý: 30–45 giây</a:t>
            </a:r>
          </a:p>
          <a:p/>
          <a:p>
            <a:r>
              <a:t>Ý chính cần truyền đạt: Speech-to-Text Models &amp; APIs • Part 1: Analysis and Survey</a:t>
            </a:r>
          </a:p>
          <a:p/>
          <a:p>
            <a:r>
              <a:t>Lời đọc</a:t>
            </a:r>
          </a:p>
          <a:p/>
          <a:p>
            <a:r>
              <a:t>Em chào anh chị. Em là Tien Phat Dam. Hôm nay em trình bày phần khảo sát các giải pháp chuyển giọng nói thành văn bản cho bối cảnh call center tiếng Việt của Dai-ichi Life Việt Nam.</a:t>
            </a:r>
          </a:p>
          <a:p/>
          <a:p>
            <a:r>
              <a:t>Mục tiêu của bài là giải thích những lựa chọn hiện có, các điểm cần lưu ý và danh sách nên đưa vào thử nghiệm. Ở giai đoạn này, em chưa trình bày kết quả benchmark trên dữ liệu công ty.</a:t>
            </a:r>
          </a:p>
          <a:p/>
          <a:p>
            <a:r>
              <a:t>Ví dụ cụ thể — lời đọc thêm: Một tình huống xuyên suốt</a:t>
            </a:r>
          </a:p>
          <a:p/>
          <a:p>
            <a:r>
              <a:t>Để bài dễ theo dõi, em dùng một tình huống giả lập xuyên suốt: chị Mai gọi để hỏi kỳ phí của hợp đồng HD-DEMO-027. Trong cuộc gọi, chị nhắc số tiền hai triệu rưỡi và nói: “Tôi chưa đồng ý thay đổi thông tin.” Mục tiêu minh họa là tạo bản ghi chữ để người kiểm tra tìm và nghe lại các đoạn liên quan.</a:t>
            </a:r>
          </a:p>
          <a:p/>
          <a:p>
            <a:r>
              <a:t>Vì sao cần lưu ý — giải thích để chuẩn bị: Dùng cùng tình huống giúp người nghe hiểu mỗi công nghệ giải quyết phần nào. Tên, mã và câu nói đều do tác giả tạo; không phải dữ liệu hoặc quy trình thực tế của Dai-ichi.</a:t>
            </a:r>
          </a:p>
          <a:p/>
          <a:p>
            <a:r>
              <a:t>Câu chuyển sang slide tiếp theo</a:t>
            </a:r>
          </a:p>
          <a:p/>
          <a:p>
            <a:r>
              <a:t>Trước tiên, em xin bắt đầu từ một cuộc gọi quen thuộc để giải thích vì sao mình cần công nghệ này.</a:t>
            </a:r>
          </a:p>
          <a:p/>
          <a:p>
            <a:r>
              <a:t>Nhấn mạnh — không cần đọc: Giới thiệu tên và phạm vi Part 1; không nói đã benchmark.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Từ một cuộc gọi đến nội dung có thể tìm kiếm</a:t>
            </a:r>
          </a:p>
          <a:p/>
          <a:p>
            <a:r>
              <a:t>Thời lượng gợi ý: 60 giây</a:t>
            </a:r>
          </a:p>
          <a:p/>
          <a:p>
            <a:r>
              <a:t>Ý chính cần truyền đạt: Ví dụ giả lập — không phải dữ liệu khách hàng thật</a:t>
            </a:r>
          </a:p>
          <a:p/>
          <a:p>
            <a:r>
              <a:t>Lời đọc</a:t>
            </a:r>
          </a:p>
          <a:p/>
          <a:p>
            <a:r>
              <a:t>Giả sử khách gọi và nói: “Tôi muốn kiểm tra phí bảo hiểm kỳ này.” Nếu chỉ có audio, người kiểm tra phải mở file và nghe. Speech-to-Text giúp chuyển lời nói đó thành chữ, gọi là transcript.</a:t>
            </a:r>
          </a:p>
          <a:p/>
          <a:p>
            <a:r>
              <a:t>Khi có transcript, ứng dụng có thể hỗ trợ QA đọc nội dung, tìm một cụm từ và nghe lại đoạn liên quan. Tuy nhiên, STT mới tạo chữ; nó chưa tự kết luận nhân viên tư vấn đúng hay sai. Các chức năng phân tích phía sau cần được thiết kế riêng.</a:t>
            </a:r>
          </a:p>
          <a:p/>
          <a:p>
            <a:r>
              <a:t>Ví dụ cụ thể — lời đọc thêm: Từ audio tới thao tác của QA</a:t>
            </a:r>
          </a:p>
          <a:p/>
          <a:p>
            <a:r>
              <a:t>Ví dụ, trong bản ghi năm phút, chị Mai nhắc “phí kỳ này” ở phút một, giây hai mươi. Nếu có transcript gắn mốc thời gian, QA có thể tìm cụm đó rồi chọn nghe lại đoạn liên quan. Nếu giải pháp chỉ trả chữ, muốn bấm vào câu để nghe đúng đoạn thì ứng dụng còn cần dữ liệu mốc thời gian phù hợp.</a:t>
            </a:r>
          </a:p>
          <a:p/>
          <a:p>
            <a:r>
              <a:t>Vì sao cần lưu ý — giải thích để chuẩn bị: Transcript, timestamp và màn hình nghe lại là ba phần cần phối hợp. Không mặc định mọi API trả sẵn mốc thời gian tới từng từ.</a:t>
            </a:r>
          </a:p>
          <a:p/>
          <a:p>
            <a:r>
              <a:t>Câu chuyển sang slide tiếp theo</a:t>
            </a:r>
          </a:p>
          <a:p/>
          <a:p>
            <a:r>
              <a:t>Vậy trong bài hôm nay, chúng ta đang khảo sát công nghệ hay đã đánh giá độ chính xác?</a:t>
            </a:r>
          </a:p>
          <a:p/>
          <a:p>
            <a:r>
              <a:t>Nhấn mạnh — không cần đọc: Transcript giúp tiếp tục xử lý; chưa tự tạo toàn bộ QA.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Survey và Evaluation là hai bước riêng</a:t>
            </a:r>
          </a:p>
          <a:p/>
          <a:p>
            <a:r>
              <a:t>Thời lượng gợi ý: 60 giây</a:t>
            </a:r>
          </a:p>
          <a:p/>
          <a:p>
            <a:r>
              <a:t>Ý chính cần truyền đạt: Hiện tại chúng ta đang ở Part 1</a:t>
            </a:r>
          </a:p>
          <a:p/>
          <a:p>
            <a:r>
              <a:t>Lời đọc</a:t>
            </a:r>
          </a:p>
          <a:p/>
          <a:p>
            <a:r>
              <a:t>Survey ở đây nghĩa là khảo sát các giải pháp, không phải khảo sát khách hàng. Ở Part 1, em kiểm tra tài liệu: có tiếng Việt không, có xử lý file hoặc live không, triển khai ở đâu và tính phí như thế nào.</a:t>
            </a:r>
          </a:p>
          <a:p/>
          <a:p>
            <a:r>
              <a:t>Part 2 mới chạy các ứng viên trên audio đại diện, theo một quy tắc đánh giá thống nhất. Ví dụ, tài liệu nói có tiếng Việt chưa đủ chứng minh nhận đúng “hai triệu rưỡi” trong một cuộc gọi nhiễu. Vì vậy, kết quả hôm nay là danh sách đáng thử, chưa phải thứ hạng độ chính xác.</a:t>
            </a:r>
          </a:p>
          <a:p/>
          <a:p>
            <a:r>
              <a:t>Ví dụ cụ thể — lời đọc thêm: Đọc tài liệu khác chạy cùng cuộc gọi</a:t>
            </a:r>
          </a:p>
          <a:p/>
          <a:p>
            <a:r>
              <a:t>Ví dụ, ở Part 1, em có thể ghi giải pháp A có tiếng Việt theo tài liệu. Sang Part 2, team mới kiểm tra A có nhận đúng “hai triệu rưỡi”, mã HD-DEMO-027 và từ “chưa” trong cùng bản ghi hay không. Nếu chưa chạy audio, em chỉ nói “đáng thử”, chưa nói “A chính xác hơn B”.</a:t>
            </a:r>
          </a:p>
          <a:p/>
          <a:p>
            <a:r>
              <a:t>Vì sao cần lưu ý — giải thích để chuẩn bị: Giúp phân biệt bằng chứng về tính năng với bằng chứng về chất lượng. A và B là tên minh họa, không đại diện kết quả của vendor nào.</a:t>
            </a:r>
          </a:p>
          <a:p/>
          <a:p>
            <a:r>
              <a:t>Câu chuyển sang slide tiếp theo</a:t>
            </a:r>
          </a:p>
          <a:p/>
          <a:p>
            <a:r>
              <a:t>Để đọc phần so sánh, mình cần phân biệt vài thành phần cơ bản.</a:t>
            </a:r>
          </a:p>
          <a:p/>
          <a:p>
            <a:r>
              <a:t>Nhấn mạnh — không cần đọc: Hỗ trợ theo tài liệu khác chất lượng đo trên call.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Model, API và ứng dụng làm những việc khác nhau</a:t>
            </a:r>
          </a:p>
          <a:p/>
          <a:p>
            <a:r>
              <a:t>Thời lượng gợi ý: 60 giây</a:t>
            </a:r>
          </a:p>
          <a:p/>
          <a:p>
            <a:r>
              <a:t>Ý chính cần truyền đạt: Luồng đề xuất: audio → API → model → transcript → ứng dụng</a:t>
            </a:r>
          </a:p>
          <a:p/>
          <a:p>
            <a:r>
              <a:t>Lời đọc</a:t>
            </a:r>
          </a:p>
          <a:p/>
          <a:p>
            <a:r>
              <a:t>Model là thành phần đã được huấn luyện để nhận dạng lời nói. API là cách phần mềm gửi audio tới nơi xử lý và nhận kết quả. Ứng dụng là màn hình người dùng cuối sử dụng.</a:t>
            </a:r>
          </a:p>
          <a:p/>
          <a:p>
            <a:r>
              <a:t>Ví dụ, team có thể chạy một model nội bộ, xây API nhận file và tạo trang web để QA xem transcript. FastAPI là công cụ xây API, còn Postman giúp thử request. Hai công cụ đó chưa tự thay thế model. Phân biệt các phần giúp mình biết đã có gì và còn phải xây gì.</a:t>
            </a:r>
          </a:p>
          <a:p/>
          <a:p>
            <a:r>
              <a:t>Ví dụ cụ thể — lời đọc thêm: Một cuộc gọi đi qua model, API và ứng dụng</a:t>
            </a:r>
          </a:p>
          <a:p/>
          <a:p>
            <a:r>
              <a:t>Giả sử người dùng tải call-demo-001.wav lên màn hình. API tiếp nhận yêu cầu; bộ phận xử lý đưa audio tới model; model tạo transcript; rồi API hoặc dịch vụ liên quan trả thông tin kết quả cho ứng dụng. Model làm việc nghe và nhận chữ. API làm việc trao đổi dữ liệu. Ứng dụng hiển thị nội dung cho QA. Đây là luồng minh họa, cách chia thành phần thực tế có thể khác.</a:t>
            </a:r>
          </a:p>
          <a:p/>
          <a:p>
            <a:r>
              <a:t>Vì sao cần lưu ý — giải thích để chuẩn bị: Khi transcript sai “hai triệu rưỡi”, cần xem audio, cấu hình model và bước xử lý chữ. Khi không gửi được file, cần xem request, kết nối hoặc điều kiện đầu vào. Khi chữ đúng nhưng màn hình không hiện, cần kiểm tra ứng dụng.</a:t>
            </a:r>
          </a:p>
          <a:p/>
          <a:p>
            <a:r>
              <a:t>Ví dụ cụ thể — lời đọc thêm: Liên hệ với cách làm việc của Data Analyst</a:t>
            </a:r>
          </a:p>
          <a:p/>
          <a:p>
            <a:r>
              <a:t>Ở góc nhìn DA, em có thể hiểu model tạo ra dữ liệu văn bản từ audio. API là một cách lấy dữ liệu đó về, tương tự lấy dữ liệu từ hệ thống khác. Sau đó team có thể lưu mã cuộc gọi, trạng thái xử lý và transcript để phục vụ tìm kiếm hoặc phân tích. Các trường này là đề xuất minh họa, chưa phải cấu trúc bảng hiện có của công ty.</a:t>
            </a:r>
          </a:p>
          <a:p/>
          <a:p>
            <a:r>
              <a:t>Vì sao cần lưu ý — giải thích để chuẩn bị: API không thay thế model, cũng chưa tự tạo dashboard hay kết luận nghiệp vụ.</a:t>
            </a:r>
          </a:p>
          <a:p/>
          <a:p>
            <a:r>
              <a:t>Câu chuyển sang slide tiếp theo</a:t>
            </a:r>
          </a:p>
          <a:p/>
          <a:p>
            <a:r>
              <a:t>Tiếp theo là hai cách xử lý cuộc gọi thường gặp: sau khi call kết thúc hoặc ngay trong lúc call.</a:t>
            </a:r>
          </a:p>
          <a:p/>
          <a:p>
            <a:r>
              <a:t>Nhấn mạnh — không cần đọc: Giải thích theo công việc từng thành phần, tránh đọc chuỗi thuật ngữ.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Xử lý sau cuộc gọi hay ngay trong cuộc gọi?</a:t>
            </a:r>
          </a:p>
          <a:p/>
          <a:p>
            <a:r>
              <a:t>Thời lượng gợi ý: 60–75 giây</a:t>
            </a:r>
          </a:p>
          <a:p/>
          <a:p>
            <a:r>
              <a:t>Ý chính cần truyền đạt: Batch và live phục vụ hai nhu cầu khác nhau</a:t>
            </a:r>
          </a:p>
          <a:p/>
          <a:p>
            <a:r>
              <a:t>Lời đọc</a:t>
            </a:r>
          </a:p>
          <a:p/>
          <a:p>
            <a:r>
              <a:t>Batch có thể hiểu là xử lý bản ghi sau khi cuộc gọi kết thúc. Đây là hướng đáng ưu tiên nếu mục tiêu hiện tại là QA sau call. Live streaming nhận audio trong lúc cuộc gọi đang diễn ra và cập nhật chữ liên tục.</a:t>
            </a:r>
          </a:p>
          <a:p/>
          <a:p>
            <a:r>
              <a:t>Có trường hợp file đã ghi xong nhưng chữ được trả dần. Điều đó chưa chứng minh hệ thống xử lý cuộc gọi trực tiếp. Mình cần tách vì hai nhu cầu có điều kiện kỹ thuật và chi phí khác nhau; không nên triển khai live chỉ vì vendor có tính năng đó.</a:t>
            </a:r>
          </a:p>
          <a:p/>
          <a:p>
            <a:r>
              <a:t>Ví dụ cụ thể — lời đọc thêm: Cùng cuộc gọi nhưng hai thời điểm sử dụng</a:t>
            </a:r>
          </a:p>
          <a:p/>
          <a:p>
            <a:r>
              <a:t>Ví dụ, call của chị Mai kết thúc lúc mười giờ. Nếu QA xem lại vào buổi chiều, team có thể khảo sát xử lý file sau call. Nếu cần chữ xuất hiện trong lúc chị đang nói để hỗ trợ nhân viên, team cần khảo sát live, kết nối liên tục và độ trễ. Các gợi ý cho nhân viên còn cần logic ứng dụng riêng ngoài STT.</a:t>
            </a:r>
          </a:p>
          <a:p/>
          <a:p>
            <a:r>
              <a:t>Vì sao cần lưu ý — giải thích để chuẩn bị: Chọn theo thời điểm cần kết quả giúp tránh mang toàn bộ yêu cầu của live vào một nhu cầu chỉ xem lại sau call.</a:t>
            </a:r>
          </a:p>
          <a:p/>
          <a:p>
            <a:r>
              <a:t>Câu chuyển sang slide tiếp theo</a:t>
            </a:r>
          </a:p>
          <a:p/>
          <a:p>
            <a:r>
              <a:t>Ngoài nội dung chữ, QA thường còn cần biết ai đã nói câu đó.</a:t>
            </a:r>
          </a:p>
          <a:p/>
          <a:p>
            <a:r>
              <a:t>Nhấn mạnh — không cần đọc: Batch đề xuất theo nhu cầu; chưa nói requirement công ty đã chốt.</a:t>
            </a:r>
          </a:p>
          <a:p/>
          <a:p>
            <a:r>
              <a:t>Citation trên slide: OpenAI (n.d.b; n.d.d)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Biết ai nói quan trọng như biết họ nói gì</a:t>
            </a:r>
          </a:p>
          <a:p/>
          <a:p>
            <a:r>
              <a:t>Thời lượng gợi ý: 75 giây</a:t>
            </a:r>
          </a:p>
          <a:p/>
          <a:p>
            <a:r>
              <a:t>Ý chính cần truyền đạt: Speaker labels chưa tự xác nhận Agent / Customer</a:t>
            </a:r>
          </a:p>
          <a:p/>
          <a:p>
            <a:r>
              <a:t>Lời đọc</a:t>
            </a:r>
          </a:p>
          <a:p/>
          <a:p>
            <a:r>
              <a:t>Diarization là phân chia lời nói theo người nói, thường tạo Speaker 1 và Speaker 2. Hai nhãn đó chưa tự xác định ai là nhân viên và ai là khách.</a:t>
            </a:r>
          </a:p>
          <a:p/>
          <a:p>
            <a:r>
              <a:t>Nếu tổng đài ghi riêng hai bên, team có thể dùng thông tin kênh để gán vai trò khi mapping đáng tin. Nếu audio đã trộn một kênh, cần khảo sát diarization và cách gán role. Đây là điểm cần hỏi IT sớm, vì chiến lược speaker có thể thay đổi lựa chọn engine. Nếu gán sai người, phân tích sau đó có thể sai dù câu chữ đúng.</a:t>
            </a:r>
          </a:p>
          <a:p/>
          <a:p>
            <a:r>
              <a:t>Ví dụ cụ thể — lời đọc thêm: Đúng câu nhưng sai người</a:t>
            </a:r>
          </a:p>
          <a:p/>
          <a:p>
            <a:r>
              <a:t>Ví dụ giả lập, khách nói: “Tôi chưa đồng ý thay đổi thông tin”, còn nhân viên nói: “Em ghi nhận yêu cầu của chị.” Nếu hệ thống gán câu đầu cho nhân viên, người đọc có thể hiểu sai ý định của khách. Một nhãn Speaker 1 chưa đủ để kết luận đó là khách; cần căn cứ đáng tin để gán vai trò.</a:t>
            </a:r>
          </a:p>
          <a:p/>
          <a:p>
            <a:r>
              <a:t>Vì sao cần lưu ý — giải thích để chuẩn bị: Độ đúng của chữ và độ đúng của người nói phải được kiểm tra riêng. Lỗi gán vai trò có thể ảnh hưởng phần QA phía sau.</a:t>
            </a:r>
          </a:p>
          <a:p/>
          <a:p>
            <a:r>
              <a:t>Câu chuyển sang slide tiếp theo</a:t>
            </a:r>
          </a:p>
          <a:p/>
          <a:p>
            <a:r>
              <a:t>Một nhóm lỗi khác cần chú ý là những lỗi nhỏ nhưng làm đổi ý nghĩa nghiệp vụ.</a:t>
            </a:r>
          </a:p>
          <a:p/>
          <a:p>
            <a:r>
              <a:t>Nhấn mạnh — không cần đọc: Stereo không tự chứng minh hai người tách riêng.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Lỗi nào đáng chú ý trong cuộc gọi bảo hiểm?</a:t>
            </a:r>
          </a:p>
          <a:p/>
          <a:p>
            <a:r>
              <a:t>Thời lượng gợi ý: 60–75 giây</a:t>
            </a:r>
          </a:p>
          <a:p/>
          <a:p>
            <a:r>
              <a:t>Ý chính cần truyền đạt: Các ví dụ dưới đây chỉ minh họa — chưa phải output của model</a:t>
            </a:r>
          </a:p>
          <a:p/>
          <a:p>
            <a:r>
              <a:t>Lời đọc</a:t>
            </a:r>
          </a:p>
          <a:p/>
          <a:p>
            <a:r>
              <a:t>Ở cuộc gọi bảo hiểm, em đề xuất quan tâm số tiền, ngày tháng, mã và những từ thay đổi ý nghĩa. Ví dụ giả lập, hai triệu rưỡi bị thành hai mươi lăm triệu; hoặc câu “tôi chưa đồng ý” bị mất từ “chưa”.</a:t>
            </a:r>
          </a:p>
          <a:p/>
          <a:p>
            <a:r>
              <a:t>Vì vậy, tỷ lệ lỗi chung chưa nói hết ảnh hưởng nghiệp vụ. Khi chuẩn hóa chữ thành số, team cũng nên giữ transcript gốc để biết lỗi đến từ engine hay bước sửa định dạng. Các ví dụ này chưa phải kết quả chạy model; chúng giúp xác định điều cần kiểm tra ở Part 2.</a:t>
            </a:r>
          </a:p>
          <a:p/>
          <a:p>
            <a:r>
              <a:t>Ví dụ cụ thể — lời đọc thêm: Tách lỗi của model và lỗi chuẩn hóa</a:t>
            </a:r>
          </a:p>
          <a:p/>
          <a:p>
            <a:r>
              <a:t>Ví dụ, transcript gốc ghi đúng “hai triệu rưỡi”, nhưng bước đổi chữ thành số tạo ra 25.000.000. Khi đó cần kiểm tra quy tắc chuẩn hóa, thay vì kết luận model STT nghe sai. Nếu transcript gốc đã sai thành “hai mươi lăm triệu”, mình mới kiểm tra phần nhận dạng. Đây là hai tình huống lỗi giả lập.</a:t>
            </a:r>
          </a:p>
          <a:p/>
          <a:p>
            <a:r>
              <a:t>Vì sao cần lưu ý — giải thích để chuẩn bị: Giữ transcript gốc và bản đã xử lý giúp truy lại bước tạo lỗi. Không ghi đè dữ liệu gốc bằng kết quả chuẩn hóa duy nhất.</a:t>
            </a:r>
          </a:p>
          <a:p/>
          <a:p>
            <a:r>
              <a:t>Câu chuyển sang slide tiếp theo</a:t>
            </a:r>
          </a:p>
          <a:p/>
          <a:p>
            <a:r>
              <a:t>Từ những tình huống đó, mình có thể lập một nhóm tiêu chí dễ hiểu để so các giải pháp.</a:t>
            </a:r>
          </a:p>
          <a:p/>
          <a:p>
            <a:r>
              <a:t>Nhấn mạnh — không cần đọc: Không trình bày ví dụ như lỗi thực tế đã quan sát.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Sáu nhóm tiêu chí để chọn ứng viên</a:t>
            </a:r>
          </a:p>
          <a:p/>
          <a:p>
            <a:r>
              <a:t>Thời lượng gợi ý: 60 giây</a:t>
            </a:r>
          </a:p>
          <a:p/>
          <a:p>
            <a:r>
              <a:t>Ý chính cần truyền đạt: Mỗi tiêu chí cần có bằng chứng hoặc ghi rõ “cần xác nhận”</a:t>
            </a:r>
          </a:p>
          <a:p/>
          <a:p>
            <a:r>
              <a:t>Lời đọc</a:t>
            </a:r>
          </a:p>
          <a:p/>
          <a:p>
            <a:r>
              <a:t>Em nhóm tiêu chí thành sáu phần để dễ đọc. Thứ nhất là khả năng nhận tiếng Việt và thông tin quan trọng. Thứ hai là cấu trúc hội thoại: ai nói, lúc nào. Thứ ba là cách dùng và đầu vào audio.</a:t>
            </a:r>
          </a:p>
          <a:p/>
          <a:p>
            <a:r>
              <a:t>Ba nhóm còn lại là triển khai, dữ liệu và vận hành cùng chi phí. Một giải pháp có nhiều tính năng chưa chắc phù hợp nếu không đáp ứng yêu cầu bắt buộc. Điểm chưa có bằng chứng cần để “cần xác nhận”, không tự đánh dấu có hoặc không.</a:t>
            </a:r>
          </a:p>
          <a:p/>
          <a:p>
            <a:r>
              <a:t>Ví dụ cụ thể — lời đọc thêm: Từ nhu cầu QA tới tiêu chí bắt buộc</a:t>
            </a:r>
          </a:p>
          <a:p/>
          <a:p>
            <a:r>
              <a:t>Giả sử QA cần trả lời “khách đã nói gì ở đoạn một phút hai mươi?”. Khi đó timestamp là tiêu chí đáng ưu tiên. Nếu câu hỏi là “câu này do ai nói?”, team cần thêm thông tin người nói và vai trò. Nếu chỉ cần tìm các call có nhắc phí, tiêu chí ban đầu có thể đơn giản hơn. Đây là các nhu cầu giả định để manager và QA xác nhận.</a:t>
            </a:r>
          </a:p>
          <a:p/>
          <a:p>
            <a:r>
              <a:t>Vì sao cần lưu ý — giải thích để chuẩn bị: Tính năng quan trọng phụ thuộc đầu ra cần sử dụng. Không tự áp một bộ yêu cầu giống nhau cho mọi mục tiêu.</a:t>
            </a:r>
          </a:p>
          <a:p/>
          <a:p>
            <a:r>
              <a:t>Câu chuyển sang slide tiếp theo</a:t>
            </a:r>
          </a:p>
          <a:p/>
          <a:p>
            <a:r>
              <a:t>Trong đó, cách triển khai là một điều kiện có thể lọc lựa chọn ngay từ đầu.</a:t>
            </a:r>
          </a:p>
          <a:p/>
          <a:p>
            <a:r>
              <a:t>Nhấn mạnh — không cần đọc: Tiêu chí là đề xuất; cần nội bộ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Cloud API và tự triển khai: trách nhiệm khác nhau</a:t>
            </a:r>
          </a:p>
          <a:p/>
          <a:p>
            <a:r>
              <a:t>Thời lượng gợi ý: 60–75 giây</a:t>
            </a:r>
          </a:p>
          <a:p/>
          <a:p>
            <a:r>
              <a:t>Ý chính cần truyền đạt: Chọn theo yêu cầu dữ liệu, hạ tầng và người vận hành</a:t>
            </a:r>
          </a:p>
          <a:p/>
          <a:p>
            <a:r>
              <a:t>Lời đọc</a:t>
            </a:r>
          </a:p>
          <a:p/>
          <a:p>
            <a:r>
              <a:t>Cloud API là sử dụng dịch vụ do vendor vận hành. Team ít phải quản lý inference nhưng vẫn phải quản lý dữ liệu, tích hợp, quota và chi phí. Self-hosted là tự triển khai model trên hạ tầng mình quản lý, có thể trong công ty hoặc cloud riêng.</a:t>
            </a:r>
          </a:p>
          <a:p/>
          <a:p>
            <a:r>
              <a:t>Tự triển khai cho phép chủ động hơn nhưng cần máy, giám sát và người xử lý lỗi. Vị trí máy chưa tự chứng minh bảo mật; quyền truy cập và log cũng quan trọng. Vì vậy, lựa chọn cần theo điều kiện thực tế, thay vì mặc định cloud hay nội bộ luôn tốt hơn.</a:t>
            </a:r>
          </a:p>
          <a:p/>
          <a:p>
            <a:r>
              <a:t>Ví dụ cụ thể — lời đọc thêm: Gửi cùng file tới Cloud API hoặc model nội bộ</a:t>
            </a:r>
          </a:p>
          <a:p/>
          <a:p>
            <a:r>
              <a:t>Giả sử team có bản ghi call-demo-001.wav và được phép dùng nó để thử. Với API của vendor, ứng dụng gửi audio theo hướng dẫn dịch vụ và nhận kết quả. Với tự triển khai, team đưa audio tới dịch vụ do mình vận hành, chẳng hạn một cấu hình Whisper. Hai hướng đều có thể cần API để ứng dụng giao tiếp; khác nhau là ai vận hành model và audio đi qua đâu.</a:t>
            </a:r>
          </a:p>
          <a:p/>
          <a:p>
            <a:r>
              <a:t>Vì sao cần lưu ý — giải thích để chuẩn bị: Có API không đồng nghĩa dùng cloud của bên ngoài. Self-hosted cũng có thể có API nội bộ.</a:t>
            </a:r>
          </a:p>
          <a:p/>
          <a:p>
            <a:r>
              <a:t>Ví dụ cụ thể — lời đọc thêm: Ai xử lý khi có lỗi?</a:t>
            </a:r>
          </a:p>
          <a:p/>
          <a:p>
            <a:r>
              <a:t>Ví dụ, một tác vụ xử lý call bị lỗi lúc tám giờ tối. Với dịch vụ vendor, team vẫn cần kiểm tra lỗi, quản lý retry và theo dõi usage. Với model nội bộ, team còn có thể phải kiểm tra tiến trình model và tài nguyên máy. Trách nhiệm cụ thể cần được phân công trước khi vận hành.</a:t>
            </a:r>
          </a:p>
          <a:p/>
          <a:p>
            <a:r>
              <a:t>Vì sao cần lưu ý — giải thích để chuẩn bị: Tổng chi phí và độ ổn định gồm cả công việc hỗ trợ, không chỉ thời gian chạy model.</a:t>
            </a:r>
          </a:p>
          <a:p/>
          <a:p>
            <a:r>
              <a:t>Câu chuyển sang slide tiếp theo</a:t>
            </a:r>
          </a:p>
          <a:p/>
          <a:p>
            <a:r>
              <a:t>Dựa trên đó, em chia các giải pháp khảo sát thành ba nhóm dễ nhìn.</a:t>
            </a:r>
          </a:p>
          <a:p/>
          <a:p>
            <a:r>
              <a:t>Nhấn mạnh — không cần đọc: Không mặc định công ty đã cho phép cloud hay đã có GPU.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Ba nhóm lựa chọn đã khảo sát</a:t>
            </a:r>
          </a:p>
          <a:p/>
          <a:p>
            <a:r>
              <a:t>Thời lượng gợi ý: 60 giây</a:t>
            </a:r>
          </a:p>
          <a:p/>
          <a:p>
            <a:r>
              <a:t>Ý chính cần truyền đạt: Cùng bài toán, nhưng cách triển khai và trách nhiệm khác nhau</a:t>
            </a:r>
          </a:p>
          <a:p/>
          <a:p>
            <a:r>
              <a:t>Lời đọc</a:t>
            </a:r>
          </a:p>
          <a:p/>
          <a:p>
            <a:r>
              <a:t>Nhóm đầu tiên là model tự triển khai, như Whisper và PhoWhisper. faster-whisper là một cách chạy Whisper nên em không đếm nó thành model tiếng Việt độc lập.</a:t>
            </a:r>
          </a:p>
          <a:p/>
          <a:p>
            <a:r>
              <a:t>Nhóm thứ hai là API hoặc nền tảng speech quốc tế. Trong nhóm này, cách dùng cũng khác nhau: có dịch vụ hosted và có hướng container. Nhóm thứ ba là nhà cung cấp Việt Nam. Việc chia nhóm giúp so đúng phạm vi và giữ đại diện cho các hướng triển khai; chưa phải xếp hạng.</a:t>
            </a:r>
          </a:p>
          <a:p/>
          <a:p>
            <a:r>
              <a:t>Ví dụ cụ thể — lời đọc thêm: Ba cách giải quyết cùng một đầu vào</a:t>
            </a:r>
          </a:p>
          <a:p/>
          <a:p>
            <a:r>
              <a:t>Cùng file call-demo-001.wav, team có thể thử một model tự triển khai, một API quốc tế hoặc một dịch vụ của vendor Việt Nam. Mục tiêu đầu tiên vẫn là nhận transcript của cùng nội dung. Khi so sánh, mình cần ghi đúng cấu hình và phần xử lý đi kèm, tránh so một model chỉ tạo chữ với một gói dịch vụ đã gồm nhiều chức năng khác.</a:t>
            </a:r>
          </a:p>
          <a:p/>
          <a:p>
            <a:r>
              <a:t>Vì sao cần lưu ý — giải thích để chuẩn bị: Cùng đầu vào và cùng phạm vi đầu ra giúp việc so sánh có ý nghĩa. Cách triển khai không tự quyết định độ chính xác.</a:t>
            </a:r>
          </a:p>
          <a:p/>
          <a:p>
            <a:r>
              <a:t>Câu chuyển sang slide tiếp theo</a:t>
            </a:r>
          </a:p>
          <a:p/>
          <a:p>
            <a:r>
              <a:t>Em xin đi qua các điểm đáng chú ý của từng nhóm, bắt đầu với model tự triển khai.</a:t>
            </a:r>
          </a:p>
          <a:p/>
          <a:p>
            <a:r>
              <a:t>Nhấn mạnh — không cần đọc: Landscape đã khảo sát, không khẳng định toàn bộ thị trường.</a:t>
            </a:r>
          </a:p>
          <a:p/>
          <a:p>
            <a:r>
              <a:t>Citation trên slide: OpenAI (n.d.g); SYSTRAN (n.d.); VinAI Research (n.d.); xem References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Model tự triển khai: chọn để thử, chưa chọn người thắng</a:t>
            </a:r>
          </a:p>
          <a:p/>
          <a:p>
            <a:r>
              <a:t>Thời lượng gợi ý: 60 giây</a:t>
            </a:r>
          </a:p>
          <a:p/>
          <a:p>
            <a:r>
              <a:t>Ý chính cần truyền đạt: Điểm mạnh theo hướng triển khai ≠ accuracy trên call công ty</a:t>
            </a:r>
          </a:p>
          <a:p/>
          <a:p>
            <a:r>
              <a:t>Lời đọc</a:t>
            </a:r>
          </a:p>
          <a:p/>
          <a:p>
            <a:r>
              <a:t>Whisper là lựa chọn đề xuất làm baseline, tức phương án mốc để đối chiếu. PhoWhisper được fine-tune cho tiếng Việt nên đáng đưa vào thử. faster-whisper là runtime, và hiệu quả tốc độ cần kiểm tra trên máy thực tế.</a:t>
            </a:r>
          </a:p>
          <a:p/>
          <a:p>
            <a:r>
              <a:t>Lý do cần thận trọng là dữ liệu công bố có thể khác cuộc gọi điện thoại bảo hiểm. Hơn nữa, cấu hình và cách chạy ảnh hưởng tài nguyên và kết quả. Do đó, ưu tiên lúc này là chốt checkpoint, runtime và hạ tầng, rồi mới đo chất lượng ở Part 2.</a:t>
            </a:r>
          </a:p>
          <a:p/>
          <a:p>
            <a:r>
              <a:t>Ví dụ cụ thể — lời đọc thêm: Whisper và PhoWhisper: cùng câu, chưa biết ai đúng hơn</a:t>
            </a:r>
          </a:p>
          <a:p/>
          <a:p>
            <a:r>
              <a:t>Ví dụ, team chuẩn bị một bản ghi giả lập có câu: “Phí kỳ này là hai triệu rưỡi; tôi chưa đồng ý thay đổi thông tin.” Team dự kiến cho một cấu hình Whisper và một cấu hình PhoWhisper xử lý cùng bản ghi. Mình sẽ kiểm tra số tiền, từ “chưa” và những từ nghiệp vụ. Việc PhoWhisper được điều chỉnh cho tiếng Việt là lý do đưa vào thử, chưa phải kết luận nó sẽ nghe tốt hơn trong call này (OpenAI, n.d.g; VinAI Research, n.d.).</a:t>
            </a:r>
          </a:p>
          <a:p/>
          <a:p>
            <a:r>
              <a:t>Vì sao cần lưu ý — giải thích để chuẩn bị: Một model có hướng huấn luyện phù hợp vẫn cần đo trên audio đại diện. Chưa có kết quả thì không điền số lỗi hoặc thứ hạng.</a:t>
            </a:r>
          </a:p>
          <a:p/>
          <a:p>
            <a:r>
              <a:t>Ví dụ cụ thể — lời đọc thêm: faster-whisper: đổi cách chạy cần theo dõi cả tốc độ và kết quả</a:t>
            </a:r>
          </a:p>
          <a:p/>
          <a:p>
            <a:r>
              <a:t>Ví dụ, team dự kiến chạy cùng checkpoint Whisper bằng hai cách triển khai, trong đó có faster-whisper. Để so tốc độ, cần ghi máy chạy, cấu hình và cách xử lý audio. Nếu thay cả checkpoint hoặc mức lượng tử hóa, tức cách biểu diễn số để giảm tài nguyên, mình phải ghi rõ và kiểm tra lại chất lượng; không coi hai lần chạy là hoàn toàn giống nhau (SYSTRAN, n.d.).</a:t>
            </a:r>
          </a:p>
          <a:p/>
          <a:p>
            <a:r>
              <a:t>Vì sao cần lưu ý — giải thích để chuẩn bị: faster-whisper là runtime chạy Whisper. Runtime, phần cứng và cấu hình có thể ảnh hưởng tốc độ, bộ nhớ và kết quả thực tế.</a:t>
            </a:r>
          </a:p>
          <a:p/>
          <a:p>
            <a:r>
              <a:t>Câu chuyển sang slide tiếp theo</a:t>
            </a:r>
          </a:p>
          <a:p/>
          <a:p>
            <a:r>
              <a:t>Đối với API quốc tế, điều quan trọng là đọc tính năng theo đúng model và ngôn ngữ.</a:t>
            </a:r>
          </a:p>
          <a:p/>
          <a:p>
            <a:r>
              <a:t>Nhấn mạnh — không cần đọc: Fine-tune tiếng Việt là lý do thử, chưa chứng minh tốt hơn.</a:t>
            </a:r>
          </a:p>
          <a:p/>
          <a:p>
            <a:r>
              <a:t>Citation trên slide: OpenAI (n.d.g); SYSTRAN (n.d.); VinAI Research (n.d.)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API quốc tế: tính năng cần đọc theo đúng phạm vi</a:t>
            </a:r>
          </a:p>
          <a:p/>
          <a:p>
            <a:r>
              <a:t>Thời lượng gợi ý: 75–90 giây</a:t>
            </a:r>
          </a:p>
          <a:p/>
          <a:p>
            <a:r>
              <a:t>Ý chính cần truyền đạt: Không lấy tính năng chung của thương hiệu gán cho mọi model</a:t>
            </a:r>
          </a:p>
          <a:p/>
          <a:p>
            <a:r>
              <a:t>Lời đọc</a:t>
            </a:r>
          </a:p>
          <a:p/>
          <a:p>
            <a:r>
              <a:t>Với OpenAI, em tách model file, live và diarize, đồng thời giữ yêu cầu xác nhận tiếng Việt của đúng checkpoint. Google Chirp 3 liệt kê transcription tiếng Việt, nhưng danh sách diarization được kiểm tra chưa có tiếng Việt.</a:t>
            </a:r>
          </a:p>
          <a:p/>
          <a:p>
            <a:r>
              <a:t>Azure có vi-VN, còn container và tùy chỉnh cần kiểm tra đúng phạm vi. AWS có transcription vi, nhưng không suy ra mọi chức năng phân tích call cũng có vi. Điểm chung là phải đọc theo model, endpoint, region và ngôn ngữ. Những giới hạn này ảnh hưởng công việc cần xây thêm.</a:t>
            </a:r>
          </a:p>
          <a:p/>
          <a:p>
            <a:r>
              <a:t>Ví dụ cụ thể — lời đọc thêm: API nhận audio rồi trả gì?</a:t>
            </a:r>
          </a:p>
          <a:p/>
          <a:p>
            <a:r>
              <a:t>Giả sử ứng dụng gửi file cuộc gọi cùng các tùy chọn mà API cho phép. Kết quả có thể gồm transcript và các thông tin khác, tùy đúng endpoint và model. Nếu một API có cách xử lý bất đồng bộ, ứng dụng có thể nhận mã tác vụ trước rồi lấy kết quả sau. Đây là ví dụ về cách tích hợp, không phải cấu trúc request hoặc response dùng chung cho mọi vendor.</a:t>
            </a:r>
          </a:p>
          <a:p/>
          <a:p>
            <a:r>
              <a:t>Vì sao cần lưu ý — giải thích để chuẩn bị: Phải đọc đúng tài liệu của API về file, giới hạn, trạng thái và đầu ra. Không viết ứng dụng theo một response tưởng tượng rồi áp cho tất cả dịch vụ.</a:t>
            </a:r>
          </a:p>
          <a:p/>
          <a:p>
            <a:r>
              <a:t>Ví dụ cụ thể — lời đọc thêm: OpenAI: tạo chữ, người nói và live là các nhu cầu cần đối chiếu riêng</a:t>
            </a:r>
          </a:p>
          <a:p/>
          <a:p>
            <a:r>
              <a:t>Ví dụ, manager muốn transcript sau call, còn QA muốn biết câu “tôi chưa đồng ý” do khách hay nhân viên nói. Team cần kiểm tra cấu hình tạo transcript và cấu hình có thông tin người nói; không suy ra model tạo chữ nào cũng cung cấp diarization. Nếu nhu cầu đổi sang xử lý ngay trong call, cần đối chiếu tiếp cấu hình live và tiếng Việt của đúng model định dùng (OpenAI, n.d.b–e).</a:t>
            </a:r>
          </a:p>
          <a:p/>
          <a:p>
            <a:r>
              <a:t>Vì sao cần lưu ý — giải thích để chuẩn bị: Chốt rõ đầu ra trước khi chọn model và endpoint. Không lấy một tính năng của thương hiệu gán cho tất cả model.</a:t>
            </a:r>
          </a:p>
          <a:p/>
          <a:p>
            <a:r>
              <a:t>Ví dụ cụ thể — lời đọc thêm: Google, Azure hoặc AWS: yêu cầu tiếng Việt phải đi cùng tính năng cụ thể</a:t>
            </a:r>
          </a:p>
          <a:p/>
          <a:p>
            <a:r>
              <a:t>Ví dụ, team cần ba đầu ra cùng lúc: chữ tiếng Việt, mốc thời gian và phân lời theo người nói. Khi đọc tài liệu Google, Azure hoặc AWS, em sẽ kiểm tra từng đầu ra cho đúng model, ngôn ngữ và chế độ. Nếu một tính năng chưa được xác nhận, em ghi “cần xác nhận” và hỏi vendor; team có thể phải khảo sát bước bổ sung hoặc một cấu hình khác (Google Cloud, n.d.a; Microsoft, n.d.d; AWS, n.d.b).</a:t>
            </a:r>
          </a:p>
          <a:p/>
          <a:p>
            <a:r>
              <a:t>Vì sao cần lưu ý — giải thích để chuẩn bị: Transcription là tạo chữ. Diarization là phân người nói. Một khả năng đã được xác nhận không tự xác nhận khả năng còn lại.</a:t>
            </a:r>
          </a:p>
          <a:p/>
          <a:p>
            <a:r>
              <a:t>Câu chuyển sang slide tiếp theo</a:t>
            </a:r>
          </a:p>
          <a:p/>
          <a:p>
            <a:r>
              <a:t>Ngoài các cloud lớn, em cũng giữ các nền tảng speech và vendor Việt Nam trong danh sách khảo sát.</a:t>
            </a:r>
          </a:p>
          <a:p/>
          <a:p>
            <a:r>
              <a:t>Nhấn mạnh — không cần đọc: Giới hạn theo tài liệu; chưa chấm chất lượng giữa các vendor.</a:t>
            </a:r>
          </a:p>
          <a:p/>
          <a:p>
            <a:r>
              <a:t>Citation trên slide: OpenAI (n.d.b–e); Google Cloud (n.d.a); Microsoft (n.d.d); AWS (n.d.b)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Các lựa chọn bổ sung giải quyết nhu cầu nào?</a:t>
            </a:r>
          </a:p>
          <a:p/>
          <a:p>
            <a:r>
              <a:t>Thời lượng gợi ý: 75 giây</a:t>
            </a:r>
          </a:p>
          <a:p/>
          <a:p>
            <a:r>
              <a:t>Ý chính cần truyền đạt: Thêm ứng viên khi có lý do cụ thể</a:t>
            </a:r>
          </a:p>
          <a:p/>
          <a:p>
            <a:r>
              <a:t>Lời đọc</a:t>
            </a:r>
          </a:p>
          <a:p/>
          <a:p>
            <a:r>
              <a:t>Deepgram và Speechmatics là những vendor chuyên speech đáng cân nhắc khi có nhu cầu tương ứng. NVIDIA có cấu hình tiếng Việt trên GPU, đáng khảo sát nếu live nội bộ là ưu tiên và hạ tầng phù hợp.</a:t>
            </a:r>
          </a:p>
          <a:p/>
          <a:p>
            <a:r>
              <a:t>Với vendor Việt Nam, VNPT có specs và giá công khai để bắt đầu. FPT.AI và Viettel cần thêm tài liệu enterprise trước khi chốt. Vendor nội địa chưa tự chứng minh mọi dữ liệu được xử lý trong nước. Tất cả lựa chọn cần trả lời điều kiện cụ thể của dự án, thay vì thêm vào chỉ vì có tên trên thị trường.</a:t>
            </a:r>
          </a:p>
          <a:p/>
          <a:p>
            <a:r>
              <a:t>Ví dụ cụ thể — lời đọc thêm: Demo vendor bằng tình huống phù hợp</a:t>
            </a:r>
          </a:p>
          <a:p/>
          <a:p>
            <a:r>
              <a:t>Ví dụ, thay vì chỉ nghe demo một người nói rõ trong phòng yên tĩnh, em đề xuất hỏi vendor có thể thử audio giả lập gồm hai người, tiếng điện thoại, mã hợp đồng và số tiền hay không. Với mọi vendor, team cần ghi model hoặc cấu hình demo, đầu ra trả về và những chức năng cần mua thêm. Audio công ty chỉ dùng khi điều kiện nội bộ đã được xác nhận.</a:t>
            </a:r>
          </a:p>
          <a:p/>
          <a:p>
            <a:r>
              <a:t>Vì sao cần lưu ý — giải thích để chuẩn bị: Demo cần gần bối cảnh dự kiến nhưng vẫn chưa thay thế evaluation có quy tắc. Demo tốt không tự chứng minh chất lượng trên toàn bộ cuộc gọi.</a:t>
            </a:r>
          </a:p>
          <a:p/>
          <a:p>
            <a:r>
              <a:t>Ví dụ cụ thể — lời đọc thêm: API chuyên speech, GPU nội bộ và vendor Việt Nam</a:t>
            </a:r>
          </a:p>
          <a:p/>
          <a:p>
            <a:r>
              <a:t>Ví dụ, nếu team ưu tiên gọi dịch vụ qua API, mình đối chiếu tính năng của Deepgram hoặc Speechmatics với đầu ra cần dùng. Nếu team cần hướng xử lý trên GPU nội bộ, mình khảo sát cấu hình NVIDIA và tài nguyên tương ứng. Nếu làm việc với VNPT, FPT.AI hoặc Viettel, mình hỏi rõ API, đầu ra người nói, giá và nơi xử lý dữ liệu. Đây là các nhánh để khảo sát, chưa khẳng định bất kỳ vendor nào đã đáp ứng đủ yêu cầu (Deepgram, n.d.a; Speechmatics, n.d.b; NVIDIA, 2026; VNPT AI, n.d.a; FPT.AI, n.d.; Viettel AI, n.d.).</a:t>
            </a:r>
          </a:p>
          <a:p/>
          <a:p>
            <a:r>
              <a:t>Vì sao cần lưu ý — giải thích để chuẩn bị: Lựa chọn được thêm vì một nhu cầu cụ thể. Tên nhà cung cấp hoặc quốc gia chưa đủ để quyết định mức phù hợp.</a:t>
            </a:r>
          </a:p>
          <a:p/>
          <a:p>
            <a:r>
              <a:t>Câu chuyển sang slide tiếp theo</a:t>
            </a:r>
          </a:p>
          <a:p/>
          <a:p>
            <a:r>
              <a:t>Sau khi nhìn các lựa chọn, em tổng hợp một số điều dễ hiểu nhầm cần tránh.</a:t>
            </a:r>
          </a:p>
          <a:p/>
          <a:p>
            <a:r>
              <a:t>Nhấn mạnh — không cần đọc: Thiếu docs không đồng nghĩa không hỗ trợ.</a:t>
            </a:r>
          </a:p>
          <a:p/>
          <a:p>
            <a:r>
              <a:t>Citation trên slide: Deepgram (n.d.a–b); Speechmatics (n.d.a–b); NVIDIA (2026; n.d.); VNPT AI (n.d.a–b); FPT.AI (n.d.); Viettel AI (n.d.)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Ba lưu ý có thể đổi quyết định lựa chọn</a:t>
            </a:r>
          </a:p>
          <a:p/>
          <a:p>
            <a:r>
              <a:t>Thời lượng gợi ý: 60 giây</a:t>
            </a:r>
          </a:p>
          <a:p/>
          <a:p>
            <a:r>
              <a:t>Ý chính cần truyền đạt: Luôn hỏi: tại sao điểm này quan trọng?</a:t>
            </a:r>
          </a:p>
          <a:p/>
          <a:p>
            <a:r>
              <a:t>Lời đọc</a:t>
            </a:r>
          </a:p>
          <a:p/>
          <a:p>
            <a:r>
              <a:t>Em muốn nhấn mạnh ba điểm. Có tiếng Việt chưa chứng minh nghe tốt cuộc gọi công ty, vì nguồn audio và cách nói có thể khác dữ liệu công bố. Có nhãn speaker chưa xác định chắc agent hay khách, nên vẫn cần mapping.</a:t>
            </a:r>
          </a:p>
          <a:p/>
          <a:p>
            <a:r>
              <a:t>Cuối cùng, đơn giá thấp chưa đủ kết luận tổng chi phí thấp. Nếu cần gửi lại, tách hai kênh hoặc review nhiều lỗi, chi phí sử dụng có thể khác dự tính. Những lưu ý này giúp mình chọn điều cần kiểm chứng, thay vì chốt bằng một dòng marketing.</a:t>
            </a:r>
          </a:p>
          <a:p/>
          <a:p>
            <a:r>
              <a:t>Ví dụ cụ thể — lời đọc thêm: Transcript nhìn tốt nhưng có thể sai một từ quan trọng</a:t>
            </a:r>
          </a:p>
          <a:p/>
          <a:p>
            <a:r>
              <a:t>Ví dụ giả lập, một transcript đúng phần lớn nội dung nhưng bỏ từ “chưa” trong câu của chị Mai. Người đọc vẫn thấy đoạn văn trôi chảy, nhưng ý định đã đổi. Vì vậy, mình cần kiểm tra những lỗi ảnh hưởng nghiệp vụ, bên cạnh số lỗi chung. Em không dùng tình huống này để kết luận model nào có lỗi đó.</a:t>
            </a:r>
          </a:p>
          <a:p/>
          <a:p>
            <a:r>
              <a:t>Vì sao cần lưu ý — giải thích để chuẩn bị: Tính trôi chảy của văn bản và độ đúng với audio là hai điều khác nhau. Các ví dụ phải được phân biệt với kết quả benchmark.</a:t>
            </a:r>
          </a:p>
          <a:p/>
          <a:p>
            <a:r>
              <a:t>Câu chuyển sang slide tiếp theo</a:t>
            </a:r>
          </a:p>
          <a:p/>
          <a:p>
            <a:r>
              <a:t>Em dùng một ví dụ đơn giản để giải thích cách tính chi phí.</a:t>
            </a:r>
          </a:p>
          <a:p/>
          <a:p>
            <a:r>
              <a:t>Nhấn mạnh — không cần đọc: Đây là lập luận đề xuất, không phải số đo.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Chi phí: bắt đầu từ phút audio được tính phí</a:t>
            </a:r>
          </a:p>
          <a:p/>
          <a:p>
            <a:r>
              <a:t>Thời lượng gợi ý: 75 giây</a:t>
            </a:r>
          </a:p>
          <a:p/>
          <a:p>
            <a:r>
              <a:t>Ý chính cần truyền đạt: Ví dụ giả định — không phải sản lượng Dai-ichi</a:t>
            </a:r>
          </a:p>
          <a:p/>
          <a:p>
            <a:r>
              <a:t>Lời đọc</a:t>
            </a:r>
          </a:p>
          <a:p/>
          <a:p>
            <a:r>
              <a:t>Giả sử có hai trăm call mỗi ngày, mỗi call năm phút, trong hai mươi hai ngày. Tổng là hai mươi hai nghìn phút call. Nếu đúng lượng đó được tính phí ở mức 0,0045 đô một phút, kết quả là 99 đô. Mức 0,017 đô một phút cho kết quả 374 đô.</a:t>
            </a:r>
          </a:p>
          <a:p/>
          <a:p>
            <a:r>
              <a:t>Hai mức tham khảo này là file và live của OpenAI, nên không dùng chúng để kết luận cùng một dịch vụ rẻ hay đắt hơn. Phép tính chưa gồm mọi chi phí. Cần xác nhận phút được tính theo cách nào và có tách kênh hoặc retry không.</a:t>
            </a:r>
          </a:p>
          <a:p/>
          <a:p>
            <a:r>
              <a:t>Ví dụ cụ thể — lời đọc thêm: Từ phút cuộc gọi tới phút bị tính phí</a:t>
            </a:r>
          </a:p>
          <a:p/>
          <a:p>
            <a:r>
              <a:t>Ví dụ, sau phép tính 22.000 phút call, giả sử có thêm 1.000 phút phải xử lý lại và dịch vụ tính phí phần đó. Lượng tính phí trong giả định này là 23.000 phút. Nếu có xử lý hai kênh, mình cần hỏi vendor cách tính, không tự mặc định gấp đôi hoặc giữ nguyên. Sau đó mới dùng đúng đơn giá của cấu hình để ước tính.</a:t>
            </a:r>
          </a:p>
          <a:p/>
          <a:p>
            <a:r>
              <a:t>Vì sao cần lưu ý — giải thích để chuẩn bị: Retry và cách xử lý kênh có thể làm lượng tính phí khác thời lượng call. Ví dụ 1.000 phút là giả định; không phải chính sách tính phí của mọi vendor.</a:t>
            </a:r>
          </a:p>
          <a:p/>
          <a:p>
            <a:r>
              <a:t>Câu chuyển sang slide tiếp theo</a:t>
            </a:r>
          </a:p>
          <a:p/>
          <a:p>
            <a:r>
              <a:t>Ngoài ngân sách, một điều kiện bắt buộc khác là luồng dữ liệu.</a:t>
            </a:r>
          </a:p>
          <a:p/>
          <a:p>
            <a:r>
              <a:t>Nhấn mạnh — không cần đọc: Đọc số rõ; nhấn đây là giả định và mode khác nhau.</a:t>
            </a:r>
          </a:p>
          <a:p/>
          <a:p>
            <a:r>
              <a:t>Citation trên slide: OpenAI (n.d.f). Phép tính của tác giả theo giả định minh họa.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Dữ liệu: cần hỏi trước khi gửi audio thật</a:t>
            </a:r>
          </a:p>
          <a:p/>
          <a:p>
            <a:r>
              <a:t>Thời lượng gợi ý: 75 giây</a:t>
            </a:r>
          </a:p>
          <a:p/>
          <a:p>
            <a:r>
              <a:t>Ý chính cần truyền đạt: Policy cần kiểm tra theo toàn bộ workflow</a:t>
            </a:r>
          </a:p>
          <a:p/>
          <a:p>
            <a:r>
              <a:t>Lời đọc</a:t>
            </a:r>
          </a:p>
          <a:p/>
          <a:p>
            <a:r>
              <a:t>Trước khi dùng audio công ty, team cần xác định dữ liệu được gửi và xử lý ở đâu, lưu gì, bao lâu và ai được truy cập. Retention là thời gian giữ dữ liệu; PII là thông tin nhận diện cá nhân.</a:t>
            </a:r>
          </a:p>
          <a:p/>
          <a:p>
            <a:r>
              <a:t>Một policy của endpoint transcription chưa tự bao phủ storage và logs mà ứng dụng tạo thêm. Che tên trong transcript cũng chưa thay đổi việc audio gốc đã được xử lý ở đâu. Vì vậy, em đề xuất kiểm tra cả workflow với đội phụ trách nội bộ. Bài survey này chưa xác nhận vendor nào đã đáp ứng policy Dai-ichi.</a:t>
            </a:r>
          </a:p>
          <a:p/>
          <a:p>
            <a:r>
              <a:t>Ví dụ cụ thể — lời đọc thêm: Che chữ chưa thay đổi đường đi của audio</a:t>
            </a:r>
          </a:p>
          <a:p/>
          <a:p>
            <a:r>
              <a:t>Ví dụ giả lập, audio có tên chị Mai và một mã hợp đồng. Sau STT, ứng dụng che tên trong transcript trước khi cho QA xem. Việc này chưa trả lời audio gốc đã đi tới đâu, có được giữ lại không và ai có quyền truy cập. Nếu team tự triển khai, mình vẫn phải kiểm soát thư mục audio, transcript và log.</a:t>
            </a:r>
          </a:p>
          <a:p/>
          <a:p>
            <a:r>
              <a:t>Vì sao cần lưu ý — giải thích để chuẩn bị: Cần kiểm tra toàn bộ luồng dữ liệu, bao gồm ứng dụng của team. Không kết luận bảo mật chỉ từ một bước che chữ.</a:t>
            </a:r>
          </a:p>
          <a:p/>
          <a:p>
            <a:r>
              <a:t>Câu chuyển sang slide tiếp theo</a:t>
            </a:r>
          </a:p>
          <a:p/>
          <a:p>
            <a:r>
              <a:t>Với các điều kiện đó, em đề xuất một shortlist ban đầu để team review.</a:t>
            </a:r>
          </a:p>
          <a:p/>
          <a:p>
            <a:r>
              <a:t>Nhấn mạnh — không cần đọc: Không tuyên bố tuân thủ pháp lý hoặc vendor đã được duyệt.</a:t>
            </a:r>
          </a:p>
          <a:p/>
          <a:p>
            <a:r>
              <a:t>Citation trên slide: OpenAI (n.d.a); Microsoft (n.d.b); phần còn lại là đề xuất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Shortlist ban đầu — ưu tiên thử, không xếp hạng</a:t>
            </a:r>
          </a:p>
          <a:p/>
          <a:p>
            <a:r>
              <a:t>Thời lượng gợi ý: 60–75 giây</a:t>
            </a:r>
          </a:p>
          <a:p/>
          <a:p>
            <a:r>
              <a:t>Ý chính cần truyền đạt: Đề xuất cho nhánh post-call, sau khi chốt điều kiện</a:t>
            </a:r>
          </a:p>
          <a:p/>
          <a:p>
            <a:r>
              <a:t>Lời đọc</a:t>
            </a:r>
          </a:p>
          <a:p/>
          <a:p>
            <a:r>
              <a:t>Em đề xuất shortlist ban đầu gồm đại diện ba hướng. Nhánh tự triển khai có Whisper và PhoWhisper. Nhánh API có OpenAI gpt-transcribe, Google Chirp 3 và Azure Speech. Nhánh nội địa có VNPT SmartVoice.</a:t>
            </a:r>
          </a:p>
          <a:p/>
          <a:p>
            <a:r>
              <a:t>Đây là danh sách ưu tiên khảo sát cho post-call, không phải thứ hạng accuracy. Nếu yêu cầu chỉ cho xử lý nội bộ, shortlist sẽ thay đổi. Nếu cần live, có thể thêm ứng viên tương ứng. Những dòng chưa chốt ngôn ngữ, quyền dữ liệu hoặc hạ tầng chưa được coi là sẵn sàng thử call nội bộ.</a:t>
            </a:r>
          </a:p>
          <a:p/>
          <a:p>
            <a:r>
              <a:t>Ví dụ cụ thể — lời đọc thêm: Shortlist thay đổi khi điều kiện bắt buộc thay đổi</a:t>
            </a:r>
          </a:p>
          <a:p/>
          <a:p>
            <a:r>
              <a:t>Ví dụ, nếu team được phép dùng API cho loại audio dự kiến và chỉ cần xử lý sau call, em giữ đại diện API bên cạnh Whisper và PhoWhisper. Nếu yêu cầu nội bộ chỉ cho xử lý trên hạ tầng được quản lý, em chuyển ưu tiên sang các cấu hình phù hợp với điều kiện đó và hỏi IT về tài nguyên. Hai điều kiện này là giả định để minh họa cách lọc, chưa phải policy đã được chốt của Dai-ichi.</a:t>
            </a:r>
          </a:p>
          <a:p/>
          <a:p>
            <a:r>
              <a:t>Vì sao cần lưu ý — giải thích để chuẩn bị: Shortlist là kết quả của nhu cầu và điều kiện. Không phải danh sách cố định các model tốt nhất cho mọi bối cảnh.</a:t>
            </a:r>
          </a:p>
          <a:p/>
          <a:p>
            <a:r>
              <a:t>Câu chuyển sang slide tiếp theo</a:t>
            </a:r>
          </a:p>
          <a:p/>
          <a:p>
            <a:r>
              <a:t>Bước tiếp theo là xác nhận những điều nội bộ trước khi đi vào evaluation.</a:t>
            </a:r>
          </a:p>
          <a:p/>
          <a:p>
            <a:r>
              <a:t>Nhấn mạnh — không cần đọc: Shortlist có điều kiện, chưa recommendation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Bước tiếp theo: chốt yêu cầu rồi mới evaluation</a:t>
            </a:r>
          </a:p>
          <a:p/>
          <a:p>
            <a:r>
              <a:t>Thời lượng gợi ý: 75 giây</a:t>
            </a:r>
          </a:p>
          <a:p/>
          <a:p>
            <a:r>
              <a:t>Ý chính cần truyền đạt: Đầu ra của buổi review là điều kiện và ứng viên được chọn</a:t>
            </a:r>
          </a:p>
          <a:p/>
          <a:p>
            <a:r>
              <a:t>Lời đọc</a:t>
            </a:r>
          </a:p>
          <a:p/>
          <a:p>
            <a:r>
              <a:t>Em đề xuất bước tiếp theo là chốt mục tiêu với manager và QA, xác nhận audio cùng tải với IT, rồi làm rõ dữ liệu và tính năng với vendor. Các câu trả lời này giúp chuyển shortlist thành những cấu hình thực hiện được.</a:t>
            </a:r>
          </a:p>
          <a:p/>
          <a:p>
            <a:r>
              <a:t>Sau đó, Part 2 sẽ chuẩn bị audio đại diện và transcript tham chiếu, rồi đo chất lượng, lỗi nghiệp vụ, tốc độ và chi phí theo cùng quy tắc. Kết luận của em ở Part 1 là đã có bản đồ lựa chọn và các điểm cần xác nhận; chưa chọn engine chính thức. Em xin nhận ý kiến của anh chị về yêu cầu ưu tiên.</a:t>
            </a:r>
          </a:p>
          <a:p/>
          <a:p>
            <a:r>
              <a:t>Ví dụ cụ thể — lời đọc thêm: Những câu hỏi đủ cụ thể để chuyển sang bước tiếp theo</a:t>
            </a:r>
          </a:p>
          <a:p/>
          <a:p>
            <a:r>
              <a:t>Ví dụ, em sẽ hỏi QA: “Anh chị cần tìm nội dung sau call hay xem chữ trong lúc call?”. Em hỏi IT: “Bản ghi có tách kênh khách và nhân viên không; file có định dạng gì?”. Em hỏi đội phụ trách dữ liệu: “Loại audio nào được phép gửi tới dịch vụ bên ngoài?”. Em hỏi vendor: “Đúng cấu hình này có trả chữ tiếng Việt, mốc thời gian và người nói không?”.</a:t>
            </a:r>
          </a:p>
          <a:p/>
          <a:p>
            <a:r>
              <a:t>Vì sao cần lưu ý — giải thích để chuẩn bị: Câu trả lời giúp team chọn cấu hình có thể thực hiện. Hỏi cụ thể tránh hiểu khác nhau về từ “hỗ trợ” hoặc “realtime”.</a:t>
            </a:r>
          </a:p>
          <a:p/>
          <a:p>
            <a:r>
              <a:t>Câu chuyển sang slide tiếp theo</a:t>
            </a:r>
          </a:p>
          <a:p/>
          <a:p>
            <a:r>
              <a:t>Các slide tiếp theo là phụ lục để tra cứu khi cần, không bắt buộc trình bày hết.</a:t>
            </a:r>
          </a:p>
          <a:p/>
          <a:p>
            <a:r>
              <a:t>Nhấn mạnh — không cần đọc: Kết thúc phần chính bằng quyết định review cần đạt.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Phụ lục • Ma trận đọc nhanh 1/3</a:t>
            </a:r>
          </a:p>
          <a:p/>
          <a:p>
            <a:r>
              <a:t>Thời lượng gợi ý: Chỉ dùng khi cần</a:t>
            </a:r>
          </a:p>
          <a:p/>
          <a:p>
            <a:r>
              <a:t>Ý chính cần truyền đạt: Nguồn và lý do lựa chọn được ghi theo từng cấu hình</a:t>
            </a:r>
          </a:p>
          <a:p/>
          <a:p>
            <a:r>
              <a:t>Lời đọc</a:t>
            </a:r>
          </a:p>
          <a:p/>
          <a:p>
            <a:r>
              <a:t>Slide này dùng khi anh chị muốn đối chiếu một cấu hình cụ thể. Em đọc theo ba cột chính: khi nào đáng cân nhắc, cần chốt điều gì và tại sao điểm đó quan trọng.</a:t>
            </a:r>
          </a:p>
          <a:p/>
          <a:p>
            <a:r>
              <a:t>Các dòng là ứng viên khảo sát, không phải bảng xếp hạng. “Cần xác nhận” nghĩa là chưa đủ thông tin; “chưa evaluation” nghĩa là chưa đo trên dữ liệu công ty. Bộ ma trận đầy đủ đi kèm có 17 cấu hình và 26 tiêu chí nội dung.</a:t>
            </a:r>
          </a:p>
          <a:p/>
          <a:p>
            <a:r>
              <a:t>Ví dụ cụ thể — lời đọc thêm: Đọc dòng model tự triển khai trong matrix</a:t>
            </a:r>
          </a:p>
          <a:p/>
          <a:p>
            <a:r>
              <a:t>Khi mở dòng Whisper hoặc PhoWhisper, em đọc theo câu hỏi: mình dùng phiên bản nào, chạy bằng công cụ nào và có máy phù hợp không? Ví dụ, chưa có GPU hoặc owner vận hành thì cột triển khai vẫn cần xác nhận, dù model đã có tài liệu. Em không đánh dấu chất lượng call là tốt chỉ vì có thể cài được model.</a:t>
            </a:r>
          </a:p>
          <a:p/>
          <a:p>
            <a:r>
              <a:t>Vì sao cần lưu ý — giải thích để chuẩn bị: Khả năng cài đặt, khả năng vận hành và chất lượng transcript là những phần khác nhau.</a:t>
            </a:r>
          </a:p>
          <a:p/>
          <a:p>
            <a:r>
              <a:t>Câu chuyển sang slide tiếp theo</a:t>
            </a:r>
          </a:p>
          <a:p/>
          <a:p>
            <a:r>
              <a:t>Em có thể mở dòng liên quan để trao đổi thêm; nếu không cần, chuyển sang phần thuật ngữ.</a:t>
            </a:r>
          </a:p>
          <a:p/>
          <a:p>
            <a:r>
              <a:t>Nhấn mạnh — không cần đọc: Không đọc hết bảng; chọn đúng dòng người nghe hỏi.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Phụ lục • Ma trận đọc nhanh 2/3</a:t>
            </a:r>
          </a:p>
          <a:p/>
          <a:p>
            <a:r>
              <a:t>Thời lượng gợi ý: Chỉ dùng khi cần</a:t>
            </a:r>
          </a:p>
          <a:p/>
          <a:p>
            <a:r>
              <a:t>Ý chính cần truyền đạt: Nguồn và lý do lựa chọn được ghi theo từng cấu hình</a:t>
            </a:r>
          </a:p>
          <a:p/>
          <a:p>
            <a:r>
              <a:t>Lời đọc</a:t>
            </a:r>
          </a:p>
          <a:p/>
          <a:p>
            <a:r>
              <a:t>Slide này dùng khi anh chị muốn đối chiếu một cấu hình cụ thể. Em đọc theo ba cột chính: khi nào đáng cân nhắc, cần chốt điều gì và tại sao điểm đó quan trọng.</a:t>
            </a:r>
          </a:p>
          <a:p/>
          <a:p>
            <a:r>
              <a:t>Các dòng là ứng viên khảo sát, không phải bảng xếp hạng. “Cần xác nhận” nghĩa là chưa đủ thông tin; “chưa evaluation” nghĩa là chưa đo trên dữ liệu công ty. Bộ ma trận đầy đủ đi kèm có 17 cấu hình và 26 tiêu chí nội dung.</a:t>
            </a:r>
          </a:p>
          <a:p/>
          <a:p>
            <a:r>
              <a:t>Ví dụ cụ thể — lời đọc thêm: Đọc dòng API trong matrix</a:t>
            </a:r>
          </a:p>
          <a:p/>
          <a:p>
            <a:r>
              <a:t>Khi mở một dòng API, em lấy nhu cầu cụ thể như “transcript tiếng Việt sau call có mốc thời gian” để đọc các cột. Nếu thêm yêu cầu người nói, mình kiểm tra riêng tính năng đó trong đúng cấu hình. Nếu cột còn “cần xác nhận”, em ghi câu hỏi gửi vendor và chưa coi candidate là sẵn sàng dùng audio nội bộ.</a:t>
            </a:r>
          </a:p>
          <a:p/>
          <a:p>
            <a:r>
              <a:t>Vì sao cần lưu ý — giải thích để chuẩn bị: Matrix giúp tìm điều kiện thiếu, không phải bảng cộng số tính năng để chọn người thắng.</a:t>
            </a:r>
          </a:p>
          <a:p/>
          <a:p>
            <a:r>
              <a:t>Câu chuyển sang slide tiếp theo</a:t>
            </a:r>
          </a:p>
          <a:p/>
          <a:p>
            <a:r>
              <a:t>Em có thể mở dòng liên quan để trao đổi thêm; nếu không cần, chuyển sang phần thuật ngữ.</a:t>
            </a:r>
          </a:p>
          <a:p/>
          <a:p>
            <a:r>
              <a:t>Nhấn mạnh — không cần đọc: Không đọc hết bảng; chọn đúng dòng người nghe hỏi.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Phụ lục • Ma trận đọc nhanh 3/3</a:t>
            </a:r>
          </a:p>
          <a:p/>
          <a:p>
            <a:r>
              <a:t>Thời lượng gợi ý: Chỉ dùng khi cần</a:t>
            </a:r>
          </a:p>
          <a:p/>
          <a:p>
            <a:r>
              <a:t>Ý chính cần truyền đạt: Nguồn và lý do lựa chọn được ghi theo từng cấu hình</a:t>
            </a:r>
          </a:p>
          <a:p/>
          <a:p>
            <a:r>
              <a:t>Lời đọc</a:t>
            </a:r>
          </a:p>
          <a:p/>
          <a:p>
            <a:r>
              <a:t>Slide này dùng khi anh chị muốn đối chiếu một cấu hình cụ thể. Em đọc theo ba cột chính: khi nào đáng cân nhắc, cần chốt điều gì và tại sao điểm đó quan trọng.</a:t>
            </a:r>
          </a:p>
          <a:p/>
          <a:p>
            <a:r>
              <a:t>Các dòng là ứng viên khảo sát, không phải bảng xếp hạng. “Cần xác nhận” nghĩa là chưa đủ thông tin; “chưa evaluation” nghĩa là chưa đo trên dữ liệu công ty. Bộ ma trận đầy đủ đi kèm có 17 cấu hình và 26 tiêu chí nội dung.</a:t>
            </a:r>
          </a:p>
          <a:p/>
          <a:p>
            <a:r>
              <a:t>Ví dụ cụ thể — lời đọc thêm: Đọc dòng vendor và dịch vụ hỗ trợ</a:t>
            </a:r>
          </a:p>
          <a:p/>
          <a:p>
            <a:r>
              <a:t>Ví dụ, với một vendor Việt Nam, em sẽ hỏi gói demo có gồm phân người nói không, có API tích hợp không và phạm vi hỗ trợ khi xử lý lỗi là gì. Nếu báo giá chỉ có tạo transcript, team cần biết các đầu ra còn lại phải xây thêm hay mua thêm. Đây là câu hỏi khảo sát, không khẳng định một vendor cụ thể thiếu tính năng.</a:t>
            </a:r>
          </a:p>
          <a:p/>
          <a:p>
            <a:r>
              <a:t>Vì sao cần lưu ý — giải thích để chuẩn bị: So sánh cùng phạm vi dịch vụ giúp tránh so giá của một chức năng với giá của một gói nhiều chức năng.</a:t>
            </a:r>
          </a:p>
          <a:p/>
          <a:p>
            <a:r>
              <a:t>Câu chuyển sang slide tiếp theo</a:t>
            </a:r>
          </a:p>
          <a:p/>
          <a:p>
            <a:r>
              <a:t>Em có thể mở dòng liên quan để trao đổi thêm; nếu không cần, chuyển sang phần thuật ngữ.</a:t>
            </a:r>
          </a:p>
          <a:p/>
          <a:p>
            <a:r>
              <a:t>Nhấn mạnh — không cần đọc: Không đọc hết bảng; chọn đúng dòng người nghe hỏi.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Phụ lục • Thuật ngữ tra nhanh</a:t>
            </a:r>
          </a:p>
          <a:p/>
          <a:p>
            <a:r>
              <a:t>Thời lượng gợi ý: Chỉ dùng khi cần</a:t>
            </a:r>
          </a:p>
          <a:p/>
          <a:p>
            <a:r>
              <a:t>Ý chính cần truyền đạt: Có thể dùng để giải thích lại trong phần hỏi đáp</a:t>
            </a:r>
          </a:p>
          <a:p/>
          <a:p>
            <a:r>
              <a:t>Lời đọc</a:t>
            </a:r>
          </a:p>
          <a:p/>
          <a:p>
            <a:r>
              <a:t>Slide này là bảng tra từ. Nếu có thuật ngữ chưa rõ, em giải thích bằng công việc thực tế thay vì đọc định nghĩa dài. Ví dụ API là cách gửi audio và lấy kết quả; diarization là phân lời nói theo speaker; baseline là phương án mốc để đối chiếu.</a:t>
            </a:r>
          </a:p>
          <a:p/>
          <a:p>
            <a:r>
              <a:t>Các từ trong slide chưa thể hiện sản phẩm đã đáp ứng yêu cầu. Để chọn sản phẩm, mình vẫn phải đối chiếu cấu hình và nguồn cụ thể.</a:t>
            </a:r>
          </a:p>
          <a:p/>
          <a:p>
            <a:r>
              <a:t>Ví dụ cụ thể — lời đọc thêm: Giải thích thuật ngữ ngay bằng một cuộc gọi</a:t>
            </a:r>
          </a:p>
          <a:p/>
          <a:p>
            <a:r>
              <a:t>Với call-demo-001.wav: transcript là phần chữ nhận được; timestamp là mốc một phút hai mươi để nghe lại; diarization là phân đoạn nào do Speaker 1 hay Speaker 2 nói; API là cách ứng dụng gửi file và lấy kết quả. Checkpoint là phiên bản model cụ thể; runtime là công cụ chạy model; baseline là cấu hình mốc để đối chiếu.</a:t>
            </a:r>
          </a:p>
          <a:p/>
          <a:p>
            <a:r>
              <a:t>Vì sao cần lưu ý — giải thích để chuẩn bị: Gắn thuật ngữ với thao tác thật giúp người nghe hiểu mà không cần nhớ định nghĩa dài.</a:t>
            </a:r>
          </a:p>
          <a:p/>
          <a:p>
            <a:r>
              <a:t>Câu chuyển sang slide tiếp theo</a:t>
            </a:r>
          </a:p>
          <a:p/>
          <a:p>
            <a:r>
              <a:t>Phần cuối là danh mục nguồn để đối chiếu thông tin đã khảo sát.</a:t>
            </a:r>
          </a:p>
          <a:p/>
          <a:p>
            <a:r>
              <a:t>Nhấn mạnh — không cần đọc: Dùng ví dụ nếu người nghe chưa quen thuật ngữ.</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References • Harvard 1/3</a:t>
            </a:r>
          </a:p>
          <a:p/>
          <a:p>
            <a:r>
              <a:t>Thời lượng gợi ý: Không cần đọc</a:t>
            </a:r>
          </a:p>
          <a:p/>
          <a:p>
            <a:r>
              <a:t>Ý chính cần truyền đạt: Tài liệu chính thức • ngày truy cập 6 October 2026</a:t>
            </a:r>
          </a:p>
          <a:p/>
          <a:p>
            <a:r>
              <a:t>Lời đọc</a:t>
            </a:r>
          </a:p>
          <a:p/>
          <a:p>
            <a:r>
              <a:t>Đây là danh mục nguồn của bản khảo sát. Citation theo tổ chức và n.d. khi không có năm xuất bản rõ; các chữ a, b, c phân biệt những trang cùng tổ chức.</a:t>
            </a:r>
          </a:p>
          <a:p/>
          <a:p>
            <a:r>
              <a:t>Nguồn giúp xác minh tính năng trong phạm vi tài liệu, nhưng chưa thay thế evaluation trên call công ty. Ví dụ giả lập và các đề xuất của em được đánh dấu riêng trong script và báo cáo.</a:t>
            </a:r>
          </a:p>
          <a:p/>
          <a:p>
            <a:r>
              <a:t>Câu chuyển sang slide tiếp theo</a:t>
            </a:r>
          </a:p>
          <a:p/>
          <a:p>
            <a:r>
              <a:t>Có thể mở nguồn cụ thể để kiểm tra; không cần đọc toàn bộ danh mục khi trình bày.</a:t>
            </a:r>
          </a:p>
          <a:p/>
          <a:p>
            <a:r>
              <a:t>Nhấn mạnh — không cần đọc: Chỉ tra nguồn khi có câu hỏi về bằng chứng.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References • Harvard 2/3</a:t>
            </a:r>
          </a:p>
          <a:p/>
          <a:p>
            <a:r>
              <a:t>Thời lượng gợi ý: Không cần đọc</a:t>
            </a:r>
          </a:p>
          <a:p/>
          <a:p>
            <a:r>
              <a:t>Ý chính cần truyền đạt: Tài liệu chính thức • ngày truy cập 6 October 2026</a:t>
            </a:r>
          </a:p>
          <a:p/>
          <a:p>
            <a:r>
              <a:t>Lời đọc</a:t>
            </a:r>
          </a:p>
          <a:p/>
          <a:p>
            <a:r>
              <a:t>Đây là danh mục nguồn của bản khảo sát. Citation theo tổ chức và n.d. khi không có năm xuất bản rõ; các chữ a, b, c phân biệt những trang cùng tổ chức.</a:t>
            </a:r>
          </a:p>
          <a:p/>
          <a:p>
            <a:r>
              <a:t>Nguồn giúp xác minh tính năng trong phạm vi tài liệu, nhưng chưa thay thế evaluation trên call công ty. Ví dụ giả lập và các đề xuất của em được đánh dấu riêng trong script và báo cáo.</a:t>
            </a:r>
          </a:p>
          <a:p/>
          <a:p>
            <a:r>
              <a:t>Câu chuyển sang slide tiếp theo</a:t>
            </a:r>
          </a:p>
          <a:p/>
          <a:p>
            <a:r>
              <a:t>Có thể mở nguồn cụ thể để kiểm tra; không cần đọc toàn bộ danh mục khi trình bày.</a:t>
            </a:r>
          </a:p>
          <a:p/>
          <a:p>
            <a:r>
              <a:t>Nhấn mạnh — không cần đọc: Chỉ tra nguồn khi có câu hỏi về bằng chứng.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References • Harvard 3/3</a:t>
            </a:r>
          </a:p>
          <a:p/>
          <a:p>
            <a:r>
              <a:t>Thời lượng gợi ý: Không cần đọc</a:t>
            </a:r>
          </a:p>
          <a:p/>
          <a:p>
            <a:r>
              <a:t>Ý chính cần truyền đạt: Tài liệu chính thức • ngày truy cập 6 October 2026</a:t>
            </a:r>
          </a:p>
          <a:p/>
          <a:p>
            <a:r>
              <a:t>Lời đọc</a:t>
            </a:r>
          </a:p>
          <a:p/>
          <a:p>
            <a:r>
              <a:t>Đây là danh mục nguồn của bản khảo sát. Citation theo tổ chức và n.d. khi không có năm xuất bản rõ; các chữ a, b, c phân biệt những trang cùng tổ chức.</a:t>
            </a:r>
          </a:p>
          <a:p/>
          <a:p>
            <a:r>
              <a:t>Nguồn giúp xác minh tính năng trong phạm vi tài liệu, nhưng chưa thay thế evaluation trên call công ty. Ví dụ giả lập và các đề xuất của em được đánh dấu riêng trong script và báo cáo.</a:t>
            </a:r>
          </a:p>
          <a:p/>
          <a:p>
            <a:r>
              <a:t>Câu chuyển sang slide tiếp theo</a:t>
            </a:r>
          </a:p>
          <a:p/>
          <a:p>
            <a:r>
              <a:t>Có thể mở nguồn cụ thể để kiểm tra; không cần đọc toàn bộ danh mục khi trình bày.</a:t>
            </a:r>
          </a:p>
          <a:p/>
          <a:p>
            <a:r>
              <a:t>Nhấn mạnh — không cần đọc: Chỉ tra nguồn khi có câu hỏi về bằng chứng.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03320" cy="6858000"/>
          </a:xfrm>
          <a:prstGeom prst="rect">
            <a:avLst/>
          </a:prstGeom>
          <a:solidFill>
            <a:srgbClr val="17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822960"/>
            <a:ext cx="2743200" cy="1280160"/>
          </a:xfrm>
          <a:prstGeom prst="rect">
            <a:avLst/>
          </a:prstGeom>
          <a:noFill/>
        </p:spPr>
        <p:txBody>
          <a:bodyPr wrap="square" lIns="0" rIns="0" tIns="0" bIns="0">
            <a:spAutoFit/>
          </a:bodyPr>
          <a:lstStyle/>
          <a:p>
            <a:pPr>
              <a:spcAft>
                <a:spcPts val="700"/>
              </a:spcAft>
              <a:defRPr sz="3800" b="1">
                <a:solidFill>
                  <a:srgbClr val="FFFFFF"/>
                </a:solidFill>
                <a:latin typeface="Arial"/>
              </a:defRPr>
            </a:pPr>
            <a:r>
              <a:t>STT</a:t>
            </a:r>
          </a:p>
          <a:p>
            <a:pPr>
              <a:spcAft>
                <a:spcPts val="700"/>
              </a:spcAft>
              <a:defRPr sz="3800" b="1">
                <a:solidFill>
                  <a:srgbClr val="FFFFFF"/>
                </a:solidFill>
                <a:latin typeface="Arial"/>
              </a:defRPr>
            </a:pPr>
            <a:r>
              <a:t>SURVEY</a:t>
            </a:r>
          </a:p>
        </p:txBody>
      </p:sp>
      <p:sp>
        <p:nvSpPr>
          <p:cNvPr id="5" name="TextBox 4"/>
          <p:cNvSpPr txBox="1"/>
          <p:nvPr/>
        </p:nvSpPr>
        <p:spPr>
          <a:xfrm>
            <a:off x="502920" y="5029200"/>
            <a:ext cx="2743200" cy="822960"/>
          </a:xfrm>
          <a:prstGeom prst="rect">
            <a:avLst/>
          </a:prstGeom>
          <a:noFill/>
        </p:spPr>
        <p:txBody>
          <a:bodyPr wrap="square" lIns="0" rIns="0" tIns="0" bIns="0">
            <a:spAutoFit/>
          </a:bodyPr>
          <a:lstStyle/>
          <a:p>
            <a:pPr>
              <a:spcAft>
                <a:spcPts val="700"/>
              </a:spcAft>
              <a:defRPr sz="2100" b="0">
                <a:solidFill>
                  <a:srgbClr val="FFFFFF"/>
                </a:solidFill>
                <a:latin typeface="Arial"/>
              </a:defRPr>
            </a:pPr>
            <a:r>
              <a:t>PART 1</a:t>
            </a:r>
          </a:p>
          <a:p>
            <a:pPr>
              <a:spcAft>
                <a:spcPts val="700"/>
              </a:spcAft>
              <a:defRPr sz="2100" b="0">
                <a:solidFill>
                  <a:srgbClr val="FFFFFF"/>
                </a:solidFill>
                <a:latin typeface="Arial"/>
              </a:defRPr>
            </a:pPr>
            <a:r>
              <a:t>CALL CENTER</a:t>
            </a:r>
          </a:p>
        </p:txBody>
      </p:sp>
      <p:sp>
        <p:nvSpPr>
          <p:cNvPr id="6" name="TextBox 5"/>
          <p:cNvSpPr txBox="1"/>
          <p:nvPr/>
        </p:nvSpPr>
        <p:spPr>
          <a:xfrm>
            <a:off x="4251960" y="1097280"/>
            <a:ext cx="7223760" cy="1554480"/>
          </a:xfrm>
          <a:prstGeom prst="rect">
            <a:avLst/>
          </a:prstGeom>
          <a:noFill/>
        </p:spPr>
        <p:txBody>
          <a:bodyPr wrap="square" lIns="0" rIns="0" tIns="0" bIns="0">
            <a:spAutoFit/>
          </a:bodyPr>
          <a:lstStyle/>
          <a:p>
            <a:pPr>
              <a:spcAft>
                <a:spcPts val="700"/>
              </a:spcAft>
              <a:defRPr sz="4200" b="1">
                <a:solidFill>
                  <a:srgbClr val="173F5F"/>
                </a:solidFill>
                <a:latin typeface="Arial"/>
              </a:defRPr>
            </a:pPr>
            <a:r>
              <a:t>Chuyển cuộc gọi thành văn bản</a:t>
            </a:r>
          </a:p>
        </p:txBody>
      </p:sp>
      <p:sp>
        <p:nvSpPr>
          <p:cNvPr id="7" name="TextBox 6"/>
          <p:cNvSpPr txBox="1"/>
          <p:nvPr/>
        </p:nvSpPr>
        <p:spPr>
          <a:xfrm>
            <a:off x="4251960" y="2743200"/>
            <a:ext cx="7132320" cy="822960"/>
          </a:xfrm>
          <a:prstGeom prst="rect">
            <a:avLst/>
          </a:prstGeom>
          <a:noFill/>
        </p:spPr>
        <p:txBody>
          <a:bodyPr wrap="square" lIns="0" rIns="0" tIns="0" bIns="0">
            <a:spAutoFit/>
          </a:bodyPr>
          <a:lstStyle/>
          <a:p>
            <a:pPr>
              <a:spcAft>
                <a:spcPts val="700"/>
              </a:spcAft>
              <a:defRPr sz="2300" b="0">
                <a:solidFill>
                  <a:srgbClr val="526879"/>
                </a:solidFill>
                <a:latin typeface="Arial"/>
              </a:defRPr>
            </a:pPr>
            <a:r>
              <a:t>Speech-to-Text Models &amp; APIs • Part 1: Analysis and Survey</a:t>
            </a:r>
          </a:p>
        </p:txBody>
      </p:sp>
      <p:sp>
        <p:nvSpPr>
          <p:cNvPr id="8" name="TextBox 7"/>
          <p:cNvSpPr txBox="1"/>
          <p:nvPr/>
        </p:nvSpPr>
        <p:spPr>
          <a:xfrm>
            <a:off x="4251960" y="4160520"/>
            <a:ext cx="7132320" cy="640080"/>
          </a:xfrm>
          <a:prstGeom prst="rect">
            <a:avLst/>
          </a:prstGeom>
          <a:noFill/>
        </p:spPr>
        <p:txBody>
          <a:bodyPr wrap="square" lIns="0" rIns="0" tIns="0" bIns="0">
            <a:spAutoFit/>
          </a:bodyPr>
          <a:lstStyle/>
          <a:p>
            <a:pPr>
              <a:spcAft>
                <a:spcPts val="700"/>
              </a:spcAft>
              <a:defRPr sz="3000" b="1">
                <a:solidFill>
                  <a:srgbClr val="173F5F"/>
                </a:solidFill>
                <a:latin typeface="Arial"/>
              </a:defRPr>
            </a:pPr>
            <a:r>
              <a:t>Tien Phat Dam</a:t>
            </a:r>
          </a:p>
        </p:txBody>
      </p:sp>
      <p:sp>
        <p:nvSpPr>
          <p:cNvPr id="9" name="TextBox 8"/>
          <p:cNvSpPr txBox="1"/>
          <p:nvPr/>
        </p:nvSpPr>
        <p:spPr>
          <a:xfrm>
            <a:off x="4251960" y="4937760"/>
            <a:ext cx="7132320" cy="731520"/>
          </a:xfrm>
          <a:prstGeom prst="rect">
            <a:avLst/>
          </a:prstGeom>
          <a:noFill/>
        </p:spPr>
        <p:txBody>
          <a:bodyPr wrap="square" lIns="0" rIns="0" tIns="0" bIns="0">
            <a:spAutoFit/>
          </a:bodyPr>
          <a:lstStyle/>
          <a:p>
            <a:pPr>
              <a:spcAft>
                <a:spcPts val="700"/>
              </a:spcAft>
              <a:defRPr sz="2200" b="0">
                <a:solidFill>
                  <a:srgbClr val="526879"/>
                </a:solidFill>
                <a:latin typeface="Arial"/>
              </a:defRPr>
            </a:pPr>
            <a:r>
              <a:t>Dai-ichi Life Việt Nam</a:t>
            </a:r>
          </a:p>
          <a:p>
            <a:pPr>
              <a:spcAft>
                <a:spcPts val="700"/>
              </a:spcAft>
              <a:defRPr sz="2200" b="0">
                <a:solidFill>
                  <a:srgbClr val="526879"/>
                </a:solidFill>
                <a:latin typeface="Arial"/>
              </a:defRPr>
            </a:pPr>
            <a:r>
              <a:t>6 October 2026</a:t>
            </a:r>
          </a:p>
        </p:txBody>
      </p:sp>
      <p:sp>
        <p:nvSpPr>
          <p:cNvPr id="10" name="Rectangle 9"/>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2" name="TextBox 11"/>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01/25</a:t>
            </a:r>
          </a:p>
        </p:txBody>
      </p:sp>
      <p:sp>
        <p:nvSpPr>
          <p:cNvPr id="13" name="Rounded Rectangle 12"/>
          <p:cNvSpPr/>
          <p:nvPr/>
        </p:nvSpPr>
        <p:spPr>
          <a:xfrm>
            <a:off x="4251960" y="5687568"/>
            <a:ext cx="7178040" cy="530352"/>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5815584"/>
            <a:ext cx="6858000" cy="228600"/>
          </a:xfrm>
          <a:prstGeom prst="rect">
            <a:avLst/>
          </a:prstGeom>
          <a:noFill/>
        </p:spPr>
        <p:txBody>
          <a:bodyPr wrap="square" lIns="0" rIns="0" tIns="0" bIns="0">
            <a:spAutoFit/>
          </a:bodyPr>
          <a:lstStyle/>
          <a:p>
            <a:pPr>
              <a:lnSpc>
                <a:spcPct val="108000"/>
              </a:lnSpc>
              <a:spcAft>
                <a:spcPts val="0"/>
              </a:spcAft>
              <a:defRPr sz="1400" b="1">
                <a:solidFill>
                  <a:srgbClr val="218C96"/>
                </a:solidFill>
                <a:latin typeface="Arial"/>
              </a:defRPr>
            </a:pPr>
            <a:r>
              <a:t>Ví dụ giả lập: chị Mai • HD-DEMO-027 • hai triệu rưỡi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Từ một cuộc gọi đến nội dung có thể tìm kiếm</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Ví dụ giả lập — không phải dữ liệu khách hàng thật</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02/25</a:t>
            </a:r>
          </a:p>
        </p:txBody>
      </p:sp>
      <p:sp>
        <p:nvSpPr>
          <p:cNvPr id="8" name="Rounded Rectangle 7"/>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Khách nói</a:t>
            </a:r>
          </a:p>
        </p:txBody>
      </p:sp>
      <p:sp>
        <p:nvSpPr>
          <p:cNvPr id="11" name="TextBox 10"/>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“Tôi muốn kiểm tra phí bảo hiểm kỳ này.”</a:t>
            </a:r>
          </a:p>
        </p:txBody>
      </p:sp>
      <p:sp>
        <p:nvSpPr>
          <p:cNvPr id="12" name="Rounded Rectangle 11"/>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STT tạo chữ</a:t>
            </a:r>
          </a:p>
        </p:txBody>
      </p:sp>
      <p:sp>
        <p:nvSpPr>
          <p:cNvPr id="15" name="TextBox 14"/>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Transcript: bản ghi lời nói bằng văn bản</a:t>
            </a:r>
          </a:p>
        </p:txBody>
      </p:sp>
      <p:sp>
        <p:nvSpPr>
          <p:cNvPr id="16" name="Rounded Rectangle 15"/>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QA sử dụng</a:t>
            </a:r>
          </a:p>
        </p:txBody>
      </p:sp>
      <p:sp>
        <p:nvSpPr>
          <p:cNvPr id="19" name="TextBox 18"/>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Đọc • tìm nội dung • nghe lại đoạn liên quan</a:t>
            </a:r>
          </a:p>
        </p:txBody>
      </p:sp>
      <p:sp>
        <p:nvSpPr>
          <p:cNvPr id="20" name="Rounded Rectangle 19"/>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TÌNH HUỐNG GIẢ LẬP • GIẢ LẬP</a:t>
            </a:r>
          </a:p>
        </p:txBody>
      </p:sp>
      <p:sp>
        <p:nvSpPr>
          <p:cNvPr id="22" name="TextBox 21"/>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Chị Mai hỏi kỳ phí trong call-demo-001.wav.</a:t>
            </a:r>
          </a:p>
          <a:p>
            <a:pPr>
              <a:lnSpc>
                <a:spcPct val="108000"/>
              </a:lnSpc>
              <a:spcAft>
                <a:spcPts val="300"/>
              </a:spcAft>
              <a:defRPr sz="1800" b="0">
                <a:solidFill>
                  <a:srgbClr val="243746"/>
                </a:solidFill>
                <a:latin typeface="Arial"/>
              </a:defRPr>
            </a:pPr>
            <a:r>
              <a:t>QA tìm “phí kỳ này” → cần timestamp để nghe lại đúng đoạn 01:20.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Survey và Evaluation là hai bước riêng</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Hiện tại chúng ta đang ở Part 1</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03/25</a:t>
            </a:r>
          </a:p>
        </p:txBody>
      </p:sp>
      <p:sp>
        <p:nvSpPr>
          <p:cNvPr id="8" name="Rounded Rectangle 7"/>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Part 1 — Survey</a:t>
            </a:r>
          </a:p>
        </p:txBody>
      </p:sp>
      <p:sp>
        <p:nvSpPr>
          <p:cNvPr id="11" name="TextBox 10"/>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Đọc tài liệu → so sánh khả năng → chọn ứng viên</a:t>
            </a:r>
          </a:p>
        </p:txBody>
      </p:sp>
      <p:sp>
        <p:nvSpPr>
          <p:cNvPr id="12" name="Rounded Rectangle 11"/>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Part 2 — Evaluation</a:t>
            </a:r>
          </a:p>
        </p:txBody>
      </p:sp>
      <p:sp>
        <p:nvSpPr>
          <p:cNvPr id="15" name="TextBox 14"/>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Chạy cùng bộ audio → đo lỗi → so kết quả</a:t>
            </a:r>
          </a:p>
        </p:txBody>
      </p:sp>
      <p:sp>
        <p:nvSpPr>
          <p:cNvPr id="16" name="Rounded Rectangle 15"/>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Đầu ra hôm nay</a:t>
            </a:r>
          </a:p>
        </p:txBody>
      </p:sp>
      <p:sp>
        <p:nvSpPr>
          <p:cNvPr id="19" name="TextBox 18"/>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Shortlist có điều kiện; chưa chọn engine chính thức</a:t>
            </a:r>
          </a:p>
        </p:txBody>
      </p:sp>
      <p:sp>
        <p:nvSpPr>
          <p:cNvPr id="20" name="Rounded Rectangle 19"/>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TÌNH HUỐNG GIẢ LẬP • GIẢ LẬP</a:t>
            </a:r>
          </a:p>
        </p:txBody>
      </p:sp>
      <p:sp>
        <p:nvSpPr>
          <p:cNvPr id="22" name="TextBox 21"/>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Survey: kiểm tra tài liệu có hỗ trợ tiếng Việt.</a:t>
            </a:r>
          </a:p>
          <a:p>
            <a:pPr>
              <a:lnSpc>
                <a:spcPct val="108000"/>
              </a:lnSpc>
              <a:spcAft>
                <a:spcPts val="300"/>
              </a:spcAft>
              <a:defRPr sz="1800" b="0">
                <a:solidFill>
                  <a:srgbClr val="243746"/>
                </a:solidFill>
                <a:latin typeface="Arial"/>
              </a:defRPr>
            </a:pPr>
            <a:r>
              <a:t>Evaluation: mới đo trên cùng call; chưa kết luận model nào nghe đúng hơn.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Model, API và ứng dụng làm những việc khác nhau</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Luồng đề xuất: audio → API → model → transcript → ứng dụng</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04/25</a:t>
            </a:r>
          </a:p>
        </p:txBody>
      </p:sp>
      <p:sp>
        <p:nvSpPr>
          <p:cNvPr id="8" name="Rounded Rectangle 7"/>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Model</a:t>
            </a:r>
          </a:p>
        </p:txBody>
      </p:sp>
      <p:sp>
        <p:nvSpPr>
          <p:cNvPr id="11" name="TextBox 10"/>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Nhận âm thanh và dự đoán chữ</a:t>
            </a:r>
          </a:p>
        </p:txBody>
      </p:sp>
      <p:sp>
        <p:nvSpPr>
          <p:cNvPr id="12" name="Rounded Rectangle 11"/>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API</a:t>
            </a:r>
          </a:p>
        </p:txBody>
      </p:sp>
      <p:sp>
        <p:nvSpPr>
          <p:cNvPr id="15" name="TextBox 14"/>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Nhận yêu cầu, chuyển audio và trả kết quả</a:t>
            </a:r>
          </a:p>
        </p:txBody>
      </p:sp>
      <p:sp>
        <p:nvSpPr>
          <p:cNvPr id="16" name="Rounded Rectangle 15"/>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Ứng dụng</a:t>
            </a:r>
          </a:p>
        </p:txBody>
      </p:sp>
      <p:sp>
        <p:nvSpPr>
          <p:cNvPr id="19" name="TextBox 18"/>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Màn hình để QA đọc và nghe lại</a:t>
            </a:r>
          </a:p>
        </p:txBody>
      </p:sp>
      <p:sp>
        <p:nvSpPr>
          <p:cNvPr id="20" name="Rounded Rectangle 19"/>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MỘT FILE ĐI QUA BA THÀNH PHẦN • GIẢ LẬP</a:t>
            </a:r>
          </a:p>
        </p:txBody>
      </p:sp>
      <p:sp>
        <p:nvSpPr>
          <p:cNvPr id="22" name="TextBox 21"/>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call-demo-001.wav → API nhận yêu cầu → model tạo chữ → ứng dụng hiển thị.</a:t>
            </a:r>
          </a:p>
          <a:p>
            <a:pPr>
              <a:lnSpc>
                <a:spcPct val="108000"/>
              </a:lnSpc>
              <a:spcAft>
                <a:spcPts val="300"/>
              </a:spcAft>
              <a:defRPr sz="1800" b="0">
                <a:solidFill>
                  <a:srgbClr val="243746"/>
                </a:solidFill>
                <a:latin typeface="Arial"/>
              </a:defRPr>
            </a:pPr>
            <a:r>
              <a:t>Model nghe sai, gửi file lỗi và màn hình lỗi cần được kiểm tra ở các bước khác nhau.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Xử lý sau cuộc gọi hay ngay trong cuộc gọi?</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Batch và live phục vụ hai nhu cầu khác nhau</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72200"/>
            <a:ext cx="11064240" cy="210312"/>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OpenAI (n.d.b; n.d.d)</a:t>
            </a:r>
          </a:p>
        </p:txBody>
      </p:sp>
      <p:sp>
        <p:nvSpPr>
          <p:cNvPr id="7" name="TextBox 6"/>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8" name="TextBox 7"/>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05/25</a:t>
            </a:r>
          </a:p>
        </p:txBody>
      </p:sp>
      <p:sp>
        <p:nvSpPr>
          <p:cNvPr id="9" name="Rounded Rectangle 8"/>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Batch / file</a:t>
            </a:r>
          </a:p>
        </p:txBody>
      </p:sp>
      <p:sp>
        <p:nvSpPr>
          <p:cNvPr id="12" name="TextBox 11"/>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Call kết thúc → gửi bản ghi → nhận transcript</a:t>
            </a:r>
          </a:p>
          <a:p>
            <a:pPr>
              <a:lnSpc>
                <a:spcPct val="108000"/>
              </a:lnSpc>
              <a:spcAft>
                <a:spcPts val="300"/>
              </a:spcAft>
              <a:defRPr sz="2000" b="0">
                <a:solidFill>
                  <a:srgbClr val="243746"/>
                </a:solidFill>
                <a:latin typeface="Arial"/>
              </a:defRPr>
            </a:pPr>
            <a:r>
              <a:t>Phù hợp nhu cầu review sau call</a:t>
            </a:r>
          </a:p>
        </p:txBody>
      </p:sp>
      <p:sp>
        <p:nvSpPr>
          <p:cNvPr id="13" name="Rounded Rectangle 12"/>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Live streaming</a:t>
            </a:r>
          </a:p>
        </p:txBody>
      </p:sp>
      <p:sp>
        <p:nvSpPr>
          <p:cNvPr id="16" name="TextBox 15"/>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Audio đang đến → chữ cập nhật liên tục</a:t>
            </a:r>
          </a:p>
          <a:p>
            <a:pPr>
              <a:lnSpc>
                <a:spcPct val="108000"/>
              </a:lnSpc>
              <a:spcAft>
                <a:spcPts val="300"/>
              </a:spcAft>
              <a:defRPr sz="2000" b="0">
                <a:solidFill>
                  <a:srgbClr val="243746"/>
                </a:solidFill>
                <a:latin typeface="Arial"/>
              </a:defRPr>
            </a:pPr>
            <a:r>
              <a:t>Dùng khi cần nội dung ngay trong call</a:t>
            </a:r>
          </a:p>
        </p:txBody>
      </p:sp>
      <p:sp>
        <p:nvSpPr>
          <p:cNvPr id="17" name="Rounded Rectangle 16"/>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Tại sao cần tách?</a:t>
            </a:r>
          </a:p>
        </p:txBody>
      </p:sp>
      <p:sp>
        <p:nvSpPr>
          <p:cNvPr id="20" name="TextBox 19"/>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Live có yêu cầu kỹ thuật và chi phí khác.</a:t>
            </a:r>
          </a:p>
          <a:p>
            <a:pPr>
              <a:lnSpc>
                <a:spcPct val="108000"/>
              </a:lnSpc>
              <a:spcAft>
                <a:spcPts val="300"/>
              </a:spcAft>
              <a:defRPr sz="2000" b="0">
                <a:solidFill>
                  <a:srgbClr val="243746"/>
                </a:solidFill>
                <a:latin typeface="Arial"/>
              </a:defRPr>
            </a:pPr>
            <a:r>
              <a:t>Chữ hiện dần từ file chưa phải live call.</a:t>
            </a:r>
          </a:p>
        </p:txBody>
      </p:sp>
      <p:sp>
        <p:nvSpPr>
          <p:cNvPr id="21" name="Rounded Rectangle 20"/>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CÙNG CUỘC GỌI, HAI NHU CẦU • GIẢ LẬP</a:t>
            </a:r>
          </a:p>
        </p:txBody>
      </p:sp>
      <p:sp>
        <p:nvSpPr>
          <p:cNvPr id="23" name="TextBox 22"/>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Call kết thúc 10:00, QA xem chiều → khảo sát xử lý file.</a:t>
            </a:r>
          </a:p>
          <a:p>
            <a:pPr>
              <a:lnSpc>
                <a:spcPct val="108000"/>
              </a:lnSpc>
              <a:spcAft>
                <a:spcPts val="300"/>
              </a:spcAft>
              <a:defRPr sz="1800" b="0">
                <a:solidFill>
                  <a:srgbClr val="243746"/>
                </a:solidFill>
                <a:latin typeface="Arial"/>
              </a:defRPr>
            </a:pPr>
            <a:r>
              <a:t>Cần chữ trong lúc khách nói → khảo sát live và độ trễ.</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Biết ai nói quan trọng như biết họ nói gì</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Speaker labels chưa tự xác nhận Agent / Customer</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06/25</a:t>
            </a:r>
          </a:p>
        </p:txBody>
      </p:sp>
      <p:sp>
        <p:nvSpPr>
          <p:cNvPr id="8" name="Rounded Rectangle 7"/>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Hai kênh ghi riêng</a:t>
            </a:r>
          </a:p>
        </p:txBody>
      </p:sp>
      <p:sp>
        <p:nvSpPr>
          <p:cNvPr id="11" name="TextBox 10"/>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Có thể gán vai trò theo kênh nếu metadata đáng tin</a:t>
            </a:r>
          </a:p>
        </p:txBody>
      </p:sp>
      <p:sp>
        <p:nvSpPr>
          <p:cNvPr id="12" name="Rounded Rectangle 11"/>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Một kênh đã trộn</a:t>
            </a:r>
          </a:p>
        </p:txBody>
      </p:sp>
      <p:sp>
        <p:nvSpPr>
          <p:cNvPr id="15" name="TextBox 14"/>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Cần khảo sát diarization: phân lời theo người nói</a:t>
            </a:r>
          </a:p>
        </p:txBody>
      </p:sp>
      <p:sp>
        <p:nvSpPr>
          <p:cNvPr id="16" name="Rounded Rectangle 15"/>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Tại sao cần kiểm tra?</a:t>
            </a:r>
          </a:p>
        </p:txBody>
      </p:sp>
      <p:sp>
        <p:nvSpPr>
          <p:cNvPr id="19" name="TextBox 18"/>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Gán câu sai người có thể làm sai QA dù chữ đúng.</a:t>
            </a:r>
          </a:p>
          <a:p>
            <a:pPr>
              <a:lnSpc>
                <a:spcPct val="108000"/>
              </a:lnSpc>
              <a:spcAft>
                <a:spcPts val="300"/>
              </a:spcAft>
              <a:defRPr sz="2000" b="0">
                <a:solidFill>
                  <a:srgbClr val="243746"/>
                </a:solidFill>
                <a:latin typeface="Arial"/>
              </a:defRPr>
            </a:pPr>
            <a:r>
              <a:t>File stereo chưa chắc đã tách hai phía.</a:t>
            </a:r>
          </a:p>
        </p:txBody>
      </p:sp>
      <p:sp>
        <p:nvSpPr>
          <p:cNvPr id="20" name="Rounded Rectangle 19"/>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TÌNH HUỐNG GIẢ LẬP • GIẢ LẬP</a:t>
            </a:r>
          </a:p>
        </p:txBody>
      </p:sp>
      <p:sp>
        <p:nvSpPr>
          <p:cNvPr id="22" name="TextBox 21"/>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Khách: “Tôi chưa đồng ý thay đổi thông tin.”</a:t>
            </a:r>
          </a:p>
          <a:p>
            <a:pPr>
              <a:lnSpc>
                <a:spcPct val="108000"/>
              </a:lnSpc>
              <a:spcAft>
                <a:spcPts val="300"/>
              </a:spcAft>
              <a:defRPr sz="1800" b="0">
                <a:solidFill>
                  <a:srgbClr val="243746"/>
                </a:solidFill>
                <a:latin typeface="Arial"/>
              </a:defRPr>
            </a:pPr>
            <a:r>
              <a:t>Nếu gán câu này cho nhân viên, chữ đúng nhưng kết quả QA có thể sai.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Lỗi nào đáng chú ý trong cuộc gọi bảo hiểm?</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Các ví dụ dưới đây chỉ minh họa — chưa phải output của model</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07/25</a:t>
            </a:r>
          </a:p>
        </p:txBody>
      </p:sp>
      <p:sp>
        <p:nvSpPr>
          <p:cNvPr id="8" name="Rounded Rectangle 7"/>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Số tiền</a:t>
            </a:r>
          </a:p>
        </p:txBody>
      </p:sp>
      <p:sp>
        <p:nvSpPr>
          <p:cNvPr id="11" name="TextBox 10"/>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“Hai triệu rưỡi” → 25 triệu</a:t>
            </a:r>
          </a:p>
          <a:p>
            <a:pPr>
              <a:lnSpc>
                <a:spcPct val="108000"/>
              </a:lnSpc>
              <a:spcAft>
                <a:spcPts val="300"/>
              </a:spcAft>
              <a:defRPr sz="2000" b="0">
                <a:solidFill>
                  <a:srgbClr val="243746"/>
                </a:solidFill>
                <a:latin typeface="Arial"/>
              </a:defRPr>
            </a:pPr>
            <a:r>
              <a:t>Sai bậc số làm đổi ý nghĩa</a:t>
            </a:r>
          </a:p>
        </p:txBody>
      </p:sp>
      <p:sp>
        <p:nvSpPr>
          <p:cNvPr id="12" name="Rounded Rectangle 11"/>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Mã và ngày</a:t>
            </a:r>
          </a:p>
        </p:txBody>
      </p:sp>
      <p:sp>
        <p:nvSpPr>
          <p:cNvPr id="15" name="TextBox 14"/>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A027 mất số 0; ngày bị đổi</a:t>
            </a:r>
          </a:p>
          <a:p>
            <a:pPr>
              <a:lnSpc>
                <a:spcPct val="108000"/>
              </a:lnSpc>
              <a:spcAft>
                <a:spcPts val="300"/>
              </a:spcAft>
              <a:defRPr sz="2000" b="0">
                <a:solidFill>
                  <a:srgbClr val="243746"/>
                </a:solidFill>
                <a:latin typeface="Arial"/>
              </a:defRPr>
            </a:pPr>
            <a:r>
              <a:t>Cần quy tắc chuẩn hóa rõ</a:t>
            </a:r>
          </a:p>
        </p:txBody>
      </p:sp>
      <p:sp>
        <p:nvSpPr>
          <p:cNvPr id="16" name="Rounded Rectangle 15"/>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Phủ định / thuật ngữ</a:t>
            </a:r>
          </a:p>
        </p:txBody>
      </p:sp>
      <p:sp>
        <p:nvSpPr>
          <p:cNvPr id="19" name="TextBox 18"/>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“Chưa đồng ý” mất “chưa”</a:t>
            </a:r>
          </a:p>
          <a:p>
            <a:pPr>
              <a:lnSpc>
                <a:spcPct val="108000"/>
              </a:lnSpc>
              <a:spcAft>
                <a:spcPts val="300"/>
              </a:spcAft>
              <a:defRPr sz="2000" b="0">
                <a:solidFill>
                  <a:srgbClr val="243746"/>
                </a:solidFill>
                <a:latin typeface="Arial"/>
              </a:defRPr>
            </a:pPr>
            <a:r>
              <a:t>Chữ ít sai nhưng nghĩa có thể khác</a:t>
            </a:r>
          </a:p>
        </p:txBody>
      </p:sp>
      <p:sp>
        <p:nvSpPr>
          <p:cNvPr id="20" name="Rounded Rectangle 19"/>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TÁCH HAI NGUỒN LỖI • GIẢ LẬP</a:t>
            </a:r>
          </a:p>
        </p:txBody>
      </p:sp>
      <p:sp>
        <p:nvSpPr>
          <p:cNvPr id="22" name="TextBox 21"/>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Audio: “hai triệu rưỡi” → transcript đúng → chuẩn hóa thành 25.000.000.</a:t>
            </a:r>
          </a:p>
          <a:p>
            <a:pPr>
              <a:lnSpc>
                <a:spcPct val="108000"/>
              </a:lnSpc>
              <a:spcAft>
                <a:spcPts val="300"/>
              </a:spcAft>
              <a:defRPr sz="1800" b="0">
                <a:solidFill>
                  <a:srgbClr val="243746"/>
                </a:solidFill>
                <a:latin typeface="Arial"/>
              </a:defRPr>
            </a:pPr>
            <a:r>
              <a:t>Trong ví dụ này, cần sửa bước chuẩn hóa; chưa thể kết luận model nghe sai.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Sáu nhóm tiêu chí để chọn ứng viên</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Mỗi tiêu chí cần có bằng chứng hoặc ghi rõ “cần xác nhận”</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08/25</a:t>
            </a:r>
          </a:p>
        </p:txBody>
      </p:sp>
      <p:sp>
        <p:nvSpPr>
          <p:cNvPr id="8" name="Rounded Rectangle 7"/>
          <p:cNvSpPr/>
          <p:nvPr/>
        </p:nvSpPr>
        <p:spPr>
          <a:xfrm>
            <a:off x="502920" y="1801368"/>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920240"/>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Nghe và hiểu</a:t>
            </a:r>
          </a:p>
        </p:txBody>
      </p:sp>
      <p:sp>
        <p:nvSpPr>
          <p:cNvPr id="11" name="TextBox 10"/>
          <p:cNvSpPr txBox="1"/>
          <p:nvPr/>
        </p:nvSpPr>
        <p:spPr>
          <a:xfrm>
            <a:off x="676656" y="2414016"/>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Tiếng Việt • thuật ngữ • số tiền</a:t>
            </a:r>
          </a:p>
        </p:txBody>
      </p:sp>
      <p:sp>
        <p:nvSpPr>
          <p:cNvPr id="12" name="Rounded Rectangle 11"/>
          <p:cNvSpPr/>
          <p:nvPr/>
        </p:nvSpPr>
        <p:spPr>
          <a:xfrm>
            <a:off x="4297680" y="1801368"/>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1416" y="1920240"/>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Hội thoại</a:t>
            </a:r>
          </a:p>
        </p:txBody>
      </p:sp>
      <p:sp>
        <p:nvSpPr>
          <p:cNvPr id="15" name="TextBox 14"/>
          <p:cNvSpPr txBox="1"/>
          <p:nvPr/>
        </p:nvSpPr>
        <p:spPr>
          <a:xfrm>
            <a:off x="4471416" y="2414016"/>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Người nói • vai trò • timestamp</a:t>
            </a:r>
          </a:p>
        </p:txBody>
      </p:sp>
      <p:sp>
        <p:nvSpPr>
          <p:cNvPr id="16" name="Rounded Rectangle 15"/>
          <p:cNvSpPr/>
          <p:nvPr/>
        </p:nvSpPr>
        <p:spPr>
          <a:xfrm>
            <a:off x="8092440" y="1801368"/>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6" y="1920240"/>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Cách dùng</a:t>
            </a:r>
          </a:p>
        </p:txBody>
      </p:sp>
      <p:sp>
        <p:nvSpPr>
          <p:cNvPr id="19" name="TextBox 18"/>
          <p:cNvSpPr txBox="1"/>
          <p:nvPr/>
        </p:nvSpPr>
        <p:spPr>
          <a:xfrm>
            <a:off x="8266176" y="2414016"/>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File hoặc live • đầu vào</a:t>
            </a:r>
          </a:p>
        </p:txBody>
      </p:sp>
      <p:sp>
        <p:nvSpPr>
          <p:cNvPr id="20" name="Rounded Rectangle 19"/>
          <p:cNvSpPr/>
          <p:nvPr/>
        </p:nvSpPr>
        <p:spPr>
          <a:xfrm>
            <a:off x="502920" y="3209544"/>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3328415"/>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Triển khai</a:t>
            </a:r>
          </a:p>
        </p:txBody>
      </p:sp>
      <p:sp>
        <p:nvSpPr>
          <p:cNvPr id="23" name="TextBox 22"/>
          <p:cNvSpPr txBox="1"/>
          <p:nvPr/>
        </p:nvSpPr>
        <p:spPr>
          <a:xfrm>
            <a:off x="676656" y="3822191"/>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Cloud hoặc nội bộ • tài nguyên</a:t>
            </a:r>
          </a:p>
        </p:txBody>
      </p:sp>
      <p:sp>
        <p:nvSpPr>
          <p:cNvPr id="24" name="Rounded Rectangle 23"/>
          <p:cNvSpPr/>
          <p:nvPr/>
        </p:nvSpPr>
        <p:spPr>
          <a:xfrm>
            <a:off x="4297680" y="3209544"/>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1416" y="3328415"/>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Dữ liệu</a:t>
            </a:r>
          </a:p>
        </p:txBody>
      </p:sp>
      <p:sp>
        <p:nvSpPr>
          <p:cNvPr id="27" name="TextBox 26"/>
          <p:cNvSpPr txBox="1"/>
          <p:nvPr/>
        </p:nvSpPr>
        <p:spPr>
          <a:xfrm>
            <a:off x="4471416" y="3822191"/>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Nơi xử lý • lưu giữ • quyền truy cập</a:t>
            </a:r>
          </a:p>
        </p:txBody>
      </p:sp>
      <p:sp>
        <p:nvSpPr>
          <p:cNvPr id="28" name="Rounded Rectangle 27"/>
          <p:cNvSpPr/>
          <p:nvPr/>
        </p:nvSpPr>
        <p:spPr>
          <a:xfrm>
            <a:off x="8092440" y="3209544"/>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66176" y="3328415"/>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Vận hành &amp; giá</a:t>
            </a:r>
          </a:p>
        </p:txBody>
      </p:sp>
      <p:sp>
        <p:nvSpPr>
          <p:cNvPr id="31" name="TextBox 30"/>
          <p:cNvSpPr txBox="1"/>
          <p:nvPr/>
        </p:nvSpPr>
        <p:spPr>
          <a:xfrm>
            <a:off x="8266176" y="3822191"/>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Tải cao điểm • hỗ trợ • tổng chi phí</a:t>
            </a:r>
          </a:p>
        </p:txBody>
      </p:sp>
      <p:sp>
        <p:nvSpPr>
          <p:cNvPr id="32" name="Rounded Rectangle 31"/>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CHỌN TIÊU CHÍ TỪ ĐẦU RA CẦN DÙNG • GIẢ LẬP</a:t>
            </a:r>
          </a:p>
        </p:txBody>
      </p:sp>
      <p:sp>
        <p:nvSpPr>
          <p:cNvPr id="34" name="TextBox 33"/>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QA muốn nghe đúng đoạn 01:20 → cần mốc thời gian phù hợp.</a:t>
            </a:r>
          </a:p>
          <a:p>
            <a:pPr>
              <a:lnSpc>
                <a:spcPct val="108000"/>
              </a:lnSpc>
              <a:spcAft>
                <a:spcPts val="300"/>
              </a:spcAft>
              <a:defRPr sz="1800" b="0">
                <a:solidFill>
                  <a:srgbClr val="243746"/>
                </a:solidFill>
                <a:latin typeface="Arial"/>
              </a:defRPr>
            </a:pPr>
            <a:r>
              <a:t>QA muốn biết ai nói “chưa đồng ý” → cần thêm người nói và vai trò.</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Cloud API và tự triển khai: trách nhiệm khác nhau</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Chọn theo yêu cầu dữ liệu, hạ tầng và người vận hành</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09/25</a:t>
            </a:r>
          </a:p>
        </p:txBody>
      </p:sp>
      <p:sp>
        <p:nvSpPr>
          <p:cNvPr id="8" name="Rounded Rectangle 7"/>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Cloud API</a:t>
            </a:r>
          </a:p>
        </p:txBody>
      </p:sp>
      <p:sp>
        <p:nvSpPr>
          <p:cNvPr id="11" name="TextBox 10"/>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Vendor chạy engine</a:t>
            </a:r>
          </a:p>
          <a:p>
            <a:pPr>
              <a:lnSpc>
                <a:spcPct val="108000"/>
              </a:lnSpc>
              <a:spcAft>
                <a:spcPts val="300"/>
              </a:spcAft>
              <a:defRPr sz="2000" b="0">
                <a:solidFill>
                  <a:srgbClr val="243746"/>
                </a:solidFill>
                <a:latin typeface="Arial"/>
              </a:defRPr>
            </a:pPr>
            <a:r>
              <a:t>Team tích hợp, kiểm soát dữ liệu và usage</a:t>
            </a:r>
          </a:p>
        </p:txBody>
      </p:sp>
      <p:sp>
        <p:nvSpPr>
          <p:cNvPr id="12" name="Rounded Rectangle 11"/>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Self-hosted</a:t>
            </a:r>
          </a:p>
        </p:txBody>
      </p:sp>
      <p:sp>
        <p:nvSpPr>
          <p:cNvPr id="15" name="TextBox 14"/>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Team chạy model trên hạ tầng quản lý</a:t>
            </a:r>
          </a:p>
          <a:p>
            <a:pPr>
              <a:lnSpc>
                <a:spcPct val="108000"/>
              </a:lnSpc>
              <a:spcAft>
                <a:spcPts val="300"/>
              </a:spcAft>
              <a:defRPr sz="2000" b="0">
                <a:solidFill>
                  <a:srgbClr val="243746"/>
                </a:solidFill>
                <a:latin typeface="Arial"/>
              </a:defRPr>
            </a:pPr>
            <a:r>
              <a:t>Cần tài nguyên và owner vận hành</a:t>
            </a:r>
          </a:p>
        </p:txBody>
      </p:sp>
      <p:sp>
        <p:nvSpPr>
          <p:cNvPr id="16" name="Rounded Rectangle 15"/>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Tại sao cần cân nhắc?</a:t>
            </a:r>
          </a:p>
        </p:txBody>
      </p:sp>
      <p:sp>
        <p:nvSpPr>
          <p:cNvPr id="19" name="TextBox 18"/>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API không bỏ hết trách nhiệm dữ liệu.</a:t>
            </a:r>
          </a:p>
          <a:p>
            <a:pPr>
              <a:lnSpc>
                <a:spcPct val="108000"/>
              </a:lnSpc>
              <a:spcAft>
                <a:spcPts val="300"/>
              </a:spcAft>
              <a:defRPr sz="2000" b="0">
                <a:solidFill>
                  <a:srgbClr val="243746"/>
                </a:solidFill>
                <a:latin typeface="Arial"/>
              </a:defRPr>
            </a:pPr>
            <a:r>
              <a:t>Tự triển khai không làm chi phí bằng 0.</a:t>
            </a:r>
          </a:p>
        </p:txBody>
      </p:sp>
      <p:sp>
        <p:nvSpPr>
          <p:cNvPr id="20" name="Rounded Rectangle 19"/>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CÙNG FILE, HAI ĐƯỜNG XỬ LÝ • GIẢ LẬP</a:t>
            </a:r>
          </a:p>
        </p:txBody>
      </p:sp>
      <p:sp>
        <p:nvSpPr>
          <p:cNvPr id="22" name="TextBox 21"/>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API vendor: gửi audio tới dịch vụ bên ngoài. Model nội bộ: team vận hành xử lý.</a:t>
            </a:r>
          </a:p>
          <a:p>
            <a:pPr>
              <a:lnSpc>
                <a:spcPct val="108000"/>
              </a:lnSpc>
              <a:spcAft>
                <a:spcPts val="300"/>
              </a:spcAft>
              <a:defRPr sz="1800" b="0">
                <a:solidFill>
                  <a:srgbClr val="243746"/>
                </a:solidFill>
                <a:latin typeface="Arial"/>
              </a:defRPr>
            </a:pPr>
            <a:r>
              <a:t>Cả hai có thể dùng API; cần xác nhận audio đi đâu và ai hỗ trợ khi lỗi.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Ba nhóm lựa chọn đã khảo sát</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Cùng bài toán, nhưng cách triển khai và trách nhiệm khác nhau</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72200"/>
            <a:ext cx="11064240" cy="210312"/>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OpenAI (n.d.g); SYSTRAN (n.d.); VinAI Research (n.d.); xem References</a:t>
            </a:r>
          </a:p>
        </p:txBody>
      </p:sp>
      <p:sp>
        <p:nvSpPr>
          <p:cNvPr id="7" name="TextBox 6"/>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8" name="TextBox 7"/>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10/25</a:t>
            </a:r>
          </a:p>
        </p:txBody>
      </p:sp>
      <p:sp>
        <p:nvSpPr>
          <p:cNvPr id="9" name="Rounded Rectangle 8"/>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Model tự triển khai</a:t>
            </a:r>
          </a:p>
        </p:txBody>
      </p:sp>
      <p:sp>
        <p:nvSpPr>
          <p:cNvPr id="12" name="TextBox 11"/>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Whisper • PhoWhisper</a:t>
            </a:r>
          </a:p>
          <a:p>
            <a:pPr>
              <a:lnSpc>
                <a:spcPct val="108000"/>
              </a:lnSpc>
              <a:spcAft>
                <a:spcPts val="300"/>
              </a:spcAft>
              <a:defRPr sz="2000" b="0">
                <a:solidFill>
                  <a:srgbClr val="243746"/>
                </a:solidFill>
                <a:latin typeface="Arial"/>
              </a:defRPr>
            </a:pPr>
            <a:r>
              <a:t>faster-whisper là runtime của Whisper</a:t>
            </a:r>
          </a:p>
        </p:txBody>
      </p:sp>
      <p:sp>
        <p:nvSpPr>
          <p:cNvPr id="13" name="Rounded Rectangle 12"/>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API và speech platform</a:t>
            </a:r>
          </a:p>
        </p:txBody>
      </p:sp>
      <p:sp>
        <p:nvSpPr>
          <p:cNvPr id="16" name="TextBox 15"/>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OpenAI • Google • Azure • AWS</a:t>
            </a:r>
          </a:p>
          <a:p>
            <a:pPr>
              <a:lnSpc>
                <a:spcPct val="108000"/>
              </a:lnSpc>
              <a:spcAft>
                <a:spcPts val="300"/>
              </a:spcAft>
              <a:defRPr sz="2000" b="0">
                <a:solidFill>
                  <a:srgbClr val="243746"/>
                </a:solidFill>
                <a:latin typeface="Arial"/>
              </a:defRPr>
            </a:pPr>
            <a:r>
              <a:t>Deepgram • Speechmatics • NVIDIA</a:t>
            </a:r>
          </a:p>
        </p:txBody>
      </p:sp>
      <p:sp>
        <p:nvSpPr>
          <p:cNvPr id="17" name="Rounded Rectangle 16"/>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Vendor Việt Nam</a:t>
            </a:r>
          </a:p>
        </p:txBody>
      </p:sp>
      <p:sp>
        <p:nvSpPr>
          <p:cNvPr id="20" name="TextBox 19"/>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VNPT • FPT.AI • Viettel AI</a:t>
            </a:r>
          </a:p>
          <a:p>
            <a:pPr>
              <a:lnSpc>
                <a:spcPct val="108000"/>
              </a:lnSpc>
              <a:spcAft>
                <a:spcPts val="300"/>
              </a:spcAft>
              <a:defRPr sz="2000" b="0">
                <a:solidFill>
                  <a:srgbClr val="243746"/>
                </a:solidFill>
                <a:latin typeface="Arial"/>
              </a:defRPr>
            </a:pPr>
            <a:r>
              <a:t>Cần tài liệu và điều kiện enterprise cụ thể</a:t>
            </a:r>
          </a:p>
        </p:txBody>
      </p:sp>
      <p:sp>
        <p:nvSpPr>
          <p:cNvPr id="21" name="Rounded Rectangle 20"/>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SO SÁNH CÙNG PHẠM VI • GIẢ LẬP</a:t>
            </a:r>
          </a:p>
        </p:txBody>
      </p:sp>
      <p:sp>
        <p:nvSpPr>
          <p:cNvPr id="23" name="TextBox 22"/>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Cùng call-demo-001.wav → tự triển khai / API quốc tế / vendor Việt Nam.</a:t>
            </a:r>
          </a:p>
          <a:p>
            <a:pPr>
              <a:lnSpc>
                <a:spcPct val="108000"/>
              </a:lnSpc>
              <a:spcAft>
                <a:spcPts val="300"/>
              </a:spcAft>
              <a:defRPr sz="1800" b="0">
                <a:solidFill>
                  <a:srgbClr val="243746"/>
                </a:solidFill>
                <a:latin typeface="Arial"/>
              </a:defRPr>
            </a:pPr>
            <a:r>
              <a:t>So cùng đầu ra: chữ, mốc thời gian, người nói; ghi rõ phần mua hoặc xây thêm.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Model tự triển khai: chọn để thử, chưa chọn người thắng</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Điểm mạnh theo hướng triển khai ≠ accuracy trên call công ty</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72200"/>
            <a:ext cx="11064240" cy="210312"/>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OpenAI (n.d.g); SYSTRAN (n.d.); VinAI Research (n.d.)</a:t>
            </a:r>
          </a:p>
        </p:txBody>
      </p:sp>
      <p:sp>
        <p:nvSpPr>
          <p:cNvPr id="7" name="TextBox 6"/>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8" name="TextBox 7"/>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11/25</a:t>
            </a:r>
          </a:p>
        </p:txBody>
      </p:sp>
      <p:sp>
        <p:nvSpPr>
          <p:cNvPr id="9" name="Rounded Rectangle 8"/>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Whisper</a:t>
            </a:r>
          </a:p>
        </p:txBody>
      </p:sp>
      <p:sp>
        <p:nvSpPr>
          <p:cNvPr id="12" name="TextBox 11"/>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Đề xuất làm baseline — phương án mốc</a:t>
            </a:r>
          </a:p>
          <a:p>
            <a:pPr>
              <a:lnSpc>
                <a:spcPct val="108000"/>
              </a:lnSpc>
              <a:spcAft>
                <a:spcPts val="300"/>
              </a:spcAft>
              <a:defRPr sz="2000" b="0">
                <a:solidFill>
                  <a:srgbClr val="243746"/>
                </a:solidFill>
                <a:latin typeface="Arial"/>
              </a:defRPr>
            </a:pPr>
            <a:r>
              <a:t>Cần chốt checkpoint và cấu hình</a:t>
            </a:r>
          </a:p>
        </p:txBody>
      </p:sp>
      <p:sp>
        <p:nvSpPr>
          <p:cNvPr id="13" name="Rounded Rectangle 12"/>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PhoWhisper</a:t>
            </a:r>
          </a:p>
        </p:txBody>
      </p:sp>
      <p:sp>
        <p:nvSpPr>
          <p:cNvPr id="16" name="TextBox 15"/>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Được fine-tune cho tiếng Việt</a:t>
            </a:r>
          </a:p>
          <a:p>
            <a:pPr>
              <a:lnSpc>
                <a:spcPct val="108000"/>
              </a:lnSpc>
              <a:spcAft>
                <a:spcPts val="300"/>
              </a:spcAft>
              <a:defRPr sz="2000" b="0">
                <a:solidFill>
                  <a:srgbClr val="243746"/>
                </a:solidFill>
                <a:latin typeface="Arial"/>
              </a:defRPr>
            </a:pPr>
            <a:r>
              <a:t>Đáng so với baseline trên cùng audio</a:t>
            </a:r>
          </a:p>
        </p:txBody>
      </p:sp>
      <p:sp>
        <p:nvSpPr>
          <p:cNvPr id="17" name="Rounded Rectangle 16"/>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faster-whisper</a:t>
            </a:r>
          </a:p>
        </p:txBody>
      </p:sp>
      <p:sp>
        <p:nvSpPr>
          <p:cNvPr id="20" name="TextBox 19"/>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Runtime hỗ trợ cách chạy Whisper</a:t>
            </a:r>
          </a:p>
          <a:p>
            <a:pPr>
              <a:lnSpc>
                <a:spcPct val="108000"/>
              </a:lnSpc>
              <a:spcAft>
                <a:spcPts val="300"/>
              </a:spcAft>
              <a:defRPr sz="2000" b="0">
                <a:solidFill>
                  <a:srgbClr val="243746"/>
                </a:solidFill>
                <a:latin typeface="Arial"/>
              </a:defRPr>
            </a:pPr>
            <a:r>
              <a:t>Tốc độ thực cần đo đúng máy</a:t>
            </a:r>
          </a:p>
        </p:txBody>
      </p:sp>
      <p:sp>
        <p:nvSpPr>
          <p:cNvPr id="21" name="Rounded Rectangle 20"/>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THỬ CÙNG AUDIO, GHI RÕ CẤU HÌNH • GIẢ LẬP</a:t>
            </a:r>
          </a:p>
        </p:txBody>
      </p:sp>
      <p:sp>
        <p:nvSpPr>
          <p:cNvPr id="23" name="TextBox 22"/>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Whisper / PhoWhisper: kiểm tra “hai triệu rưỡi”, mã HD-DEMO-027 và từ “chưa”.</a:t>
            </a:r>
          </a:p>
          <a:p>
            <a:pPr>
              <a:lnSpc>
                <a:spcPct val="108000"/>
              </a:lnSpc>
              <a:spcAft>
                <a:spcPts val="300"/>
              </a:spcAft>
              <a:defRPr sz="1800" b="0">
                <a:solidFill>
                  <a:srgbClr val="243746"/>
                </a:solidFill>
                <a:latin typeface="Arial"/>
              </a:defRPr>
            </a:pPr>
            <a:r>
              <a:t>faster-whisper: ghi runtime, máy và cấu hình; chưa có kết quả thì chưa xếp hạng.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API quốc tế: tính năng cần đọc theo đúng phạm vi</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Không lấy tính năng chung của thương hiệu gán cho mọi model</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72200"/>
            <a:ext cx="11064240" cy="210312"/>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OpenAI (n.d.b–e); Google Cloud (n.d.a); Microsoft (n.d.d); AWS (n.d.b)</a:t>
            </a:r>
          </a:p>
        </p:txBody>
      </p:sp>
      <p:sp>
        <p:nvSpPr>
          <p:cNvPr id="7" name="TextBox 6"/>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8" name="TextBox 7"/>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12/25</a:t>
            </a:r>
          </a:p>
        </p:txBody>
      </p:sp>
      <p:sp>
        <p:nvSpPr>
          <p:cNvPr id="9" name="Rounded Rectangle 8"/>
          <p:cNvSpPr/>
          <p:nvPr/>
        </p:nvSpPr>
        <p:spPr>
          <a:xfrm>
            <a:off x="502920" y="1801368"/>
            <a:ext cx="548182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920240"/>
            <a:ext cx="513435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OpenAI</a:t>
            </a:r>
          </a:p>
        </p:txBody>
      </p:sp>
      <p:sp>
        <p:nvSpPr>
          <p:cNvPr id="12" name="TextBox 11"/>
          <p:cNvSpPr txBox="1"/>
          <p:nvPr/>
        </p:nvSpPr>
        <p:spPr>
          <a:xfrm>
            <a:off x="676656" y="2414016"/>
            <a:ext cx="513435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Model file, live và diarize riêng</a:t>
            </a:r>
          </a:p>
          <a:p>
            <a:pPr>
              <a:lnSpc>
                <a:spcPct val="108000"/>
              </a:lnSpc>
              <a:spcAft>
                <a:spcPts val="100"/>
              </a:spcAft>
              <a:defRPr sz="1650" b="0">
                <a:solidFill>
                  <a:srgbClr val="243746"/>
                </a:solidFill>
                <a:latin typeface="Arial"/>
              </a:defRPr>
            </a:pPr>
            <a:r>
              <a:t>Xác nhận vi của checkpoint dùng</a:t>
            </a:r>
          </a:p>
        </p:txBody>
      </p:sp>
      <p:sp>
        <p:nvSpPr>
          <p:cNvPr id="13" name="Rounded Rectangle 12"/>
          <p:cNvSpPr/>
          <p:nvPr/>
        </p:nvSpPr>
        <p:spPr>
          <a:xfrm>
            <a:off x="6195060" y="1801368"/>
            <a:ext cx="548182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6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8796" y="1920240"/>
            <a:ext cx="513435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Google Chirp 3</a:t>
            </a:r>
          </a:p>
        </p:txBody>
      </p:sp>
      <p:sp>
        <p:nvSpPr>
          <p:cNvPr id="16" name="TextBox 15"/>
          <p:cNvSpPr txBox="1"/>
          <p:nvPr/>
        </p:nvSpPr>
        <p:spPr>
          <a:xfrm>
            <a:off x="6368796" y="2414016"/>
            <a:ext cx="513435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vi-VN GA cho transcription</a:t>
            </a:r>
          </a:p>
          <a:p>
            <a:pPr>
              <a:lnSpc>
                <a:spcPct val="108000"/>
              </a:lnSpc>
              <a:spcAft>
                <a:spcPts val="100"/>
              </a:spcAft>
              <a:defRPr sz="1650" b="0">
                <a:solidFill>
                  <a:srgbClr val="243746"/>
                </a:solidFill>
                <a:latin typeface="Arial"/>
              </a:defRPr>
            </a:pPr>
            <a:r>
              <a:t>Danh sách diarization chưa có vi</a:t>
            </a:r>
          </a:p>
        </p:txBody>
      </p:sp>
      <p:sp>
        <p:nvSpPr>
          <p:cNvPr id="17" name="Rounded Rectangle 16"/>
          <p:cNvSpPr/>
          <p:nvPr/>
        </p:nvSpPr>
        <p:spPr>
          <a:xfrm>
            <a:off x="502920" y="3209544"/>
            <a:ext cx="548182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328415"/>
            <a:ext cx="513435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Azure Speech</a:t>
            </a:r>
          </a:p>
        </p:txBody>
      </p:sp>
      <p:sp>
        <p:nvSpPr>
          <p:cNvPr id="20" name="TextBox 19"/>
          <p:cNvSpPr txBox="1"/>
          <p:nvPr/>
        </p:nvSpPr>
        <p:spPr>
          <a:xfrm>
            <a:off x="676656" y="3822191"/>
            <a:ext cx="513435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Có vi-VN; tùy chỉnh văn bản</a:t>
            </a:r>
          </a:p>
          <a:p>
            <a:pPr>
              <a:lnSpc>
                <a:spcPct val="108000"/>
              </a:lnSpc>
              <a:spcAft>
                <a:spcPts val="100"/>
              </a:spcAft>
              <a:defRPr sz="1650" b="0">
                <a:solidFill>
                  <a:srgbClr val="243746"/>
                </a:solidFill>
                <a:latin typeface="Arial"/>
              </a:defRPr>
            </a:pPr>
            <a:r>
              <a:t>Container / endpoint cần xác nhận</a:t>
            </a:r>
          </a:p>
        </p:txBody>
      </p:sp>
      <p:sp>
        <p:nvSpPr>
          <p:cNvPr id="21" name="Rounded Rectangle 20"/>
          <p:cNvSpPr/>
          <p:nvPr/>
        </p:nvSpPr>
        <p:spPr>
          <a:xfrm>
            <a:off x="6195060" y="3209544"/>
            <a:ext cx="548182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506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8796" y="3328415"/>
            <a:ext cx="513435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AWS Transcribe</a:t>
            </a:r>
          </a:p>
        </p:txBody>
      </p:sp>
      <p:sp>
        <p:nvSpPr>
          <p:cNvPr id="24" name="TextBox 23"/>
          <p:cNvSpPr txBox="1"/>
          <p:nvPr/>
        </p:nvSpPr>
        <p:spPr>
          <a:xfrm>
            <a:off x="6368796" y="3822191"/>
            <a:ext cx="513435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Có vi batch và live</a:t>
            </a:r>
          </a:p>
          <a:p>
            <a:pPr>
              <a:lnSpc>
                <a:spcPct val="108000"/>
              </a:lnSpc>
              <a:spcAft>
                <a:spcPts val="100"/>
              </a:spcAft>
              <a:defRPr sz="1650" b="0">
                <a:solidFill>
                  <a:srgbClr val="243746"/>
                </a:solidFill>
                <a:latin typeface="Arial"/>
              </a:defRPr>
            </a:pPr>
            <a:r>
              <a:t>Các feature phân tích vi có giới hạn</a:t>
            </a:r>
          </a:p>
        </p:txBody>
      </p:sp>
      <p:sp>
        <p:nvSpPr>
          <p:cNvPr id="25" name="Rounded Rectangle 24"/>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MỘT REQUEST, NHIỀU ĐẦU RA CẦN KIỂM TRA • GIẢ LẬP</a:t>
            </a:r>
          </a:p>
        </p:txBody>
      </p:sp>
      <p:sp>
        <p:nvSpPr>
          <p:cNvPr id="27" name="TextBox 26"/>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Gửi file call → transcript; cần timestamp / người nói thì kiểm tra riêng.</a:t>
            </a:r>
          </a:p>
          <a:p>
            <a:pPr>
              <a:lnSpc>
                <a:spcPct val="108000"/>
              </a:lnSpc>
              <a:spcAft>
                <a:spcPts val="300"/>
              </a:spcAft>
              <a:defRPr sz="1800" b="0">
                <a:solidFill>
                  <a:srgbClr val="243746"/>
                </a:solidFill>
                <a:latin typeface="Arial"/>
              </a:defRPr>
            </a:pPr>
            <a:r>
              <a:t>Model + endpoint + tiếng Việt + mode + region: phải đúng cấu hình định dùng.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Các lựa chọn bổ sung giải quyết nhu cầu nào?</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Thêm ứng viên khi có lý do cụ thể</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72200"/>
            <a:ext cx="11064240" cy="210312"/>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Deepgram (n.d.a–b); Speechmatics (n.d.a–b); NVIDIA (2026; n.d.); VNPT AI (n.d.a–b); FPT.AI (n.d.); Viettel AI (n.d.)</a:t>
            </a:r>
          </a:p>
        </p:txBody>
      </p:sp>
      <p:sp>
        <p:nvSpPr>
          <p:cNvPr id="7" name="TextBox 6"/>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8" name="TextBox 7"/>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13/25</a:t>
            </a:r>
          </a:p>
        </p:txBody>
      </p:sp>
      <p:sp>
        <p:nvSpPr>
          <p:cNvPr id="9" name="Rounded Rectangle 8"/>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Deepgram / Speechmatics</a:t>
            </a:r>
          </a:p>
        </p:txBody>
      </p:sp>
      <p:sp>
        <p:nvSpPr>
          <p:cNvPr id="12" name="TextBox 11"/>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Khảo sát speech API hoặc deployment thương mại</a:t>
            </a:r>
          </a:p>
          <a:p>
            <a:pPr>
              <a:lnSpc>
                <a:spcPct val="108000"/>
              </a:lnSpc>
              <a:spcAft>
                <a:spcPts val="300"/>
              </a:spcAft>
              <a:defRPr sz="2000" b="0">
                <a:solidFill>
                  <a:srgbClr val="243746"/>
                </a:solidFill>
                <a:latin typeface="Arial"/>
              </a:defRPr>
            </a:pPr>
            <a:r>
              <a:t>Xác nhận vi theo model / bản triển khai</a:t>
            </a:r>
          </a:p>
        </p:txBody>
      </p:sp>
      <p:sp>
        <p:nvSpPr>
          <p:cNvPr id="13" name="Rounded Rectangle 12"/>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NVIDIA</a:t>
            </a:r>
          </a:p>
        </p:txBody>
      </p:sp>
      <p:sp>
        <p:nvSpPr>
          <p:cNvPr id="16" name="TextBox 15"/>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Đáng xem khi cần live trên GPU nội bộ</a:t>
            </a:r>
          </a:p>
          <a:p>
            <a:pPr>
              <a:lnSpc>
                <a:spcPct val="108000"/>
              </a:lnSpc>
              <a:spcAft>
                <a:spcPts val="300"/>
              </a:spcAft>
              <a:defRPr sz="2000" b="0">
                <a:solidFill>
                  <a:srgbClr val="243746"/>
                </a:solidFill>
                <a:latin typeface="Arial"/>
              </a:defRPr>
            </a:pPr>
            <a:r>
              <a:t>Chốt GPU và profile trước</a:t>
            </a:r>
          </a:p>
        </p:txBody>
      </p:sp>
      <p:sp>
        <p:nvSpPr>
          <p:cNvPr id="17" name="Rounded Rectangle 16"/>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VNPT / FPT.AI / Viettel</a:t>
            </a:r>
          </a:p>
        </p:txBody>
      </p:sp>
      <p:sp>
        <p:nvSpPr>
          <p:cNvPr id="20" name="TextBox 19"/>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Có đại diện nội địa</a:t>
            </a:r>
          </a:p>
          <a:p>
            <a:pPr>
              <a:lnSpc>
                <a:spcPct val="108000"/>
              </a:lnSpc>
              <a:spcAft>
                <a:spcPts val="300"/>
              </a:spcAft>
              <a:defRPr sz="2000" b="0">
                <a:solidFill>
                  <a:srgbClr val="243746"/>
                </a:solidFill>
                <a:latin typeface="Arial"/>
              </a:defRPr>
            </a:pPr>
            <a:r>
              <a:t>Xin docs, speaker, data, SLA và giá</a:t>
            </a:r>
          </a:p>
        </p:txBody>
      </p:sp>
      <p:sp>
        <p:nvSpPr>
          <p:cNvPr id="21" name="Rounded Rectangle 20"/>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DEMO GẦN BỐI CẢNH DỰ KIẾN • GIẢ LẬP</a:t>
            </a:r>
          </a:p>
        </p:txBody>
      </p:sp>
      <p:sp>
        <p:nvSpPr>
          <p:cNvPr id="23" name="TextBox 22"/>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Audio giả lập: hai người + tiếng điện thoại + số tiền + mã hợp đồng.</a:t>
            </a:r>
          </a:p>
          <a:p>
            <a:pPr>
              <a:lnSpc>
                <a:spcPct val="108000"/>
              </a:lnSpc>
              <a:spcAft>
                <a:spcPts val="300"/>
              </a:spcAft>
              <a:defRPr sz="1800" b="0">
                <a:solidFill>
                  <a:srgbClr val="243746"/>
                </a:solidFill>
                <a:latin typeface="Arial"/>
              </a:defRPr>
            </a:pPr>
            <a:r>
              <a:t>Hỏi vendor cấu hình demo, đầu ra, phần mua thêm, dữ liệu và hỗ trợ.</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Ba lưu ý có thể đổi quyết định lựa chọn</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Luôn hỏi: tại sao điểm này quan trọng?</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14/25</a:t>
            </a:r>
          </a:p>
        </p:txBody>
      </p:sp>
      <p:sp>
        <p:nvSpPr>
          <p:cNvPr id="8" name="Rounded Rectangle 7"/>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Có tiếng Việt ≠ đã nghe tốt call</a:t>
            </a:r>
          </a:p>
        </p:txBody>
      </p:sp>
      <p:sp>
        <p:nvSpPr>
          <p:cNvPr id="11" name="TextBox 10"/>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Giọng, noise và thuật ngữ có thể khác dữ liệu công bố</a:t>
            </a:r>
          </a:p>
        </p:txBody>
      </p:sp>
      <p:sp>
        <p:nvSpPr>
          <p:cNvPr id="12" name="Rounded Rectangle 11"/>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Có speaker ≠ biết vai trò</a:t>
            </a:r>
          </a:p>
        </p:txBody>
      </p:sp>
      <p:sp>
        <p:nvSpPr>
          <p:cNvPr id="15" name="TextBox 14"/>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Gán câu sai người có thể làm sai QA</a:t>
            </a:r>
          </a:p>
        </p:txBody>
      </p:sp>
      <p:sp>
        <p:nvSpPr>
          <p:cNvPr id="16" name="Rounded Rectangle 15"/>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Giá thấp ≠ tổng chi phí thấp</a:t>
            </a:r>
          </a:p>
        </p:txBody>
      </p:sp>
      <p:sp>
        <p:nvSpPr>
          <p:cNvPr id="19" name="TextBox 18"/>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Tách kênh, retry, vận hành và review cần được tính</a:t>
            </a:r>
          </a:p>
        </p:txBody>
      </p:sp>
      <p:sp>
        <p:nvSpPr>
          <p:cNvPr id="20" name="Rounded Rectangle 19"/>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VĂN BẢN TRÔI CHẢY VẪN CẦN ĐỐI CHIẾU • GIẢ LẬP</a:t>
            </a:r>
          </a:p>
        </p:txBody>
      </p:sp>
      <p:sp>
        <p:nvSpPr>
          <p:cNvPr id="22" name="TextBox 21"/>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Ví dụ giả lập: mất “chưa” trong “tôi chưa đồng ý” làm đổi ý định.</a:t>
            </a:r>
          </a:p>
          <a:p>
            <a:pPr>
              <a:lnSpc>
                <a:spcPct val="108000"/>
              </a:lnSpc>
              <a:spcAft>
                <a:spcPts val="300"/>
              </a:spcAft>
              <a:defRPr sz="1800" b="0">
                <a:solidFill>
                  <a:srgbClr val="243746"/>
                </a:solidFill>
                <a:latin typeface="Arial"/>
              </a:defRPr>
            </a:pPr>
            <a:r>
              <a:t>Kiểm tra lỗi nghiệp vụ bên cạnh số lỗi chung; chưa phải output đã đo của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Chi phí: bắt đầu từ phút audio được tính phí</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Ví dụ giả định — không phải sản lượng Dai-ichi</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72200"/>
            <a:ext cx="11064240" cy="210312"/>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OpenAI (n.d.f). Phép tính của tác giả theo giả định minh họa.</a:t>
            </a:r>
          </a:p>
        </p:txBody>
      </p:sp>
      <p:sp>
        <p:nvSpPr>
          <p:cNvPr id="7" name="TextBox 6"/>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8" name="TextBox 7"/>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15/25</a:t>
            </a:r>
          </a:p>
        </p:txBody>
      </p:sp>
      <p:sp>
        <p:nvSpPr>
          <p:cNvPr id="9" name="Rounded Rectangle 8"/>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Sản lượng giả định</a:t>
            </a:r>
          </a:p>
        </p:txBody>
      </p:sp>
      <p:sp>
        <p:nvSpPr>
          <p:cNvPr id="12" name="TextBox 11"/>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200 call/ngày × 5 phút × 22 ngày</a:t>
            </a:r>
          </a:p>
          <a:p>
            <a:pPr>
              <a:lnSpc>
                <a:spcPct val="108000"/>
              </a:lnSpc>
              <a:spcAft>
                <a:spcPts val="300"/>
              </a:spcAft>
              <a:defRPr sz="2000" b="0">
                <a:solidFill>
                  <a:srgbClr val="243746"/>
                </a:solidFill>
                <a:latin typeface="Arial"/>
              </a:defRPr>
            </a:pPr>
            <a:r>
              <a:t>= 22.000 phút call/tháng</a:t>
            </a:r>
          </a:p>
        </p:txBody>
      </p:sp>
      <p:sp>
        <p:nvSpPr>
          <p:cNvPr id="13" name="Rounded Rectangle 12"/>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Hai phép tính tham khảo</a:t>
            </a:r>
          </a:p>
        </p:txBody>
      </p:sp>
      <p:sp>
        <p:nvSpPr>
          <p:cNvPr id="16" name="TextBox 15"/>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USD 0.0045/phút → USD 99</a:t>
            </a:r>
          </a:p>
          <a:p>
            <a:pPr>
              <a:lnSpc>
                <a:spcPct val="108000"/>
              </a:lnSpc>
              <a:spcAft>
                <a:spcPts val="300"/>
              </a:spcAft>
              <a:defRPr sz="2000" b="0">
                <a:solidFill>
                  <a:srgbClr val="243746"/>
                </a:solidFill>
                <a:latin typeface="Arial"/>
              </a:defRPr>
            </a:pPr>
            <a:r>
              <a:t>USD 0.017/phút → USD 374</a:t>
            </a:r>
          </a:p>
        </p:txBody>
      </p:sp>
      <p:sp>
        <p:nvSpPr>
          <p:cNvPr id="17" name="Rounded Rectangle 16"/>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Chưa gồm mọi khoản</a:t>
            </a:r>
          </a:p>
        </p:txBody>
      </p:sp>
      <p:sp>
        <p:nvSpPr>
          <p:cNvPr id="20" name="TextBox 19"/>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Thuế • lưu trữ • retry • xử lý thêm</a:t>
            </a:r>
          </a:p>
          <a:p>
            <a:pPr>
              <a:lnSpc>
                <a:spcPct val="108000"/>
              </a:lnSpc>
              <a:spcAft>
                <a:spcPts val="300"/>
              </a:spcAft>
              <a:defRPr sz="2000" b="0">
                <a:solidFill>
                  <a:srgbClr val="243746"/>
                </a:solidFill>
                <a:latin typeface="Arial"/>
              </a:defRPr>
            </a:pPr>
            <a:r>
              <a:t>Xác nhận cách tính kênh và mode</a:t>
            </a:r>
          </a:p>
        </p:txBody>
      </p:sp>
      <p:sp>
        <p:nvSpPr>
          <p:cNvPr id="21" name="Rounded Rectangle 20"/>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PHÚT CALL CÓ THỂ KHÁC PHÚT TÍNH PHÍ • GIẢ LẬP</a:t>
            </a:r>
          </a:p>
        </p:txBody>
      </p:sp>
      <p:sp>
        <p:nvSpPr>
          <p:cNvPr id="23" name="TextBox 22"/>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Giả sử 22.000 phút + 1.000 phút xử lý lại bị tính phí = 23.000 phút.</a:t>
            </a:r>
          </a:p>
          <a:p>
            <a:pPr>
              <a:lnSpc>
                <a:spcPct val="108000"/>
              </a:lnSpc>
              <a:spcAft>
                <a:spcPts val="300"/>
              </a:spcAft>
              <a:defRPr sz="1800" b="0">
                <a:solidFill>
                  <a:srgbClr val="243746"/>
                </a:solidFill>
                <a:latin typeface="Arial"/>
              </a:defRPr>
            </a:pPr>
            <a:r>
              <a:t>Cách tính retry và hai kênh cần hỏi vendor; không áp cùng quy tắc cho mọi dịch vụ.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Dữ liệu: cần hỏi trước khi gửi audio thật</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Policy cần kiểm tra theo toàn bộ workflow</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72200"/>
            <a:ext cx="11064240" cy="210312"/>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OpenAI (n.d.a); Microsoft (n.d.b); phần còn lại là đề xuất kiến trúc.</a:t>
            </a:r>
          </a:p>
        </p:txBody>
      </p:sp>
      <p:sp>
        <p:nvSpPr>
          <p:cNvPr id="7" name="TextBox 6"/>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8" name="TextBox 7"/>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16/25</a:t>
            </a:r>
          </a:p>
        </p:txBody>
      </p:sp>
      <p:sp>
        <p:nvSpPr>
          <p:cNvPr id="9" name="Rounded Rectangle 8"/>
          <p:cNvSpPr/>
          <p:nvPr/>
        </p:nvSpPr>
        <p:spPr>
          <a:xfrm>
            <a:off x="502920" y="1801368"/>
            <a:ext cx="548182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920240"/>
            <a:ext cx="513435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Gửi và xử lý ở đâu?</a:t>
            </a:r>
          </a:p>
        </p:txBody>
      </p:sp>
      <p:sp>
        <p:nvSpPr>
          <p:cNvPr id="12" name="TextBox 11"/>
          <p:cNvSpPr txBox="1"/>
          <p:nvPr/>
        </p:nvSpPr>
        <p:spPr>
          <a:xfrm>
            <a:off x="676656" y="2414016"/>
            <a:ext cx="513435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Model / endpoint / region cụ thể</a:t>
            </a:r>
          </a:p>
        </p:txBody>
      </p:sp>
      <p:sp>
        <p:nvSpPr>
          <p:cNvPr id="13" name="Rounded Rectangle 12"/>
          <p:cNvSpPr/>
          <p:nvPr/>
        </p:nvSpPr>
        <p:spPr>
          <a:xfrm>
            <a:off x="6195060" y="1801368"/>
            <a:ext cx="548182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6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8796" y="1920240"/>
            <a:ext cx="513435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Lưu gì và bao lâu?</a:t>
            </a:r>
          </a:p>
        </p:txBody>
      </p:sp>
      <p:sp>
        <p:nvSpPr>
          <p:cNvPr id="16" name="TextBox 15"/>
          <p:cNvSpPr txBox="1"/>
          <p:nvPr/>
        </p:nvSpPr>
        <p:spPr>
          <a:xfrm>
            <a:off x="6368796" y="2414016"/>
            <a:ext cx="513435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Audio • transcript • metadata • logs</a:t>
            </a:r>
          </a:p>
        </p:txBody>
      </p:sp>
      <p:sp>
        <p:nvSpPr>
          <p:cNvPr id="17" name="Rounded Rectangle 16"/>
          <p:cNvSpPr/>
          <p:nvPr/>
        </p:nvSpPr>
        <p:spPr>
          <a:xfrm>
            <a:off x="502920" y="3209544"/>
            <a:ext cx="548182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328415"/>
            <a:ext cx="513435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Ai được xem?</a:t>
            </a:r>
          </a:p>
        </p:txBody>
      </p:sp>
      <p:sp>
        <p:nvSpPr>
          <p:cNvPr id="20" name="TextBox 19"/>
          <p:cNvSpPr txBox="1"/>
          <p:nvPr/>
        </p:nvSpPr>
        <p:spPr>
          <a:xfrm>
            <a:off x="676656" y="3822191"/>
            <a:ext cx="513435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Quyền truy cập • support • audit</a:t>
            </a:r>
          </a:p>
        </p:txBody>
      </p:sp>
      <p:sp>
        <p:nvSpPr>
          <p:cNvPr id="21" name="Rounded Rectangle 20"/>
          <p:cNvSpPr/>
          <p:nvPr/>
        </p:nvSpPr>
        <p:spPr>
          <a:xfrm>
            <a:off x="6195060" y="3209544"/>
            <a:ext cx="548182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506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8796" y="3328415"/>
            <a:ext cx="513435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Tại sao?</a:t>
            </a:r>
          </a:p>
        </p:txBody>
      </p:sp>
      <p:sp>
        <p:nvSpPr>
          <p:cNvPr id="24" name="TextBox 23"/>
          <p:cNvSpPr txBox="1"/>
          <p:nvPr/>
        </p:nvSpPr>
        <p:spPr>
          <a:xfrm>
            <a:off x="6368796" y="3822191"/>
            <a:ext cx="513435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Che chữ sau STT chưa làm audio gốc mất PII.</a:t>
            </a:r>
          </a:p>
          <a:p>
            <a:pPr>
              <a:lnSpc>
                <a:spcPct val="108000"/>
              </a:lnSpc>
              <a:spcAft>
                <a:spcPts val="100"/>
              </a:spcAft>
              <a:defRPr sz="1650" b="0">
                <a:solidFill>
                  <a:srgbClr val="243746"/>
                </a:solidFill>
                <a:latin typeface="Arial"/>
              </a:defRPr>
            </a:pPr>
            <a:r>
              <a:t>Nội bộ vẫn cần kiểm soát truy cập.</a:t>
            </a:r>
          </a:p>
        </p:txBody>
      </p:sp>
      <p:sp>
        <p:nvSpPr>
          <p:cNvPr id="25" name="Rounded Rectangle 24"/>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KIỂM TRA ĐƯỜNG ĐI CỦA AUDIO • GIẢ LẬP</a:t>
            </a:r>
          </a:p>
        </p:txBody>
      </p:sp>
      <p:sp>
        <p:nvSpPr>
          <p:cNvPr id="27" name="TextBox 26"/>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Che tên chị Mai trên transcript chưa thay đổi nơi audio gốc đã được xử lý.</a:t>
            </a:r>
          </a:p>
          <a:p>
            <a:pPr>
              <a:lnSpc>
                <a:spcPct val="108000"/>
              </a:lnSpc>
              <a:spcAft>
                <a:spcPts val="300"/>
              </a:spcAft>
              <a:defRPr sz="1800" b="0">
                <a:solidFill>
                  <a:srgbClr val="243746"/>
                </a:solidFill>
                <a:latin typeface="Arial"/>
              </a:defRPr>
            </a:pPr>
            <a:r>
              <a:t>Xem cả audio, transcript và log; hạ tầng nội bộ vẫn cần kiểm soát truy cập.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Shortlist ban đầu — ưu tiên thử, không xếp hạng</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Đề xuất cho nhánh post-call, sau khi chốt điều kiện</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17/25</a:t>
            </a:r>
          </a:p>
        </p:txBody>
      </p:sp>
      <p:sp>
        <p:nvSpPr>
          <p:cNvPr id="8" name="Rounded Rectangle 7"/>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Tự triển khai</a:t>
            </a:r>
          </a:p>
        </p:txBody>
      </p:sp>
      <p:sp>
        <p:nvSpPr>
          <p:cNvPr id="11" name="TextBox 10"/>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Whisper large-v3 + faster-whisper</a:t>
            </a:r>
          </a:p>
          <a:p>
            <a:pPr>
              <a:lnSpc>
                <a:spcPct val="108000"/>
              </a:lnSpc>
              <a:spcAft>
                <a:spcPts val="300"/>
              </a:spcAft>
              <a:defRPr sz="2000" b="0">
                <a:solidFill>
                  <a:srgbClr val="243746"/>
                </a:solidFill>
                <a:latin typeface="Arial"/>
              </a:defRPr>
            </a:pPr>
            <a:r>
              <a:t>PhoWhisper medium / large</a:t>
            </a:r>
          </a:p>
        </p:txBody>
      </p:sp>
      <p:sp>
        <p:nvSpPr>
          <p:cNvPr id="12" name="Rounded Rectangle 11"/>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API quốc tế</a:t>
            </a:r>
          </a:p>
        </p:txBody>
      </p:sp>
      <p:sp>
        <p:nvSpPr>
          <p:cNvPr id="15" name="TextBox 14"/>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OpenAI gpt-transcribe</a:t>
            </a:r>
          </a:p>
          <a:p>
            <a:pPr>
              <a:lnSpc>
                <a:spcPct val="108000"/>
              </a:lnSpc>
              <a:spcAft>
                <a:spcPts val="300"/>
              </a:spcAft>
              <a:defRPr sz="2000" b="0">
                <a:solidFill>
                  <a:srgbClr val="243746"/>
                </a:solidFill>
                <a:latin typeface="Arial"/>
              </a:defRPr>
            </a:pPr>
            <a:r>
              <a:t>Google Chirp 3 • Azure Speech</a:t>
            </a:r>
          </a:p>
        </p:txBody>
      </p:sp>
      <p:sp>
        <p:nvSpPr>
          <p:cNvPr id="16" name="Rounded Rectangle 15"/>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Vendor Việt Nam</a:t>
            </a:r>
          </a:p>
        </p:txBody>
      </p:sp>
      <p:sp>
        <p:nvSpPr>
          <p:cNvPr id="19" name="TextBox 18"/>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VNPT SmartVoice</a:t>
            </a:r>
          </a:p>
          <a:p>
            <a:pPr>
              <a:lnSpc>
                <a:spcPct val="108000"/>
              </a:lnSpc>
              <a:spcAft>
                <a:spcPts val="300"/>
              </a:spcAft>
              <a:defRPr sz="2000" b="0">
                <a:solidFill>
                  <a:srgbClr val="243746"/>
                </a:solidFill>
                <a:latin typeface="Arial"/>
              </a:defRPr>
            </a:pPr>
            <a:r>
              <a:t>Thêm candidate khi có lý do cụ thể</a:t>
            </a:r>
          </a:p>
        </p:txBody>
      </p:sp>
      <p:sp>
        <p:nvSpPr>
          <p:cNvPr id="20" name="Rounded Rectangle 19"/>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SHORTLIST PHỤ THUỘC ĐIỀU KIỆN • GIẢ LẬP</a:t>
            </a:r>
          </a:p>
        </p:txBody>
      </p:sp>
      <p:sp>
        <p:nvSpPr>
          <p:cNvPr id="22" name="TextBox 21"/>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Nếu được phép dùng API → giữ ứng viên API và tự triển khai để thử.</a:t>
            </a:r>
          </a:p>
          <a:p>
            <a:pPr>
              <a:lnSpc>
                <a:spcPct val="108000"/>
              </a:lnSpc>
              <a:spcAft>
                <a:spcPts val="300"/>
              </a:spcAft>
              <a:defRPr sz="1800" b="0">
                <a:solidFill>
                  <a:srgbClr val="243746"/>
                </a:solidFill>
                <a:latin typeface="Arial"/>
              </a:defRPr>
            </a:pPr>
            <a:r>
              <a:t>Nếu chỉ xử lý trên hạ tầng quản lý → lọc lại theo triển khai và tài nguyên.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Bước tiếp theo: chốt yêu cầu rồi mới evaluation</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Đầu ra của buổi review là điều kiện và ứng viên được chọn</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18/25</a:t>
            </a:r>
          </a:p>
        </p:txBody>
      </p:sp>
      <p:sp>
        <p:nvSpPr>
          <p:cNvPr id="8" name="Rounded Rectangle 7"/>
          <p:cNvSpPr/>
          <p:nvPr/>
        </p:nvSpPr>
        <p:spPr>
          <a:xfrm>
            <a:off x="50292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Hỏi Manager / QA</a:t>
            </a:r>
          </a:p>
        </p:txBody>
      </p:sp>
      <p:sp>
        <p:nvSpPr>
          <p:cNvPr id="11" name="TextBox 10"/>
          <p:cNvSpPr txBox="1"/>
          <p:nvPr/>
        </p:nvSpPr>
        <p:spPr>
          <a:xfrm>
            <a:off x="70408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Sau call hay live?</a:t>
            </a:r>
          </a:p>
          <a:p>
            <a:pPr>
              <a:lnSpc>
                <a:spcPct val="108000"/>
              </a:lnSpc>
              <a:spcAft>
                <a:spcPts val="300"/>
              </a:spcAft>
              <a:defRPr sz="2000" b="0">
                <a:solidFill>
                  <a:srgbClr val="243746"/>
                </a:solidFill>
                <a:latin typeface="Arial"/>
              </a:defRPr>
            </a:pPr>
            <a:r>
              <a:t>Output nào và lỗi nào quan trọng?</a:t>
            </a:r>
          </a:p>
        </p:txBody>
      </p:sp>
      <p:sp>
        <p:nvSpPr>
          <p:cNvPr id="12" name="Rounded Rectangle 11"/>
          <p:cNvSpPr/>
          <p:nvPr/>
        </p:nvSpPr>
        <p:spPr>
          <a:xfrm>
            <a:off x="429768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Hỏi IT / hạ tầng</a:t>
            </a:r>
          </a:p>
        </p:txBody>
      </p:sp>
      <p:sp>
        <p:nvSpPr>
          <p:cNvPr id="15" name="TextBox 14"/>
          <p:cNvSpPr txBox="1"/>
          <p:nvPr/>
        </p:nvSpPr>
        <p:spPr>
          <a:xfrm>
            <a:off x="449884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Mono hay tách kênh?</a:t>
            </a:r>
          </a:p>
          <a:p>
            <a:pPr>
              <a:lnSpc>
                <a:spcPct val="108000"/>
              </a:lnSpc>
              <a:spcAft>
                <a:spcPts val="300"/>
              </a:spcAft>
              <a:defRPr sz="2000" b="0">
                <a:solidFill>
                  <a:srgbClr val="243746"/>
                </a:solidFill>
                <a:latin typeface="Arial"/>
              </a:defRPr>
            </a:pPr>
            <a:r>
              <a:t>Format, tải, GPU và cloud được duyệt?</a:t>
            </a:r>
          </a:p>
        </p:txBody>
      </p:sp>
      <p:sp>
        <p:nvSpPr>
          <p:cNvPr id="16" name="Rounded Rectangle 15"/>
          <p:cNvSpPr/>
          <p:nvPr/>
        </p:nvSpPr>
        <p:spPr>
          <a:xfrm>
            <a:off x="8092440" y="1801368"/>
            <a:ext cx="3584448" cy="25420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2542032"/>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965960"/>
            <a:ext cx="3182112" cy="612648"/>
          </a:xfrm>
          <a:prstGeom prst="rect">
            <a:avLst/>
          </a:prstGeom>
          <a:noFill/>
        </p:spPr>
        <p:txBody>
          <a:bodyPr wrap="square" lIns="0" rIns="0" tIns="0" bIns="0">
            <a:spAutoFit/>
          </a:bodyPr>
          <a:lstStyle/>
          <a:p>
            <a:pPr>
              <a:lnSpc>
                <a:spcPct val="108000"/>
              </a:lnSpc>
              <a:spcAft>
                <a:spcPts val="300"/>
              </a:spcAft>
              <a:defRPr sz="2100" b="1">
                <a:solidFill>
                  <a:srgbClr val="173F5F"/>
                </a:solidFill>
                <a:latin typeface="Arial"/>
              </a:defRPr>
            </a:pPr>
            <a:r>
              <a:t>Hỏi vendor / đội dữ liệu</a:t>
            </a:r>
          </a:p>
        </p:txBody>
      </p:sp>
      <p:sp>
        <p:nvSpPr>
          <p:cNvPr id="19" name="TextBox 18"/>
          <p:cNvSpPr txBox="1"/>
          <p:nvPr/>
        </p:nvSpPr>
        <p:spPr>
          <a:xfrm>
            <a:off x="8293608" y="2679191"/>
            <a:ext cx="3182112" cy="1517903"/>
          </a:xfrm>
          <a:prstGeom prst="rect">
            <a:avLst/>
          </a:prstGeom>
          <a:noFill/>
        </p:spPr>
        <p:txBody>
          <a:bodyPr wrap="square" lIns="0" rIns="0" tIns="0" bIns="0">
            <a:spAutoFit/>
          </a:bodyPr>
          <a:lstStyle/>
          <a:p>
            <a:pPr>
              <a:lnSpc>
                <a:spcPct val="108000"/>
              </a:lnSpc>
              <a:spcAft>
                <a:spcPts val="300"/>
              </a:spcAft>
              <a:defRPr sz="2000" b="0">
                <a:solidFill>
                  <a:srgbClr val="243746"/>
                </a:solidFill>
                <a:latin typeface="Arial"/>
              </a:defRPr>
            </a:pPr>
            <a:r>
              <a:t>Feature vi, giá, nơi xử lý và retention</a:t>
            </a:r>
          </a:p>
          <a:p>
            <a:pPr>
              <a:lnSpc>
                <a:spcPct val="108000"/>
              </a:lnSpc>
              <a:spcAft>
                <a:spcPts val="300"/>
              </a:spcAft>
              <a:defRPr sz="2000" b="0">
                <a:solidFill>
                  <a:srgbClr val="243746"/>
                </a:solidFill>
                <a:latin typeface="Arial"/>
              </a:defRPr>
            </a:pPr>
            <a:r>
              <a:t>→ Chốt cấu hình cho Part 2</a:t>
            </a:r>
          </a:p>
        </p:txBody>
      </p:sp>
      <p:sp>
        <p:nvSpPr>
          <p:cNvPr id="20" name="Rounded Rectangle 19"/>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CÂU HỎI CỤ THỂ ĐỂ TEAM REVIEW • GIẢ LẬP</a:t>
            </a:r>
          </a:p>
        </p:txBody>
      </p:sp>
      <p:sp>
        <p:nvSpPr>
          <p:cNvPr id="22" name="TextBox 21"/>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QA: sau call hay live? IT: có tách kênh không? Đội dữ liệu: audio được gửi đâu?</a:t>
            </a:r>
          </a:p>
          <a:p>
            <a:pPr>
              <a:lnSpc>
                <a:spcPct val="108000"/>
              </a:lnSpc>
              <a:spcAft>
                <a:spcPts val="300"/>
              </a:spcAft>
              <a:defRPr sz="1800" b="0">
                <a:solidFill>
                  <a:srgbClr val="243746"/>
                </a:solidFill>
                <a:latin typeface="Arial"/>
              </a:defRPr>
            </a:pPr>
            <a:r>
              <a:t>Vendor: đúng cấu hình này có chữ tiếng Việt, timestamp và người nói không?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Phụ lục • Ma trận đọc nhanh 1/3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Nguồn và lý do lựa chọn được ghi theo từng cấu hình</a:t>
            </a:r>
          </a:p>
        </p:txBody>
      </p:sp>
      <p:pic>
        <p:nvPicPr>
          <p:cNvPr id="5" name="Picture 4" descr="01_Read_First_1.png"/>
          <p:cNvPicPr>
            <a:picLocks noChangeAspect="1"/>
          </p:cNvPicPr>
          <p:nvPr/>
        </p:nvPicPr>
        <p:blipFill>
          <a:blip r:embed="rId2"/>
          <a:stretch>
            <a:fillRect/>
          </a:stretch>
        </p:blipFill>
        <p:spPr>
          <a:xfrm>
            <a:off x="2067716" y="1764792"/>
            <a:ext cx="8056263" cy="3657600"/>
          </a:xfrm>
          <a:prstGeom prst="rect">
            <a:avLst/>
          </a:prstGeom>
        </p:spPr>
      </p:pic>
      <p:sp>
        <p:nvSpPr>
          <p:cNvPr id="6" name="Rectangle 5"/>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8" name="TextBox 7"/>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19/25</a:t>
            </a:r>
          </a:p>
        </p:txBody>
      </p:sp>
      <p:sp>
        <p:nvSpPr>
          <p:cNvPr id="9" name="Rounded Rectangle 8"/>
          <p:cNvSpPr/>
          <p:nvPr/>
        </p:nvSpPr>
        <p:spPr>
          <a:xfrm>
            <a:off x="502920" y="5550408"/>
            <a:ext cx="11173968" cy="521207"/>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650992"/>
            <a:ext cx="10835640" cy="329184"/>
          </a:xfrm>
          <a:prstGeom prst="rect">
            <a:avLst/>
          </a:prstGeom>
          <a:noFill/>
        </p:spPr>
        <p:txBody>
          <a:bodyPr wrap="square" lIns="0" rIns="0" tIns="0" bIns="0">
            <a:spAutoFit/>
          </a:bodyPr>
          <a:lstStyle/>
          <a:p>
            <a:pPr>
              <a:lnSpc>
                <a:spcPct val="108000"/>
              </a:lnSpc>
              <a:spcAft>
                <a:spcPts val="0"/>
              </a:spcAft>
              <a:defRPr sz="1350" b="0">
                <a:solidFill>
                  <a:srgbClr val="243746"/>
                </a:solidFill>
                <a:latin typeface="Arial"/>
              </a:defRPr>
            </a:pPr>
            <a:r>
              <a:t>Ví dụ đọc dòng model: chốt phiên bản, runtime, máy và người vận hành; chưa đo thì chưa chấm chất lượng.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Phụ lục • Ma trận đọc nhanh 2/3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Nguồn và lý do lựa chọn được ghi theo từng cấu hình</a:t>
            </a:r>
          </a:p>
        </p:txBody>
      </p:sp>
      <p:pic>
        <p:nvPicPr>
          <p:cNvPr id="5" name="Picture 4" descr="01_Read_First_2.png"/>
          <p:cNvPicPr>
            <a:picLocks noChangeAspect="1"/>
          </p:cNvPicPr>
          <p:nvPr/>
        </p:nvPicPr>
        <p:blipFill>
          <a:blip r:embed="rId2"/>
          <a:stretch>
            <a:fillRect/>
          </a:stretch>
        </p:blipFill>
        <p:spPr>
          <a:xfrm>
            <a:off x="2178940" y="1764792"/>
            <a:ext cx="7833814" cy="3657600"/>
          </a:xfrm>
          <a:prstGeom prst="rect">
            <a:avLst/>
          </a:prstGeom>
        </p:spPr>
      </p:pic>
      <p:sp>
        <p:nvSpPr>
          <p:cNvPr id="6" name="Rectangle 5"/>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8" name="TextBox 7"/>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20/25</a:t>
            </a:r>
          </a:p>
        </p:txBody>
      </p:sp>
      <p:sp>
        <p:nvSpPr>
          <p:cNvPr id="9" name="Rounded Rectangle 8"/>
          <p:cNvSpPr/>
          <p:nvPr/>
        </p:nvSpPr>
        <p:spPr>
          <a:xfrm>
            <a:off x="502920" y="5550408"/>
            <a:ext cx="11173968" cy="521207"/>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650992"/>
            <a:ext cx="10835640" cy="329184"/>
          </a:xfrm>
          <a:prstGeom prst="rect">
            <a:avLst/>
          </a:prstGeom>
          <a:noFill/>
        </p:spPr>
        <p:txBody>
          <a:bodyPr wrap="square" lIns="0" rIns="0" tIns="0" bIns="0">
            <a:spAutoFit/>
          </a:bodyPr>
          <a:lstStyle/>
          <a:p>
            <a:pPr>
              <a:lnSpc>
                <a:spcPct val="108000"/>
              </a:lnSpc>
              <a:spcAft>
                <a:spcPts val="0"/>
              </a:spcAft>
              <a:defRPr sz="1350" b="0">
                <a:solidFill>
                  <a:srgbClr val="243746"/>
                </a:solidFill>
                <a:latin typeface="Arial"/>
              </a:defRPr>
            </a:pPr>
            <a:r>
              <a:t>Ví dụ đọc dòng API: chữ tiếng Việt, timestamp và người nói phải xác nhận riêng trong đúng cấu hình.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Phụ lục • Ma trận đọc nhanh 3/3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Nguồn và lý do lựa chọn được ghi theo từng cấu hình</a:t>
            </a:r>
          </a:p>
        </p:txBody>
      </p:sp>
      <p:pic>
        <p:nvPicPr>
          <p:cNvPr id="5" name="Picture 4" descr="01_Read_First_3.png"/>
          <p:cNvPicPr>
            <a:picLocks noChangeAspect="1"/>
          </p:cNvPicPr>
          <p:nvPr/>
        </p:nvPicPr>
        <p:blipFill>
          <a:blip r:embed="rId2"/>
          <a:stretch>
            <a:fillRect/>
          </a:stretch>
        </p:blipFill>
        <p:spPr>
          <a:xfrm>
            <a:off x="1073210" y="1764792"/>
            <a:ext cx="10045275" cy="3657600"/>
          </a:xfrm>
          <a:prstGeom prst="rect">
            <a:avLst/>
          </a:prstGeom>
        </p:spPr>
      </p:pic>
      <p:sp>
        <p:nvSpPr>
          <p:cNvPr id="6" name="Rectangle 5"/>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8" name="TextBox 7"/>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21/25</a:t>
            </a:r>
          </a:p>
        </p:txBody>
      </p:sp>
      <p:sp>
        <p:nvSpPr>
          <p:cNvPr id="9" name="Rounded Rectangle 8"/>
          <p:cNvSpPr/>
          <p:nvPr/>
        </p:nvSpPr>
        <p:spPr>
          <a:xfrm>
            <a:off x="502920" y="5550408"/>
            <a:ext cx="11173968" cy="521207"/>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650992"/>
            <a:ext cx="10835640" cy="329184"/>
          </a:xfrm>
          <a:prstGeom prst="rect">
            <a:avLst/>
          </a:prstGeom>
          <a:noFill/>
        </p:spPr>
        <p:txBody>
          <a:bodyPr wrap="square" lIns="0" rIns="0" tIns="0" bIns="0">
            <a:spAutoFit/>
          </a:bodyPr>
          <a:lstStyle/>
          <a:p>
            <a:pPr>
              <a:lnSpc>
                <a:spcPct val="108000"/>
              </a:lnSpc>
              <a:spcAft>
                <a:spcPts val="0"/>
              </a:spcAft>
              <a:defRPr sz="1350" b="0">
                <a:solidFill>
                  <a:srgbClr val="243746"/>
                </a:solidFill>
                <a:latin typeface="Arial"/>
              </a:defRPr>
            </a:pPr>
            <a:r>
              <a:t>Ví dụ đọc dòng vendor: gói tạo chữ có gồm người nói, API, hỗ trợ và phần mua thêm không?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84048"/>
            <a:ext cx="11155680" cy="713232"/>
          </a:xfrm>
          <a:prstGeom prst="rect">
            <a:avLst/>
          </a:prstGeom>
          <a:noFill/>
        </p:spPr>
        <p:txBody>
          <a:bodyPr wrap="square" lIns="0" rIns="0" tIns="0" bIns="0">
            <a:spAutoFit/>
          </a:bodyPr>
          <a:lstStyle/>
          <a:p>
            <a:pPr>
              <a:lnSpc>
                <a:spcPct val="108000"/>
              </a:lnSpc>
              <a:spcAft>
                <a:spcPts val="300"/>
              </a:spcAft>
              <a:defRPr sz="3000" b="1">
                <a:solidFill>
                  <a:srgbClr val="173F5F"/>
                </a:solidFill>
                <a:latin typeface="Arial"/>
              </a:defRPr>
            </a:pPr>
            <a:r>
              <a:t>Phụ lục • Thuật ngữ tra nhanh</a:t>
            </a:r>
          </a:p>
        </p:txBody>
      </p:sp>
      <p:sp>
        <p:nvSpPr>
          <p:cNvPr id="4" name="TextBox 3"/>
          <p:cNvSpPr txBox="1"/>
          <p:nvPr/>
        </p:nvSpPr>
        <p:spPr>
          <a:xfrm>
            <a:off x="502920" y="1143000"/>
            <a:ext cx="11155680" cy="502920"/>
          </a:xfrm>
          <a:prstGeom prst="rect">
            <a:avLst/>
          </a:prstGeom>
          <a:noFill/>
        </p:spPr>
        <p:txBody>
          <a:bodyPr wrap="square" lIns="0" rIns="0" tIns="0" bIns="0">
            <a:spAutoFit/>
          </a:bodyPr>
          <a:lstStyle/>
          <a:p>
            <a:pPr>
              <a:lnSpc>
                <a:spcPct val="108000"/>
              </a:lnSpc>
              <a:spcAft>
                <a:spcPts val="300"/>
              </a:spcAft>
              <a:defRPr sz="1700" b="0">
                <a:solidFill>
                  <a:srgbClr val="526879"/>
                </a:solidFill>
                <a:latin typeface="Arial"/>
              </a:defRPr>
            </a:pPr>
            <a:r>
              <a:t>Có thể dùng để giải thích lại trong phần hỏi đáp</a:t>
            </a:r>
          </a:p>
        </p:txBody>
      </p:sp>
      <p:sp>
        <p:nvSpPr>
          <p:cNvPr id="5" name="Rectangle 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515600" cy="182880"/>
          </a:xfrm>
          <a:prstGeom prst="rect">
            <a:avLst/>
          </a:prstGeom>
          <a:noFill/>
        </p:spPr>
        <p:txBody>
          <a:bodyPr wrap="square" lIns="0" rIns="0" tIns="0" bIns="0">
            <a:spAutoFit/>
          </a:bodyPr>
          <a:lstStyle/>
          <a:p>
            <a:pPr>
              <a:lnSpc>
                <a:spcPct val="108000"/>
              </a:lnSpc>
              <a:spcAft>
                <a:spcPts val="0"/>
              </a:spcAft>
              <a:defRPr sz="900" b="0">
                <a:solidFill>
                  <a:srgbClr val="526879"/>
                </a:solidFill>
                <a:latin typeface="Arial"/>
              </a:defRPr>
            </a:pPr>
            <a:r>
              <a:t>Tien Phat Dam  •  Dai-ichi Life VN  •  Part 1 — Survey  •  Ví dụ cập nhật</a:t>
            </a:r>
          </a:p>
        </p:txBody>
      </p:sp>
      <p:sp>
        <p:nvSpPr>
          <p:cNvPr id="7" name="TextBox 6"/>
          <p:cNvSpPr txBox="1"/>
          <p:nvPr/>
        </p:nvSpPr>
        <p:spPr>
          <a:xfrm>
            <a:off x="11082528" y="6501384"/>
            <a:ext cx="603504" cy="228600"/>
          </a:xfrm>
          <a:prstGeom prst="rect">
            <a:avLst/>
          </a:prstGeom>
          <a:noFill/>
        </p:spPr>
        <p:txBody>
          <a:bodyPr wrap="square" lIns="0" rIns="0" tIns="0" bIns="0">
            <a:spAutoFit/>
          </a:bodyPr>
          <a:lstStyle/>
          <a:p>
            <a:pPr>
              <a:lnSpc>
                <a:spcPct val="108000"/>
              </a:lnSpc>
              <a:spcAft>
                <a:spcPts val="0"/>
              </a:spcAft>
              <a:defRPr sz="1100" b="0">
                <a:solidFill>
                  <a:srgbClr val="526879"/>
                </a:solidFill>
                <a:latin typeface="Arial"/>
              </a:defRPr>
            </a:pPr>
            <a:r>
              <a:t>22/25</a:t>
            </a:r>
          </a:p>
        </p:txBody>
      </p:sp>
      <p:sp>
        <p:nvSpPr>
          <p:cNvPr id="8" name="Rounded Rectangle 7"/>
          <p:cNvSpPr/>
          <p:nvPr/>
        </p:nvSpPr>
        <p:spPr>
          <a:xfrm>
            <a:off x="502920" y="1801368"/>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920240"/>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Transcript / model</a:t>
            </a:r>
          </a:p>
        </p:txBody>
      </p:sp>
      <p:sp>
        <p:nvSpPr>
          <p:cNvPr id="11" name="TextBox 10"/>
          <p:cNvSpPr txBox="1"/>
          <p:nvPr/>
        </p:nvSpPr>
        <p:spPr>
          <a:xfrm>
            <a:off x="676656" y="2414016"/>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Bản chữ / thành phần nhận dạng</a:t>
            </a:r>
          </a:p>
        </p:txBody>
      </p:sp>
      <p:sp>
        <p:nvSpPr>
          <p:cNvPr id="12" name="Rounded Rectangle 11"/>
          <p:cNvSpPr/>
          <p:nvPr/>
        </p:nvSpPr>
        <p:spPr>
          <a:xfrm>
            <a:off x="4297680" y="1801368"/>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1416" y="1920240"/>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API / runtime</a:t>
            </a:r>
          </a:p>
        </p:txBody>
      </p:sp>
      <p:sp>
        <p:nvSpPr>
          <p:cNvPr id="15" name="TextBox 14"/>
          <p:cNvSpPr txBox="1"/>
          <p:nvPr/>
        </p:nvSpPr>
        <p:spPr>
          <a:xfrm>
            <a:off x="4471416" y="2414016"/>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Cách gửi yêu cầu / phần mềm chạy model</a:t>
            </a:r>
          </a:p>
        </p:txBody>
      </p:sp>
      <p:sp>
        <p:nvSpPr>
          <p:cNvPr id="16" name="Rounded Rectangle 15"/>
          <p:cNvSpPr/>
          <p:nvPr/>
        </p:nvSpPr>
        <p:spPr>
          <a:xfrm>
            <a:off x="8092440" y="1801368"/>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801368"/>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6" y="1920240"/>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Batch / live</a:t>
            </a:r>
          </a:p>
        </p:txBody>
      </p:sp>
      <p:sp>
        <p:nvSpPr>
          <p:cNvPr id="19" name="TextBox 18"/>
          <p:cNvSpPr txBox="1"/>
          <p:nvPr/>
        </p:nvSpPr>
        <p:spPr>
          <a:xfrm>
            <a:off x="8266176" y="2414016"/>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Sau call / trong lúc call</a:t>
            </a:r>
          </a:p>
        </p:txBody>
      </p:sp>
      <p:sp>
        <p:nvSpPr>
          <p:cNvPr id="20" name="Rounded Rectangle 19"/>
          <p:cNvSpPr/>
          <p:nvPr/>
        </p:nvSpPr>
        <p:spPr>
          <a:xfrm>
            <a:off x="502920" y="3209544"/>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3328415"/>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Diarization / timestamp</a:t>
            </a:r>
          </a:p>
        </p:txBody>
      </p:sp>
      <p:sp>
        <p:nvSpPr>
          <p:cNvPr id="23" name="TextBox 22"/>
          <p:cNvSpPr txBox="1"/>
          <p:nvPr/>
        </p:nvSpPr>
        <p:spPr>
          <a:xfrm>
            <a:off x="676656" y="3822191"/>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Phân người nói / mốc thời gian</a:t>
            </a:r>
          </a:p>
        </p:txBody>
      </p:sp>
      <p:sp>
        <p:nvSpPr>
          <p:cNvPr id="24" name="Rounded Rectangle 23"/>
          <p:cNvSpPr/>
          <p:nvPr/>
        </p:nvSpPr>
        <p:spPr>
          <a:xfrm>
            <a:off x="4297680" y="3209544"/>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1416" y="3328415"/>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Shortlist / baseline</a:t>
            </a:r>
          </a:p>
        </p:txBody>
      </p:sp>
      <p:sp>
        <p:nvSpPr>
          <p:cNvPr id="27" name="TextBox 26"/>
          <p:cNvSpPr txBox="1"/>
          <p:nvPr/>
        </p:nvSpPr>
        <p:spPr>
          <a:xfrm>
            <a:off x="4471416" y="3822191"/>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Danh sách rút gọn / phương án mốc</a:t>
            </a:r>
          </a:p>
        </p:txBody>
      </p:sp>
      <p:sp>
        <p:nvSpPr>
          <p:cNvPr id="28" name="Rounded Rectangle 27"/>
          <p:cNvSpPr/>
          <p:nvPr/>
        </p:nvSpPr>
        <p:spPr>
          <a:xfrm>
            <a:off x="8092440" y="3209544"/>
            <a:ext cx="3584448" cy="1252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3209544"/>
            <a:ext cx="50292" cy="1252728"/>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66176" y="3328415"/>
            <a:ext cx="3236976" cy="466344"/>
          </a:xfrm>
          <a:prstGeom prst="rect">
            <a:avLst/>
          </a:prstGeom>
          <a:noFill/>
        </p:spPr>
        <p:txBody>
          <a:bodyPr wrap="square" lIns="0" rIns="0" tIns="0" bIns="0">
            <a:spAutoFit/>
          </a:bodyPr>
          <a:lstStyle/>
          <a:p>
            <a:pPr>
              <a:lnSpc>
                <a:spcPct val="108000"/>
              </a:lnSpc>
              <a:spcAft>
                <a:spcPts val="300"/>
              </a:spcAft>
              <a:defRPr sz="1800" b="1">
                <a:solidFill>
                  <a:srgbClr val="173F5F"/>
                </a:solidFill>
                <a:latin typeface="Arial"/>
              </a:defRPr>
            </a:pPr>
            <a:r>
              <a:t>Evaluation / retention</a:t>
            </a:r>
          </a:p>
        </p:txBody>
      </p:sp>
      <p:sp>
        <p:nvSpPr>
          <p:cNvPr id="31" name="TextBox 30"/>
          <p:cNvSpPr txBox="1"/>
          <p:nvPr/>
        </p:nvSpPr>
        <p:spPr>
          <a:xfrm>
            <a:off x="8266176" y="3822191"/>
            <a:ext cx="3236976" cy="548640"/>
          </a:xfrm>
          <a:prstGeom prst="rect">
            <a:avLst/>
          </a:prstGeom>
          <a:noFill/>
        </p:spPr>
        <p:txBody>
          <a:bodyPr wrap="square" lIns="0" rIns="0" tIns="0" bIns="0">
            <a:spAutoFit/>
          </a:bodyPr>
          <a:lstStyle/>
          <a:p>
            <a:pPr>
              <a:lnSpc>
                <a:spcPct val="108000"/>
              </a:lnSpc>
              <a:spcAft>
                <a:spcPts val="100"/>
              </a:spcAft>
              <a:defRPr sz="1650" b="0">
                <a:solidFill>
                  <a:srgbClr val="243746"/>
                </a:solidFill>
                <a:latin typeface="Arial"/>
              </a:defRPr>
            </a:pPr>
            <a:r>
              <a:t>Đánh giá thực / thời gian giữ dữ liệu</a:t>
            </a:r>
          </a:p>
        </p:txBody>
      </p:sp>
      <p:sp>
        <p:nvSpPr>
          <p:cNvPr id="32" name="Rounded Rectangle 31"/>
          <p:cNvSpPr/>
          <p:nvPr/>
        </p:nvSpPr>
        <p:spPr>
          <a:xfrm>
            <a:off x="502920" y="4617720"/>
            <a:ext cx="11173968" cy="1298448"/>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4088" y="4736592"/>
            <a:ext cx="10771632" cy="219456"/>
          </a:xfrm>
          <a:prstGeom prst="rect">
            <a:avLst/>
          </a:prstGeom>
          <a:noFill/>
        </p:spPr>
        <p:txBody>
          <a:bodyPr wrap="square" lIns="0" rIns="0" tIns="0" bIns="0">
            <a:spAutoFit/>
          </a:bodyPr>
          <a:lstStyle/>
          <a:p>
            <a:pPr>
              <a:lnSpc>
                <a:spcPct val="108000"/>
              </a:lnSpc>
              <a:spcAft>
                <a:spcPts val="0"/>
              </a:spcAft>
              <a:defRPr sz="1200" b="1">
                <a:solidFill>
                  <a:srgbClr val="218C96"/>
                </a:solidFill>
                <a:latin typeface="Arial"/>
              </a:defRPr>
            </a:pPr>
            <a:r>
              <a:t>GẮN THUẬT NGỮ VỚI MỘT FILE • GIẢ LẬP</a:t>
            </a:r>
          </a:p>
        </p:txBody>
      </p:sp>
      <p:sp>
        <p:nvSpPr>
          <p:cNvPr id="34" name="TextBox 33"/>
          <p:cNvSpPr txBox="1"/>
          <p:nvPr/>
        </p:nvSpPr>
        <p:spPr>
          <a:xfrm>
            <a:off x="704088" y="5074920"/>
            <a:ext cx="10771632" cy="731520"/>
          </a:xfrm>
          <a:prstGeom prst="rect">
            <a:avLst/>
          </a:prstGeom>
          <a:noFill/>
        </p:spPr>
        <p:txBody>
          <a:bodyPr wrap="square" lIns="0" rIns="0" tIns="0" bIns="0">
            <a:spAutoFit/>
          </a:bodyPr>
          <a:lstStyle/>
          <a:p>
            <a:pPr>
              <a:lnSpc>
                <a:spcPct val="108000"/>
              </a:lnSpc>
              <a:spcAft>
                <a:spcPts val="300"/>
              </a:spcAft>
              <a:defRPr sz="1800" b="0">
                <a:solidFill>
                  <a:srgbClr val="243746"/>
                </a:solidFill>
                <a:latin typeface="Arial"/>
              </a:defRPr>
            </a:pPr>
            <a:r>
              <a:t>call-demo-001.wav → transcript = chữ; timestamp = vị trí 01:20.</a:t>
            </a:r>
          </a:p>
          <a:p>
            <a:pPr>
              <a:lnSpc>
                <a:spcPct val="108000"/>
              </a:lnSpc>
              <a:spcAft>
                <a:spcPts val="300"/>
              </a:spcAft>
              <a:defRPr sz="1800" b="0">
                <a:solidFill>
                  <a:srgbClr val="243746"/>
                </a:solidFill>
                <a:latin typeface="Arial"/>
              </a:defRPr>
            </a:pPr>
            <a:r>
              <a:t>Diarization = phân người nói; API = gửi/lấy dữ liệu; baseline = cấu hình mốc.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References • Harvard 1/3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Tài liệu chính thức • ngày truy cập 6 October 2026</a:t>
            </a:r>
          </a:p>
        </p:txBody>
      </p:sp>
      <p:sp>
        <p:nvSpPr>
          <p:cNvPr id="5" name="TextBox 4"/>
          <p:cNvSpPr txBox="1"/>
          <p:nvPr/>
        </p:nvSpPr>
        <p:spPr>
          <a:xfrm>
            <a:off x="502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AWS (n.d.a) Amazon Transcribe pricing. Available at: https://aws.amazon.com/transcribe/pricing/ (Accessed: 6 October 2026).</a:t>
            </a:r>
          </a:p>
        </p:txBody>
      </p:sp>
      <p:sp>
        <p:nvSpPr>
          <p:cNvPr id="6" name="TextBox 5"/>
          <p:cNvSpPr txBox="1"/>
          <p:nvPr/>
        </p:nvSpPr>
        <p:spPr>
          <a:xfrm>
            <a:off x="502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AWS (n.d.b) Supported languages and language-specific features. Available at: https://docs.aws.amazon.com/transcribe/latest/dg/supported-languages.html (Accessed: 6 October 2026).</a:t>
            </a:r>
          </a:p>
        </p:txBody>
      </p:sp>
      <p:sp>
        <p:nvSpPr>
          <p:cNvPr id="7" name="TextBox 6"/>
          <p:cNvSpPr txBox="1"/>
          <p:nvPr/>
        </p:nvSpPr>
        <p:spPr>
          <a:xfrm>
            <a:off x="502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Deepgram (n.d.a) Models &amp; languages overview. Available at: https://developers.deepgram.com/docs/models-languages-overview/ (Accessed: 6 October 2026).</a:t>
            </a:r>
          </a:p>
        </p:txBody>
      </p:sp>
      <p:sp>
        <p:nvSpPr>
          <p:cNvPr id="8" name="TextBox 7"/>
          <p:cNvSpPr txBox="1"/>
          <p:nvPr/>
        </p:nvSpPr>
        <p:spPr>
          <a:xfrm>
            <a:off x="502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Deepgram (n.d.b) Vietnamese speech to text API. Available at: https://deepgram.com/product/speech-to-text/vietnamese (Accessed: 6 October 2026).</a:t>
            </a:r>
          </a:p>
        </p:txBody>
      </p:sp>
      <p:sp>
        <p:nvSpPr>
          <p:cNvPr id="9" name="TextBox 8"/>
          <p:cNvSpPr txBox="1"/>
          <p:nvPr/>
        </p:nvSpPr>
        <p:spPr>
          <a:xfrm>
            <a:off x="502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FPT.AI (n.d.) FPT.AI Speech — Speech to Text: API. Available at: https://docs.fpt.ai/docs/en/speech/api/speech-to-text/ (Accessed: 6 October 2026).</a:t>
            </a:r>
          </a:p>
        </p:txBody>
      </p:sp>
      <p:sp>
        <p:nvSpPr>
          <p:cNvPr id="10" name="TextBox 9"/>
          <p:cNvSpPr txBox="1"/>
          <p:nvPr/>
        </p:nvSpPr>
        <p:spPr>
          <a:xfrm>
            <a:off x="6217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Google Cloud (n.d.a) Chirp 3 transcription: Enhanced multilingual accuracy. Available at: https://docs.cloud.google.com/speech-to-text/docs/models/chirp-3 (Accessed: 6 October 2026).</a:t>
            </a:r>
          </a:p>
        </p:txBody>
      </p:sp>
      <p:sp>
        <p:nvSpPr>
          <p:cNvPr id="11" name="TextBox 10"/>
          <p:cNvSpPr txBox="1"/>
          <p:nvPr/>
        </p:nvSpPr>
        <p:spPr>
          <a:xfrm>
            <a:off x="6217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Google Cloud (n.d.b) Speech-to-Text API pricing. Available at: https://cloud.google.com/speech-to-text/pricing (Accessed: 6 October 2026).</a:t>
            </a:r>
          </a:p>
        </p:txBody>
      </p:sp>
      <p:sp>
        <p:nvSpPr>
          <p:cNvPr id="12" name="TextBox 11"/>
          <p:cNvSpPr txBox="1"/>
          <p:nvPr/>
        </p:nvSpPr>
        <p:spPr>
          <a:xfrm>
            <a:off x="6217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Google Cloud (n.d.c) Regional availability. Available at: https://docs.cloud.google.com/speech-to-text/docs/locations (Accessed: 6 October 2026).</a:t>
            </a:r>
          </a:p>
        </p:txBody>
      </p:sp>
      <p:sp>
        <p:nvSpPr>
          <p:cNvPr id="13" name="TextBox 12"/>
          <p:cNvSpPr txBox="1"/>
          <p:nvPr/>
        </p:nvSpPr>
        <p:spPr>
          <a:xfrm>
            <a:off x="6217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(n.d.a) Configure language identification and diarization for speech transcription. Available at: https://learn.microsoft.com/en-us/azure/ai-services/speech-service/configure-language-identification-diarization (Accessed: 6 October 2026).</a:t>
            </a:r>
          </a:p>
        </p:txBody>
      </p:sp>
      <p:sp>
        <p:nvSpPr>
          <p:cNvPr id="14" name="TextBox 13"/>
          <p:cNvSpPr txBox="1"/>
          <p:nvPr/>
        </p:nvSpPr>
        <p:spPr>
          <a:xfrm>
            <a:off x="6217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(n.d.b) Data, privacy, and security for Speech to text. Available at: https://learn.microsoft.com/en-us/azure/foundry/responsible-ai/speech-service/speech-to-text/data-privacy-security (Accessed: 6 October 2026).</a:t>
            </a:r>
          </a:p>
        </p:txBody>
      </p:sp>
      <p:sp>
        <p:nvSpPr>
          <p:cNvPr id="15" name="Rectangle 1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7" name="TextBox 16"/>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23/25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References • Harvard 2/3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Tài liệu chính thức • ngày truy cập 6 October 2026</a:t>
            </a:r>
          </a:p>
        </p:txBody>
      </p:sp>
      <p:sp>
        <p:nvSpPr>
          <p:cNvPr id="5" name="TextBox 4"/>
          <p:cNvSpPr txBox="1"/>
          <p:nvPr/>
        </p:nvSpPr>
        <p:spPr>
          <a:xfrm>
            <a:off x="502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(n.d.c) Install and run Speech containers with Docker. Available at: https://learn.microsoft.com/en-us/azure/ai-services/speech-service/speech-container-howto (Accessed: 6 October 2026).</a:t>
            </a:r>
          </a:p>
        </p:txBody>
      </p:sp>
      <p:sp>
        <p:nvSpPr>
          <p:cNvPr id="6" name="TextBox 5"/>
          <p:cNvSpPr txBox="1"/>
          <p:nvPr/>
        </p:nvSpPr>
        <p:spPr>
          <a:xfrm>
            <a:off x="502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(n.d.d) Language and voice support for Azure Speech. Available at: https://learn.microsoft.com/en-us/azure/ai-services/speech-service/language-support?tabs=stt (Accessed: 6 October 2026).</a:t>
            </a:r>
          </a:p>
        </p:txBody>
      </p:sp>
      <p:sp>
        <p:nvSpPr>
          <p:cNvPr id="7" name="TextBox 6"/>
          <p:cNvSpPr txBox="1"/>
          <p:nvPr/>
        </p:nvSpPr>
        <p:spPr>
          <a:xfrm>
            <a:off x="502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Microsoft (n.d.e) Pricing — Azure Speech in Foundry Tools. Available at: https://azure.microsoft.com/en-us/pricing/details/speech/ (Accessed: 6 October 2026).</a:t>
            </a:r>
          </a:p>
        </p:txBody>
      </p:sp>
      <p:sp>
        <p:nvSpPr>
          <p:cNvPr id="8" name="TextBox 7"/>
          <p:cNvSpPr txBox="1"/>
          <p:nvPr/>
        </p:nvSpPr>
        <p:spPr>
          <a:xfrm>
            <a:off x="502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NVIDIA (2026) Parakeet CTC Vietnamese (vi-VN). Updated 13 August 2026. Available at: https://docs.nvidia.com/nim/speech/latest/asr/deploy-asr-models/parakeet-ctc-vi-vn.html (Accessed: 6 October 2026).</a:t>
            </a:r>
          </a:p>
        </p:txBody>
      </p:sp>
      <p:sp>
        <p:nvSpPr>
          <p:cNvPr id="9" name="TextBox 8"/>
          <p:cNvSpPr txBox="1"/>
          <p:nvPr/>
        </p:nvSpPr>
        <p:spPr>
          <a:xfrm>
            <a:off x="502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NVIDIA (n.d.) NVIDIA ASR NIM support matrix. Available at: https://docs.nvidia.com/nim/speech/latest/reference/support-matrix/asr.html (Accessed: 6 October 2026).</a:t>
            </a:r>
          </a:p>
        </p:txBody>
      </p:sp>
      <p:sp>
        <p:nvSpPr>
          <p:cNvPr id="10" name="TextBox 9"/>
          <p:cNvSpPr txBox="1"/>
          <p:nvPr/>
        </p:nvSpPr>
        <p:spPr>
          <a:xfrm>
            <a:off x="6217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(n.d.a) Data controls in the OpenAI platform. Available at: https://developers.openai.com/api/docs/guides/your-data (Accessed: 6 October 2026).</a:t>
            </a:r>
          </a:p>
        </p:txBody>
      </p:sp>
      <p:sp>
        <p:nvSpPr>
          <p:cNvPr id="11" name="TextBox 10"/>
          <p:cNvSpPr txBox="1"/>
          <p:nvPr/>
        </p:nvSpPr>
        <p:spPr>
          <a:xfrm>
            <a:off x="6217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(n.d.b) File transcription. Available at: https://developers.openai.com/api/docs/guides/speech-to-text (Accessed: 6 October 2026).</a:t>
            </a:r>
          </a:p>
        </p:txBody>
      </p:sp>
      <p:sp>
        <p:nvSpPr>
          <p:cNvPr id="12" name="TextBox 11"/>
          <p:cNvSpPr txBox="1"/>
          <p:nvPr/>
        </p:nvSpPr>
        <p:spPr>
          <a:xfrm>
            <a:off x="6217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(n.d.c) GPT-4o Transcribe Diarize model. Available at: https://developers.openai.com/api/docs/models/gpt-4o-transcribe-diarize (Accessed: 6 October 2026).</a:t>
            </a:r>
          </a:p>
        </p:txBody>
      </p:sp>
      <p:sp>
        <p:nvSpPr>
          <p:cNvPr id="13" name="TextBox 12"/>
          <p:cNvSpPr txBox="1"/>
          <p:nvPr/>
        </p:nvSpPr>
        <p:spPr>
          <a:xfrm>
            <a:off x="6217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(n.d.d) GPT-Live-Transcribe model. Available at: https://developers.openai.com/api/docs/models/gpt-live-transcribe (Accessed: 6 October 2026).</a:t>
            </a:r>
          </a:p>
        </p:txBody>
      </p:sp>
      <p:sp>
        <p:nvSpPr>
          <p:cNvPr id="14" name="TextBox 13"/>
          <p:cNvSpPr txBox="1"/>
          <p:nvPr/>
        </p:nvSpPr>
        <p:spPr>
          <a:xfrm>
            <a:off x="6217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(n.d.e) GPT-Transcribe model. Available at: https://developers.openai.com/api/docs/models/gpt-transcribe (Accessed: 6 October 2026).</a:t>
            </a:r>
          </a:p>
        </p:txBody>
      </p:sp>
      <p:sp>
        <p:nvSpPr>
          <p:cNvPr id="15" name="Rectangle 14"/>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7" name="TextBox 16"/>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24/25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7F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18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11155680" cy="685800"/>
          </a:xfrm>
          <a:prstGeom prst="rect">
            <a:avLst/>
          </a:prstGeom>
          <a:noFill/>
        </p:spPr>
        <p:txBody>
          <a:bodyPr wrap="square" lIns="0" rIns="0" tIns="0" bIns="0">
            <a:spAutoFit/>
          </a:bodyPr>
          <a:lstStyle/>
          <a:p>
            <a:pPr>
              <a:spcAft>
                <a:spcPts val="700"/>
              </a:spcAft>
              <a:defRPr sz="3100" b="1">
                <a:solidFill>
                  <a:srgbClr val="173F5F"/>
                </a:solidFill>
                <a:latin typeface="Arial"/>
              </a:defRPr>
            </a:pPr>
            <a:r>
              <a:t>References • Harvard 3/3</a:t>
            </a:r>
          </a:p>
        </p:txBody>
      </p:sp>
      <p:sp>
        <p:nvSpPr>
          <p:cNvPr id="4" name="TextBox 3"/>
          <p:cNvSpPr txBox="1"/>
          <p:nvPr/>
        </p:nvSpPr>
        <p:spPr>
          <a:xfrm>
            <a:off x="502920" y="1188720"/>
            <a:ext cx="11155680" cy="548640"/>
          </a:xfrm>
          <a:prstGeom prst="rect">
            <a:avLst/>
          </a:prstGeom>
          <a:noFill/>
        </p:spPr>
        <p:txBody>
          <a:bodyPr wrap="square" lIns="0" rIns="0" tIns="0" bIns="0">
            <a:spAutoFit/>
          </a:bodyPr>
          <a:lstStyle/>
          <a:p>
            <a:pPr>
              <a:spcAft>
                <a:spcPts val="700"/>
              </a:spcAft>
              <a:defRPr sz="1800" b="0">
                <a:solidFill>
                  <a:srgbClr val="526879"/>
                </a:solidFill>
                <a:latin typeface="Arial"/>
              </a:defRPr>
            </a:pPr>
            <a:r>
              <a:t>Tài liệu chính thức • ngày truy cập 6 October 2026</a:t>
            </a:r>
          </a:p>
        </p:txBody>
      </p:sp>
      <p:sp>
        <p:nvSpPr>
          <p:cNvPr id="5" name="TextBox 4"/>
          <p:cNvSpPr txBox="1"/>
          <p:nvPr/>
        </p:nvSpPr>
        <p:spPr>
          <a:xfrm>
            <a:off x="502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(n.d.f) Pricing. Available at: https://developers.openai.com/api/docs/pricing (Accessed: 6 October 2026).</a:t>
            </a:r>
          </a:p>
        </p:txBody>
      </p:sp>
      <p:sp>
        <p:nvSpPr>
          <p:cNvPr id="6" name="TextBox 5"/>
          <p:cNvSpPr txBox="1"/>
          <p:nvPr/>
        </p:nvSpPr>
        <p:spPr>
          <a:xfrm>
            <a:off x="502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OpenAI (n.d.g) Whisper: Robust speech recognition via large-scale weak supervision. GitHub repository. Available at: https://github.com/openai/whisper (Accessed: 6 October 2026).</a:t>
            </a:r>
          </a:p>
        </p:txBody>
      </p:sp>
      <p:sp>
        <p:nvSpPr>
          <p:cNvPr id="7" name="TextBox 6"/>
          <p:cNvSpPr txBox="1"/>
          <p:nvPr/>
        </p:nvSpPr>
        <p:spPr>
          <a:xfrm>
            <a:off x="502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Speechmatics (n.d.a) Languages. Available at: https://docs.speechmatics.com/speech-to-text/languages (Accessed: 6 October 2026).</a:t>
            </a:r>
          </a:p>
        </p:txBody>
      </p:sp>
      <p:sp>
        <p:nvSpPr>
          <p:cNvPr id="8" name="TextBox 7"/>
          <p:cNvSpPr txBox="1"/>
          <p:nvPr/>
        </p:nvSpPr>
        <p:spPr>
          <a:xfrm>
            <a:off x="502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Speechmatics (n.d.b) Deployments — Overview. Available at: https://docs.speechmatics.com/deployments (Accessed: 6 October 2026).</a:t>
            </a:r>
          </a:p>
        </p:txBody>
      </p:sp>
      <p:sp>
        <p:nvSpPr>
          <p:cNvPr id="9" name="TextBox 8"/>
          <p:cNvSpPr txBox="1"/>
          <p:nvPr/>
        </p:nvSpPr>
        <p:spPr>
          <a:xfrm>
            <a:off x="502920" y="5184648"/>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SYSTRAN (n.d.) faster-whisper: Faster Whisper transcription with CTranslate2. GitHub repository. Available at: https://github.com/SYSTRAN/faster-whisper (Accessed: 6 October 2026).</a:t>
            </a:r>
          </a:p>
        </p:txBody>
      </p:sp>
      <p:sp>
        <p:nvSpPr>
          <p:cNvPr id="10" name="TextBox 9"/>
          <p:cNvSpPr txBox="1"/>
          <p:nvPr/>
        </p:nvSpPr>
        <p:spPr>
          <a:xfrm>
            <a:off x="6217920" y="1819656"/>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Viettel AI (n.d.) Speech to Text. Available at: https://viettelai.vn/en/speech-to-text (Accessed: 6 October 2026).</a:t>
            </a:r>
          </a:p>
        </p:txBody>
      </p:sp>
      <p:sp>
        <p:nvSpPr>
          <p:cNvPr id="11" name="TextBox 10"/>
          <p:cNvSpPr txBox="1"/>
          <p:nvPr/>
        </p:nvSpPr>
        <p:spPr>
          <a:xfrm>
            <a:off x="6217920" y="2660904"/>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VinAI Research (n.d.) PhoWhisper: Automatic speech recognition for Vietnamese. GitHub repository and published benchmark table. Available at: https://github.com/VinAIResearch/PhoWhisper (Accessed: 6 October 2026).</a:t>
            </a:r>
          </a:p>
        </p:txBody>
      </p:sp>
      <p:sp>
        <p:nvSpPr>
          <p:cNvPr id="12" name="TextBox 11"/>
          <p:cNvSpPr txBox="1"/>
          <p:nvPr/>
        </p:nvSpPr>
        <p:spPr>
          <a:xfrm>
            <a:off x="6217920" y="3502152"/>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VNPT AI (n.d.a) SmartVoice: Thông số kỹ thuật. Available at: https://vnptai.io/smartvoice/vi/engine-specs (Accessed: 6 October 2026).</a:t>
            </a:r>
          </a:p>
        </p:txBody>
      </p:sp>
      <p:sp>
        <p:nvSpPr>
          <p:cNvPr id="13" name="TextBox 12"/>
          <p:cNvSpPr txBox="1"/>
          <p:nvPr/>
        </p:nvSpPr>
        <p:spPr>
          <a:xfrm>
            <a:off x="6217920" y="4343400"/>
            <a:ext cx="5468112" cy="786384"/>
          </a:xfrm>
          <a:prstGeom prst="rect">
            <a:avLst/>
          </a:prstGeom>
          <a:noFill/>
        </p:spPr>
        <p:txBody>
          <a:bodyPr wrap="square" lIns="0" rIns="0" tIns="0" bIns="0">
            <a:spAutoFit/>
          </a:bodyPr>
          <a:lstStyle/>
          <a:p>
            <a:pPr>
              <a:spcAft>
                <a:spcPts val="700"/>
              </a:spcAft>
              <a:defRPr sz="1100" b="0">
                <a:solidFill>
                  <a:srgbClr val="243746"/>
                </a:solidFill>
                <a:latin typeface="Arial"/>
              </a:defRPr>
            </a:pPr>
            <a:r>
              <a:t>VNPT AI (n.d.b) Gói cước VNPT SmartVoice — Speech to Text. Available at: https://vnptai.io/smartvoice/vi/service-packages?service=speech-to-text (Accessed: 6 October 2026).</a:t>
            </a:r>
          </a:p>
        </p:txBody>
      </p:sp>
      <p:sp>
        <p:nvSpPr>
          <p:cNvPr id="14" name="Rectangle 13"/>
          <p:cNvSpPr/>
          <p:nvPr/>
        </p:nvSpPr>
        <p:spPr>
          <a:xfrm>
            <a:off x="502920" y="6437376"/>
            <a:ext cx="11173968" cy="10972"/>
          </a:xfrm>
          <a:prstGeom prst="rect">
            <a:avLst/>
          </a:prstGeom>
          <a:solidFill>
            <a:srgbClr val="D2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28816"/>
            <a:ext cx="9509760" cy="182880"/>
          </a:xfrm>
          <a:prstGeom prst="rect">
            <a:avLst/>
          </a:prstGeom>
          <a:noFill/>
        </p:spPr>
        <p:txBody>
          <a:bodyPr wrap="square" lIns="0" rIns="0" tIns="0" bIns="0">
            <a:spAutoFit/>
          </a:bodyPr>
          <a:lstStyle/>
          <a:p>
            <a:pPr>
              <a:spcAft>
                <a:spcPts val="700"/>
              </a:spcAft>
              <a:defRPr sz="1000" b="0">
                <a:solidFill>
                  <a:srgbClr val="526879"/>
                </a:solidFill>
                <a:latin typeface="Arial"/>
              </a:defRPr>
            </a:pPr>
            <a:r>
              <a:t>Tien Phat Dam  •  Dai-ichi Life VN  •  Part 1 — Survey</a:t>
            </a:r>
          </a:p>
        </p:txBody>
      </p:sp>
      <p:sp>
        <p:nvSpPr>
          <p:cNvPr id="16" name="TextBox 15"/>
          <p:cNvSpPr txBox="1"/>
          <p:nvPr/>
        </p:nvSpPr>
        <p:spPr>
          <a:xfrm>
            <a:off x="11091672" y="6492240"/>
            <a:ext cx="594360" cy="228600"/>
          </a:xfrm>
          <a:prstGeom prst="rect">
            <a:avLst/>
          </a:prstGeom>
          <a:noFill/>
        </p:spPr>
        <p:txBody>
          <a:bodyPr wrap="square" lIns="0" rIns="0" tIns="0" bIns="0">
            <a:spAutoFit/>
          </a:bodyPr>
          <a:lstStyle/>
          <a:p>
            <a:pPr>
              <a:spcAft>
                <a:spcPts val="700"/>
              </a:spcAft>
              <a:defRPr sz="1100" b="0">
                <a:solidFill>
                  <a:srgbClr val="526879"/>
                </a:solidFill>
                <a:latin typeface="Arial"/>
              </a:defRPr>
            </a:pPr>
            <a:r>
              <a:t>25/25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STT Survey — cập nhật ví dụ model và API</dc:title>
  <dc:subject>Part 1 — analysis and survey; easy-to-understand presentation</dc:subject>
  <dc:creator>Tien Phat Dam</dc:creator>
  <cp:keywords/>
  <dc:description>Slides aligned with script version 1; all 28 fictional example blocks in speaker notes; 25-slide numbering preserved.</dc:description>
  <cp:lastModifiedBy>Steve Canny</cp:lastModifiedBy>
  <cp:revision>1</cp:revision>
  <dcterms:created xsi:type="dcterms:W3CDTF">2013-01-27T09:14:16Z</dcterms:created>
  <dcterms:modified xsi:type="dcterms:W3CDTF">2013-01-27T09:15:58Z</dcterms:modified>
  <cp:category/>
</cp:coreProperties>
</file>