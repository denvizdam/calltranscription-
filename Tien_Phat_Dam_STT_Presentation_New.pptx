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 — Chuyển cuộc gọi thành văn bản</a:t>
            </a:r>
          </a:p>
          <a:p>
            <a:r>
              <a:t>Thời lượng gợi ý: 30–45 giây</a:t>
            </a:r>
          </a:p>
          <a:p/>
          <a:p>
            <a:r>
              <a:t>LỜI ĐỌC</a:t>
            </a:r>
          </a:p>
          <a:p>
            <a:r>
              <a:t>Em chào anh chị. Em là Tien Phat Dam. Hôm nay em trình bày phần khảo sát các giải pháp chuyển giọng nói thành văn bản cho bối cảnh call center tiếng Việt của Dai-ichi Life Việt Nam.</a:t>
            </a:r>
          </a:p>
          <a:p/>
          <a:p>
            <a:r>
              <a:t>Mục tiêu của bài là giải thích những lựa chọn hiện có, các điểm cần lưu ý và danh sách nên đưa vào thử nghiệm. Ở giai đoạn này, em chưa trình bày kết quả benchmark trên dữ liệu công ty.</a:t>
            </a:r>
          </a:p>
          <a:p/>
          <a:p>
            <a:r>
              <a:t>CÂU CHUYỂN</a:t>
            </a:r>
          </a:p>
          <a:p>
            <a:r>
              <a:t>Trước tiên, em xin bắt đầu từ một cuộc gọi quen thuộc để giải thích vì sao mình cần công nghệ này.</a:t>
            </a:r>
          </a:p>
          <a:p/>
          <a:p>
            <a:r>
              <a:t>NHẤN MẠNH</a:t>
            </a:r>
          </a:p>
          <a:p>
            <a:r>
              <a:t>Giới thiệu tên và phạm vi Part 1; không nói đã benchmark.</a:t>
            </a:r>
          </a:p>
          <a:p/>
          <a:p>
            <a:r>
              <a:t>NGUỒN</a:t>
            </a:r>
          </a:p>
          <a:p>
            <a:r>
              <a:t>Ví dụ giả lập / giải thích khái niệm / nhận định đề xuất. Xem References cho facts sản phẩm.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 — Từ một cuộc gọi đến nội dung có thể tìm kiếm</a:t>
            </a:r>
          </a:p>
          <a:p>
            <a:r>
              <a:t>Thời lượng gợi ý: 60 giây</a:t>
            </a:r>
          </a:p>
          <a:p/>
          <a:p>
            <a:r>
              <a:t>LỜI ĐỌC</a:t>
            </a:r>
          </a:p>
          <a:p>
            <a:r>
              <a:t>Giả sử khách gọi và nói: “Tôi muốn kiểm tra phí bảo hiểm kỳ này.” Nếu chỉ có audio, người kiểm tra phải mở file và nghe. Speech-to-Text giúp chuyển lời nói đó thành chữ, gọi là transcript.</a:t>
            </a:r>
          </a:p>
          <a:p/>
          <a:p>
            <a:r>
              <a:t>Khi có transcript, ứng dụng có thể hỗ trợ QA đọc nội dung, tìm một cụm từ và nghe lại đoạn liên quan. Tuy nhiên, STT mới tạo chữ; nó chưa tự kết luận nhân viên tư vấn đúng hay sai. Các chức năng phân tích phía sau cần được thiết kế riêng.</a:t>
            </a:r>
          </a:p>
          <a:p/>
          <a:p>
            <a:r>
              <a:t>CÂU CHUYỂN</a:t>
            </a:r>
          </a:p>
          <a:p>
            <a:r>
              <a:t>Vậy trong bài hôm nay, chúng ta đang khảo sát công nghệ hay đã đánh giá độ chính xác?</a:t>
            </a:r>
          </a:p>
          <a:p/>
          <a:p>
            <a:r>
              <a:t>NHẤN MẠNH</a:t>
            </a:r>
          </a:p>
          <a:p>
            <a:r>
              <a:t>Transcript giúp tiếp tục xử lý; chưa tự tạo toàn bộ QA.</a:t>
            </a:r>
          </a:p>
          <a:p/>
          <a:p>
            <a:r>
              <a:t>NGUỒN</a:t>
            </a:r>
          </a:p>
          <a:p>
            <a:r>
              <a:t>Ví dụ giả lập / giải thích khái niệm / nhận định đề xuất. Xem References cho facts sản phẩm.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 — Survey và Evaluation là hai bước riêng</a:t>
            </a:r>
          </a:p>
          <a:p>
            <a:r>
              <a:t>Thời lượng gợi ý: 60 giây</a:t>
            </a:r>
          </a:p>
          <a:p/>
          <a:p>
            <a:r>
              <a:t>LỜI ĐỌC</a:t>
            </a:r>
          </a:p>
          <a:p>
            <a:r>
              <a:t>Survey ở đây nghĩa là khảo sát các giải pháp, không phải khảo sát khách hàng. Ở Part 1, em kiểm tra tài liệu: có tiếng Việt không, có xử lý file hoặc live không, triển khai ở đâu và tính phí như thế nào.</a:t>
            </a:r>
          </a:p>
          <a:p/>
          <a:p>
            <a:r>
              <a:t>Part 2 mới chạy các ứng viên trên audio đại diện, theo một quy tắc đánh giá thống nhất. Ví dụ, tài liệu nói có tiếng Việt chưa đủ chứng minh nhận đúng “hai triệu rưỡi” trong một cuộc gọi nhiễu. Vì vậy, kết quả hôm nay là danh sách đáng thử, chưa phải thứ hạng độ chính xác.</a:t>
            </a:r>
          </a:p>
          <a:p/>
          <a:p>
            <a:r>
              <a:t>CÂU CHUYỂN</a:t>
            </a:r>
          </a:p>
          <a:p>
            <a:r>
              <a:t>Để đọc phần so sánh, mình cần phân biệt vài thành phần cơ bản.</a:t>
            </a:r>
          </a:p>
          <a:p/>
          <a:p>
            <a:r>
              <a:t>NHẤN MẠNH</a:t>
            </a:r>
          </a:p>
          <a:p>
            <a:r>
              <a:t>Hỗ trợ theo tài liệu khác chất lượng đo trên call.</a:t>
            </a:r>
          </a:p>
          <a:p/>
          <a:p>
            <a:r>
              <a:t>NGUỒN</a:t>
            </a:r>
          </a:p>
          <a:p>
            <a:r>
              <a:t>Ví dụ giả lập / giải thích khái niệm / nhận định đề xuất. Xem References cho facts sản phẩm.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 — Model, API và ứng dụng làm những việc khác nhau</a:t>
            </a:r>
          </a:p>
          <a:p>
            <a:r>
              <a:t>Thời lượng gợi ý: 60 giây</a:t>
            </a:r>
          </a:p>
          <a:p/>
          <a:p>
            <a:r>
              <a:t>LỜI ĐỌC</a:t>
            </a:r>
          </a:p>
          <a:p>
            <a:r>
              <a:t>Model là thành phần đã được huấn luyện để nhận dạng lời nói. API là cách phần mềm gửi audio tới nơi xử lý và nhận kết quả. Ứng dụng là màn hình người dùng cuối sử dụng.</a:t>
            </a:r>
          </a:p>
          <a:p/>
          <a:p>
            <a:r>
              <a:t>Ví dụ, team có thể chạy một model nội bộ, xây API nhận file và tạo trang web để QA xem transcript. FastAPI là công cụ xây API, còn Postman giúp thử request. Hai công cụ đó chưa tự thay thế model. Phân biệt các phần giúp mình biết đã có gì và còn phải xây gì.</a:t>
            </a:r>
          </a:p>
          <a:p/>
          <a:p>
            <a:r>
              <a:t>CÂU CHUYỂN</a:t>
            </a:r>
          </a:p>
          <a:p>
            <a:r>
              <a:t>Tiếp theo là hai cách xử lý cuộc gọi thường gặp: sau khi call kết thúc hoặc ngay trong lúc call.</a:t>
            </a:r>
          </a:p>
          <a:p/>
          <a:p>
            <a:r>
              <a:t>NHẤN MẠNH</a:t>
            </a:r>
          </a:p>
          <a:p>
            <a:r>
              <a:t>Giải thích theo công việc từng thành phần, tránh đọc chuỗi thuật ngữ.</a:t>
            </a:r>
          </a:p>
          <a:p/>
          <a:p>
            <a:r>
              <a:t>NGUỒN</a:t>
            </a:r>
          </a:p>
          <a:p>
            <a:r>
              <a:t>Ví dụ giả lập / giải thích khái niệm / nhận định đề xuất. Xem References cho facts sản phẩm.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 — Xử lý sau cuộc gọi hay ngay trong cuộc gọi?</a:t>
            </a:r>
          </a:p>
          <a:p>
            <a:r>
              <a:t>Thời lượng gợi ý: 60–75 giây</a:t>
            </a:r>
          </a:p>
          <a:p/>
          <a:p>
            <a:r>
              <a:t>LỜI ĐỌC</a:t>
            </a:r>
          </a:p>
          <a:p>
            <a:r>
              <a:t>Batch có thể hiểu là xử lý bản ghi sau khi cuộc gọi kết thúc. Đây là hướng đáng ưu tiên nếu mục tiêu hiện tại là QA sau call. Live streaming nhận audio trong lúc cuộc gọi đang diễn ra và cập nhật chữ liên tục.</a:t>
            </a:r>
          </a:p>
          <a:p/>
          <a:p>
            <a:r>
              <a:t>Có trường hợp file đã ghi xong nhưng chữ được trả dần. Điều đó chưa chứng minh hệ thống xử lý cuộc gọi trực tiếp. Mình cần tách vì hai nhu cầu có điều kiện kỹ thuật và chi phí khác nhau; không nên triển khai live chỉ vì vendor có tính năng đó.</a:t>
            </a:r>
          </a:p>
          <a:p/>
          <a:p>
            <a:r>
              <a:t>CÂU CHUYỂN</a:t>
            </a:r>
          </a:p>
          <a:p>
            <a:r>
              <a:t>Ngoài nội dung chữ, QA thường còn cần biết ai đã nói câu đó.</a:t>
            </a:r>
          </a:p>
          <a:p/>
          <a:p>
            <a:r>
              <a:t>NHẤN MẠNH</a:t>
            </a:r>
          </a:p>
          <a:p>
            <a:r>
              <a:t>Batch đề xuất theo nhu cầu; chưa nói requirement công ty đã chốt.</a:t>
            </a:r>
          </a:p>
          <a:p/>
          <a:p>
            <a:r>
              <a:t>NGUỒN</a:t>
            </a:r>
          </a:p>
          <a:p>
            <a:r>
              <a:t>OpenAI (n.d.b; n.d.d)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 — Biết ai nói quan trọng như biết họ nói gì</a:t>
            </a:r>
          </a:p>
          <a:p>
            <a:r>
              <a:t>Thời lượng gợi ý: 75 giây</a:t>
            </a:r>
          </a:p>
          <a:p/>
          <a:p>
            <a:r>
              <a:t>LỜI ĐỌC</a:t>
            </a:r>
          </a:p>
          <a:p>
            <a:r>
              <a:t>Diarization là phân chia lời nói theo người nói, thường tạo Speaker 1 và Speaker 2. Hai nhãn đó chưa tự xác định ai là nhân viên và ai là khách.</a:t>
            </a:r>
          </a:p>
          <a:p/>
          <a:p>
            <a:r>
              <a:t>Nếu tổng đài ghi riêng hai bên, team có thể dùng thông tin kênh để gán vai trò khi mapping đáng tin. Nếu audio đã trộn một kênh, cần khảo sát diarization và cách gán role. Đây là điểm cần hỏi IT sớm, vì chiến lược speaker có thể thay đổi lựa chọn engine. Nếu gán sai người, phân tích sau đó có thể sai dù câu chữ đúng.</a:t>
            </a:r>
          </a:p>
          <a:p/>
          <a:p>
            <a:r>
              <a:t>CÂU CHUYỂN</a:t>
            </a:r>
          </a:p>
          <a:p>
            <a:r>
              <a:t>Một nhóm lỗi khác cần chú ý là những lỗi nhỏ nhưng làm đổi ý nghĩa nghiệp vụ.</a:t>
            </a:r>
          </a:p>
          <a:p/>
          <a:p>
            <a:r>
              <a:t>NHẤN MẠNH</a:t>
            </a:r>
          </a:p>
          <a:p>
            <a:r>
              <a:t>Stereo không tự chứng minh hai người tách riêng.</a:t>
            </a:r>
          </a:p>
          <a:p/>
          <a:p>
            <a:r>
              <a:t>NGUỒN</a:t>
            </a:r>
          </a:p>
          <a:p>
            <a:r>
              <a:t>Ví dụ giả lập / giải thích khái niệm / nhận định đề xuất. Xem References cho facts sản phẩm.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 — Lỗi nào đáng chú ý trong cuộc gọi bảo hiểm?</a:t>
            </a:r>
          </a:p>
          <a:p>
            <a:r>
              <a:t>Thời lượng gợi ý: 60–75 giây</a:t>
            </a:r>
          </a:p>
          <a:p/>
          <a:p>
            <a:r>
              <a:t>LỜI ĐỌC</a:t>
            </a:r>
          </a:p>
          <a:p>
            <a:r>
              <a:t>Ở cuộc gọi bảo hiểm, em đề xuất quan tâm số tiền, ngày tháng, mã và những từ thay đổi ý nghĩa. Ví dụ giả lập, hai triệu rưỡi bị thành hai mươi lăm triệu; hoặc câu “tôi chưa đồng ý” bị mất từ “chưa”.</a:t>
            </a:r>
          </a:p>
          <a:p/>
          <a:p>
            <a:r>
              <a:t>Vì vậy, tỷ lệ lỗi chung chưa nói hết ảnh hưởng nghiệp vụ. Khi chuẩn hóa chữ thành số, team cũng nên giữ transcript gốc để biết lỗi đến từ engine hay bước sửa định dạng. Các ví dụ này chưa phải kết quả chạy model; chúng giúp xác định điều cần kiểm tra ở Part 2.</a:t>
            </a:r>
          </a:p>
          <a:p/>
          <a:p>
            <a:r>
              <a:t>CÂU CHUYỂN</a:t>
            </a:r>
          </a:p>
          <a:p>
            <a:r>
              <a:t>Từ những tình huống đó, mình có thể lập một nhóm tiêu chí dễ hiểu để so các giải pháp.</a:t>
            </a:r>
          </a:p>
          <a:p/>
          <a:p>
            <a:r>
              <a:t>NHẤN MẠNH</a:t>
            </a:r>
          </a:p>
          <a:p>
            <a:r>
              <a:t>Không trình bày ví dụ như lỗi thực tế đã quan sát.</a:t>
            </a:r>
          </a:p>
          <a:p/>
          <a:p>
            <a:r>
              <a:t>NGUỒN</a:t>
            </a:r>
          </a:p>
          <a:p>
            <a:r>
              <a:t>Ví dụ giả lập / giải thích khái niệm / nhận định đề xuất. Xem References cho facts sản phẩm.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 — Sáu nhóm tiêu chí để chọn ứng viên</a:t>
            </a:r>
          </a:p>
          <a:p>
            <a:r>
              <a:t>Thời lượng gợi ý: 60 giây</a:t>
            </a:r>
          </a:p>
          <a:p/>
          <a:p>
            <a:r>
              <a:t>LỜI ĐỌC</a:t>
            </a:r>
          </a:p>
          <a:p>
            <a:r>
              <a:t>Em nhóm tiêu chí thành sáu phần để dễ đọc. Thứ nhất là khả năng nhận tiếng Việt và thông tin quan trọng. Thứ hai là cấu trúc hội thoại: ai nói, lúc nào. Thứ ba là cách dùng và đầu vào audio.</a:t>
            </a:r>
          </a:p>
          <a:p/>
          <a:p>
            <a:r>
              <a:t>Ba nhóm còn lại là triển khai, dữ liệu và vận hành cùng chi phí. Một giải pháp có nhiều tính năng chưa chắc phù hợp nếu không đáp ứng yêu cầu bắt buộc. Điểm chưa có bằng chứng cần để “cần xác nhận”, không tự đánh dấu có hoặc không.</a:t>
            </a:r>
          </a:p>
          <a:p/>
          <a:p>
            <a:r>
              <a:t>CÂU CHUYỂN</a:t>
            </a:r>
          </a:p>
          <a:p>
            <a:r>
              <a:t>Trong đó, cách triển khai là một điều kiện có thể lọc lựa chọn ngay từ đầu.</a:t>
            </a:r>
          </a:p>
          <a:p/>
          <a:p>
            <a:r>
              <a:t>NHẤN MẠNH</a:t>
            </a:r>
          </a:p>
          <a:p>
            <a:r>
              <a:t>Tiêu chí là đề xuất; cần nội bộ xác nhận.</a:t>
            </a:r>
          </a:p>
          <a:p/>
          <a:p>
            <a:r>
              <a:t>NGUỒN</a:t>
            </a:r>
          </a:p>
          <a:p>
            <a:r>
              <a:t>Ví dụ giả lập / giải thích khái niệm / nhận định đề xuất. Xem References cho facts sản phẩm.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 — Cloud API và tự triển khai: trách nhiệm khác nhau</a:t>
            </a:r>
          </a:p>
          <a:p>
            <a:r>
              <a:t>Thời lượng gợi ý: 60–75 giây</a:t>
            </a:r>
          </a:p>
          <a:p/>
          <a:p>
            <a:r>
              <a:t>LỜI ĐỌC</a:t>
            </a:r>
          </a:p>
          <a:p>
            <a:r>
              <a:t>Cloud API là sử dụng dịch vụ do vendor vận hành. Team ít phải quản lý inference nhưng vẫn phải quản lý dữ liệu, tích hợp, quota và chi phí. Self-hosted là tự triển khai model trên hạ tầng mình quản lý, có thể trong công ty hoặc cloud riêng.</a:t>
            </a:r>
          </a:p>
          <a:p/>
          <a:p>
            <a:r>
              <a:t>Tự triển khai cho phép chủ động hơn nhưng cần máy, giám sát và người xử lý lỗi. Vị trí máy chưa tự chứng minh bảo mật; quyền truy cập và log cũng quan trọng. Vì vậy, lựa chọn cần theo điều kiện thực tế, thay vì mặc định cloud hay nội bộ luôn tốt hơn.</a:t>
            </a:r>
          </a:p>
          <a:p/>
          <a:p>
            <a:r>
              <a:t>CÂU CHUYỂN</a:t>
            </a:r>
          </a:p>
          <a:p>
            <a:r>
              <a:t>Dựa trên đó, em chia các giải pháp khảo sát thành ba nhóm dễ nhìn.</a:t>
            </a:r>
          </a:p>
          <a:p/>
          <a:p>
            <a:r>
              <a:t>NHẤN MẠNH</a:t>
            </a:r>
          </a:p>
          <a:p>
            <a:r>
              <a:t>Không mặc định công ty đã cho phép cloud hay đã có GPU.</a:t>
            </a:r>
          </a:p>
          <a:p/>
          <a:p>
            <a:r>
              <a:t>NGUỒN</a:t>
            </a:r>
          </a:p>
          <a:p>
            <a:r>
              <a:t>Ví dụ giả lập / giải thích khái niệm / nhận định đề xuất. Xem References cho facts sản phẩm.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Ba nhóm lựa chọn đã khảo sát</a:t>
            </a:r>
          </a:p>
          <a:p>
            <a:r>
              <a:t>Thời lượng gợi ý: 60 giây</a:t>
            </a:r>
          </a:p>
          <a:p/>
          <a:p>
            <a:r>
              <a:t>LỜI ĐỌC</a:t>
            </a:r>
          </a:p>
          <a:p>
            <a:r>
              <a:t>Nhóm đầu tiên là model tự triển khai, như Whisper và PhoWhisper. faster-whisper là một cách chạy Whisper nên em không đếm nó thành model tiếng Việt độc lập.</a:t>
            </a:r>
          </a:p>
          <a:p/>
          <a:p>
            <a:r>
              <a:t>Nhóm thứ hai là API hoặc nền tảng speech quốc tế. Trong nhóm này, cách dùng cũng khác nhau: có dịch vụ hosted và có hướng container. Nhóm thứ ba là nhà cung cấp Việt Nam. Việc chia nhóm giúp so đúng phạm vi và giữ đại diện cho các hướng triển khai; chưa phải xếp hạng.</a:t>
            </a:r>
          </a:p>
          <a:p/>
          <a:p>
            <a:r>
              <a:t>CÂU CHUYỂN</a:t>
            </a:r>
          </a:p>
          <a:p>
            <a:r>
              <a:t>Em xin đi qua các điểm đáng chú ý của từng nhóm, bắt đầu với model tự triển khai.</a:t>
            </a:r>
          </a:p>
          <a:p/>
          <a:p>
            <a:r>
              <a:t>NHẤN MẠNH</a:t>
            </a:r>
          </a:p>
          <a:p>
            <a:r>
              <a:t>Landscape đã khảo sát, không khẳng định toàn bộ thị trường.</a:t>
            </a:r>
          </a:p>
          <a:p/>
          <a:p>
            <a:r>
              <a:t>NGUỒN</a:t>
            </a:r>
          </a:p>
          <a:p>
            <a:r>
              <a:t>OpenAI (n.d.g); SYSTRAN (n.d.); VinAI Research (n.d.); xem References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Model tự triển khai: chọn để thử, chưa chọn người thắng</a:t>
            </a:r>
          </a:p>
          <a:p>
            <a:r>
              <a:t>Thời lượng gợi ý: 60 giây</a:t>
            </a:r>
          </a:p>
          <a:p/>
          <a:p>
            <a:r>
              <a:t>LỜI ĐỌC</a:t>
            </a:r>
          </a:p>
          <a:p>
            <a:r>
              <a:t>Whisper là lựa chọn đề xuất làm baseline, tức phương án mốc để đối chiếu. PhoWhisper được fine-tune cho tiếng Việt nên đáng đưa vào thử. faster-whisper là runtime, và hiệu quả tốc độ cần kiểm tra trên máy thực tế.</a:t>
            </a:r>
          </a:p>
          <a:p/>
          <a:p>
            <a:r>
              <a:t>Lý do cần thận trọng là dữ liệu công bố có thể khác cuộc gọi điện thoại bảo hiểm. Hơn nữa, cấu hình và cách chạy ảnh hưởng tài nguyên và kết quả. Do đó, ưu tiên lúc này là chốt checkpoint, runtime và hạ tầng, rồi mới đo chất lượng ở Part 2.</a:t>
            </a:r>
          </a:p>
          <a:p/>
          <a:p>
            <a:r>
              <a:t>CÂU CHUYỂN</a:t>
            </a:r>
          </a:p>
          <a:p>
            <a:r>
              <a:t>Đối với API quốc tế, điều quan trọng là đọc tính năng theo đúng model và ngôn ngữ.</a:t>
            </a:r>
          </a:p>
          <a:p/>
          <a:p>
            <a:r>
              <a:t>NHẤN MẠNH</a:t>
            </a:r>
          </a:p>
          <a:p>
            <a:r>
              <a:t>Fine-tune tiếng Việt là lý do thử, chưa chứng minh tốt hơn.</a:t>
            </a:r>
          </a:p>
          <a:p/>
          <a:p>
            <a:r>
              <a:t>NGUỒN</a:t>
            </a:r>
          </a:p>
          <a:p>
            <a:r>
              <a:t>OpenAI (n.d.g); SYSTRAN (n.d.); VinAI Research (n.d.)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API quốc tế: tính năng cần đọc theo đúng phạm vi</a:t>
            </a:r>
          </a:p>
          <a:p>
            <a:r>
              <a:t>Thời lượng gợi ý: 75–90 giây</a:t>
            </a:r>
          </a:p>
          <a:p/>
          <a:p>
            <a:r>
              <a:t>LỜI ĐỌC</a:t>
            </a:r>
          </a:p>
          <a:p>
            <a:r>
              <a:t>Với OpenAI, em tách model file, live và diarize, đồng thời giữ yêu cầu xác nhận tiếng Việt của đúng checkpoint. Google Chirp 3 liệt kê transcription tiếng Việt, nhưng danh sách diarization được kiểm tra chưa có tiếng Việt.</a:t>
            </a:r>
          </a:p>
          <a:p/>
          <a:p>
            <a:r>
              <a:t>Azure có vi-VN, còn container và tùy chỉnh cần kiểm tra đúng phạm vi. AWS có transcription vi, nhưng không suy ra mọi chức năng phân tích call cũng có vi. Điểm chung là phải đọc theo model, endpoint, region và ngôn ngữ. Những giới hạn này ảnh hưởng công việc cần xây thêm.</a:t>
            </a:r>
          </a:p>
          <a:p/>
          <a:p>
            <a:r>
              <a:t>CÂU CHUYỂN</a:t>
            </a:r>
          </a:p>
          <a:p>
            <a:r>
              <a:t>Ngoài các cloud lớn, em cũng giữ các nền tảng speech và vendor Việt Nam trong danh sách khảo sát.</a:t>
            </a:r>
          </a:p>
          <a:p/>
          <a:p>
            <a:r>
              <a:t>NHẤN MẠNH</a:t>
            </a:r>
          </a:p>
          <a:p>
            <a:r>
              <a:t>Giới hạn theo tài liệu; chưa chấm chất lượng giữa các vendor.</a:t>
            </a:r>
          </a:p>
          <a:p/>
          <a:p>
            <a:r>
              <a:t>NGUỒN</a:t>
            </a:r>
          </a:p>
          <a:p>
            <a:r>
              <a:t>OpenAI (n.d.b–e); Google Cloud (n.d.a); Microsoft (n.d.d); AWS (n.d.b)</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Các lựa chọn bổ sung giải quyết nhu cầu nào?</a:t>
            </a:r>
          </a:p>
          <a:p>
            <a:r>
              <a:t>Thời lượng gợi ý: 75 giây</a:t>
            </a:r>
          </a:p>
          <a:p/>
          <a:p>
            <a:r>
              <a:t>LỜI ĐỌC</a:t>
            </a:r>
          </a:p>
          <a:p>
            <a:r>
              <a:t>Deepgram và Speechmatics là những vendor chuyên speech đáng cân nhắc khi có nhu cầu tương ứng. NVIDIA có cấu hình tiếng Việt trên GPU, đáng khảo sát nếu live nội bộ là ưu tiên và hạ tầng phù hợp.</a:t>
            </a:r>
          </a:p>
          <a:p/>
          <a:p>
            <a:r>
              <a:t>Với vendor Việt Nam, VNPT có specs và giá công khai để bắt đầu. FPT.AI và Viettel cần thêm tài liệu enterprise trước khi chốt. Vendor nội địa chưa tự chứng minh mọi dữ liệu được xử lý trong nước. Tất cả lựa chọn cần trả lời điều kiện cụ thể của dự án, thay vì thêm vào chỉ vì có tên trên thị trường.</a:t>
            </a:r>
          </a:p>
          <a:p/>
          <a:p>
            <a:r>
              <a:t>CÂU CHUYỂN</a:t>
            </a:r>
          </a:p>
          <a:p>
            <a:r>
              <a:t>Sau khi nhìn các lựa chọn, em tổng hợp một số điều dễ hiểu nhầm cần tránh.</a:t>
            </a:r>
          </a:p>
          <a:p/>
          <a:p>
            <a:r>
              <a:t>NHẤN MẠNH</a:t>
            </a:r>
          </a:p>
          <a:p>
            <a:r>
              <a:t>Thiếu docs không đồng nghĩa không hỗ trợ.</a:t>
            </a:r>
          </a:p>
          <a:p/>
          <a:p>
            <a:r>
              <a:t>NGUỒN</a:t>
            </a:r>
          </a:p>
          <a:p>
            <a:r>
              <a:t>Deepgram (n.d.a–b); Speechmatics (n.d.a–b); NVIDIA (2026; n.d.); VNPT AI (n.d.a–b); FPT.AI (n.d.); Viettel AI (n.d.)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Ba lưu ý có thể đổi quyết định lựa chọn</a:t>
            </a:r>
          </a:p>
          <a:p>
            <a:r>
              <a:t>Thời lượng gợi ý: 60 giây</a:t>
            </a:r>
          </a:p>
          <a:p/>
          <a:p>
            <a:r>
              <a:t>LỜI ĐỌC</a:t>
            </a:r>
          </a:p>
          <a:p>
            <a:r>
              <a:t>Em muốn nhấn mạnh ba điểm. Có tiếng Việt chưa chứng minh nghe tốt cuộc gọi công ty, vì nguồn audio và cách nói có thể khác dữ liệu công bố. Có nhãn speaker chưa xác định chắc agent hay khách, nên vẫn cần mapping.</a:t>
            </a:r>
          </a:p>
          <a:p/>
          <a:p>
            <a:r>
              <a:t>Cuối cùng, đơn giá thấp chưa đủ kết luận tổng chi phí thấp. Nếu cần gửi lại, tách hai kênh hoặc review nhiều lỗi, chi phí sử dụng có thể khác dự tính. Những lưu ý này giúp mình chọn điều cần kiểm chứng, thay vì chốt bằng một dòng marketing.</a:t>
            </a:r>
          </a:p>
          <a:p/>
          <a:p>
            <a:r>
              <a:t>CÂU CHUYỂN</a:t>
            </a:r>
          </a:p>
          <a:p>
            <a:r>
              <a:t>Em dùng một ví dụ đơn giản để giải thích cách tính chi phí.</a:t>
            </a:r>
          </a:p>
          <a:p/>
          <a:p>
            <a:r>
              <a:t>NHẤN MẠNH</a:t>
            </a:r>
          </a:p>
          <a:p>
            <a:r>
              <a:t>Đây là lập luận đề xuất, không phải số đo.</a:t>
            </a:r>
          </a:p>
          <a:p/>
          <a:p>
            <a:r>
              <a:t>NGUỒN</a:t>
            </a:r>
          </a:p>
          <a:p>
            <a:r>
              <a:t>Ví dụ giả lập / giải thích khái niệm / nhận định đề xuất. Xem References cho facts sản phẩm.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Chi phí: bắt đầu từ phút audio được tính phí</a:t>
            </a:r>
          </a:p>
          <a:p>
            <a:r>
              <a:t>Thời lượng gợi ý: 75 giây</a:t>
            </a:r>
          </a:p>
          <a:p/>
          <a:p>
            <a:r>
              <a:t>LỜI ĐỌC</a:t>
            </a:r>
          </a:p>
          <a:p>
            <a:r>
              <a:t>Giả sử có hai trăm call mỗi ngày, mỗi call năm phút, trong hai mươi hai ngày. Tổng là hai mươi hai nghìn phút call. Nếu đúng lượng đó được tính phí ở mức 0,0045 đô một phút, kết quả là 99 đô. Mức 0,017 đô một phút cho kết quả 374 đô.</a:t>
            </a:r>
          </a:p>
          <a:p/>
          <a:p>
            <a:r>
              <a:t>Hai mức tham khảo này là file và live của OpenAI, nên không dùng chúng để kết luận cùng một dịch vụ rẻ hay đắt hơn. Phép tính chưa gồm mọi chi phí. Cần xác nhận phút được tính theo cách nào và có tách kênh hoặc retry không.</a:t>
            </a:r>
          </a:p>
          <a:p/>
          <a:p>
            <a:r>
              <a:t>CÂU CHUYỂN</a:t>
            </a:r>
          </a:p>
          <a:p>
            <a:r>
              <a:t>Ngoài ngân sách, một điều kiện bắt buộc khác là luồng dữ liệu.</a:t>
            </a:r>
          </a:p>
          <a:p/>
          <a:p>
            <a:r>
              <a:t>NHẤN MẠNH</a:t>
            </a:r>
          </a:p>
          <a:p>
            <a:r>
              <a:t>Đọc số rõ; nhấn đây là giả định và mode khác nhau.</a:t>
            </a:r>
          </a:p>
          <a:p/>
          <a:p>
            <a:r>
              <a:t>NGUỒN</a:t>
            </a:r>
          </a:p>
          <a:p>
            <a:r>
              <a:t>OpenAI (n.d.f). Phép tính của tác giả theo giả định minh họa.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Dữ liệu: cần hỏi trước khi gửi audio thật</a:t>
            </a:r>
          </a:p>
          <a:p>
            <a:r>
              <a:t>Thời lượng gợi ý: 75 giây</a:t>
            </a:r>
          </a:p>
          <a:p/>
          <a:p>
            <a:r>
              <a:t>LỜI ĐỌC</a:t>
            </a:r>
          </a:p>
          <a:p>
            <a:r>
              <a:t>Trước khi dùng audio công ty, team cần xác định dữ liệu được gửi và xử lý ở đâu, lưu gì, bao lâu và ai được truy cập. Retention là thời gian giữ dữ liệu; PII là thông tin nhận diện cá nhân.</a:t>
            </a:r>
          </a:p>
          <a:p/>
          <a:p>
            <a:r>
              <a:t>Một policy của endpoint transcription chưa tự bao phủ storage và logs mà ứng dụng tạo thêm. Che tên trong transcript cũng chưa thay đổi việc audio gốc đã được xử lý ở đâu. Vì vậy, em đề xuất kiểm tra cả workflow với đội phụ trách nội bộ. Bài survey này chưa xác nhận vendor nào đã đáp ứng policy Dai-ichi.</a:t>
            </a:r>
          </a:p>
          <a:p/>
          <a:p>
            <a:r>
              <a:t>CÂU CHUYỂN</a:t>
            </a:r>
          </a:p>
          <a:p>
            <a:r>
              <a:t>Với các điều kiện đó, em đề xuất một shortlist ban đầu để team review.</a:t>
            </a:r>
          </a:p>
          <a:p/>
          <a:p>
            <a:r>
              <a:t>NHẤN MẠNH</a:t>
            </a:r>
          </a:p>
          <a:p>
            <a:r>
              <a:t>Không tuyên bố tuân thủ pháp lý hoặc vendor đã được duyệt.</a:t>
            </a:r>
          </a:p>
          <a:p/>
          <a:p>
            <a:r>
              <a:t>NGUỒN</a:t>
            </a:r>
          </a:p>
          <a:p>
            <a:r>
              <a:t>OpenAI (n.d.a); Microsoft (n.d.b); phần còn lại là đề xuất kiến trúc.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Shortlist ban đầu — ưu tiên thử, không xếp hạng</a:t>
            </a:r>
          </a:p>
          <a:p>
            <a:r>
              <a:t>Thời lượng gợi ý: 60–75 giây</a:t>
            </a:r>
          </a:p>
          <a:p/>
          <a:p>
            <a:r>
              <a:t>LỜI ĐỌC</a:t>
            </a:r>
          </a:p>
          <a:p>
            <a:r>
              <a:t>Em đề xuất shortlist ban đầu gồm đại diện ba hướng. Nhánh tự triển khai có Whisper và PhoWhisper. Nhánh API có OpenAI gpt-transcribe, Google Chirp 3 và Azure Speech. Nhánh nội địa có VNPT SmartVoice.</a:t>
            </a:r>
          </a:p>
          <a:p/>
          <a:p>
            <a:r>
              <a:t>Đây là danh sách ưu tiên khảo sát cho post-call, không phải thứ hạng accuracy. Nếu yêu cầu chỉ cho xử lý nội bộ, shortlist sẽ thay đổi. Nếu cần live, có thể thêm ứng viên tương ứng. Những dòng chưa chốt ngôn ngữ, quyền dữ liệu hoặc hạ tầng chưa được coi là sẵn sàng thử call nội bộ.</a:t>
            </a:r>
          </a:p>
          <a:p/>
          <a:p>
            <a:r>
              <a:t>CÂU CHUYỂN</a:t>
            </a:r>
          </a:p>
          <a:p>
            <a:r>
              <a:t>Bước tiếp theo là xác nhận những điều nội bộ trước khi đi vào evaluation.</a:t>
            </a:r>
          </a:p>
          <a:p/>
          <a:p>
            <a:r>
              <a:t>NHẤN MẠNH</a:t>
            </a:r>
          </a:p>
          <a:p>
            <a:r>
              <a:t>Shortlist có điều kiện, chưa recommendation production.</a:t>
            </a:r>
          </a:p>
          <a:p/>
          <a:p>
            <a:r>
              <a:t>NGUỒN</a:t>
            </a:r>
          </a:p>
          <a:p>
            <a:r>
              <a:t>Ví dụ giả lập / giải thích khái niệm / nhận định đề xuất. Xem References cho facts sản phẩm.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Bước tiếp theo: chốt yêu cầu rồi mới evaluation</a:t>
            </a:r>
          </a:p>
          <a:p>
            <a:r>
              <a:t>Thời lượng gợi ý: 75 giây</a:t>
            </a:r>
          </a:p>
          <a:p/>
          <a:p>
            <a:r>
              <a:t>LỜI ĐỌC</a:t>
            </a:r>
          </a:p>
          <a:p>
            <a:r>
              <a:t>Em đề xuất bước tiếp theo là chốt mục tiêu với manager và QA, xác nhận audio cùng tải với IT, rồi làm rõ dữ liệu và tính năng với vendor. Các câu trả lời này giúp chuyển shortlist thành những cấu hình thực hiện được.</a:t>
            </a:r>
          </a:p>
          <a:p/>
          <a:p>
            <a:r>
              <a:t>Sau đó, Part 2 sẽ chuẩn bị audio đại diện và transcript tham chiếu, rồi đo chất lượng, lỗi nghiệp vụ, tốc độ và chi phí theo cùng quy tắc. Kết luận của em ở Part 1 là đã có bản đồ lựa chọn và các điểm cần xác nhận; chưa chọn engine chính thức. Em xin nhận ý kiến của anh chị về yêu cầu ưu tiên.</a:t>
            </a:r>
          </a:p>
          <a:p/>
          <a:p>
            <a:r>
              <a:t>CÂU CHUYỂN</a:t>
            </a:r>
          </a:p>
          <a:p>
            <a:r>
              <a:t>Các slide tiếp theo là phụ lục để tra cứu khi cần, không bắt buộc trình bày hết.</a:t>
            </a:r>
          </a:p>
          <a:p/>
          <a:p>
            <a:r>
              <a:t>NHẤN MẠNH</a:t>
            </a:r>
          </a:p>
          <a:p>
            <a:r>
              <a:t>Kết thúc phần chính bằng quyết định review cần đạt.</a:t>
            </a:r>
          </a:p>
          <a:p/>
          <a:p>
            <a:r>
              <a:t>NGUỒN</a:t>
            </a:r>
          </a:p>
          <a:p>
            <a:r>
              <a:t>Ví dụ giả lập / giải thích khái niệm / nhận định đề xuất. Xem References cho facts sản phẩm.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Phụ lục • Ma trận đọc nhanh 1/3</a:t>
            </a:r>
          </a:p>
          <a:p>
            <a:r>
              <a:t>Thời lượng gợi ý: Chỉ dùng khi cần</a:t>
            </a:r>
          </a:p>
          <a:p/>
          <a:p>
            <a:r>
              <a:t>LỜI ĐỌC</a:t>
            </a:r>
          </a:p>
          <a:p>
            <a:r>
              <a:t>Slide này dùng khi anh chị muốn đối chiếu một cấu hình cụ thể. Em đọc theo ba cột chính: khi nào đáng cân nhắc, cần chốt điều gì và tại sao điểm đó quan trọng.</a:t>
            </a:r>
          </a:p>
          <a:p/>
          <a:p>
            <a:r>
              <a:t>Các dòng là ứng viên khảo sát, không phải bảng xếp hạng. “Cần xác nhận” nghĩa là chưa đủ thông tin; “chưa evaluation” nghĩa là chưa đo trên dữ liệu công ty. Bộ ma trận đầy đủ đi kèm có 17 cấu hình và 26 tiêu chí nội dung.</a:t>
            </a:r>
          </a:p>
          <a:p/>
          <a:p>
            <a:r>
              <a:t>CÂU CHUYỂN</a:t>
            </a:r>
          </a:p>
          <a:p>
            <a:r>
              <a:t>Em có thể mở dòng liên quan để trao đổi thêm; nếu không cần, chuyển sang phần thuật ngữ.</a:t>
            </a:r>
          </a:p>
          <a:p/>
          <a:p>
            <a:r>
              <a:t>NHẤN MẠNH</a:t>
            </a:r>
          </a:p>
          <a:p>
            <a:r>
              <a:t>Không đọc hết bảng; chọn đúng dòng người nghe hỏi.</a:t>
            </a:r>
          </a:p>
          <a:p/>
          <a:p>
            <a:r>
              <a:t>NGUỒN</a:t>
            </a:r>
          </a:p>
          <a:p>
            <a:r>
              <a:t>Ví dụ giả lập / giải thích khái niệm / nhận định đề xuất. Xem References cho facts sản phẩm.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Phụ lục • Ma trận đọc nhanh 2/3</a:t>
            </a:r>
          </a:p>
          <a:p>
            <a:r>
              <a:t>Thời lượng gợi ý: Chỉ dùng khi cần</a:t>
            </a:r>
          </a:p>
          <a:p/>
          <a:p>
            <a:r>
              <a:t>LỜI ĐỌC</a:t>
            </a:r>
          </a:p>
          <a:p>
            <a:r>
              <a:t>Slide này dùng khi anh chị muốn đối chiếu một cấu hình cụ thể. Em đọc theo ba cột chính: khi nào đáng cân nhắc, cần chốt điều gì và tại sao điểm đó quan trọng.</a:t>
            </a:r>
          </a:p>
          <a:p/>
          <a:p>
            <a:r>
              <a:t>Các dòng là ứng viên khảo sát, không phải bảng xếp hạng. “Cần xác nhận” nghĩa là chưa đủ thông tin; “chưa evaluation” nghĩa là chưa đo trên dữ liệu công ty. Bộ ma trận đầy đủ đi kèm có 17 cấu hình và 26 tiêu chí nội dung.</a:t>
            </a:r>
          </a:p>
          <a:p/>
          <a:p>
            <a:r>
              <a:t>CÂU CHUYỂN</a:t>
            </a:r>
          </a:p>
          <a:p>
            <a:r>
              <a:t>Em có thể mở dòng liên quan để trao đổi thêm; nếu không cần, chuyển sang phần thuật ngữ.</a:t>
            </a:r>
          </a:p>
          <a:p/>
          <a:p>
            <a:r>
              <a:t>NHẤN MẠNH</a:t>
            </a:r>
          </a:p>
          <a:p>
            <a:r>
              <a:t>Không đọc hết bảng; chọn đúng dòng người nghe hỏi.</a:t>
            </a:r>
          </a:p>
          <a:p/>
          <a:p>
            <a:r>
              <a:t>NGUỒN</a:t>
            </a:r>
          </a:p>
          <a:p>
            <a:r>
              <a:t>Ví dụ giả lập / giải thích khái niệm / nhận định đề xuất. Xem References cho facts sản phẩm.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 Phụ lục • Ma trận đọc nhanh 3/3</a:t>
            </a:r>
          </a:p>
          <a:p>
            <a:r>
              <a:t>Thời lượng gợi ý: Chỉ dùng khi cần</a:t>
            </a:r>
          </a:p>
          <a:p/>
          <a:p>
            <a:r>
              <a:t>LỜI ĐỌC</a:t>
            </a:r>
          </a:p>
          <a:p>
            <a:r>
              <a:t>Slide này dùng khi anh chị muốn đối chiếu một cấu hình cụ thể. Em đọc theo ba cột chính: khi nào đáng cân nhắc, cần chốt điều gì và tại sao điểm đó quan trọng.</a:t>
            </a:r>
          </a:p>
          <a:p/>
          <a:p>
            <a:r>
              <a:t>Các dòng là ứng viên khảo sát, không phải bảng xếp hạng. “Cần xác nhận” nghĩa là chưa đủ thông tin; “chưa evaluation” nghĩa là chưa đo trên dữ liệu công ty. Bộ ma trận đầy đủ đi kèm có 17 cấu hình và 26 tiêu chí nội dung.</a:t>
            </a:r>
          </a:p>
          <a:p/>
          <a:p>
            <a:r>
              <a:t>CÂU CHUYỂN</a:t>
            </a:r>
          </a:p>
          <a:p>
            <a:r>
              <a:t>Em có thể mở dòng liên quan để trao đổi thêm; nếu không cần, chuyển sang phần thuật ngữ.</a:t>
            </a:r>
          </a:p>
          <a:p/>
          <a:p>
            <a:r>
              <a:t>NHẤN MẠNH</a:t>
            </a:r>
          </a:p>
          <a:p>
            <a:r>
              <a:t>Không đọc hết bảng; chọn đúng dòng người nghe hỏi.</a:t>
            </a:r>
          </a:p>
          <a:p/>
          <a:p>
            <a:r>
              <a:t>NGUỒN</a:t>
            </a:r>
          </a:p>
          <a:p>
            <a:r>
              <a:t>Ví dụ giả lập / giải thích khái niệm / nhận định đề xuất. Xem References cho facts sản phẩm.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 Phụ lục • Thuật ngữ tra nhanh</a:t>
            </a:r>
          </a:p>
          <a:p>
            <a:r>
              <a:t>Thời lượng gợi ý: Chỉ dùng khi cần</a:t>
            </a:r>
          </a:p>
          <a:p/>
          <a:p>
            <a:r>
              <a:t>LỜI ĐỌC</a:t>
            </a:r>
          </a:p>
          <a:p>
            <a:r>
              <a:t>Slide này là bảng tra từ. Nếu có thuật ngữ chưa rõ, em giải thích bằng công việc thực tế thay vì đọc định nghĩa dài. Ví dụ API là cách gửi audio và lấy kết quả; diarization là phân lời nói theo speaker; baseline là phương án mốc để đối chiếu.</a:t>
            </a:r>
          </a:p>
          <a:p/>
          <a:p>
            <a:r>
              <a:t>Các từ trong slide chưa thể hiện sản phẩm đã đáp ứng yêu cầu. Để chọn sản phẩm, mình vẫn phải đối chiếu cấu hình và nguồn cụ thể.</a:t>
            </a:r>
          </a:p>
          <a:p/>
          <a:p>
            <a:r>
              <a:t>CÂU CHUYỂN</a:t>
            </a:r>
          </a:p>
          <a:p>
            <a:r>
              <a:t>Phần cuối là danh mục nguồn để đối chiếu thông tin đã khảo sát.</a:t>
            </a:r>
          </a:p>
          <a:p/>
          <a:p>
            <a:r>
              <a:t>NHẤN MẠNH</a:t>
            </a:r>
          </a:p>
          <a:p>
            <a:r>
              <a:t>Dùng ví dụ nếu người nghe chưa quen thuật ngữ.</a:t>
            </a:r>
          </a:p>
          <a:p/>
          <a:p>
            <a:r>
              <a:t>NGUỒN</a:t>
            </a:r>
          </a:p>
          <a:p>
            <a:r>
              <a:t>Ví dụ giả lập / giải thích khái niệm / nhận định đề xuất. Xem References cho facts sản phẩm.</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 References • Harvard 1/3</a:t>
            </a:r>
          </a:p>
          <a:p>
            <a:r>
              <a:t>Thời lượng gợi ý: Không cần đọc</a:t>
            </a:r>
          </a:p>
          <a:p/>
          <a:p>
            <a:r>
              <a:t>LỜI ĐỌC</a:t>
            </a:r>
          </a:p>
          <a:p>
            <a:r>
              <a:t>Đây là danh mục nguồn của bản khảo sát. Citation theo tổ chức và n.d. khi không có năm xuất bản rõ; các chữ a, b, c phân biệt những trang cùng tổ chức.</a:t>
            </a:r>
          </a:p>
          <a:p/>
          <a:p>
            <a:r>
              <a:t>Nguồn giúp xác minh tính năng trong phạm vi tài liệu, nhưng chưa thay thế evaluation trên call công ty. Ví dụ giả lập và các đề xuất của em được đánh dấu riêng trong script và báo cáo.</a:t>
            </a:r>
          </a:p>
          <a:p/>
          <a:p>
            <a:r>
              <a:t>CÂU CHUYỂN</a:t>
            </a:r>
          </a:p>
          <a:p>
            <a:r>
              <a:t>Có thể mở nguồn cụ thể để kiểm tra; không cần đọc toàn bộ danh mục khi trình bày.</a:t>
            </a:r>
          </a:p>
          <a:p/>
          <a:p>
            <a:r>
              <a:t>NHẤN MẠNH</a:t>
            </a:r>
          </a:p>
          <a:p>
            <a:r>
              <a:t>Chỉ tra nguồn khi có câu hỏi về bằng chứng.</a:t>
            </a:r>
          </a:p>
          <a:p/>
          <a:p>
            <a:r>
              <a:t>NGUỒN</a:t>
            </a:r>
          </a:p>
          <a:p>
            <a:r>
              <a:t>Ví dụ giả lập / giải thích khái niệm / nhận định đề xuất. Xem References cho facts sản phẩm.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 References • Harvard 2/3</a:t>
            </a:r>
          </a:p>
          <a:p>
            <a:r>
              <a:t>Thời lượng gợi ý: Không cần đọc</a:t>
            </a:r>
          </a:p>
          <a:p/>
          <a:p>
            <a:r>
              <a:t>LỜI ĐỌC</a:t>
            </a:r>
          </a:p>
          <a:p>
            <a:r>
              <a:t>Đây là danh mục nguồn của bản khảo sát. Citation theo tổ chức và n.d. khi không có năm xuất bản rõ; các chữ a, b, c phân biệt những trang cùng tổ chức.</a:t>
            </a:r>
          </a:p>
          <a:p/>
          <a:p>
            <a:r>
              <a:t>Nguồn giúp xác minh tính năng trong phạm vi tài liệu, nhưng chưa thay thế evaluation trên call công ty. Ví dụ giả lập và các đề xuất của em được đánh dấu riêng trong script và báo cáo.</a:t>
            </a:r>
          </a:p>
          <a:p/>
          <a:p>
            <a:r>
              <a:t>CÂU CHUYỂN</a:t>
            </a:r>
          </a:p>
          <a:p>
            <a:r>
              <a:t>Có thể mở nguồn cụ thể để kiểm tra; không cần đọc toàn bộ danh mục khi trình bày.</a:t>
            </a:r>
          </a:p>
          <a:p/>
          <a:p>
            <a:r>
              <a:t>NHẤN MẠNH</a:t>
            </a:r>
          </a:p>
          <a:p>
            <a:r>
              <a:t>Chỉ tra nguồn khi có câu hỏi về bằng chứng.</a:t>
            </a:r>
          </a:p>
          <a:p/>
          <a:p>
            <a:r>
              <a:t>NGUỒN</a:t>
            </a:r>
          </a:p>
          <a:p>
            <a:r>
              <a:t>Ví dụ giả lập / giải thích khái niệm / nhận định đề xuất. Xem References cho facts sản phẩm.</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 References • Harvard 3/3</a:t>
            </a:r>
          </a:p>
          <a:p>
            <a:r>
              <a:t>Thời lượng gợi ý: Không cần đọc</a:t>
            </a:r>
          </a:p>
          <a:p/>
          <a:p>
            <a:r>
              <a:t>LỜI ĐỌC</a:t>
            </a:r>
          </a:p>
          <a:p>
            <a:r>
              <a:t>Đây là danh mục nguồn của bản khảo sát. Citation theo tổ chức và n.d. khi không có năm xuất bản rõ; các chữ a, b, c phân biệt những trang cùng tổ chức.</a:t>
            </a:r>
          </a:p>
          <a:p/>
          <a:p>
            <a:r>
              <a:t>Nguồn giúp xác minh tính năng trong phạm vi tài liệu, nhưng chưa thay thế evaluation trên call công ty. Ví dụ giả lập và các đề xuất của em được đánh dấu riêng trong script và báo cáo.</a:t>
            </a:r>
          </a:p>
          <a:p/>
          <a:p>
            <a:r>
              <a:t>CÂU CHUYỂN</a:t>
            </a:r>
          </a:p>
          <a:p>
            <a:r>
              <a:t>Có thể mở nguồn cụ thể để kiểm tra; không cần đọc toàn bộ danh mục khi trình bày.</a:t>
            </a:r>
          </a:p>
          <a:p/>
          <a:p>
            <a:r>
              <a:t>NHẤN MẠNH</a:t>
            </a:r>
          </a:p>
          <a:p>
            <a:r>
              <a:t>Chỉ tra nguồn khi có câu hỏi về bằng chứng.</a:t>
            </a:r>
          </a:p>
          <a:p/>
          <a:p>
            <a:r>
              <a:t>NGUỒN</a:t>
            </a:r>
          </a:p>
          <a:p>
            <a:r>
              <a:t>Ví dụ giả lập / giải thích khái niệm / nhận định đề xuất. Xem References cho facts sản phẩm.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703320" cy="6858000"/>
          </a:xfrm>
          <a:prstGeom prst="rect">
            <a:avLst/>
          </a:prstGeom>
          <a:solidFill>
            <a:srgbClr val="173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822960"/>
            <a:ext cx="2743200" cy="1280160"/>
          </a:xfrm>
          <a:prstGeom prst="rect">
            <a:avLst/>
          </a:prstGeom>
          <a:noFill/>
        </p:spPr>
        <p:txBody>
          <a:bodyPr wrap="square" lIns="0" rIns="0" tIns="0" bIns="0">
            <a:spAutoFit/>
          </a:bodyPr>
          <a:lstStyle/>
          <a:p>
            <a:pPr>
              <a:spcAft>
                <a:spcPts val="700"/>
              </a:spcAft>
              <a:defRPr sz="3800" b="1">
                <a:solidFill>
                  <a:srgbClr val="FFFFFF"/>
                </a:solidFill>
                <a:latin typeface="Arial"/>
              </a:defRPr>
            </a:pPr>
            <a:r>
              <a:t>STT</a:t>
            </a:r>
          </a:p>
          <a:p>
            <a:pPr>
              <a:spcAft>
                <a:spcPts val="700"/>
              </a:spcAft>
              <a:defRPr sz="3800" b="1">
                <a:solidFill>
                  <a:srgbClr val="FFFFFF"/>
                </a:solidFill>
                <a:latin typeface="Arial"/>
              </a:defRPr>
            </a:pPr>
            <a:r>
              <a:t>SURVEY</a:t>
            </a:r>
          </a:p>
        </p:txBody>
      </p:sp>
      <p:sp>
        <p:nvSpPr>
          <p:cNvPr id="5" name="TextBox 4"/>
          <p:cNvSpPr txBox="1"/>
          <p:nvPr/>
        </p:nvSpPr>
        <p:spPr>
          <a:xfrm>
            <a:off x="502920" y="5029200"/>
            <a:ext cx="2743200" cy="822960"/>
          </a:xfrm>
          <a:prstGeom prst="rect">
            <a:avLst/>
          </a:prstGeom>
          <a:noFill/>
        </p:spPr>
        <p:txBody>
          <a:bodyPr wrap="square" lIns="0" rIns="0" tIns="0" bIns="0">
            <a:spAutoFit/>
          </a:bodyPr>
          <a:lstStyle/>
          <a:p>
            <a:pPr>
              <a:spcAft>
                <a:spcPts val="700"/>
              </a:spcAft>
              <a:defRPr sz="2100" b="0">
                <a:solidFill>
                  <a:srgbClr val="FFFFFF"/>
                </a:solidFill>
                <a:latin typeface="Arial"/>
              </a:defRPr>
            </a:pPr>
            <a:r>
              <a:t>PART 1</a:t>
            </a:r>
          </a:p>
          <a:p>
            <a:pPr>
              <a:spcAft>
                <a:spcPts val="700"/>
              </a:spcAft>
              <a:defRPr sz="2100" b="0">
                <a:solidFill>
                  <a:srgbClr val="FFFFFF"/>
                </a:solidFill>
                <a:latin typeface="Arial"/>
              </a:defRPr>
            </a:pPr>
            <a:r>
              <a:t>CALL CENTER</a:t>
            </a:r>
          </a:p>
        </p:txBody>
      </p:sp>
      <p:sp>
        <p:nvSpPr>
          <p:cNvPr id="6" name="TextBox 5"/>
          <p:cNvSpPr txBox="1"/>
          <p:nvPr/>
        </p:nvSpPr>
        <p:spPr>
          <a:xfrm>
            <a:off x="4251960" y="1097280"/>
            <a:ext cx="7223760" cy="1554480"/>
          </a:xfrm>
          <a:prstGeom prst="rect">
            <a:avLst/>
          </a:prstGeom>
          <a:noFill/>
        </p:spPr>
        <p:txBody>
          <a:bodyPr wrap="square" lIns="0" rIns="0" tIns="0" bIns="0">
            <a:spAutoFit/>
          </a:bodyPr>
          <a:lstStyle/>
          <a:p>
            <a:pPr>
              <a:spcAft>
                <a:spcPts val="700"/>
              </a:spcAft>
              <a:defRPr sz="4200" b="1">
                <a:solidFill>
                  <a:srgbClr val="173F5F"/>
                </a:solidFill>
                <a:latin typeface="Arial"/>
              </a:defRPr>
            </a:pPr>
            <a:r>
              <a:t>Chuyển cuộc gọi thành văn bản</a:t>
            </a:r>
          </a:p>
        </p:txBody>
      </p:sp>
      <p:sp>
        <p:nvSpPr>
          <p:cNvPr id="7" name="TextBox 6"/>
          <p:cNvSpPr txBox="1"/>
          <p:nvPr/>
        </p:nvSpPr>
        <p:spPr>
          <a:xfrm>
            <a:off x="4251960" y="2743200"/>
            <a:ext cx="7132320" cy="822960"/>
          </a:xfrm>
          <a:prstGeom prst="rect">
            <a:avLst/>
          </a:prstGeom>
          <a:noFill/>
        </p:spPr>
        <p:txBody>
          <a:bodyPr wrap="square" lIns="0" rIns="0" tIns="0" bIns="0">
            <a:spAutoFit/>
          </a:bodyPr>
          <a:lstStyle/>
          <a:p>
            <a:pPr>
              <a:spcAft>
                <a:spcPts val="700"/>
              </a:spcAft>
              <a:defRPr sz="2300" b="0">
                <a:solidFill>
                  <a:srgbClr val="526879"/>
                </a:solidFill>
                <a:latin typeface="Arial"/>
              </a:defRPr>
            </a:pPr>
            <a:r>
              <a:t>Speech-to-Text Models &amp; APIs • Part 1: Analysis and Survey</a:t>
            </a:r>
          </a:p>
        </p:txBody>
      </p:sp>
      <p:sp>
        <p:nvSpPr>
          <p:cNvPr id="8" name="TextBox 7"/>
          <p:cNvSpPr txBox="1"/>
          <p:nvPr/>
        </p:nvSpPr>
        <p:spPr>
          <a:xfrm>
            <a:off x="4251960" y="4160520"/>
            <a:ext cx="7132320" cy="640080"/>
          </a:xfrm>
          <a:prstGeom prst="rect">
            <a:avLst/>
          </a:prstGeom>
          <a:noFill/>
        </p:spPr>
        <p:txBody>
          <a:bodyPr wrap="square" lIns="0" rIns="0" tIns="0" bIns="0">
            <a:spAutoFit/>
          </a:bodyPr>
          <a:lstStyle/>
          <a:p>
            <a:pPr>
              <a:spcAft>
                <a:spcPts val="700"/>
              </a:spcAft>
              <a:defRPr sz="3000" b="1">
                <a:solidFill>
                  <a:srgbClr val="173F5F"/>
                </a:solidFill>
                <a:latin typeface="Arial"/>
              </a:defRPr>
            </a:pPr>
            <a:r>
              <a:t>Tien Phat Dam</a:t>
            </a:r>
          </a:p>
        </p:txBody>
      </p:sp>
      <p:sp>
        <p:nvSpPr>
          <p:cNvPr id="9" name="TextBox 8"/>
          <p:cNvSpPr txBox="1"/>
          <p:nvPr/>
        </p:nvSpPr>
        <p:spPr>
          <a:xfrm>
            <a:off x="4251960" y="4937760"/>
            <a:ext cx="7132320" cy="731520"/>
          </a:xfrm>
          <a:prstGeom prst="rect">
            <a:avLst/>
          </a:prstGeom>
          <a:noFill/>
        </p:spPr>
        <p:txBody>
          <a:bodyPr wrap="square" lIns="0" rIns="0" tIns="0" bIns="0">
            <a:spAutoFit/>
          </a:bodyPr>
          <a:lstStyle/>
          <a:p>
            <a:pPr>
              <a:spcAft>
                <a:spcPts val="700"/>
              </a:spcAft>
              <a:defRPr sz="2200" b="0">
                <a:solidFill>
                  <a:srgbClr val="526879"/>
                </a:solidFill>
                <a:latin typeface="Arial"/>
              </a:defRPr>
            </a:pPr>
            <a:r>
              <a:t>Dai-ichi Life Việt Nam</a:t>
            </a:r>
          </a:p>
          <a:p>
            <a:pPr>
              <a:spcAft>
                <a:spcPts val="700"/>
              </a:spcAft>
              <a:defRPr sz="2200" b="0">
                <a:solidFill>
                  <a:srgbClr val="526879"/>
                </a:solidFill>
                <a:latin typeface="Arial"/>
              </a:defRPr>
            </a:pPr>
            <a:r>
              <a:t>6 October 2026</a:t>
            </a:r>
          </a:p>
        </p:txBody>
      </p:sp>
      <p:sp>
        <p:nvSpPr>
          <p:cNvPr id="10" name="Rectangle 9"/>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28816"/>
            <a:ext cx="9509760" cy="182880"/>
          </a:xfrm>
          <a:prstGeom prst="rect">
            <a:avLst/>
          </a:prstGeom>
          <a:noFill/>
        </p:spPr>
        <p:txBody>
          <a:bodyPr wrap="square" lIns="0" rIns="0" tIns="0" bIns="0">
            <a:spAutoFit/>
          </a:bodyPr>
          <a:lstStyle/>
          <a:p>
            <a:pPr>
              <a:spcAft>
                <a:spcPts val="700"/>
              </a:spcAft>
              <a:defRPr sz="1000" b="0">
                <a:solidFill>
                  <a:srgbClr val="526879"/>
                </a:solidFill>
                <a:latin typeface="Arial"/>
              </a:defRPr>
            </a:pPr>
            <a:r>
              <a:t>Tien Phat Dam  •  Dai-ichi Life VN  •  Part 1 — Survey</a:t>
            </a:r>
          </a:p>
        </p:txBody>
      </p:sp>
      <p:sp>
        <p:nvSpPr>
          <p:cNvPr id="12" name="TextBox 11"/>
          <p:cNvSpPr txBox="1"/>
          <p:nvPr/>
        </p:nvSpPr>
        <p:spPr>
          <a:xfrm>
            <a:off x="11091672" y="6492240"/>
            <a:ext cx="594360" cy="228600"/>
          </a:xfrm>
          <a:prstGeom prst="rect">
            <a:avLst/>
          </a:prstGeom>
          <a:noFill/>
        </p:spPr>
        <p:txBody>
          <a:bodyPr wrap="square" lIns="0" rIns="0" tIns="0" bIns="0">
            <a:spAutoFit/>
          </a:bodyPr>
          <a:lstStyle/>
          <a:p>
            <a:pPr>
              <a:spcAft>
                <a:spcPts val="700"/>
              </a:spcAft>
              <a:defRPr sz="1100" b="0">
                <a:solidFill>
                  <a:srgbClr val="526879"/>
                </a:solidFill>
                <a:latin typeface="Arial"/>
              </a:defRPr>
            </a:pPr>
            <a:r>
              <a:t>01/25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685800"/>
          </a:xfrm>
          <a:prstGeom prst="rect">
            <a:avLst/>
          </a:prstGeom>
          <a:noFill/>
        </p:spPr>
        <p:txBody>
          <a:bodyPr wrap="square" lIns="0" rIns="0" tIns="0" bIns="0">
            <a:spAutoFit/>
          </a:bodyPr>
          <a:lstStyle/>
          <a:p>
            <a:pPr>
              <a:spcAft>
                <a:spcPts val="700"/>
              </a:spcAft>
              <a:defRPr sz="3100" b="1">
                <a:solidFill>
                  <a:srgbClr val="173F5F"/>
                </a:solidFill>
                <a:latin typeface="Arial"/>
              </a:defRPr>
            </a:pPr>
            <a:r>
              <a:t>Từ một cuộc gọi đến nội dung có thể tìm kiếm</a:t>
            </a:r>
          </a:p>
        </p:txBody>
      </p:sp>
      <p:sp>
        <p:nvSpPr>
          <p:cNvPr id="4" name="TextBox 3"/>
          <p:cNvSpPr txBox="1"/>
          <p:nvPr/>
        </p:nvSpPr>
        <p:spPr>
          <a:xfrm>
            <a:off x="502920" y="1188720"/>
            <a:ext cx="11155680" cy="548640"/>
          </a:xfrm>
          <a:prstGeom prst="rect">
            <a:avLst/>
          </a:prstGeom>
          <a:noFill/>
        </p:spPr>
        <p:txBody>
          <a:bodyPr wrap="square" lIns="0" rIns="0" tIns="0" bIns="0">
            <a:spAutoFit/>
          </a:bodyPr>
          <a:lstStyle/>
          <a:p>
            <a:pPr>
              <a:spcAft>
                <a:spcPts val="700"/>
              </a:spcAft>
              <a:defRPr sz="1800" b="0">
                <a:solidFill>
                  <a:srgbClr val="526879"/>
                </a:solidFill>
                <a:latin typeface="Arial"/>
              </a:defRPr>
            </a:pPr>
            <a:r>
              <a:t>Ví dụ giả lập — không phải dữ liệu khách hàng thật</a:t>
            </a:r>
          </a:p>
        </p:txBody>
      </p:sp>
      <p:sp>
        <p:nvSpPr>
          <p:cNvPr id="5" name="Rounded Rectangle 4"/>
          <p:cNvSpPr/>
          <p:nvPr/>
        </p:nvSpPr>
        <p:spPr>
          <a:xfrm>
            <a:off x="50292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Khách nói</a:t>
            </a:r>
          </a:p>
        </p:txBody>
      </p:sp>
      <p:sp>
        <p:nvSpPr>
          <p:cNvPr id="8" name="TextBox 7"/>
          <p:cNvSpPr txBox="1"/>
          <p:nvPr/>
        </p:nvSpPr>
        <p:spPr>
          <a:xfrm>
            <a:off x="71323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“Tôi muốn kiểm tra phí bảo hiểm kỳ này.”</a:t>
            </a:r>
          </a:p>
        </p:txBody>
      </p:sp>
      <p:sp>
        <p:nvSpPr>
          <p:cNvPr id="9" name="Rounded Rectangle 8"/>
          <p:cNvSpPr/>
          <p:nvPr/>
        </p:nvSpPr>
        <p:spPr>
          <a:xfrm>
            <a:off x="429768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799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STT tạo chữ</a:t>
            </a:r>
          </a:p>
        </p:txBody>
      </p:sp>
      <p:sp>
        <p:nvSpPr>
          <p:cNvPr id="12" name="TextBox 11"/>
          <p:cNvSpPr txBox="1"/>
          <p:nvPr/>
        </p:nvSpPr>
        <p:spPr>
          <a:xfrm>
            <a:off x="450799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Transcript: bản ghi lời nói bằng văn bản</a:t>
            </a:r>
          </a:p>
        </p:txBody>
      </p:sp>
      <p:sp>
        <p:nvSpPr>
          <p:cNvPr id="13" name="Rounded Rectangle 12"/>
          <p:cNvSpPr/>
          <p:nvPr/>
        </p:nvSpPr>
        <p:spPr>
          <a:xfrm>
            <a:off x="809244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244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QA sử dụng</a:t>
            </a:r>
          </a:p>
        </p:txBody>
      </p:sp>
      <p:sp>
        <p:nvSpPr>
          <p:cNvPr id="16" name="TextBox 15"/>
          <p:cNvSpPr txBox="1"/>
          <p:nvPr/>
        </p:nvSpPr>
        <p:spPr>
          <a:xfrm>
            <a:off x="830275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Đọc • tìm nội dung • nghe lại đoạn liên quan</a:t>
            </a:r>
          </a:p>
        </p:txBody>
      </p:sp>
      <p:sp>
        <p:nvSpPr>
          <p:cNvPr id="17" name="Rectangle 16"/>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528816"/>
            <a:ext cx="9509760" cy="182880"/>
          </a:xfrm>
          <a:prstGeom prst="rect">
            <a:avLst/>
          </a:prstGeom>
          <a:noFill/>
        </p:spPr>
        <p:txBody>
          <a:bodyPr wrap="square" lIns="0" rIns="0" tIns="0" bIns="0">
            <a:spAutoFit/>
          </a:bodyPr>
          <a:lstStyle/>
          <a:p>
            <a:pPr>
              <a:spcAft>
                <a:spcPts val="700"/>
              </a:spcAft>
              <a:defRPr sz="1000" b="0">
                <a:solidFill>
                  <a:srgbClr val="526879"/>
                </a:solidFill>
                <a:latin typeface="Arial"/>
              </a:defRPr>
            </a:pPr>
            <a:r>
              <a:t>Tien Phat Dam  •  Dai-ichi Life VN  •  Part 1 — Survey</a:t>
            </a:r>
          </a:p>
        </p:txBody>
      </p:sp>
      <p:sp>
        <p:nvSpPr>
          <p:cNvPr id="19" name="TextBox 18"/>
          <p:cNvSpPr txBox="1"/>
          <p:nvPr/>
        </p:nvSpPr>
        <p:spPr>
          <a:xfrm>
            <a:off x="11091672" y="6492240"/>
            <a:ext cx="594360" cy="228600"/>
          </a:xfrm>
          <a:prstGeom prst="rect">
            <a:avLst/>
          </a:prstGeom>
          <a:noFill/>
        </p:spPr>
        <p:txBody>
          <a:bodyPr wrap="square" lIns="0" rIns="0" tIns="0" bIns="0">
            <a:spAutoFit/>
          </a:bodyPr>
          <a:lstStyle/>
          <a:p>
            <a:pPr>
              <a:spcAft>
                <a:spcPts val="700"/>
              </a:spcAft>
              <a:defRPr sz="1100" b="0">
                <a:solidFill>
                  <a:srgbClr val="526879"/>
                </a:solidFill>
                <a:latin typeface="Arial"/>
              </a:defRPr>
            </a:pPr>
            <a:r>
              <a:t>02/25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685800"/>
          </a:xfrm>
          <a:prstGeom prst="rect">
            <a:avLst/>
          </a:prstGeom>
          <a:noFill/>
        </p:spPr>
        <p:txBody>
          <a:bodyPr wrap="square" lIns="0" rIns="0" tIns="0" bIns="0">
            <a:spAutoFit/>
          </a:bodyPr>
          <a:lstStyle/>
          <a:p>
            <a:pPr>
              <a:spcAft>
                <a:spcPts val="700"/>
              </a:spcAft>
              <a:defRPr sz="3100" b="1">
                <a:solidFill>
                  <a:srgbClr val="173F5F"/>
                </a:solidFill>
                <a:latin typeface="Arial"/>
              </a:defRPr>
            </a:pPr>
            <a:r>
              <a:t>Survey và Evaluation là hai bước riêng</a:t>
            </a:r>
          </a:p>
        </p:txBody>
      </p:sp>
      <p:sp>
        <p:nvSpPr>
          <p:cNvPr id="4" name="TextBox 3"/>
          <p:cNvSpPr txBox="1"/>
          <p:nvPr/>
        </p:nvSpPr>
        <p:spPr>
          <a:xfrm>
            <a:off x="502920" y="1188720"/>
            <a:ext cx="11155680" cy="548640"/>
          </a:xfrm>
          <a:prstGeom prst="rect">
            <a:avLst/>
          </a:prstGeom>
          <a:noFill/>
        </p:spPr>
        <p:txBody>
          <a:bodyPr wrap="square" lIns="0" rIns="0" tIns="0" bIns="0">
            <a:spAutoFit/>
          </a:bodyPr>
          <a:lstStyle/>
          <a:p>
            <a:pPr>
              <a:spcAft>
                <a:spcPts val="700"/>
              </a:spcAft>
              <a:defRPr sz="1800" b="0">
                <a:solidFill>
                  <a:srgbClr val="526879"/>
                </a:solidFill>
                <a:latin typeface="Arial"/>
              </a:defRPr>
            </a:pPr>
            <a:r>
              <a:t>Hiện tại chúng ta đang ở Part 1</a:t>
            </a:r>
          </a:p>
        </p:txBody>
      </p:sp>
      <p:sp>
        <p:nvSpPr>
          <p:cNvPr id="5" name="Rounded Rectangle 4"/>
          <p:cNvSpPr/>
          <p:nvPr/>
        </p:nvSpPr>
        <p:spPr>
          <a:xfrm>
            <a:off x="50292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Part 1 — Survey</a:t>
            </a:r>
          </a:p>
        </p:txBody>
      </p:sp>
      <p:sp>
        <p:nvSpPr>
          <p:cNvPr id="8" name="TextBox 7"/>
          <p:cNvSpPr txBox="1"/>
          <p:nvPr/>
        </p:nvSpPr>
        <p:spPr>
          <a:xfrm>
            <a:off x="71323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Đọc tài liệu → so sánh khả năng → chọn ứng viên</a:t>
            </a:r>
          </a:p>
        </p:txBody>
      </p:sp>
      <p:sp>
        <p:nvSpPr>
          <p:cNvPr id="9" name="Rounded Rectangle 8"/>
          <p:cNvSpPr/>
          <p:nvPr/>
        </p:nvSpPr>
        <p:spPr>
          <a:xfrm>
            <a:off x="429768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799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Part 2 — Evaluation</a:t>
            </a:r>
          </a:p>
        </p:txBody>
      </p:sp>
      <p:sp>
        <p:nvSpPr>
          <p:cNvPr id="12" name="TextBox 11"/>
          <p:cNvSpPr txBox="1"/>
          <p:nvPr/>
        </p:nvSpPr>
        <p:spPr>
          <a:xfrm>
            <a:off x="450799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Chạy cùng bộ audio → đo lỗi → so kết quả</a:t>
            </a:r>
          </a:p>
        </p:txBody>
      </p:sp>
      <p:sp>
        <p:nvSpPr>
          <p:cNvPr id="13" name="Rounded Rectangle 12"/>
          <p:cNvSpPr/>
          <p:nvPr/>
        </p:nvSpPr>
        <p:spPr>
          <a:xfrm>
            <a:off x="809244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244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Đầu ra hôm nay</a:t>
            </a:r>
          </a:p>
        </p:txBody>
      </p:sp>
      <p:sp>
        <p:nvSpPr>
          <p:cNvPr id="16" name="TextBox 15"/>
          <p:cNvSpPr txBox="1"/>
          <p:nvPr/>
        </p:nvSpPr>
        <p:spPr>
          <a:xfrm>
            <a:off x="830275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Shortlist có điều kiện; chưa chọn engine chính thức</a:t>
            </a:r>
          </a:p>
        </p:txBody>
      </p:sp>
      <p:sp>
        <p:nvSpPr>
          <p:cNvPr id="17" name="Rectangle 16"/>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528816"/>
            <a:ext cx="9509760" cy="182880"/>
          </a:xfrm>
          <a:prstGeom prst="rect">
            <a:avLst/>
          </a:prstGeom>
          <a:noFill/>
        </p:spPr>
        <p:txBody>
          <a:bodyPr wrap="square" lIns="0" rIns="0" tIns="0" bIns="0">
            <a:spAutoFit/>
          </a:bodyPr>
          <a:lstStyle/>
          <a:p>
            <a:pPr>
              <a:spcAft>
                <a:spcPts val="700"/>
              </a:spcAft>
              <a:defRPr sz="1000" b="0">
                <a:solidFill>
                  <a:srgbClr val="526879"/>
                </a:solidFill>
                <a:latin typeface="Arial"/>
              </a:defRPr>
            </a:pPr>
            <a:r>
              <a:t>Tien Phat Dam  •  Dai-ichi Life VN  •  Part 1 — Survey</a:t>
            </a:r>
          </a:p>
        </p:txBody>
      </p:sp>
      <p:sp>
        <p:nvSpPr>
          <p:cNvPr id="19" name="TextBox 18"/>
          <p:cNvSpPr txBox="1"/>
          <p:nvPr/>
        </p:nvSpPr>
        <p:spPr>
          <a:xfrm>
            <a:off x="11091672" y="6492240"/>
            <a:ext cx="594360" cy="228600"/>
          </a:xfrm>
          <a:prstGeom prst="rect">
            <a:avLst/>
          </a:prstGeom>
          <a:noFill/>
        </p:spPr>
        <p:txBody>
          <a:bodyPr wrap="square" lIns="0" rIns="0" tIns="0" bIns="0">
            <a:spAutoFit/>
          </a:bodyPr>
          <a:lstStyle/>
          <a:p>
            <a:pPr>
              <a:spcAft>
                <a:spcPts val="700"/>
              </a:spcAft>
              <a:defRPr sz="1100" b="0">
                <a:solidFill>
                  <a:srgbClr val="526879"/>
                </a:solidFill>
                <a:latin typeface="Arial"/>
              </a:defRPr>
            </a:pPr>
            <a:r>
              <a:t>03/25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685800"/>
          </a:xfrm>
          <a:prstGeom prst="rect">
            <a:avLst/>
          </a:prstGeom>
          <a:noFill/>
        </p:spPr>
        <p:txBody>
          <a:bodyPr wrap="square" lIns="0" rIns="0" tIns="0" bIns="0">
            <a:spAutoFit/>
          </a:bodyPr>
          <a:lstStyle/>
          <a:p>
            <a:pPr>
              <a:spcAft>
                <a:spcPts val="700"/>
              </a:spcAft>
              <a:defRPr sz="3100" b="1">
                <a:solidFill>
                  <a:srgbClr val="173F5F"/>
                </a:solidFill>
                <a:latin typeface="Arial"/>
              </a:defRPr>
            </a:pPr>
            <a:r>
              <a:t>Model, API và ứng dụng làm những việc khác nhau</a:t>
            </a:r>
          </a:p>
        </p:txBody>
      </p:sp>
      <p:sp>
        <p:nvSpPr>
          <p:cNvPr id="4" name="TextBox 3"/>
          <p:cNvSpPr txBox="1"/>
          <p:nvPr/>
        </p:nvSpPr>
        <p:spPr>
          <a:xfrm>
            <a:off x="502920" y="1188720"/>
            <a:ext cx="11155680" cy="548640"/>
          </a:xfrm>
          <a:prstGeom prst="rect">
            <a:avLst/>
          </a:prstGeom>
          <a:noFill/>
        </p:spPr>
        <p:txBody>
          <a:bodyPr wrap="square" lIns="0" rIns="0" tIns="0" bIns="0">
            <a:spAutoFit/>
          </a:bodyPr>
          <a:lstStyle/>
          <a:p>
            <a:pPr>
              <a:spcAft>
                <a:spcPts val="700"/>
              </a:spcAft>
              <a:defRPr sz="1800" b="0">
                <a:solidFill>
                  <a:srgbClr val="526879"/>
                </a:solidFill>
                <a:latin typeface="Arial"/>
              </a:defRPr>
            </a:pPr>
            <a:r>
              <a:t>Luồng đề xuất: audio → API → model → transcript → ứng dụng</a:t>
            </a:r>
          </a:p>
        </p:txBody>
      </p:sp>
      <p:sp>
        <p:nvSpPr>
          <p:cNvPr id="5" name="Rounded Rectangle 4"/>
          <p:cNvSpPr/>
          <p:nvPr/>
        </p:nvSpPr>
        <p:spPr>
          <a:xfrm>
            <a:off x="50292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Model</a:t>
            </a:r>
          </a:p>
        </p:txBody>
      </p:sp>
      <p:sp>
        <p:nvSpPr>
          <p:cNvPr id="8" name="TextBox 7"/>
          <p:cNvSpPr txBox="1"/>
          <p:nvPr/>
        </p:nvSpPr>
        <p:spPr>
          <a:xfrm>
            <a:off x="71323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Nhận âm thanh và dự đoán chữ</a:t>
            </a:r>
          </a:p>
        </p:txBody>
      </p:sp>
      <p:sp>
        <p:nvSpPr>
          <p:cNvPr id="9" name="Rounded Rectangle 8"/>
          <p:cNvSpPr/>
          <p:nvPr/>
        </p:nvSpPr>
        <p:spPr>
          <a:xfrm>
            <a:off x="429768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799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API</a:t>
            </a:r>
          </a:p>
        </p:txBody>
      </p:sp>
      <p:sp>
        <p:nvSpPr>
          <p:cNvPr id="12" name="TextBox 11"/>
          <p:cNvSpPr txBox="1"/>
          <p:nvPr/>
        </p:nvSpPr>
        <p:spPr>
          <a:xfrm>
            <a:off x="450799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Nhận yêu cầu, chuyển audio và trả kết quả</a:t>
            </a:r>
          </a:p>
        </p:txBody>
      </p:sp>
      <p:sp>
        <p:nvSpPr>
          <p:cNvPr id="13" name="Rounded Rectangle 12"/>
          <p:cNvSpPr/>
          <p:nvPr/>
        </p:nvSpPr>
        <p:spPr>
          <a:xfrm>
            <a:off x="809244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244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Ứng dụng</a:t>
            </a:r>
          </a:p>
        </p:txBody>
      </p:sp>
      <p:sp>
        <p:nvSpPr>
          <p:cNvPr id="16" name="TextBox 15"/>
          <p:cNvSpPr txBox="1"/>
          <p:nvPr/>
        </p:nvSpPr>
        <p:spPr>
          <a:xfrm>
            <a:off x="830275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Màn hình để QA đọc và nghe lại</a:t>
            </a:r>
          </a:p>
        </p:txBody>
      </p:sp>
      <p:sp>
        <p:nvSpPr>
          <p:cNvPr id="17" name="Rectangle 16"/>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528816"/>
            <a:ext cx="9509760" cy="182880"/>
          </a:xfrm>
          <a:prstGeom prst="rect">
            <a:avLst/>
          </a:prstGeom>
          <a:noFill/>
        </p:spPr>
        <p:txBody>
          <a:bodyPr wrap="square" lIns="0" rIns="0" tIns="0" bIns="0">
            <a:spAutoFit/>
          </a:bodyPr>
          <a:lstStyle/>
          <a:p>
            <a:pPr>
              <a:spcAft>
                <a:spcPts val="700"/>
              </a:spcAft>
              <a:defRPr sz="1000" b="0">
                <a:solidFill>
                  <a:srgbClr val="526879"/>
                </a:solidFill>
                <a:latin typeface="Arial"/>
              </a:defRPr>
            </a:pPr>
            <a:r>
              <a:t>Tien Phat Dam  •  Dai-ichi Life VN  •  Part 1 — Survey</a:t>
            </a:r>
          </a:p>
        </p:txBody>
      </p:sp>
      <p:sp>
        <p:nvSpPr>
          <p:cNvPr id="19" name="TextBox 18"/>
          <p:cNvSpPr txBox="1"/>
          <p:nvPr/>
        </p:nvSpPr>
        <p:spPr>
          <a:xfrm>
            <a:off x="11091672" y="6492240"/>
            <a:ext cx="594360" cy="228600"/>
          </a:xfrm>
          <a:prstGeom prst="rect">
            <a:avLst/>
          </a:prstGeom>
          <a:noFill/>
        </p:spPr>
        <p:txBody>
          <a:bodyPr wrap="square" lIns="0" rIns="0" tIns="0" bIns="0">
            <a:spAutoFit/>
          </a:bodyPr>
          <a:lstStyle/>
          <a:p>
            <a:pPr>
              <a:spcAft>
                <a:spcPts val="700"/>
              </a:spcAft>
              <a:defRPr sz="1100" b="0">
                <a:solidFill>
                  <a:srgbClr val="526879"/>
                </a:solidFill>
                <a:latin typeface="Arial"/>
              </a:defRPr>
            </a:pPr>
            <a:r>
              <a:t>04/25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685800"/>
          </a:xfrm>
          <a:prstGeom prst="rect">
            <a:avLst/>
          </a:prstGeom>
          <a:noFill/>
        </p:spPr>
        <p:txBody>
          <a:bodyPr wrap="square" lIns="0" rIns="0" tIns="0" bIns="0">
            <a:spAutoFit/>
          </a:bodyPr>
          <a:lstStyle/>
          <a:p>
            <a:pPr>
              <a:spcAft>
                <a:spcPts val="700"/>
              </a:spcAft>
              <a:defRPr sz="3100" b="1">
                <a:solidFill>
                  <a:srgbClr val="173F5F"/>
                </a:solidFill>
                <a:latin typeface="Arial"/>
              </a:defRPr>
            </a:pPr>
            <a:r>
              <a:t>Xử lý sau cuộc gọi hay ngay trong cuộc gọi?</a:t>
            </a:r>
          </a:p>
        </p:txBody>
      </p:sp>
      <p:sp>
        <p:nvSpPr>
          <p:cNvPr id="4" name="TextBox 3"/>
          <p:cNvSpPr txBox="1"/>
          <p:nvPr/>
        </p:nvSpPr>
        <p:spPr>
          <a:xfrm>
            <a:off x="502920" y="1188720"/>
            <a:ext cx="11155680" cy="548640"/>
          </a:xfrm>
          <a:prstGeom prst="rect">
            <a:avLst/>
          </a:prstGeom>
          <a:noFill/>
        </p:spPr>
        <p:txBody>
          <a:bodyPr wrap="square" lIns="0" rIns="0" tIns="0" bIns="0">
            <a:spAutoFit/>
          </a:bodyPr>
          <a:lstStyle/>
          <a:p>
            <a:pPr>
              <a:spcAft>
                <a:spcPts val="700"/>
              </a:spcAft>
              <a:defRPr sz="1800" b="0">
                <a:solidFill>
                  <a:srgbClr val="526879"/>
                </a:solidFill>
                <a:latin typeface="Arial"/>
              </a:defRPr>
            </a:pPr>
            <a:r>
              <a:t>Batch và live phục vụ hai nhu cầu khác nhau</a:t>
            </a:r>
          </a:p>
        </p:txBody>
      </p:sp>
      <p:sp>
        <p:nvSpPr>
          <p:cNvPr id="5" name="Rounded Rectangle 4"/>
          <p:cNvSpPr/>
          <p:nvPr/>
        </p:nvSpPr>
        <p:spPr>
          <a:xfrm>
            <a:off x="50292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Batch / file</a:t>
            </a:r>
          </a:p>
        </p:txBody>
      </p:sp>
      <p:sp>
        <p:nvSpPr>
          <p:cNvPr id="8" name="TextBox 7"/>
          <p:cNvSpPr txBox="1"/>
          <p:nvPr/>
        </p:nvSpPr>
        <p:spPr>
          <a:xfrm>
            <a:off x="71323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Call kết thúc → gửi bản ghi → nhận transcript</a:t>
            </a:r>
          </a:p>
          <a:p>
            <a:pPr>
              <a:spcAft>
                <a:spcPts val="700"/>
              </a:spcAft>
              <a:defRPr sz="2200" b="0">
                <a:solidFill>
                  <a:srgbClr val="243746"/>
                </a:solidFill>
                <a:latin typeface="Arial"/>
              </a:defRPr>
            </a:pPr>
            <a:r>
              <a:t>Phù hợp nhu cầu review sau call</a:t>
            </a:r>
          </a:p>
        </p:txBody>
      </p:sp>
      <p:sp>
        <p:nvSpPr>
          <p:cNvPr id="9" name="Rounded Rectangle 8"/>
          <p:cNvSpPr/>
          <p:nvPr/>
        </p:nvSpPr>
        <p:spPr>
          <a:xfrm>
            <a:off x="429768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799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Live streaming</a:t>
            </a:r>
          </a:p>
        </p:txBody>
      </p:sp>
      <p:sp>
        <p:nvSpPr>
          <p:cNvPr id="12" name="TextBox 11"/>
          <p:cNvSpPr txBox="1"/>
          <p:nvPr/>
        </p:nvSpPr>
        <p:spPr>
          <a:xfrm>
            <a:off x="450799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Audio đang đến → chữ cập nhật liên tục</a:t>
            </a:r>
          </a:p>
          <a:p>
            <a:pPr>
              <a:spcAft>
                <a:spcPts val="700"/>
              </a:spcAft>
              <a:defRPr sz="2200" b="0">
                <a:solidFill>
                  <a:srgbClr val="243746"/>
                </a:solidFill>
                <a:latin typeface="Arial"/>
              </a:defRPr>
            </a:pPr>
            <a:r>
              <a:t>Dùng khi cần nội dung ngay trong call</a:t>
            </a:r>
          </a:p>
        </p:txBody>
      </p:sp>
      <p:sp>
        <p:nvSpPr>
          <p:cNvPr id="13" name="Rounded Rectangle 12"/>
          <p:cNvSpPr/>
          <p:nvPr/>
        </p:nvSpPr>
        <p:spPr>
          <a:xfrm>
            <a:off x="809244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244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Tại sao cần tách?</a:t>
            </a:r>
          </a:p>
        </p:txBody>
      </p:sp>
      <p:sp>
        <p:nvSpPr>
          <p:cNvPr id="16" name="TextBox 15"/>
          <p:cNvSpPr txBox="1"/>
          <p:nvPr/>
        </p:nvSpPr>
        <p:spPr>
          <a:xfrm>
            <a:off x="830275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Live có yêu cầu kỹ thuật và chi phí khác.</a:t>
            </a:r>
          </a:p>
          <a:p>
            <a:pPr>
              <a:spcAft>
                <a:spcPts val="700"/>
              </a:spcAft>
              <a:defRPr sz="2200" b="0">
                <a:solidFill>
                  <a:srgbClr val="243746"/>
                </a:solidFill>
                <a:latin typeface="Arial"/>
              </a:defRPr>
            </a:pPr>
            <a:r>
              <a:t>Chữ hiện dần từ file chưa phải live call.</a:t>
            </a:r>
          </a:p>
        </p:txBody>
      </p:sp>
      <p:sp>
        <p:nvSpPr>
          <p:cNvPr id="17" name="Rectangle 16"/>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163056"/>
            <a:ext cx="11064240" cy="219456"/>
          </a:xfrm>
          <a:prstGeom prst="rect">
            <a:avLst/>
          </a:prstGeom>
          <a:noFill/>
        </p:spPr>
        <p:txBody>
          <a:bodyPr wrap="square" lIns="0" rIns="0" tIns="0" bIns="0">
            <a:spAutoFit/>
          </a:bodyPr>
          <a:lstStyle/>
          <a:p>
            <a:pPr>
              <a:spcAft>
                <a:spcPts val="700"/>
              </a:spcAft>
              <a:defRPr sz="900" b="0">
                <a:solidFill>
                  <a:srgbClr val="526879"/>
                </a:solidFill>
                <a:latin typeface="Arial"/>
              </a:defRPr>
            </a:pPr>
            <a:r>
              <a:t>OpenAI (n.d.b; n.d.d)</a:t>
            </a:r>
          </a:p>
        </p:txBody>
      </p:sp>
      <p:sp>
        <p:nvSpPr>
          <p:cNvPr id="19" name="TextBox 18"/>
          <p:cNvSpPr txBox="1"/>
          <p:nvPr/>
        </p:nvSpPr>
        <p:spPr>
          <a:xfrm>
            <a:off x="502920" y="6528816"/>
            <a:ext cx="9509760" cy="182880"/>
          </a:xfrm>
          <a:prstGeom prst="rect">
            <a:avLst/>
          </a:prstGeom>
          <a:noFill/>
        </p:spPr>
        <p:txBody>
          <a:bodyPr wrap="square" lIns="0" rIns="0" tIns="0" bIns="0">
            <a:spAutoFit/>
          </a:bodyPr>
          <a:lstStyle/>
          <a:p>
            <a:pPr>
              <a:spcAft>
                <a:spcPts val="700"/>
              </a:spcAft>
              <a:defRPr sz="1000" b="0">
                <a:solidFill>
                  <a:srgbClr val="526879"/>
                </a:solidFill>
                <a:latin typeface="Arial"/>
              </a:defRPr>
            </a:pPr>
            <a:r>
              <a:t>Tien Phat Dam  •  Dai-ichi Life VN  •  Part 1 — Survey</a:t>
            </a:r>
          </a:p>
        </p:txBody>
      </p:sp>
      <p:sp>
        <p:nvSpPr>
          <p:cNvPr id="20" name="TextBox 19"/>
          <p:cNvSpPr txBox="1"/>
          <p:nvPr/>
        </p:nvSpPr>
        <p:spPr>
          <a:xfrm>
            <a:off x="11091672" y="6492240"/>
            <a:ext cx="594360" cy="228600"/>
          </a:xfrm>
          <a:prstGeom prst="rect">
            <a:avLst/>
          </a:prstGeom>
          <a:noFill/>
        </p:spPr>
        <p:txBody>
          <a:bodyPr wrap="square" lIns="0" rIns="0" tIns="0" bIns="0">
            <a:spAutoFit/>
          </a:bodyPr>
          <a:lstStyle/>
          <a:p>
            <a:pPr>
              <a:spcAft>
                <a:spcPts val="700"/>
              </a:spcAft>
              <a:defRPr sz="1100" b="0">
                <a:solidFill>
                  <a:srgbClr val="526879"/>
                </a:solidFill>
                <a:latin typeface="Arial"/>
              </a:defRPr>
            </a:pPr>
            <a:r>
              <a:t>05/25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685800"/>
          </a:xfrm>
          <a:prstGeom prst="rect">
            <a:avLst/>
          </a:prstGeom>
          <a:noFill/>
        </p:spPr>
        <p:txBody>
          <a:bodyPr wrap="square" lIns="0" rIns="0" tIns="0" bIns="0">
            <a:spAutoFit/>
          </a:bodyPr>
          <a:lstStyle/>
          <a:p>
            <a:pPr>
              <a:spcAft>
                <a:spcPts val="700"/>
              </a:spcAft>
              <a:defRPr sz="3100" b="1">
                <a:solidFill>
                  <a:srgbClr val="173F5F"/>
                </a:solidFill>
                <a:latin typeface="Arial"/>
              </a:defRPr>
            </a:pPr>
            <a:r>
              <a:t>Biết ai nói quan trọng như biết họ nói gì</a:t>
            </a:r>
          </a:p>
        </p:txBody>
      </p:sp>
      <p:sp>
        <p:nvSpPr>
          <p:cNvPr id="4" name="TextBox 3"/>
          <p:cNvSpPr txBox="1"/>
          <p:nvPr/>
        </p:nvSpPr>
        <p:spPr>
          <a:xfrm>
            <a:off x="502920" y="1188720"/>
            <a:ext cx="11155680" cy="548640"/>
          </a:xfrm>
          <a:prstGeom prst="rect">
            <a:avLst/>
          </a:prstGeom>
          <a:noFill/>
        </p:spPr>
        <p:txBody>
          <a:bodyPr wrap="square" lIns="0" rIns="0" tIns="0" bIns="0">
            <a:spAutoFit/>
          </a:bodyPr>
          <a:lstStyle/>
          <a:p>
            <a:pPr>
              <a:spcAft>
                <a:spcPts val="700"/>
              </a:spcAft>
              <a:defRPr sz="1800" b="0">
                <a:solidFill>
                  <a:srgbClr val="526879"/>
                </a:solidFill>
                <a:latin typeface="Arial"/>
              </a:defRPr>
            </a:pPr>
            <a:r>
              <a:t>Speaker labels chưa tự xác nhận Agent / Customer</a:t>
            </a:r>
          </a:p>
        </p:txBody>
      </p:sp>
      <p:sp>
        <p:nvSpPr>
          <p:cNvPr id="5" name="Rounded Rectangle 4"/>
          <p:cNvSpPr/>
          <p:nvPr/>
        </p:nvSpPr>
        <p:spPr>
          <a:xfrm>
            <a:off x="50292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Hai kênh ghi riêng</a:t>
            </a:r>
          </a:p>
        </p:txBody>
      </p:sp>
      <p:sp>
        <p:nvSpPr>
          <p:cNvPr id="8" name="TextBox 7"/>
          <p:cNvSpPr txBox="1"/>
          <p:nvPr/>
        </p:nvSpPr>
        <p:spPr>
          <a:xfrm>
            <a:off x="71323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Có thể gán vai trò theo kênh nếu metadata đáng tin</a:t>
            </a:r>
          </a:p>
        </p:txBody>
      </p:sp>
      <p:sp>
        <p:nvSpPr>
          <p:cNvPr id="9" name="Rounded Rectangle 8"/>
          <p:cNvSpPr/>
          <p:nvPr/>
        </p:nvSpPr>
        <p:spPr>
          <a:xfrm>
            <a:off x="429768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799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Một kênh đã trộn</a:t>
            </a:r>
          </a:p>
        </p:txBody>
      </p:sp>
      <p:sp>
        <p:nvSpPr>
          <p:cNvPr id="12" name="TextBox 11"/>
          <p:cNvSpPr txBox="1"/>
          <p:nvPr/>
        </p:nvSpPr>
        <p:spPr>
          <a:xfrm>
            <a:off x="450799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Cần khảo sát diarization: phân lời theo người nói</a:t>
            </a:r>
          </a:p>
        </p:txBody>
      </p:sp>
      <p:sp>
        <p:nvSpPr>
          <p:cNvPr id="13" name="Rounded Rectangle 12"/>
          <p:cNvSpPr/>
          <p:nvPr/>
        </p:nvSpPr>
        <p:spPr>
          <a:xfrm>
            <a:off x="809244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244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Tại sao cần kiểm tra?</a:t>
            </a:r>
          </a:p>
        </p:txBody>
      </p:sp>
      <p:sp>
        <p:nvSpPr>
          <p:cNvPr id="16" name="TextBox 15"/>
          <p:cNvSpPr txBox="1"/>
          <p:nvPr/>
        </p:nvSpPr>
        <p:spPr>
          <a:xfrm>
            <a:off x="830275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Gán câu sai người có thể làm sai QA dù chữ đúng.</a:t>
            </a:r>
          </a:p>
          <a:p>
            <a:pPr>
              <a:spcAft>
                <a:spcPts val="700"/>
              </a:spcAft>
              <a:defRPr sz="2200" b="0">
                <a:solidFill>
                  <a:srgbClr val="243746"/>
                </a:solidFill>
                <a:latin typeface="Arial"/>
              </a:defRPr>
            </a:pPr>
            <a:r>
              <a:t>File stereo chưa chắc đã tách hai phía.</a:t>
            </a:r>
          </a:p>
        </p:txBody>
      </p:sp>
      <p:sp>
        <p:nvSpPr>
          <p:cNvPr id="17" name="Rectangle 16"/>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528816"/>
            <a:ext cx="9509760" cy="182880"/>
          </a:xfrm>
          <a:prstGeom prst="rect">
            <a:avLst/>
          </a:prstGeom>
          <a:noFill/>
        </p:spPr>
        <p:txBody>
          <a:bodyPr wrap="square" lIns="0" rIns="0" tIns="0" bIns="0">
            <a:spAutoFit/>
          </a:bodyPr>
          <a:lstStyle/>
          <a:p>
            <a:pPr>
              <a:spcAft>
                <a:spcPts val="700"/>
              </a:spcAft>
              <a:defRPr sz="1000" b="0">
                <a:solidFill>
                  <a:srgbClr val="526879"/>
                </a:solidFill>
                <a:latin typeface="Arial"/>
              </a:defRPr>
            </a:pPr>
            <a:r>
              <a:t>Tien Phat Dam  •  Dai-ichi Life VN  •  Part 1 — Survey</a:t>
            </a:r>
          </a:p>
        </p:txBody>
      </p:sp>
      <p:sp>
        <p:nvSpPr>
          <p:cNvPr id="19" name="TextBox 18"/>
          <p:cNvSpPr txBox="1"/>
          <p:nvPr/>
        </p:nvSpPr>
        <p:spPr>
          <a:xfrm>
            <a:off x="11091672" y="6492240"/>
            <a:ext cx="594360" cy="228600"/>
          </a:xfrm>
          <a:prstGeom prst="rect">
            <a:avLst/>
          </a:prstGeom>
          <a:noFill/>
        </p:spPr>
        <p:txBody>
          <a:bodyPr wrap="square" lIns="0" rIns="0" tIns="0" bIns="0">
            <a:spAutoFit/>
          </a:bodyPr>
          <a:lstStyle/>
          <a:p>
            <a:pPr>
              <a:spcAft>
                <a:spcPts val="700"/>
              </a:spcAft>
              <a:defRPr sz="1100" b="0">
                <a:solidFill>
                  <a:srgbClr val="526879"/>
                </a:solidFill>
                <a:latin typeface="Arial"/>
              </a:defRPr>
            </a:pPr>
            <a:r>
              <a:t>06/25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685800"/>
          </a:xfrm>
          <a:prstGeom prst="rect">
            <a:avLst/>
          </a:prstGeom>
          <a:noFill/>
        </p:spPr>
        <p:txBody>
          <a:bodyPr wrap="square" lIns="0" rIns="0" tIns="0" bIns="0">
            <a:spAutoFit/>
          </a:bodyPr>
          <a:lstStyle/>
          <a:p>
            <a:pPr>
              <a:spcAft>
                <a:spcPts val="700"/>
              </a:spcAft>
              <a:defRPr sz="3100" b="1">
                <a:solidFill>
                  <a:srgbClr val="173F5F"/>
                </a:solidFill>
                <a:latin typeface="Arial"/>
              </a:defRPr>
            </a:pPr>
            <a:r>
              <a:t>Lỗi nào đáng chú ý trong cuộc gọi bảo hiểm?</a:t>
            </a:r>
          </a:p>
        </p:txBody>
      </p:sp>
      <p:sp>
        <p:nvSpPr>
          <p:cNvPr id="4" name="TextBox 3"/>
          <p:cNvSpPr txBox="1"/>
          <p:nvPr/>
        </p:nvSpPr>
        <p:spPr>
          <a:xfrm>
            <a:off x="502920" y="1188720"/>
            <a:ext cx="11155680" cy="548640"/>
          </a:xfrm>
          <a:prstGeom prst="rect">
            <a:avLst/>
          </a:prstGeom>
          <a:noFill/>
        </p:spPr>
        <p:txBody>
          <a:bodyPr wrap="square" lIns="0" rIns="0" tIns="0" bIns="0">
            <a:spAutoFit/>
          </a:bodyPr>
          <a:lstStyle/>
          <a:p>
            <a:pPr>
              <a:spcAft>
                <a:spcPts val="700"/>
              </a:spcAft>
              <a:defRPr sz="1800" b="0">
                <a:solidFill>
                  <a:srgbClr val="526879"/>
                </a:solidFill>
                <a:latin typeface="Arial"/>
              </a:defRPr>
            </a:pPr>
            <a:r>
              <a:t>Các ví dụ dưới đây chỉ minh họa — chưa phải output của model</a:t>
            </a:r>
          </a:p>
        </p:txBody>
      </p:sp>
      <p:sp>
        <p:nvSpPr>
          <p:cNvPr id="5" name="Rounded Rectangle 4"/>
          <p:cNvSpPr/>
          <p:nvPr/>
        </p:nvSpPr>
        <p:spPr>
          <a:xfrm>
            <a:off x="50292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Số tiền</a:t>
            </a:r>
          </a:p>
        </p:txBody>
      </p:sp>
      <p:sp>
        <p:nvSpPr>
          <p:cNvPr id="8" name="TextBox 7"/>
          <p:cNvSpPr txBox="1"/>
          <p:nvPr/>
        </p:nvSpPr>
        <p:spPr>
          <a:xfrm>
            <a:off x="71323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“Hai triệu rưỡi” → 25 triệu</a:t>
            </a:r>
          </a:p>
          <a:p>
            <a:pPr>
              <a:spcAft>
                <a:spcPts val="700"/>
              </a:spcAft>
              <a:defRPr sz="2200" b="0">
                <a:solidFill>
                  <a:srgbClr val="243746"/>
                </a:solidFill>
                <a:latin typeface="Arial"/>
              </a:defRPr>
            </a:pPr>
            <a:r>
              <a:t>Sai bậc số làm đổi ý nghĩa</a:t>
            </a:r>
          </a:p>
        </p:txBody>
      </p:sp>
      <p:sp>
        <p:nvSpPr>
          <p:cNvPr id="9" name="Rounded Rectangle 8"/>
          <p:cNvSpPr/>
          <p:nvPr/>
        </p:nvSpPr>
        <p:spPr>
          <a:xfrm>
            <a:off x="429768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799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Mã và ngày</a:t>
            </a:r>
          </a:p>
        </p:txBody>
      </p:sp>
      <p:sp>
        <p:nvSpPr>
          <p:cNvPr id="12" name="TextBox 11"/>
          <p:cNvSpPr txBox="1"/>
          <p:nvPr/>
        </p:nvSpPr>
        <p:spPr>
          <a:xfrm>
            <a:off x="450799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A027 mất số 0; ngày bị đổi</a:t>
            </a:r>
          </a:p>
          <a:p>
            <a:pPr>
              <a:spcAft>
                <a:spcPts val="700"/>
              </a:spcAft>
              <a:defRPr sz="2200" b="0">
                <a:solidFill>
                  <a:srgbClr val="243746"/>
                </a:solidFill>
                <a:latin typeface="Arial"/>
              </a:defRPr>
            </a:pPr>
            <a:r>
              <a:t>Cần quy tắc chuẩn hóa rõ</a:t>
            </a:r>
          </a:p>
        </p:txBody>
      </p:sp>
      <p:sp>
        <p:nvSpPr>
          <p:cNvPr id="13" name="Rounded Rectangle 12"/>
          <p:cNvSpPr/>
          <p:nvPr/>
        </p:nvSpPr>
        <p:spPr>
          <a:xfrm>
            <a:off x="809244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244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Phủ định / thuật ngữ</a:t>
            </a:r>
          </a:p>
        </p:txBody>
      </p:sp>
      <p:sp>
        <p:nvSpPr>
          <p:cNvPr id="16" name="TextBox 15"/>
          <p:cNvSpPr txBox="1"/>
          <p:nvPr/>
        </p:nvSpPr>
        <p:spPr>
          <a:xfrm>
            <a:off x="830275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“Chưa đồng ý” mất “chưa”</a:t>
            </a:r>
          </a:p>
          <a:p>
            <a:pPr>
              <a:spcAft>
                <a:spcPts val="700"/>
              </a:spcAft>
              <a:defRPr sz="2200" b="0">
                <a:solidFill>
                  <a:srgbClr val="243746"/>
                </a:solidFill>
                <a:latin typeface="Arial"/>
              </a:defRPr>
            </a:pPr>
            <a:r>
              <a:t>Chữ ít sai nhưng nghĩa có thể khác</a:t>
            </a:r>
          </a:p>
        </p:txBody>
      </p:sp>
      <p:sp>
        <p:nvSpPr>
          <p:cNvPr id="17" name="Rectangle 16"/>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528816"/>
            <a:ext cx="9509760" cy="182880"/>
          </a:xfrm>
          <a:prstGeom prst="rect">
            <a:avLst/>
          </a:prstGeom>
          <a:noFill/>
        </p:spPr>
        <p:txBody>
          <a:bodyPr wrap="square" lIns="0" rIns="0" tIns="0" bIns="0">
            <a:spAutoFit/>
          </a:bodyPr>
          <a:lstStyle/>
          <a:p>
            <a:pPr>
              <a:spcAft>
                <a:spcPts val="700"/>
              </a:spcAft>
              <a:defRPr sz="1000" b="0">
                <a:solidFill>
                  <a:srgbClr val="526879"/>
                </a:solidFill>
                <a:latin typeface="Arial"/>
              </a:defRPr>
            </a:pPr>
            <a:r>
              <a:t>Tien Phat Dam  •  Dai-ichi Life VN  •  Part 1 — Survey</a:t>
            </a:r>
          </a:p>
        </p:txBody>
      </p:sp>
      <p:sp>
        <p:nvSpPr>
          <p:cNvPr id="19" name="TextBox 18"/>
          <p:cNvSpPr txBox="1"/>
          <p:nvPr/>
        </p:nvSpPr>
        <p:spPr>
          <a:xfrm>
            <a:off x="11091672" y="6492240"/>
            <a:ext cx="594360" cy="228600"/>
          </a:xfrm>
          <a:prstGeom prst="rect">
            <a:avLst/>
          </a:prstGeom>
          <a:noFill/>
        </p:spPr>
        <p:txBody>
          <a:bodyPr wrap="square" lIns="0" rIns="0" tIns="0" bIns="0">
            <a:spAutoFit/>
          </a:bodyPr>
          <a:lstStyle/>
          <a:p>
            <a:pPr>
              <a:spcAft>
                <a:spcPts val="700"/>
              </a:spcAft>
              <a:defRPr sz="1100" b="0">
                <a:solidFill>
                  <a:srgbClr val="526879"/>
                </a:solidFill>
                <a:latin typeface="Arial"/>
              </a:defRPr>
            </a:pPr>
            <a:r>
              <a:t>07/25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685800"/>
          </a:xfrm>
          <a:prstGeom prst="rect">
            <a:avLst/>
          </a:prstGeom>
          <a:noFill/>
        </p:spPr>
        <p:txBody>
          <a:bodyPr wrap="square" lIns="0" rIns="0" tIns="0" bIns="0">
            <a:spAutoFit/>
          </a:bodyPr>
          <a:lstStyle/>
          <a:p>
            <a:pPr>
              <a:spcAft>
                <a:spcPts val="700"/>
              </a:spcAft>
              <a:defRPr sz="3100" b="1">
                <a:solidFill>
                  <a:srgbClr val="173F5F"/>
                </a:solidFill>
                <a:latin typeface="Arial"/>
              </a:defRPr>
            </a:pPr>
            <a:r>
              <a:t>Sáu nhóm tiêu chí để chọn ứng viên</a:t>
            </a:r>
          </a:p>
        </p:txBody>
      </p:sp>
      <p:sp>
        <p:nvSpPr>
          <p:cNvPr id="4" name="TextBox 3"/>
          <p:cNvSpPr txBox="1"/>
          <p:nvPr/>
        </p:nvSpPr>
        <p:spPr>
          <a:xfrm>
            <a:off x="502920" y="1188720"/>
            <a:ext cx="11155680" cy="548640"/>
          </a:xfrm>
          <a:prstGeom prst="rect">
            <a:avLst/>
          </a:prstGeom>
          <a:noFill/>
        </p:spPr>
        <p:txBody>
          <a:bodyPr wrap="square" lIns="0" rIns="0" tIns="0" bIns="0">
            <a:spAutoFit/>
          </a:bodyPr>
          <a:lstStyle/>
          <a:p>
            <a:pPr>
              <a:spcAft>
                <a:spcPts val="700"/>
              </a:spcAft>
              <a:defRPr sz="1800" b="0">
                <a:solidFill>
                  <a:srgbClr val="526879"/>
                </a:solidFill>
                <a:latin typeface="Arial"/>
              </a:defRPr>
            </a:pPr>
            <a:r>
              <a:t>Mỗi tiêu chí cần có bằng chứng hoặc ghi rõ “cần xác nhận”</a:t>
            </a:r>
          </a:p>
        </p:txBody>
      </p:sp>
      <p:sp>
        <p:nvSpPr>
          <p:cNvPr id="5" name="Rounded Rectangle 4"/>
          <p:cNvSpPr/>
          <p:nvPr/>
        </p:nvSpPr>
        <p:spPr>
          <a:xfrm>
            <a:off x="502920" y="1865376"/>
            <a:ext cx="3584448" cy="19933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65376"/>
            <a:ext cx="50292" cy="199339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Nghe và hiểu</a:t>
            </a:r>
          </a:p>
        </p:txBody>
      </p:sp>
      <p:sp>
        <p:nvSpPr>
          <p:cNvPr id="8" name="TextBox 7"/>
          <p:cNvSpPr txBox="1"/>
          <p:nvPr/>
        </p:nvSpPr>
        <p:spPr>
          <a:xfrm>
            <a:off x="713232" y="2825496"/>
            <a:ext cx="3163824" cy="896112"/>
          </a:xfrm>
          <a:prstGeom prst="rect">
            <a:avLst/>
          </a:prstGeom>
          <a:noFill/>
        </p:spPr>
        <p:txBody>
          <a:bodyPr wrap="square" lIns="0" rIns="0" tIns="0" bIns="0">
            <a:spAutoFit/>
          </a:bodyPr>
          <a:lstStyle/>
          <a:p>
            <a:pPr>
              <a:spcAft>
                <a:spcPts val="700"/>
              </a:spcAft>
              <a:defRPr sz="2000" b="0">
                <a:solidFill>
                  <a:srgbClr val="243746"/>
                </a:solidFill>
                <a:latin typeface="Arial"/>
              </a:defRPr>
            </a:pPr>
            <a:r>
              <a:t>Tiếng Việt • thuật ngữ • số tiền</a:t>
            </a:r>
          </a:p>
        </p:txBody>
      </p:sp>
      <p:sp>
        <p:nvSpPr>
          <p:cNvPr id="9" name="Rounded Rectangle 8"/>
          <p:cNvSpPr/>
          <p:nvPr/>
        </p:nvSpPr>
        <p:spPr>
          <a:xfrm>
            <a:off x="4297680" y="1865376"/>
            <a:ext cx="3584448" cy="19933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1865376"/>
            <a:ext cx="50292" cy="199339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799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Hội thoại</a:t>
            </a:r>
          </a:p>
        </p:txBody>
      </p:sp>
      <p:sp>
        <p:nvSpPr>
          <p:cNvPr id="12" name="TextBox 11"/>
          <p:cNvSpPr txBox="1"/>
          <p:nvPr/>
        </p:nvSpPr>
        <p:spPr>
          <a:xfrm>
            <a:off x="4507992" y="2825496"/>
            <a:ext cx="3163824" cy="896112"/>
          </a:xfrm>
          <a:prstGeom prst="rect">
            <a:avLst/>
          </a:prstGeom>
          <a:noFill/>
        </p:spPr>
        <p:txBody>
          <a:bodyPr wrap="square" lIns="0" rIns="0" tIns="0" bIns="0">
            <a:spAutoFit/>
          </a:bodyPr>
          <a:lstStyle/>
          <a:p>
            <a:pPr>
              <a:spcAft>
                <a:spcPts val="700"/>
              </a:spcAft>
              <a:defRPr sz="2000" b="0">
                <a:solidFill>
                  <a:srgbClr val="243746"/>
                </a:solidFill>
                <a:latin typeface="Arial"/>
              </a:defRPr>
            </a:pPr>
            <a:r>
              <a:t>Người nói • vai trò • timestamp</a:t>
            </a:r>
          </a:p>
        </p:txBody>
      </p:sp>
      <p:sp>
        <p:nvSpPr>
          <p:cNvPr id="13" name="Rounded Rectangle 12"/>
          <p:cNvSpPr/>
          <p:nvPr/>
        </p:nvSpPr>
        <p:spPr>
          <a:xfrm>
            <a:off x="8092440" y="1865376"/>
            <a:ext cx="3584448" cy="19933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2440" y="1865376"/>
            <a:ext cx="50292" cy="199339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Cách dùng</a:t>
            </a:r>
          </a:p>
        </p:txBody>
      </p:sp>
      <p:sp>
        <p:nvSpPr>
          <p:cNvPr id="16" name="TextBox 15"/>
          <p:cNvSpPr txBox="1"/>
          <p:nvPr/>
        </p:nvSpPr>
        <p:spPr>
          <a:xfrm>
            <a:off x="8302752" y="2825496"/>
            <a:ext cx="3163824" cy="896112"/>
          </a:xfrm>
          <a:prstGeom prst="rect">
            <a:avLst/>
          </a:prstGeom>
          <a:noFill/>
        </p:spPr>
        <p:txBody>
          <a:bodyPr wrap="square" lIns="0" rIns="0" tIns="0" bIns="0">
            <a:spAutoFit/>
          </a:bodyPr>
          <a:lstStyle/>
          <a:p>
            <a:pPr>
              <a:spcAft>
                <a:spcPts val="700"/>
              </a:spcAft>
              <a:defRPr sz="2000" b="0">
                <a:solidFill>
                  <a:srgbClr val="243746"/>
                </a:solidFill>
                <a:latin typeface="Arial"/>
              </a:defRPr>
            </a:pPr>
            <a:r>
              <a:t>File hoặc live • đầu vào</a:t>
            </a:r>
          </a:p>
        </p:txBody>
      </p:sp>
      <p:sp>
        <p:nvSpPr>
          <p:cNvPr id="17" name="Rounded Rectangle 16"/>
          <p:cNvSpPr/>
          <p:nvPr/>
        </p:nvSpPr>
        <p:spPr>
          <a:xfrm>
            <a:off x="502920" y="4069080"/>
            <a:ext cx="3584448" cy="19933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4069080"/>
            <a:ext cx="50292" cy="199339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4297680"/>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Triển khai</a:t>
            </a:r>
          </a:p>
        </p:txBody>
      </p:sp>
      <p:sp>
        <p:nvSpPr>
          <p:cNvPr id="20" name="TextBox 19"/>
          <p:cNvSpPr txBox="1"/>
          <p:nvPr/>
        </p:nvSpPr>
        <p:spPr>
          <a:xfrm>
            <a:off x="713232" y="5029200"/>
            <a:ext cx="3163824" cy="896112"/>
          </a:xfrm>
          <a:prstGeom prst="rect">
            <a:avLst/>
          </a:prstGeom>
          <a:noFill/>
        </p:spPr>
        <p:txBody>
          <a:bodyPr wrap="square" lIns="0" rIns="0" tIns="0" bIns="0">
            <a:spAutoFit/>
          </a:bodyPr>
          <a:lstStyle/>
          <a:p>
            <a:pPr>
              <a:spcAft>
                <a:spcPts val="700"/>
              </a:spcAft>
              <a:defRPr sz="2000" b="0">
                <a:solidFill>
                  <a:srgbClr val="243746"/>
                </a:solidFill>
                <a:latin typeface="Arial"/>
              </a:defRPr>
            </a:pPr>
            <a:r>
              <a:t>Cloud hoặc nội bộ • tài nguyên</a:t>
            </a:r>
          </a:p>
        </p:txBody>
      </p:sp>
      <p:sp>
        <p:nvSpPr>
          <p:cNvPr id="21" name="Rounded Rectangle 20"/>
          <p:cNvSpPr/>
          <p:nvPr/>
        </p:nvSpPr>
        <p:spPr>
          <a:xfrm>
            <a:off x="4297680" y="4069080"/>
            <a:ext cx="3584448" cy="19933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97680" y="4069080"/>
            <a:ext cx="50292" cy="199339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07992" y="4297680"/>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Dữ liệu</a:t>
            </a:r>
          </a:p>
        </p:txBody>
      </p:sp>
      <p:sp>
        <p:nvSpPr>
          <p:cNvPr id="24" name="TextBox 23"/>
          <p:cNvSpPr txBox="1"/>
          <p:nvPr/>
        </p:nvSpPr>
        <p:spPr>
          <a:xfrm>
            <a:off x="4507992" y="5029200"/>
            <a:ext cx="3163824" cy="896112"/>
          </a:xfrm>
          <a:prstGeom prst="rect">
            <a:avLst/>
          </a:prstGeom>
          <a:noFill/>
        </p:spPr>
        <p:txBody>
          <a:bodyPr wrap="square" lIns="0" rIns="0" tIns="0" bIns="0">
            <a:spAutoFit/>
          </a:bodyPr>
          <a:lstStyle/>
          <a:p>
            <a:pPr>
              <a:spcAft>
                <a:spcPts val="700"/>
              </a:spcAft>
              <a:defRPr sz="2000" b="0">
                <a:solidFill>
                  <a:srgbClr val="243746"/>
                </a:solidFill>
                <a:latin typeface="Arial"/>
              </a:defRPr>
            </a:pPr>
            <a:r>
              <a:t>Nơi xử lý • lưu giữ • quyền truy cập</a:t>
            </a:r>
          </a:p>
        </p:txBody>
      </p:sp>
      <p:sp>
        <p:nvSpPr>
          <p:cNvPr id="25" name="Rounded Rectangle 24"/>
          <p:cNvSpPr/>
          <p:nvPr/>
        </p:nvSpPr>
        <p:spPr>
          <a:xfrm>
            <a:off x="8092440" y="4069080"/>
            <a:ext cx="3584448" cy="19933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92440" y="4069080"/>
            <a:ext cx="50292" cy="199339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02752" y="4297680"/>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Vận hành &amp; giá</a:t>
            </a:r>
          </a:p>
        </p:txBody>
      </p:sp>
      <p:sp>
        <p:nvSpPr>
          <p:cNvPr id="28" name="TextBox 27"/>
          <p:cNvSpPr txBox="1"/>
          <p:nvPr/>
        </p:nvSpPr>
        <p:spPr>
          <a:xfrm>
            <a:off x="8302752" y="5029200"/>
            <a:ext cx="3163824" cy="896112"/>
          </a:xfrm>
          <a:prstGeom prst="rect">
            <a:avLst/>
          </a:prstGeom>
          <a:noFill/>
        </p:spPr>
        <p:txBody>
          <a:bodyPr wrap="square" lIns="0" rIns="0" tIns="0" bIns="0">
            <a:spAutoFit/>
          </a:bodyPr>
          <a:lstStyle/>
          <a:p>
            <a:pPr>
              <a:spcAft>
                <a:spcPts val="700"/>
              </a:spcAft>
              <a:defRPr sz="2000" b="0">
                <a:solidFill>
                  <a:srgbClr val="243746"/>
                </a:solidFill>
                <a:latin typeface="Arial"/>
              </a:defRPr>
            </a:pPr>
            <a:r>
              <a:t>Tải cao điểm • hỗ trợ • tổng chi phí</a:t>
            </a:r>
          </a:p>
        </p:txBody>
      </p:sp>
      <p:sp>
        <p:nvSpPr>
          <p:cNvPr id="29" name="Rectangle 28"/>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6528816"/>
            <a:ext cx="9509760" cy="182880"/>
          </a:xfrm>
          <a:prstGeom prst="rect">
            <a:avLst/>
          </a:prstGeom>
          <a:noFill/>
        </p:spPr>
        <p:txBody>
          <a:bodyPr wrap="square" lIns="0" rIns="0" tIns="0" bIns="0">
            <a:spAutoFit/>
          </a:bodyPr>
          <a:lstStyle/>
          <a:p>
            <a:pPr>
              <a:spcAft>
                <a:spcPts val="700"/>
              </a:spcAft>
              <a:defRPr sz="1000" b="0">
                <a:solidFill>
                  <a:srgbClr val="526879"/>
                </a:solidFill>
                <a:latin typeface="Arial"/>
              </a:defRPr>
            </a:pPr>
            <a:r>
              <a:t>Tien Phat Dam  •  Dai-ichi Life VN  •  Part 1 — Survey</a:t>
            </a:r>
          </a:p>
        </p:txBody>
      </p:sp>
      <p:sp>
        <p:nvSpPr>
          <p:cNvPr id="31" name="TextBox 30"/>
          <p:cNvSpPr txBox="1"/>
          <p:nvPr/>
        </p:nvSpPr>
        <p:spPr>
          <a:xfrm>
            <a:off x="11091672" y="6492240"/>
            <a:ext cx="594360" cy="228600"/>
          </a:xfrm>
          <a:prstGeom prst="rect">
            <a:avLst/>
          </a:prstGeom>
          <a:noFill/>
        </p:spPr>
        <p:txBody>
          <a:bodyPr wrap="square" lIns="0" rIns="0" tIns="0" bIns="0">
            <a:spAutoFit/>
          </a:bodyPr>
          <a:lstStyle/>
          <a:p>
            <a:pPr>
              <a:spcAft>
                <a:spcPts val="700"/>
              </a:spcAft>
              <a:defRPr sz="1100" b="0">
                <a:solidFill>
                  <a:srgbClr val="526879"/>
                </a:solidFill>
                <a:latin typeface="Arial"/>
              </a:defRPr>
            </a:pPr>
            <a:r>
              <a:t>08/25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685800"/>
          </a:xfrm>
          <a:prstGeom prst="rect">
            <a:avLst/>
          </a:prstGeom>
          <a:noFill/>
        </p:spPr>
        <p:txBody>
          <a:bodyPr wrap="square" lIns="0" rIns="0" tIns="0" bIns="0">
            <a:spAutoFit/>
          </a:bodyPr>
          <a:lstStyle/>
          <a:p>
            <a:pPr>
              <a:spcAft>
                <a:spcPts val="700"/>
              </a:spcAft>
              <a:defRPr sz="3100" b="1">
                <a:solidFill>
                  <a:srgbClr val="173F5F"/>
                </a:solidFill>
                <a:latin typeface="Arial"/>
              </a:defRPr>
            </a:pPr>
            <a:r>
              <a:t>Cloud API và tự triển khai: trách nhiệm khác nhau</a:t>
            </a:r>
          </a:p>
        </p:txBody>
      </p:sp>
      <p:sp>
        <p:nvSpPr>
          <p:cNvPr id="4" name="TextBox 3"/>
          <p:cNvSpPr txBox="1"/>
          <p:nvPr/>
        </p:nvSpPr>
        <p:spPr>
          <a:xfrm>
            <a:off x="502920" y="1188720"/>
            <a:ext cx="11155680" cy="548640"/>
          </a:xfrm>
          <a:prstGeom prst="rect">
            <a:avLst/>
          </a:prstGeom>
          <a:noFill/>
        </p:spPr>
        <p:txBody>
          <a:bodyPr wrap="square" lIns="0" rIns="0" tIns="0" bIns="0">
            <a:spAutoFit/>
          </a:bodyPr>
          <a:lstStyle/>
          <a:p>
            <a:pPr>
              <a:spcAft>
                <a:spcPts val="700"/>
              </a:spcAft>
              <a:defRPr sz="1800" b="0">
                <a:solidFill>
                  <a:srgbClr val="526879"/>
                </a:solidFill>
                <a:latin typeface="Arial"/>
              </a:defRPr>
            </a:pPr>
            <a:r>
              <a:t>Chọn theo yêu cầu dữ liệu, hạ tầng và người vận hành</a:t>
            </a:r>
          </a:p>
        </p:txBody>
      </p:sp>
      <p:sp>
        <p:nvSpPr>
          <p:cNvPr id="5" name="Rounded Rectangle 4"/>
          <p:cNvSpPr/>
          <p:nvPr/>
        </p:nvSpPr>
        <p:spPr>
          <a:xfrm>
            <a:off x="50292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Cloud API</a:t>
            </a:r>
          </a:p>
        </p:txBody>
      </p:sp>
      <p:sp>
        <p:nvSpPr>
          <p:cNvPr id="8" name="TextBox 7"/>
          <p:cNvSpPr txBox="1"/>
          <p:nvPr/>
        </p:nvSpPr>
        <p:spPr>
          <a:xfrm>
            <a:off x="71323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Vendor chạy engine</a:t>
            </a:r>
          </a:p>
          <a:p>
            <a:pPr>
              <a:spcAft>
                <a:spcPts val="700"/>
              </a:spcAft>
              <a:defRPr sz="2200" b="0">
                <a:solidFill>
                  <a:srgbClr val="243746"/>
                </a:solidFill>
                <a:latin typeface="Arial"/>
              </a:defRPr>
            </a:pPr>
            <a:r>
              <a:t>Team tích hợp, kiểm soát dữ liệu và usage</a:t>
            </a:r>
          </a:p>
        </p:txBody>
      </p:sp>
      <p:sp>
        <p:nvSpPr>
          <p:cNvPr id="9" name="Rounded Rectangle 8"/>
          <p:cNvSpPr/>
          <p:nvPr/>
        </p:nvSpPr>
        <p:spPr>
          <a:xfrm>
            <a:off x="429768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799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Self-hosted</a:t>
            </a:r>
          </a:p>
        </p:txBody>
      </p:sp>
      <p:sp>
        <p:nvSpPr>
          <p:cNvPr id="12" name="TextBox 11"/>
          <p:cNvSpPr txBox="1"/>
          <p:nvPr/>
        </p:nvSpPr>
        <p:spPr>
          <a:xfrm>
            <a:off x="450799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Team chạy model trên hạ tầng quản lý</a:t>
            </a:r>
          </a:p>
          <a:p>
            <a:pPr>
              <a:spcAft>
                <a:spcPts val="700"/>
              </a:spcAft>
              <a:defRPr sz="2200" b="0">
                <a:solidFill>
                  <a:srgbClr val="243746"/>
                </a:solidFill>
                <a:latin typeface="Arial"/>
              </a:defRPr>
            </a:pPr>
            <a:r>
              <a:t>Cần tài nguyên và owner vận hành</a:t>
            </a:r>
          </a:p>
        </p:txBody>
      </p:sp>
      <p:sp>
        <p:nvSpPr>
          <p:cNvPr id="13" name="Rounded Rectangle 12"/>
          <p:cNvSpPr/>
          <p:nvPr/>
        </p:nvSpPr>
        <p:spPr>
          <a:xfrm>
            <a:off x="809244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244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Tại sao cần cân nhắc?</a:t>
            </a:r>
          </a:p>
        </p:txBody>
      </p:sp>
      <p:sp>
        <p:nvSpPr>
          <p:cNvPr id="16" name="TextBox 15"/>
          <p:cNvSpPr txBox="1"/>
          <p:nvPr/>
        </p:nvSpPr>
        <p:spPr>
          <a:xfrm>
            <a:off x="830275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API không bỏ hết trách nhiệm dữ liệu.</a:t>
            </a:r>
          </a:p>
          <a:p>
            <a:pPr>
              <a:spcAft>
                <a:spcPts val="700"/>
              </a:spcAft>
              <a:defRPr sz="2200" b="0">
                <a:solidFill>
                  <a:srgbClr val="243746"/>
                </a:solidFill>
                <a:latin typeface="Arial"/>
              </a:defRPr>
            </a:pPr>
            <a:r>
              <a:t>Tự triển khai không làm chi phí bằng 0.</a:t>
            </a:r>
          </a:p>
        </p:txBody>
      </p:sp>
      <p:sp>
        <p:nvSpPr>
          <p:cNvPr id="17" name="Rectangle 16"/>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528816"/>
            <a:ext cx="9509760" cy="182880"/>
          </a:xfrm>
          <a:prstGeom prst="rect">
            <a:avLst/>
          </a:prstGeom>
          <a:noFill/>
        </p:spPr>
        <p:txBody>
          <a:bodyPr wrap="square" lIns="0" rIns="0" tIns="0" bIns="0">
            <a:spAutoFit/>
          </a:bodyPr>
          <a:lstStyle/>
          <a:p>
            <a:pPr>
              <a:spcAft>
                <a:spcPts val="700"/>
              </a:spcAft>
              <a:defRPr sz="1000" b="0">
                <a:solidFill>
                  <a:srgbClr val="526879"/>
                </a:solidFill>
                <a:latin typeface="Arial"/>
              </a:defRPr>
            </a:pPr>
            <a:r>
              <a:t>Tien Phat Dam  •  Dai-ichi Life VN  •  Part 1 — Survey</a:t>
            </a:r>
          </a:p>
        </p:txBody>
      </p:sp>
      <p:sp>
        <p:nvSpPr>
          <p:cNvPr id="19" name="TextBox 18"/>
          <p:cNvSpPr txBox="1"/>
          <p:nvPr/>
        </p:nvSpPr>
        <p:spPr>
          <a:xfrm>
            <a:off x="11091672" y="6492240"/>
            <a:ext cx="594360" cy="228600"/>
          </a:xfrm>
          <a:prstGeom prst="rect">
            <a:avLst/>
          </a:prstGeom>
          <a:noFill/>
        </p:spPr>
        <p:txBody>
          <a:bodyPr wrap="square" lIns="0" rIns="0" tIns="0" bIns="0">
            <a:spAutoFit/>
          </a:bodyPr>
          <a:lstStyle/>
          <a:p>
            <a:pPr>
              <a:spcAft>
                <a:spcPts val="700"/>
              </a:spcAft>
              <a:defRPr sz="1100" b="0">
                <a:solidFill>
                  <a:srgbClr val="526879"/>
                </a:solidFill>
                <a:latin typeface="Arial"/>
              </a:defRPr>
            </a:pPr>
            <a:r>
              <a:t>09/25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685800"/>
          </a:xfrm>
          <a:prstGeom prst="rect">
            <a:avLst/>
          </a:prstGeom>
          <a:noFill/>
        </p:spPr>
        <p:txBody>
          <a:bodyPr wrap="square" lIns="0" rIns="0" tIns="0" bIns="0">
            <a:spAutoFit/>
          </a:bodyPr>
          <a:lstStyle/>
          <a:p>
            <a:pPr>
              <a:spcAft>
                <a:spcPts val="700"/>
              </a:spcAft>
              <a:defRPr sz="3100" b="1">
                <a:solidFill>
                  <a:srgbClr val="173F5F"/>
                </a:solidFill>
                <a:latin typeface="Arial"/>
              </a:defRPr>
            </a:pPr>
            <a:r>
              <a:t>Ba nhóm lựa chọn đã khảo sát</a:t>
            </a:r>
          </a:p>
        </p:txBody>
      </p:sp>
      <p:sp>
        <p:nvSpPr>
          <p:cNvPr id="4" name="TextBox 3"/>
          <p:cNvSpPr txBox="1"/>
          <p:nvPr/>
        </p:nvSpPr>
        <p:spPr>
          <a:xfrm>
            <a:off x="502920" y="1188720"/>
            <a:ext cx="11155680" cy="548640"/>
          </a:xfrm>
          <a:prstGeom prst="rect">
            <a:avLst/>
          </a:prstGeom>
          <a:noFill/>
        </p:spPr>
        <p:txBody>
          <a:bodyPr wrap="square" lIns="0" rIns="0" tIns="0" bIns="0">
            <a:spAutoFit/>
          </a:bodyPr>
          <a:lstStyle/>
          <a:p>
            <a:pPr>
              <a:spcAft>
                <a:spcPts val="700"/>
              </a:spcAft>
              <a:defRPr sz="1800" b="0">
                <a:solidFill>
                  <a:srgbClr val="526879"/>
                </a:solidFill>
                <a:latin typeface="Arial"/>
              </a:defRPr>
            </a:pPr>
            <a:r>
              <a:t>Cùng bài toán, nhưng cách triển khai và trách nhiệm khác nhau</a:t>
            </a:r>
          </a:p>
        </p:txBody>
      </p:sp>
      <p:sp>
        <p:nvSpPr>
          <p:cNvPr id="5" name="Rounded Rectangle 4"/>
          <p:cNvSpPr/>
          <p:nvPr/>
        </p:nvSpPr>
        <p:spPr>
          <a:xfrm>
            <a:off x="50292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Model tự triển khai</a:t>
            </a:r>
          </a:p>
        </p:txBody>
      </p:sp>
      <p:sp>
        <p:nvSpPr>
          <p:cNvPr id="8" name="TextBox 7"/>
          <p:cNvSpPr txBox="1"/>
          <p:nvPr/>
        </p:nvSpPr>
        <p:spPr>
          <a:xfrm>
            <a:off x="71323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Whisper • PhoWhisper</a:t>
            </a:r>
          </a:p>
          <a:p>
            <a:pPr>
              <a:spcAft>
                <a:spcPts val="700"/>
              </a:spcAft>
              <a:defRPr sz="2200" b="0">
                <a:solidFill>
                  <a:srgbClr val="243746"/>
                </a:solidFill>
                <a:latin typeface="Arial"/>
              </a:defRPr>
            </a:pPr>
            <a:r>
              <a:t>faster-whisper là runtime của Whisper</a:t>
            </a:r>
          </a:p>
        </p:txBody>
      </p:sp>
      <p:sp>
        <p:nvSpPr>
          <p:cNvPr id="9" name="Rounded Rectangle 8"/>
          <p:cNvSpPr/>
          <p:nvPr/>
        </p:nvSpPr>
        <p:spPr>
          <a:xfrm>
            <a:off x="429768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799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API và speech platform</a:t>
            </a:r>
          </a:p>
        </p:txBody>
      </p:sp>
      <p:sp>
        <p:nvSpPr>
          <p:cNvPr id="12" name="TextBox 11"/>
          <p:cNvSpPr txBox="1"/>
          <p:nvPr/>
        </p:nvSpPr>
        <p:spPr>
          <a:xfrm>
            <a:off x="450799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OpenAI • Google • Azure • AWS</a:t>
            </a:r>
          </a:p>
          <a:p>
            <a:pPr>
              <a:spcAft>
                <a:spcPts val="700"/>
              </a:spcAft>
              <a:defRPr sz="2200" b="0">
                <a:solidFill>
                  <a:srgbClr val="243746"/>
                </a:solidFill>
                <a:latin typeface="Arial"/>
              </a:defRPr>
            </a:pPr>
            <a:r>
              <a:t>Deepgram • Speechmatics • NVIDIA</a:t>
            </a:r>
          </a:p>
        </p:txBody>
      </p:sp>
      <p:sp>
        <p:nvSpPr>
          <p:cNvPr id="13" name="Rounded Rectangle 12"/>
          <p:cNvSpPr/>
          <p:nvPr/>
        </p:nvSpPr>
        <p:spPr>
          <a:xfrm>
            <a:off x="809244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244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Vendor Việt Nam</a:t>
            </a:r>
          </a:p>
        </p:txBody>
      </p:sp>
      <p:sp>
        <p:nvSpPr>
          <p:cNvPr id="16" name="TextBox 15"/>
          <p:cNvSpPr txBox="1"/>
          <p:nvPr/>
        </p:nvSpPr>
        <p:spPr>
          <a:xfrm>
            <a:off x="830275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VNPT • FPT.AI • Viettel AI</a:t>
            </a:r>
          </a:p>
          <a:p>
            <a:pPr>
              <a:spcAft>
                <a:spcPts val="700"/>
              </a:spcAft>
              <a:defRPr sz="2200" b="0">
                <a:solidFill>
                  <a:srgbClr val="243746"/>
                </a:solidFill>
                <a:latin typeface="Arial"/>
              </a:defRPr>
            </a:pPr>
            <a:r>
              <a:t>Cần tài liệu và điều kiện enterprise cụ thể</a:t>
            </a:r>
          </a:p>
        </p:txBody>
      </p:sp>
      <p:sp>
        <p:nvSpPr>
          <p:cNvPr id="17" name="Rectangle 16"/>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163056"/>
            <a:ext cx="11064240" cy="219456"/>
          </a:xfrm>
          <a:prstGeom prst="rect">
            <a:avLst/>
          </a:prstGeom>
          <a:noFill/>
        </p:spPr>
        <p:txBody>
          <a:bodyPr wrap="square" lIns="0" rIns="0" tIns="0" bIns="0">
            <a:spAutoFit/>
          </a:bodyPr>
          <a:lstStyle/>
          <a:p>
            <a:pPr>
              <a:spcAft>
                <a:spcPts val="700"/>
              </a:spcAft>
              <a:defRPr sz="900" b="0">
                <a:solidFill>
                  <a:srgbClr val="526879"/>
                </a:solidFill>
                <a:latin typeface="Arial"/>
              </a:defRPr>
            </a:pPr>
            <a:r>
              <a:t>OpenAI (n.d.g); SYSTRAN (n.d.); VinAI Research (n.d.); xem References</a:t>
            </a:r>
          </a:p>
        </p:txBody>
      </p:sp>
      <p:sp>
        <p:nvSpPr>
          <p:cNvPr id="19" name="TextBox 18"/>
          <p:cNvSpPr txBox="1"/>
          <p:nvPr/>
        </p:nvSpPr>
        <p:spPr>
          <a:xfrm>
            <a:off x="502920" y="6528816"/>
            <a:ext cx="9509760" cy="182880"/>
          </a:xfrm>
          <a:prstGeom prst="rect">
            <a:avLst/>
          </a:prstGeom>
          <a:noFill/>
        </p:spPr>
        <p:txBody>
          <a:bodyPr wrap="square" lIns="0" rIns="0" tIns="0" bIns="0">
            <a:spAutoFit/>
          </a:bodyPr>
          <a:lstStyle/>
          <a:p>
            <a:pPr>
              <a:spcAft>
                <a:spcPts val="700"/>
              </a:spcAft>
              <a:defRPr sz="1000" b="0">
                <a:solidFill>
                  <a:srgbClr val="526879"/>
                </a:solidFill>
                <a:latin typeface="Arial"/>
              </a:defRPr>
            </a:pPr>
            <a:r>
              <a:t>Tien Phat Dam  •  Dai-ichi Life VN  •  Part 1 — Survey</a:t>
            </a:r>
          </a:p>
        </p:txBody>
      </p:sp>
      <p:sp>
        <p:nvSpPr>
          <p:cNvPr id="20" name="TextBox 19"/>
          <p:cNvSpPr txBox="1"/>
          <p:nvPr/>
        </p:nvSpPr>
        <p:spPr>
          <a:xfrm>
            <a:off x="11091672" y="6492240"/>
            <a:ext cx="594360" cy="228600"/>
          </a:xfrm>
          <a:prstGeom prst="rect">
            <a:avLst/>
          </a:prstGeom>
          <a:noFill/>
        </p:spPr>
        <p:txBody>
          <a:bodyPr wrap="square" lIns="0" rIns="0" tIns="0" bIns="0">
            <a:spAutoFit/>
          </a:bodyPr>
          <a:lstStyle/>
          <a:p>
            <a:pPr>
              <a:spcAft>
                <a:spcPts val="700"/>
              </a:spcAft>
              <a:defRPr sz="1100" b="0">
                <a:solidFill>
                  <a:srgbClr val="526879"/>
                </a:solidFill>
                <a:latin typeface="Arial"/>
              </a:defRPr>
            </a:pPr>
            <a:r>
              <a:t>10/25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685800"/>
          </a:xfrm>
          <a:prstGeom prst="rect">
            <a:avLst/>
          </a:prstGeom>
          <a:noFill/>
        </p:spPr>
        <p:txBody>
          <a:bodyPr wrap="square" lIns="0" rIns="0" tIns="0" bIns="0">
            <a:spAutoFit/>
          </a:bodyPr>
          <a:lstStyle/>
          <a:p>
            <a:pPr>
              <a:spcAft>
                <a:spcPts val="700"/>
              </a:spcAft>
              <a:defRPr sz="3100" b="1">
                <a:solidFill>
                  <a:srgbClr val="173F5F"/>
                </a:solidFill>
                <a:latin typeface="Arial"/>
              </a:defRPr>
            </a:pPr>
            <a:r>
              <a:t>Model tự triển khai: chọn để thử, chưa chọn người thắng</a:t>
            </a:r>
          </a:p>
        </p:txBody>
      </p:sp>
      <p:sp>
        <p:nvSpPr>
          <p:cNvPr id="4" name="TextBox 3"/>
          <p:cNvSpPr txBox="1"/>
          <p:nvPr/>
        </p:nvSpPr>
        <p:spPr>
          <a:xfrm>
            <a:off x="502920" y="1188720"/>
            <a:ext cx="11155680" cy="548640"/>
          </a:xfrm>
          <a:prstGeom prst="rect">
            <a:avLst/>
          </a:prstGeom>
          <a:noFill/>
        </p:spPr>
        <p:txBody>
          <a:bodyPr wrap="square" lIns="0" rIns="0" tIns="0" bIns="0">
            <a:spAutoFit/>
          </a:bodyPr>
          <a:lstStyle/>
          <a:p>
            <a:pPr>
              <a:spcAft>
                <a:spcPts val="700"/>
              </a:spcAft>
              <a:defRPr sz="1800" b="0">
                <a:solidFill>
                  <a:srgbClr val="526879"/>
                </a:solidFill>
                <a:latin typeface="Arial"/>
              </a:defRPr>
            </a:pPr>
            <a:r>
              <a:t>Điểm mạnh theo hướng triển khai ≠ accuracy trên call công ty</a:t>
            </a:r>
          </a:p>
        </p:txBody>
      </p:sp>
      <p:sp>
        <p:nvSpPr>
          <p:cNvPr id="5" name="Rounded Rectangle 4"/>
          <p:cNvSpPr/>
          <p:nvPr/>
        </p:nvSpPr>
        <p:spPr>
          <a:xfrm>
            <a:off x="50292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Whisper</a:t>
            </a:r>
          </a:p>
        </p:txBody>
      </p:sp>
      <p:sp>
        <p:nvSpPr>
          <p:cNvPr id="8" name="TextBox 7"/>
          <p:cNvSpPr txBox="1"/>
          <p:nvPr/>
        </p:nvSpPr>
        <p:spPr>
          <a:xfrm>
            <a:off x="71323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Đề xuất làm baseline — phương án mốc</a:t>
            </a:r>
          </a:p>
          <a:p>
            <a:pPr>
              <a:spcAft>
                <a:spcPts val="700"/>
              </a:spcAft>
              <a:defRPr sz="2200" b="0">
                <a:solidFill>
                  <a:srgbClr val="243746"/>
                </a:solidFill>
                <a:latin typeface="Arial"/>
              </a:defRPr>
            </a:pPr>
            <a:r>
              <a:t>Cần chốt checkpoint và cấu hình</a:t>
            </a:r>
          </a:p>
        </p:txBody>
      </p:sp>
      <p:sp>
        <p:nvSpPr>
          <p:cNvPr id="9" name="Rounded Rectangle 8"/>
          <p:cNvSpPr/>
          <p:nvPr/>
        </p:nvSpPr>
        <p:spPr>
          <a:xfrm>
            <a:off x="429768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799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PhoWhisper</a:t>
            </a:r>
          </a:p>
        </p:txBody>
      </p:sp>
      <p:sp>
        <p:nvSpPr>
          <p:cNvPr id="12" name="TextBox 11"/>
          <p:cNvSpPr txBox="1"/>
          <p:nvPr/>
        </p:nvSpPr>
        <p:spPr>
          <a:xfrm>
            <a:off x="450799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Được fine-tune cho tiếng Việt</a:t>
            </a:r>
          </a:p>
          <a:p>
            <a:pPr>
              <a:spcAft>
                <a:spcPts val="700"/>
              </a:spcAft>
              <a:defRPr sz="2200" b="0">
                <a:solidFill>
                  <a:srgbClr val="243746"/>
                </a:solidFill>
                <a:latin typeface="Arial"/>
              </a:defRPr>
            </a:pPr>
            <a:r>
              <a:t>Đáng so với baseline trên cùng audio</a:t>
            </a:r>
          </a:p>
        </p:txBody>
      </p:sp>
      <p:sp>
        <p:nvSpPr>
          <p:cNvPr id="13" name="Rounded Rectangle 12"/>
          <p:cNvSpPr/>
          <p:nvPr/>
        </p:nvSpPr>
        <p:spPr>
          <a:xfrm>
            <a:off x="809244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244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faster-whisper</a:t>
            </a:r>
          </a:p>
        </p:txBody>
      </p:sp>
      <p:sp>
        <p:nvSpPr>
          <p:cNvPr id="16" name="TextBox 15"/>
          <p:cNvSpPr txBox="1"/>
          <p:nvPr/>
        </p:nvSpPr>
        <p:spPr>
          <a:xfrm>
            <a:off x="830275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Runtime hỗ trợ cách chạy Whisper</a:t>
            </a:r>
          </a:p>
          <a:p>
            <a:pPr>
              <a:spcAft>
                <a:spcPts val="700"/>
              </a:spcAft>
              <a:defRPr sz="2200" b="0">
                <a:solidFill>
                  <a:srgbClr val="243746"/>
                </a:solidFill>
                <a:latin typeface="Arial"/>
              </a:defRPr>
            </a:pPr>
            <a:r>
              <a:t>Tốc độ thực cần đo đúng máy</a:t>
            </a:r>
          </a:p>
        </p:txBody>
      </p:sp>
      <p:sp>
        <p:nvSpPr>
          <p:cNvPr id="17" name="Rectangle 16"/>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163056"/>
            <a:ext cx="11064240" cy="219456"/>
          </a:xfrm>
          <a:prstGeom prst="rect">
            <a:avLst/>
          </a:prstGeom>
          <a:noFill/>
        </p:spPr>
        <p:txBody>
          <a:bodyPr wrap="square" lIns="0" rIns="0" tIns="0" bIns="0">
            <a:spAutoFit/>
          </a:bodyPr>
          <a:lstStyle/>
          <a:p>
            <a:pPr>
              <a:spcAft>
                <a:spcPts val="700"/>
              </a:spcAft>
              <a:defRPr sz="900" b="0">
                <a:solidFill>
                  <a:srgbClr val="526879"/>
                </a:solidFill>
                <a:latin typeface="Arial"/>
              </a:defRPr>
            </a:pPr>
            <a:r>
              <a:t>OpenAI (n.d.g); SYSTRAN (n.d.); VinAI Research (n.d.)</a:t>
            </a:r>
          </a:p>
        </p:txBody>
      </p:sp>
      <p:sp>
        <p:nvSpPr>
          <p:cNvPr id="19" name="TextBox 18"/>
          <p:cNvSpPr txBox="1"/>
          <p:nvPr/>
        </p:nvSpPr>
        <p:spPr>
          <a:xfrm>
            <a:off x="502920" y="6528816"/>
            <a:ext cx="9509760" cy="182880"/>
          </a:xfrm>
          <a:prstGeom prst="rect">
            <a:avLst/>
          </a:prstGeom>
          <a:noFill/>
        </p:spPr>
        <p:txBody>
          <a:bodyPr wrap="square" lIns="0" rIns="0" tIns="0" bIns="0">
            <a:spAutoFit/>
          </a:bodyPr>
          <a:lstStyle/>
          <a:p>
            <a:pPr>
              <a:spcAft>
                <a:spcPts val="700"/>
              </a:spcAft>
              <a:defRPr sz="1000" b="0">
                <a:solidFill>
                  <a:srgbClr val="526879"/>
                </a:solidFill>
                <a:latin typeface="Arial"/>
              </a:defRPr>
            </a:pPr>
            <a:r>
              <a:t>Tien Phat Dam  •  Dai-ichi Life VN  •  Part 1 — Survey</a:t>
            </a:r>
          </a:p>
        </p:txBody>
      </p:sp>
      <p:sp>
        <p:nvSpPr>
          <p:cNvPr id="20" name="TextBox 19"/>
          <p:cNvSpPr txBox="1"/>
          <p:nvPr/>
        </p:nvSpPr>
        <p:spPr>
          <a:xfrm>
            <a:off x="11091672" y="6492240"/>
            <a:ext cx="594360" cy="228600"/>
          </a:xfrm>
          <a:prstGeom prst="rect">
            <a:avLst/>
          </a:prstGeom>
          <a:noFill/>
        </p:spPr>
        <p:txBody>
          <a:bodyPr wrap="square" lIns="0" rIns="0" tIns="0" bIns="0">
            <a:spAutoFit/>
          </a:bodyPr>
          <a:lstStyle/>
          <a:p>
            <a:pPr>
              <a:spcAft>
                <a:spcPts val="700"/>
              </a:spcAft>
              <a:defRPr sz="1100" b="0">
                <a:solidFill>
                  <a:srgbClr val="526879"/>
                </a:solidFill>
                <a:latin typeface="Arial"/>
              </a:defRPr>
            </a:pPr>
            <a:r>
              <a:t>11/25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685800"/>
          </a:xfrm>
          <a:prstGeom prst="rect">
            <a:avLst/>
          </a:prstGeom>
          <a:noFill/>
        </p:spPr>
        <p:txBody>
          <a:bodyPr wrap="square" lIns="0" rIns="0" tIns="0" bIns="0">
            <a:spAutoFit/>
          </a:bodyPr>
          <a:lstStyle/>
          <a:p>
            <a:pPr>
              <a:spcAft>
                <a:spcPts val="700"/>
              </a:spcAft>
              <a:defRPr sz="3100" b="1">
                <a:solidFill>
                  <a:srgbClr val="173F5F"/>
                </a:solidFill>
                <a:latin typeface="Arial"/>
              </a:defRPr>
            </a:pPr>
            <a:r>
              <a:t>API quốc tế: tính năng cần đọc theo đúng phạm vi</a:t>
            </a:r>
          </a:p>
        </p:txBody>
      </p:sp>
      <p:sp>
        <p:nvSpPr>
          <p:cNvPr id="4" name="TextBox 3"/>
          <p:cNvSpPr txBox="1"/>
          <p:nvPr/>
        </p:nvSpPr>
        <p:spPr>
          <a:xfrm>
            <a:off x="502920" y="1188720"/>
            <a:ext cx="11155680" cy="548640"/>
          </a:xfrm>
          <a:prstGeom prst="rect">
            <a:avLst/>
          </a:prstGeom>
          <a:noFill/>
        </p:spPr>
        <p:txBody>
          <a:bodyPr wrap="square" lIns="0" rIns="0" tIns="0" bIns="0">
            <a:spAutoFit/>
          </a:bodyPr>
          <a:lstStyle/>
          <a:p>
            <a:pPr>
              <a:spcAft>
                <a:spcPts val="700"/>
              </a:spcAft>
              <a:defRPr sz="1800" b="0">
                <a:solidFill>
                  <a:srgbClr val="526879"/>
                </a:solidFill>
                <a:latin typeface="Arial"/>
              </a:defRPr>
            </a:pPr>
            <a:r>
              <a:t>Không lấy tính năng chung của thương hiệu gán cho mọi model</a:t>
            </a:r>
          </a:p>
        </p:txBody>
      </p:sp>
      <p:sp>
        <p:nvSpPr>
          <p:cNvPr id="5" name="Rounded Rectangle 4"/>
          <p:cNvSpPr/>
          <p:nvPr/>
        </p:nvSpPr>
        <p:spPr>
          <a:xfrm>
            <a:off x="502920" y="1865376"/>
            <a:ext cx="5481828" cy="19933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65376"/>
            <a:ext cx="50292" cy="199339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093976"/>
            <a:ext cx="506120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OpenAI</a:t>
            </a:r>
          </a:p>
        </p:txBody>
      </p:sp>
      <p:sp>
        <p:nvSpPr>
          <p:cNvPr id="8" name="TextBox 7"/>
          <p:cNvSpPr txBox="1"/>
          <p:nvPr/>
        </p:nvSpPr>
        <p:spPr>
          <a:xfrm>
            <a:off x="713232" y="2825496"/>
            <a:ext cx="5061204" cy="896112"/>
          </a:xfrm>
          <a:prstGeom prst="rect">
            <a:avLst/>
          </a:prstGeom>
          <a:noFill/>
        </p:spPr>
        <p:txBody>
          <a:bodyPr wrap="square" lIns="0" rIns="0" tIns="0" bIns="0">
            <a:spAutoFit/>
          </a:bodyPr>
          <a:lstStyle/>
          <a:p>
            <a:pPr>
              <a:spcAft>
                <a:spcPts val="700"/>
              </a:spcAft>
              <a:defRPr sz="2000" b="0">
                <a:solidFill>
                  <a:srgbClr val="243746"/>
                </a:solidFill>
                <a:latin typeface="Arial"/>
              </a:defRPr>
            </a:pPr>
            <a:r>
              <a:t>Model file, live và diarize riêng</a:t>
            </a:r>
          </a:p>
          <a:p>
            <a:pPr>
              <a:spcAft>
                <a:spcPts val="700"/>
              </a:spcAft>
              <a:defRPr sz="2000" b="0">
                <a:solidFill>
                  <a:srgbClr val="243746"/>
                </a:solidFill>
                <a:latin typeface="Arial"/>
              </a:defRPr>
            </a:pPr>
            <a:r>
              <a:t>Xác nhận vi của checkpoint dùng</a:t>
            </a:r>
          </a:p>
        </p:txBody>
      </p:sp>
      <p:sp>
        <p:nvSpPr>
          <p:cNvPr id="9" name="Rounded Rectangle 8"/>
          <p:cNvSpPr/>
          <p:nvPr/>
        </p:nvSpPr>
        <p:spPr>
          <a:xfrm>
            <a:off x="6195060" y="1865376"/>
            <a:ext cx="5481828" cy="19933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95060" y="1865376"/>
            <a:ext cx="50292" cy="199339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5372" y="2093976"/>
            <a:ext cx="506120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Google Chirp 3</a:t>
            </a:r>
          </a:p>
        </p:txBody>
      </p:sp>
      <p:sp>
        <p:nvSpPr>
          <p:cNvPr id="12" name="TextBox 11"/>
          <p:cNvSpPr txBox="1"/>
          <p:nvPr/>
        </p:nvSpPr>
        <p:spPr>
          <a:xfrm>
            <a:off x="6405372" y="2825496"/>
            <a:ext cx="5061204" cy="896112"/>
          </a:xfrm>
          <a:prstGeom prst="rect">
            <a:avLst/>
          </a:prstGeom>
          <a:noFill/>
        </p:spPr>
        <p:txBody>
          <a:bodyPr wrap="square" lIns="0" rIns="0" tIns="0" bIns="0">
            <a:spAutoFit/>
          </a:bodyPr>
          <a:lstStyle/>
          <a:p>
            <a:pPr>
              <a:spcAft>
                <a:spcPts val="700"/>
              </a:spcAft>
              <a:defRPr sz="2000" b="0">
                <a:solidFill>
                  <a:srgbClr val="243746"/>
                </a:solidFill>
                <a:latin typeface="Arial"/>
              </a:defRPr>
            </a:pPr>
            <a:r>
              <a:t>vi-VN GA cho transcription</a:t>
            </a:r>
          </a:p>
          <a:p>
            <a:pPr>
              <a:spcAft>
                <a:spcPts val="700"/>
              </a:spcAft>
              <a:defRPr sz="2000" b="0">
                <a:solidFill>
                  <a:srgbClr val="243746"/>
                </a:solidFill>
                <a:latin typeface="Arial"/>
              </a:defRPr>
            </a:pPr>
            <a:r>
              <a:t>Danh sách diarization chưa có vi</a:t>
            </a:r>
          </a:p>
        </p:txBody>
      </p:sp>
      <p:sp>
        <p:nvSpPr>
          <p:cNvPr id="13" name="Rounded Rectangle 12"/>
          <p:cNvSpPr/>
          <p:nvPr/>
        </p:nvSpPr>
        <p:spPr>
          <a:xfrm>
            <a:off x="502920" y="4069080"/>
            <a:ext cx="5481828" cy="19933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4069080"/>
            <a:ext cx="50292" cy="199339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4297680"/>
            <a:ext cx="506120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Azure Speech</a:t>
            </a:r>
          </a:p>
        </p:txBody>
      </p:sp>
      <p:sp>
        <p:nvSpPr>
          <p:cNvPr id="16" name="TextBox 15"/>
          <p:cNvSpPr txBox="1"/>
          <p:nvPr/>
        </p:nvSpPr>
        <p:spPr>
          <a:xfrm>
            <a:off x="713232" y="5029200"/>
            <a:ext cx="5061204" cy="896112"/>
          </a:xfrm>
          <a:prstGeom prst="rect">
            <a:avLst/>
          </a:prstGeom>
          <a:noFill/>
        </p:spPr>
        <p:txBody>
          <a:bodyPr wrap="square" lIns="0" rIns="0" tIns="0" bIns="0">
            <a:spAutoFit/>
          </a:bodyPr>
          <a:lstStyle/>
          <a:p>
            <a:pPr>
              <a:spcAft>
                <a:spcPts val="700"/>
              </a:spcAft>
              <a:defRPr sz="2000" b="0">
                <a:solidFill>
                  <a:srgbClr val="243746"/>
                </a:solidFill>
                <a:latin typeface="Arial"/>
              </a:defRPr>
            </a:pPr>
            <a:r>
              <a:t>Có vi-VN; tùy chỉnh văn bản</a:t>
            </a:r>
          </a:p>
          <a:p>
            <a:pPr>
              <a:spcAft>
                <a:spcPts val="700"/>
              </a:spcAft>
              <a:defRPr sz="2000" b="0">
                <a:solidFill>
                  <a:srgbClr val="243746"/>
                </a:solidFill>
                <a:latin typeface="Arial"/>
              </a:defRPr>
            </a:pPr>
            <a:r>
              <a:t>Container / endpoint cần xác nhận</a:t>
            </a:r>
          </a:p>
        </p:txBody>
      </p:sp>
      <p:sp>
        <p:nvSpPr>
          <p:cNvPr id="17" name="Rounded Rectangle 16"/>
          <p:cNvSpPr/>
          <p:nvPr/>
        </p:nvSpPr>
        <p:spPr>
          <a:xfrm>
            <a:off x="6195060" y="4069080"/>
            <a:ext cx="5481828" cy="19933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95060" y="4069080"/>
            <a:ext cx="50292" cy="199339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5372" y="4297680"/>
            <a:ext cx="506120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AWS Transcribe</a:t>
            </a:r>
          </a:p>
        </p:txBody>
      </p:sp>
      <p:sp>
        <p:nvSpPr>
          <p:cNvPr id="20" name="TextBox 19"/>
          <p:cNvSpPr txBox="1"/>
          <p:nvPr/>
        </p:nvSpPr>
        <p:spPr>
          <a:xfrm>
            <a:off x="6405372" y="5029200"/>
            <a:ext cx="5061204" cy="896112"/>
          </a:xfrm>
          <a:prstGeom prst="rect">
            <a:avLst/>
          </a:prstGeom>
          <a:noFill/>
        </p:spPr>
        <p:txBody>
          <a:bodyPr wrap="square" lIns="0" rIns="0" tIns="0" bIns="0">
            <a:spAutoFit/>
          </a:bodyPr>
          <a:lstStyle/>
          <a:p>
            <a:pPr>
              <a:spcAft>
                <a:spcPts val="700"/>
              </a:spcAft>
              <a:defRPr sz="2000" b="0">
                <a:solidFill>
                  <a:srgbClr val="243746"/>
                </a:solidFill>
                <a:latin typeface="Arial"/>
              </a:defRPr>
            </a:pPr>
            <a:r>
              <a:t>Có vi batch và live</a:t>
            </a:r>
          </a:p>
          <a:p>
            <a:pPr>
              <a:spcAft>
                <a:spcPts val="700"/>
              </a:spcAft>
              <a:defRPr sz="2000" b="0">
                <a:solidFill>
                  <a:srgbClr val="243746"/>
                </a:solidFill>
                <a:latin typeface="Arial"/>
              </a:defRPr>
            </a:pPr>
            <a:r>
              <a:t>Các feature phân tích vi có giới hạn</a:t>
            </a:r>
          </a:p>
        </p:txBody>
      </p:sp>
      <p:sp>
        <p:nvSpPr>
          <p:cNvPr id="21" name="Rectangle 20"/>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6163056"/>
            <a:ext cx="11064240" cy="219456"/>
          </a:xfrm>
          <a:prstGeom prst="rect">
            <a:avLst/>
          </a:prstGeom>
          <a:noFill/>
        </p:spPr>
        <p:txBody>
          <a:bodyPr wrap="square" lIns="0" rIns="0" tIns="0" bIns="0">
            <a:spAutoFit/>
          </a:bodyPr>
          <a:lstStyle/>
          <a:p>
            <a:pPr>
              <a:spcAft>
                <a:spcPts val="700"/>
              </a:spcAft>
              <a:defRPr sz="900" b="0">
                <a:solidFill>
                  <a:srgbClr val="526879"/>
                </a:solidFill>
                <a:latin typeface="Arial"/>
              </a:defRPr>
            </a:pPr>
            <a:r>
              <a:t>OpenAI (n.d.b–e); Google Cloud (n.d.a); Microsoft (n.d.d); AWS (n.d.b)</a:t>
            </a:r>
          </a:p>
        </p:txBody>
      </p:sp>
      <p:sp>
        <p:nvSpPr>
          <p:cNvPr id="23" name="TextBox 22"/>
          <p:cNvSpPr txBox="1"/>
          <p:nvPr/>
        </p:nvSpPr>
        <p:spPr>
          <a:xfrm>
            <a:off x="502920" y="6528816"/>
            <a:ext cx="9509760" cy="182880"/>
          </a:xfrm>
          <a:prstGeom prst="rect">
            <a:avLst/>
          </a:prstGeom>
          <a:noFill/>
        </p:spPr>
        <p:txBody>
          <a:bodyPr wrap="square" lIns="0" rIns="0" tIns="0" bIns="0">
            <a:spAutoFit/>
          </a:bodyPr>
          <a:lstStyle/>
          <a:p>
            <a:pPr>
              <a:spcAft>
                <a:spcPts val="700"/>
              </a:spcAft>
              <a:defRPr sz="1000" b="0">
                <a:solidFill>
                  <a:srgbClr val="526879"/>
                </a:solidFill>
                <a:latin typeface="Arial"/>
              </a:defRPr>
            </a:pPr>
            <a:r>
              <a:t>Tien Phat Dam  •  Dai-ichi Life VN  •  Part 1 — Survey</a:t>
            </a:r>
          </a:p>
        </p:txBody>
      </p:sp>
      <p:sp>
        <p:nvSpPr>
          <p:cNvPr id="24" name="TextBox 23"/>
          <p:cNvSpPr txBox="1"/>
          <p:nvPr/>
        </p:nvSpPr>
        <p:spPr>
          <a:xfrm>
            <a:off x="11091672" y="6492240"/>
            <a:ext cx="594360" cy="228600"/>
          </a:xfrm>
          <a:prstGeom prst="rect">
            <a:avLst/>
          </a:prstGeom>
          <a:noFill/>
        </p:spPr>
        <p:txBody>
          <a:bodyPr wrap="square" lIns="0" rIns="0" tIns="0" bIns="0">
            <a:spAutoFit/>
          </a:bodyPr>
          <a:lstStyle/>
          <a:p>
            <a:pPr>
              <a:spcAft>
                <a:spcPts val="700"/>
              </a:spcAft>
              <a:defRPr sz="1100" b="0">
                <a:solidFill>
                  <a:srgbClr val="526879"/>
                </a:solidFill>
                <a:latin typeface="Arial"/>
              </a:defRPr>
            </a:pPr>
            <a:r>
              <a:t>12/25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685800"/>
          </a:xfrm>
          <a:prstGeom prst="rect">
            <a:avLst/>
          </a:prstGeom>
          <a:noFill/>
        </p:spPr>
        <p:txBody>
          <a:bodyPr wrap="square" lIns="0" rIns="0" tIns="0" bIns="0">
            <a:spAutoFit/>
          </a:bodyPr>
          <a:lstStyle/>
          <a:p>
            <a:pPr>
              <a:spcAft>
                <a:spcPts val="700"/>
              </a:spcAft>
              <a:defRPr sz="3100" b="1">
                <a:solidFill>
                  <a:srgbClr val="173F5F"/>
                </a:solidFill>
                <a:latin typeface="Arial"/>
              </a:defRPr>
            </a:pPr>
            <a:r>
              <a:t>Các lựa chọn bổ sung giải quyết nhu cầu nào?</a:t>
            </a:r>
          </a:p>
        </p:txBody>
      </p:sp>
      <p:sp>
        <p:nvSpPr>
          <p:cNvPr id="4" name="TextBox 3"/>
          <p:cNvSpPr txBox="1"/>
          <p:nvPr/>
        </p:nvSpPr>
        <p:spPr>
          <a:xfrm>
            <a:off x="502920" y="1188720"/>
            <a:ext cx="11155680" cy="548640"/>
          </a:xfrm>
          <a:prstGeom prst="rect">
            <a:avLst/>
          </a:prstGeom>
          <a:noFill/>
        </p:spPr>
        <p:txBody>
          <a:bodyPr wrap="square" lIns="0" rIns="0" tIns="0" bIns="0">
            <a:spAutoFit/>
          </a:bodyPr>
          <a:lstStyle/>
          <a:p>
            <a:pPr>
              <a:spcAft>
                <a:spcPts val="700"/>
              </a:spcAft>
              <a:defRPr sz="1800" b="0">
                <a:solidFill>
                  <a:srgbClr val="526879"/>
                </a:solidFill>
                <a:latin typeface="Arial"/>
              </a:defRPr>
            </a:pPr>
            <a:r>
              <a:t>Thêm ứng viên khi có lý do cụ thể</a:t>
            </a:r>
          </a:p>
        </p:txBody>
      </p:sp>
      <p:sp>
        <p:nvSpPr>
          <p:cNvPr id="5" name="Rounded Rectangle 4"/>
          <p:cNvSpPr/>
          <p:nvPr/>
        </p:nvSpPr>
        <p:spPr>
          <a:xfrm>
            <a:off x="50292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Deepgram / Speechmatics</a:t>
            </a:r>
          </a:p>
        </p:txBody>
      </p:sp>
      <p:sp>
        <p:nvSpPr>
          <p:cNvPr id="8" name="TextBox 7"/>
          <p:cNvSpPr txBox="1"/>
          <p:nvPr/>
        </p:nvSpPr>
        <p:spPr>
          <a:xfrm>
            <a:off x="71323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Khảo sát speech API hoặc deployment thương mại</a:t>
            </a:r>
          </a:p>
          <a:p>
            <a:pPr>
              <a:spcAft>
                <a:spcPts val="700"/>
              </a:spcAft>
              <a:defRPr sz="2200" b="0">
                <a:solidFill>
                  <a:srgbClr val="243746"/>
                </a:solidFill>
                <a:latin typeface="Arial"/>
              </a:defRPr>
            </a:pPr>
            <a:r>
              <a:t>Xác nhận vi theo model / bản triển khai</a:t>
            </a:r>
          </a:p>
        </p:txBody>
      </p:sp>
      <p:sp>
        <p:nvSpPr>
          <p:cNvPr id="9" name="Rounded Rectangle 8"/>
          <p:cNvSpPr/>
          <p:nvPr/>
        </p:nvSpPr>
        <p:spPr>
          <a:xfrm>
            <a:off x="429768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799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NVIDIA</a:t>
            </a:r>
          </a:p>
        </p:txBody>
      </p:sp>
      <p:sp>
        <p:nvSpPr>
          <p:cNvPr id="12" name="TextBox 11"/>
          <p:cNvSpPr txBox="1"/>
          <p:nvPr/>
        </p:nvSpPr>
        <p:spPr>
          <a:xfrm>
            <a:off x="450799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Đáng xem khi cần live trên GPU nội bộ</a:t>
            </a:r>
          </a:p>
          <a:p>
            <a:pPr>
              <a:spcAft>
                <a:spcPts val="700"/>
              </a:spcAft>
              <a:defRPr sz="2200" b="0">
                <a:solidFill>
                  <a:srgbClr val="243746"/>
                </a:solidFill>
                <a:latin typeface="Arial"/>
              </a:defRPr>
            </a:pPr>
            <a:r>
              <a:t>Chốt GPU và profile trước</a:t>
            </a:r>
          </a:p>
        </p:txBody>
      </p:sp>
      <p:sp>
        <p:nvSpPr>
          <p:cNvPr id="13" name="Rounded Rectangle 12"/>
          <p:cNvSpPr/>
          <p:nvPr/>
        </p:nvSpPr>
        <p:spPr>
          <a:xfrm>
            <a:off x="809244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244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VNPT / FPT.AI / Viettel</a:t>
            </a:r>
          </a:p>
        </p:txBody>
      </p:sp>
      <p:sp>
        <p:nvSpPr>
          <p:cNvPr id="16" name="TextBox 15"/>
          <p:cNvSpPr txBox="1"/>
          <p:nvPr/>
        </p:nvSpPr>
        <p:spPr>
          <a:xfrm>
            <a:off x="830275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Có đại diện nội địa</a:t>
            </a:r>
          </a:p>
          <a:p>
            <a:pPr>
              <a:spcAft>
                <a:spcPts val="700"/>
              </a:spcAft>
              <a:defRPr sz="2200" b="0">
                <a:solidFill>
                  <a:srgbClr val="243746"/>
                </a:solidFill>
                <a:latin typeface="Arial"/>
              </a:defRPr>
            </a:pPr>
            <a:r>
              <a:t>Xin docs, speaker, data, SLA và giá</a:t>
            </a:r>
          </a:p>
        </p:txBody>
      </p:sp>
      <p:sp>
        <p:nvSpPr>
          <p:cNvPr id="17" name="Rectangle 16"/>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163056"/>
            <a:ext cx="11064240" cy="219456"/>
          </a:xfrm>
          <a:prstGeom prst="rect">
            <a:avLst/>
          </a:prstGeom>
          <a:noFill/>
        </p:spPr>
        <p:txBody>
          <a:bodyPr wrap="square" lIns="0" rIns="0" tIns="0" bIns="0">
            <a:spAutoFit/>
          </a:bodyPr>
          <a:lstStyle/>
          <a:p>
            <a:pPr>
              <a:spcAft>
                <a:spcPts val="700"/>
              </a:spcAft>
              <a:defRPr sz="900" b="0">
                <a:solidFill>
                  <a:srgbClr val="526879"/>
                </a:solidFill>
                <a:latin typeface="Arial"/>
              </a:defRPr>
            </a:pPr>
            <a:r>
              <a:t>Deepgram (n.d.a–b); Speechmatics (n.d.a–b); NVIDIA (2026; n.d.); VNPT AI (n.d.a–b); FPT.AI (n.d.); Viettel AI (n.d.)</a:t>
            </a:r>
          </a:p>
        </p:txBody>
      </p:sp>
      <p:sp>
        <p:nvSpPr>
          <p:cNvPr id="19" name="TextBox 18"/>
          <p:cNvSpPr txBox="1"/>
          <p:nvPr/>
        </p:nvSpPr>
        <p:spPr>
          <a:xfrm>
            <a:off x="502920" y="6528816"/>
            <a:ext cx="9509760" cy="182880"/>
          </a:xfrm>
          <a:prstGeom prst="rect">
            <a:avLst/>
          </a:prstGeom>
          <a:noFill/>
        </p:spPr>
        <p:txBody>
          <a:bodyPr wrap="square" lIns="0" rIns="0" tIns="0" bIns="0">
            <a:spAutoFit/>
          </a:bodyPr>
          <a:lstStyle/>
          <a:p>
            <a:pPr>
              <a:spcAft>
                <a:spcPts val="700"/>
              </a:spcAft>
              <a:defRPr sz="1000" b="0">
                <a:solidFill>
                  <a:srgbClr val="526879"/>
                </a:solidFill>
                <a:latin typeface="Arial"/>
              </a:defRPr>
            </a:pPr>
            <a:r>
              <a:t>Tien Phat Dam  •  Dai-ichi Life VN  •  Part 1 — Survey</a:t>
            </a:r>
          </a:p>
        </p:txBody>
      </p:sp>
      <p:sp>
        <p:nvSpPr>
          <p:cNvPr id="20" name="TextBox 19"/>
          <p:cNvSpPr txBox="1"/>
          <p:nvPr/>
        </p:nvSpPr>
        <p:spPr>
          <a:xfrm>
            <a:off x="11091672" y="6492240"/>
            <a:ext cx="594360" cy="228600"/>
          </a:xfrm>
          <a:prstGeom prst="rect">
            <a:avLst/>
          </a:prstGeom>
          <a:noFill/>
        </p:spPr>
        <p:txBody>
          <a:bodyPr wrap="square" lIns="0" rIns="0" tIns="0" bIns="0">
            <a:spAutoFit/>
          </a:bodyPr>
          <a:lstStyle/>
          <a:p>
            <a:pPr>
              <a:spcAft>
                <a:spcPts val="700"/>
              </a:spcAft>
              <a:defRPr sz="1100" b="0">
                <a:solidFill>
                  <a:srgbClr val="526879"/>
                </a:solidFill>
                <a:latin typeface="Arial"/>
              </a:defRPr>
            </a:pPr>
            <a:r>
              <a:t>13/25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685800"/>
          </a:xfrm>
          <a:prstGeom prst="rect">
            <a:avLst/>
          </a:prstGeom>
          <a:noFill/>
        </p:spPr>
        <p:txBody>
          <a:bodyPr wrap="square" lIns="0" rIns="0" tIns="0" bIns="0">
            <a:spAutoFit/>
          </a:bodyPr>
          <a:lstStyle/>
          <a:p>
            <a:pPr>
              <a:spcAft>
                <a:spcPts val="700"/>
              </a:spcAft>
              <a:defRPr sz="3100" b="1">
                <a:solidFill>
                  <a:srgbClr val="173F5F"/>
                </a:solidFill>
                <a:latin typeface="Arial"/>
              </a:defRPr>
            </a:pPr>
            <a:r>
              <a:t>Ba lưu ý có thể đổi quyết định lựa chọn</a:t>
            </a:r>
          </a:p>
        </p:txBody>
      </p:sp>
      <p:sp>
        <p:nvSpPr>
          <p:cNvPr id="4" name="TextBox 3"/>
          <p:cNvSpPr txBox="1"/>
          <p:nvPr/>
        </p:nvSpPr>
        <p:spPr>
          <a:xfrm>
            <a:off x="502920" y="1188720"/>
            <a:ext cx="11155680" cy="548640"/>
          </a:xfrm>
          <a:prstGeom prst="rect">
            <a:avLst/>
          </a:prstGeom>
          <a:noFill/>
        </p:spPr>
        <p:txBody>
          <a:bodyPr wrap="square" lIns="0" rIns="0" tIns="0" bIns="0">
            <a:spAutoFit/>
          </a:bodyPr>
          <a:lstStyle/>
          <a:p>
            <a:pPr>
              <a:spcAft>
                <a:spcPts val="700"/>
              </a:spcAft>
              <a:defRPr sz="1800" b="0">
                <a:solidFill>
                  <a:srgbClr val="526879"/>
                </a:solidFill>
                <a:latin typeface="Arial"/>
              </a:defRPr>
            </a:pPr>
            <a:r>
              <a:t>Luôn hỏi: tại sao điểm này quan trọng?</a:t>
            </a:r>
          </a:p>
        </p:txBody>
      </p:sp>
      <p:sp>
        <p:nvSpPr>
          <p:cNvPr id="5" name="Rounded Rectangle 4"/>
          <p:cNvSpPr/>
          <p:nvPr/>
        </p:nvSpPr>
        <p:spPr>
          <a:xfrm>
            <a:off x="50292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Có tiếng Việt ≠ đã nghe tốt call</a:t>
            </a:r>
          </a:p>
        </p:txBody>
      </p:sp>
      <p:sp>
        <p:nvSpPr>
          <p:cNvPr id="8" name="TextBox 7"/>
          <p:cNvSpPr txBox="1"/>
          <p:nvPr/>
        </p:nvSpPr>
        <p:spPr>
          <a:xfrm>
            <a:off x="71323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Giọng, noise và thuật ngữ có thể khác dữ liệu công bố</a:t>
            </a:r>
          </a:p>
        </p:txBody>
      </p:sp>
      <p:sp>
        <p:nvSpPr>
          <p:cNvPr id="9" name="Rounded Rectangle 8"/>
          <p:cNvSpPr/>
          <p:nvPr/>
        </p:nvSpPr>
        <p:spPr>
          <a:xfrm>
            <a:off x="429768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799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Có speaker ≠ biết vai trò</a:t>
            </a:r>
          </a:p>
        </p:txBody>
      </p:sp>
      <p:sp>
        <p:nvSpPr>
          <p:cNvPr id="12" name="TextBox 11"/>
          <p:cNvSpPr txBox="1"/>
          <p:nvPr/>
        </p:nvSpPr>
        <p:spPr>
          <a:xfrm>
            <a:off x="450799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Gán câu sai người có thể làm sai QA</a:t>
            </a:r>
          </a:p>
        </p:txBody>
      </p:sp>
      <p:sp>
        <p:nvSpPr>
          <p:cNvPr id="13" name="Rounded Rectangle 12"/>
          <p:cNvSpPr/>
          <p:nvPr/>
        </p:nvSpPr>
        <p:spPr>
          <a:xfrm>
            <a:off x="809244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244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Giá thấp ≠ tổng chi phí thấp</a:t>
            </a:r>
          </a:p>
        </p:txBody>
      </p:sp>
      <p:sp>
        <p:nvSpPr>
          <p:cNvPr id="16" name="TextBox 15"/>
          <p:cNvSpPr txBox="1"/>
          <p:nvPr/>
        </p:nvSpPr>
        <p:spPr>
          <a:xfrm>
            <a:off x="830275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Tách kênh, retry, vận hành và review cần được tính</a:t>
            </a:r>
          </a:p>
        </p:txBody>
      </p:sp>
      <p:sp>
        <p:nvSpPr>
          <p:cNvPr id="17" name="Rectangle 16"/>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528816"/>
            <a:ext cx="9509760" cy="182880"/>
          </a:xfrm>
          <a:prstGeom prst="rect">
            <a:avLst/>
          </a:prstGeom>
          <a:noFill/>
        </p:spPr>
        <p:txBody>
          <a:bodyPr wrap="square" lIns="0" rIns="0" tIns="0" bIns="0">
            <a:spAutoFit/>
          </a:bodyPr>
          <a:lstStyle/>
          <a:p>
            <a:pPr>
              <a:spcAft>
                <a:spcPts val="700"/>
              </a:spcAft>
              <a:defRPr sz="1000" b="0">
                <a:solidFill>
                  <a:srgbClr val="526879"/>
                </a:solidFill>
                <a:latin typeface="Arial"/>
              </a:defRPr>
            </a:pPr>
            <a:r>
              <a:t>Tien Phat Dam  •  Dai-ichi Life VN  •  Part 1 — Survey</a:t>
            </a:r>
          </a:p>
        </p:txBody>
      </p:sp>
      <p:sp>
        <p:nvSpPr>
          <p:cNvPr id="19" name="TextBox 18"/>
          <p:cNvSpPr txBox="1"/>
          <p:nvPr/>
        </p:nvSpPr>
        <p:spPr>
          <a:xfrm>
            <a:off x="11091672" y="6492240"/>
            <a:ext cx="594360" cy="228600"/>
          </a:xfrm>
          <a:prstGeom prst="rect">
            <a:avLst/>
          </a:prstGeom>
          <a:noFill/>
        </p:spPr>
        <p:txBody>
          <a:bodyPr wrap="square" lIns="0" rIns="0" tIns="0" bIns="0">
            <a:spAutoFit/>
          </a:bodyPr>
          <a:lstStyle/>
          <a:p>
            <a:pPr>
              <a:spcAft>
                <a:spcPts val="700"/>
              </a:spcAft>
              <a:defRPr sz="1100" b="0">
                <a:solidFill>
                  <a:srgbClr val="526879"/>
                </a:solidFill>
                <a:latin typeface="Arial"/>
              </a:defRPr>
            </a:pPr>
            <a:r>
              <a:t>14/25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685800"/>
          </a:xfrm>
          <a:prstGeom prst="rect">
            <a:avLst/>
          </a:prstGeom>
          <a:noFill/>
        </p:spPr>
        <p:txBody>
          <a:bodyPr wrap="square" lIns="0" rIns="0" tIns="0" bIns="0">
            <a:spAutoFit/>
          </a:bodyPr>
          <a:lstStyle/>
          <a:p>
            <a:pPr>
              <a:spcAft>
                <a:spcPts val="700"/>
              </a:spcAft>
              <a:defRPr sz="3100" b="1">
                <a:solidFill>
                  <a:srgbClr val="173F5F"/>
                </a:solidFill>
                <a:latin typeface="Arial"/>
              </a:defRPr>
            </a:pPr>
            <a:r>
              <a:t>Chi phí: bắt đầu từ phút audio được tính phí</a:t>
            </a:r>
          </a:p>
        </p:txBody>
      </p:sp>
      <p:sp>
        <p:nvSpPr>
          <p:cNvPr id="4" name="TextBox 3"/>
          <p:cNvSpPr txBox="1"/>
          <p:nvPr/>
        </p:nvSpPr>
        <p:spPr>
          <a:xfrm>
            <a:off x="502920" y="1188720"/>
            <a:ext cx="11155680" cy="548640"/>
          </a:xfrm>
          <a:prstGeom prst="rect">
            <a:avLst/>
          </a:prstGeom>
          <a:noFill/>
        </p:spPr>
        <p:txBody>
          <a:bodyPr wrap="square" lIns="0" rIns="0" tIns="0" bIns="0">
            <a:spAutoFit/>
          </a:bodyPr>
          <a:lstStyle/>
          <a:p>
            <a:pPr>
              <a:spcAft>
                <a:spcPts val="700"/>
              </a:spcAft>
              <a:defRPr sz="1800" b="0">
                <a:solidFill>
                  <a:srgbClr val="526879"/>
                </a:solidFill>
                <a:latin typeface="Arial"/>
              </a:defRPr>
            </a:pPr>
            <a:r>
              <a:t>Ví dụ giả định — không phải sản lượng Dai-ichi</a:t>
            </a:r>
          </a:p>
        </p:txBody>
      </p:sp>
      <p:sp>
        <p:nvSpPr>
          <p:cNvPr id="5" name="Rounded Rectangle 4"/>
          <p:cNvSpPr/>
          <p:nvPr/>
        </p:nvSpPr>
        <p:spPr>
          <a:xfrm>
            <a:off x="50292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Sản lượng giả định</a:t>
            </a:r>
          </a:p>
        </p:txBody>
      </p:sp>
      <p:sp>
        <p:nvSpPr>
          <p:cNvPr id="8" name="TextBox 7"/>
          <p:cNvSpPr txBox="1"/>
          <p:nvPr/>
        </p:nvSpPr>
        <p:spPr>
          <a:xfrm>
            <a:off x="71323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200 call/ngày × 5 phút × 22 ngày</a:t>
            </a:r>
          </a:p>
          <a:p>
            <a:pPr>
              <a:spcAft>
                <a:spcPts val="700"/>
              </a:spcAft>
              <a:defRPr sz="2200" b="0">
                <a:solidFill>
                  <a:srgbClr val="243746"/>
                </a:solidFill>
                <a:latin typeface="Arial"/>
              </a:defRPr>
            </a:pPr>
            <a:r>
              <a:t>= 22.000 phút call/tháng</a:t>
            </a:r>
          </a:p>
        </p:txBody>
      </p:sp>
      <p:sp>
        <p:nvSpPr>
          <p:cNvPr id="9" name="Rounded Rectangle 8"/>
          <p:cNvSpPr/>
          <p:nvPr/>
        </p:nvSpPr>
        <p:spPr>
          <a:xfrm>
            <a:off x="429768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799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Hai phép tính tham khảo</a:t>
            </a:r>
          </a:p>
        </p:txBody>
      </p:sp>
      <p:sp>
        <p:nvSpPr>
          <p:cNvPr id="12" name="TextBox 11"/>
          <p:cNvSpPr txBox="1"/>
          <p:nvPr/>
        </p:nvSpPr>
        <p:spPr>
          <a:xfrm>
            <a:off x="450799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USD 0.0045/phút → USD 99</a:t>
            </a:r>
          </a:p>
          <a:p>
            <a:pPr>
              <a:spcAft>
                <a:spcPts val="700"/>
              </a:spcAft>
              <a:defRPr sz="2200" b="0">
                <a:solidFill>
                  <a:srgbClr val="243746"/>
                </a:solidFill>
                <a:latin typeface="Arial"/>
              </a:defRPr>
            </a:pPr>
            <a:r>
              <a:t>USD 0.017/phút → USD 374</a:t>
            </a:r>
          </a:p>
        </p:txBody>
      </p:sp>
      <p:sp>
        <p:nvSpPr>
          <p:cNvPr id="13" name="Rounded Rectangle 12"/>
          <p:cNvSpPr/>
          <p:nvPr/>
        </p:nvSpPr>
        <p:spPr>
          <a:xfrm>
            <a:off x="809244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244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Chưa gồm mọi khoản</a:t>
            </a:r>
          </a:p>
        </p:txBody>
      </p:sp>
      <p:sp>
        <p:nvSpPr>
          <p:cNvPr id="16" name="TextBox 15"/>
          <p:cNvSpPr txBox="1"/>
          <p:nvPr/>
        </p:nvSpPr>
        <p:spPr>
          <a:xfrm>
            <a:off x="830275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Thuế • lưu trữ • retry • xử lý thêm</a:t>
            </a:r>
          </a:p>
          <a:p>
            <a:pPr>
              <a:spcAft>
                <a:spcPts val="700"/>
              </a:spcAft>
              <a:defRPr sz="2200" b="0">
                <a:solidFill>
                  <a:srgbClr val="243746"/>
                </a:solidFill>
                <a:latin typeface="Arial"/>
              </a:defRPr>
            </a:pPr>
            <a:r>
              <a:t>Xác nhận cách tính kênh và mode</a:t>
            </a:r>
          </a:p>
        </p:txBody>
      </p:sp>
      <p:sp>
        <p:nvSpPr>
          <p:cNvPr id="17" name="Rectangle 16"/>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163056"/>
            <a:ext cx="11064240" cy="219456"/>
          </a:xfrm>
          <a:prstGeom prst="rect">
            <a:avLst/>
          </a:prstGeom>
          <a:noFill/>
        </p:spPr>
        <p:txBody>
          <a:bodyPr wrap="square" lIns="0" rIns="0" tIns="0" bIns="0">
            <a:spAutoFit/>
          </a:bodyPr>
          <a:lstStyle/>
          <a:p>
            <a:pPr>
              <a:spcAft>
                <a:spcPts val="700"/>
              </a:spcAft>
              <a:defRPr sz="900" b="0">
                <a:solidFill>
                  <a:srgbClr val="526879"/>
                </a:solidFill>
                <a:latin typeface="Arial"/>
              </a:defRPr>
            </a:pPr>
            <a:r>
              <a:t>OpenAI (n.d.f). Phép tính của tác giả theo giả định minh họa.</a:t>
            </a:r>
          </a:p>
        </p:txBody>
      </p:sp>
      <p:sp>
        <p:nvSpPr>
          <p:cNvPr id="19" name="TextBox 18"/>
          <p:cNvSpPr txBox="1"/>
          <p:nvPr/>
        </p:nvSpPr>
        <p:spPr>
          <a:xfrm>
            <a:off x="502920" y="6528816"/>
            <a:ext cx="9509760" cy="182880"/>
          </a:xfrm>
          <a:prstGeom prst="rect">
            <a:avLst/>
          </a:prstGeom>
          <a:noFill/>
        </p:spPr>
        <p:txBody>
          <a:bodyPr wrap="square" lIns="0" rIns="0" tIns="0" bIns="0">
            <a:spAutoFit/>
          </a:bodyPr>
          <a:lstStyle/>
          <a:p>
            <a:pPr>
              <a:spcAft>
                <a:spcPts val="700"/>
              </a:spcAft>
              <a:defRPr sz="1000" b="0">
                <a:solidFill>
                  <a:srgbClr val="526879"/>
                </a:solidFill>
                <a:latin typeface="Arial"/>
              </a:defRPr>
            </a:pPr>
            <a:r>
              <a:t>Tien Phat Dam  •  Dai-ichi Life VN  •  Part 1 — Survey</a:t>
            </a:r>
          </a:p>
        </p:txBody>
      </p:sp>
      <p:sp>
        <p:nvSpPr>
          <p:cNvPr id="20" name="TextBox 19"/>
          <p:cNvSpPr txBox="1"/>
          <p:nvPr/>
        </p:nvSpPr>
        <p:spPr>
          <a:xfrm>
            <a:off x="11091672" y="6492240"/>
            <a:ext cx="594360" cy="228600"/>
          </a:xfrm>
          <a:prstGeom prst="rect">
            <a:avLst/>
          </a:prstGeom>
          <a:noFill/>
        </p:spPr>
        <p:txBody>
          <a:bodyPr wrap="square" lIns="0" rIns="0" tIns="0" bIns="0">
            <a:spAutoFit/>
          </a:bodyPr>
          <a:lstStyle/>
          <a:p>
            <a:pPr>
              <a:spcAft>
                <a:spcPts val="700"/>
              </a:spcAft>
              <a:defRPr sz="1100" b="0">
                <a:solidFill>
                  <a:srgbClr val="526879"/>
                </a:solidFill>
                <a:latin typeface="Arial"/>
              </a:defRPr>
            </a:pPr>
            <a:r>
              <a:t>15/25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685800"/>
          </a:xfrm>
          <a:prstGeom prst="rect">
            <a:avLst/>
          </a:prstGeom>
          <a:noFill/>
        </p:spPr>
        <p:txBody>
          <a:bodyPr wrap="square" lIns="0" rIns="0" tIns="0" bIns="0">
            <a:spAutoFit/>
          </a:bodyPr>
          <a:lstStyle/>
          <a:p>
            <a:pPr>
              <a:spcAft>
                <a:spcPts val="700"/>
              </a:spcAft>
              <a:defRPr sz="3100" b="1">
                <a:solidFill>
                  <a:srgbClr val="173F5F"/>
                </a:solidFill>
                <a:latin typeface="Arial"/>
              </a:defRPr>
            </a:pPr>
            <a:r>
              <a:t>Dữ liệu: cần hỏi trước khi gửi audio thật</a:t>
            </a:r>
          </a:p>
        </p:txBody>
      </p:sp>
      <p:sp>
        <p:nvSpPr>
          <p:cNvPr id="4" name="TextBox 3"/>
          <p:cNvSpPr txBox="1"/>
          <p:nvPr/>
        </p:nvSpPr>
        <p:spPr>
          <a:xfrm>
            <a:off x="502920" y="1188720"/>
            <a:ext cx="11155680" cy="548640"/>
          </a:xfrm>
          <a:prstGeom prst="rect">
            <a:avLst/>
          </a:prstGeom>
          <a:noFill/>
        </p:spPr>
        <p:txBody>
          <a:bodyPr wrap="square" lIns="0" rIns="0" tIns="0" bIns="0">
            <a:spAutoFit/>
          </a:bodyPr>
          <a:lstStyle/>
          <a:p>
            <a:pPr>
              <a:spcAft>
                <a:spcPts val="700"/>
              </a:spcAft>
              <a:defRPr sz="1800" b="0">
                <a:solidFill>
                  <a:srgbClr val="526879"/>
                </a:solidFill>
                <a:latin typeface="Arial"/>
              </a:defRPr>
            </a:pPr>
            <a:r>
              <a:t>Policy cần kiểm tra theo toàn bộ workflow</a:t>
            </a:r>
          </a:p>
        </p:txBody>
      </p:sp>
      <p:sp>
        <p:nvSpPr>
          <p:cNvPr id="5" name="Rounded Rectangle 4"/>
          <p:cNvSpPr/>
          <p:nvPr/>
        </p:nvSpPr>
        <p:spPr>
          <a:xfrm>
            <a:off x="502920" y="1865376"/>
            <a:ext cx="5481828" cy="19933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65376"/>
            <a:ext cx="50292" cy="199339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093976"/>
            <a:ext cx="506120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Gửi và xử lý ở đâu?</a:t>
            </a:r>
          </a:p>
        </p:txBody>
      </p:sp>
      <p:sp>
        <p:nvSpPr>
          <p:cNvPr id="8" name="TextBox 7"/>
          <p:cNvSpPr txBox="1"/>
          <p:nvPr/>
        </p:nvSpPr>
        <p:spPr>
          <a:xfrm>
            <a:off x="713232" y="2825496"/>
            <a:ext cx="5061204" cy="896112"/>
          </a:xfrm>
          <a:prstGeom prst="rect">
            <a:avLst/>
          </a:prstGeom>
          <a:noFill/>
        </p:spPr>
        <p:txBody>
          <a:bodyPr wrap="square" lIns="0" rIns="0" tIns="0" bIns="0">
            <a:spAutoFit/>
          </a:bodyPr>
          <a:lstStyle/>
          <a:p>
            <a:pPr>
              <a:spcAft>
                <a:spcPts val="700"/>
              </a:spcAft>
              <a:defRPr sz="2000" b="0">
                <a:solidFill>
                  <a:srgbClr val="243746"/>
                </a:solidFill>
                <a:latin typeface="Arial"/>
              </a:defRPr>
            </a:pPr>
            <a:r>
              <a:t>Model / endpoint / region cụ thể</a:t>
            </a:r>
          </a:p>
        </p:txBody>
      </p:sp>
      <p:sp>
        <p:nvSpPr>
          <p:cNvPr id="9" name="Rounded Rectangle 8"/>
          <p:cNvSpPr/>
          <p:nvPr/>
        </p:nvSpPr>
        <p:spPr>
          <a:xfrm>
            <a:off x="6195060" y="1865376"/>
            <a:ext cx="5481828" cy="19933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95060" y="1865376"/>
            <a:ext cx="50292" cy="199339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5372" y="2093976"/>
            <a:ext cx="506120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Lưu gì và bao lâu?</a:t>
            </a:r>
          </a:p>
        </p:txBody>
      </p:sp>
      <p:sp>
        <p:nvSpPr>
          <p:cNvPr id="12" name="TextBox 11"/>
          <p:cNvSpPr txBox="1"/>
          <p:nvPr/>
        </p:nvSpPr>
        <p:spPr>
          <a:xfrm>
            <a:off x="6405372" y="2825496"/>
            <a:ext cx="5061204" cy="896112"/>
          </a:xfrm>
          <a:prstGeom prst="rect">
            <a:avLst/>
          </a:prstGeom>
          <a:noFill/>
        </p:spPr>
        <p:txBody>
          <a:bodyPr wrap="square" lIns="0" rIns="0" tIns="0" bIns="0">
            <a:spAutoFit/>
          </a:bodyPr>
          <a:lstStyle/>
          <a:p>
            <a:pPr>
              <a:spcAft>
                <a:spcPts val="700"/>
              </a:spcAft>
              <a:defRPr sz="2000" b="0">
                <a:solidFill>
                  <a:srgbClr val="243746"/>
                </a:solidFill>
                <a:latin typeface="Arial"/>
              </a:defRPr>
            </a:pPr>
            <a:r>
              <a:t>Audio • transcript • metadata • logs</a:t>
            </a:r>
          </a:p>
        </p:txBody>
      </p:sp>
      <p:sp>
        <p:nvSpPr>
          <p:cNvPr id="13" name="Rounded Rectangle 12"/>
          <p:cNvSpPr/>
          <p:nvPr/>
        </p:nvSpPr>
        <p:spPr>
          <a:xfrm>
            <a:off x="502920" y="4069080"/>
            <a:ext cx="5481828" cy="19933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4069080"/>
            <a:ext cx="50292" cy="199339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4297680"/>
            <a:ext cx="506120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Ai được xem?</a:t>
            </a:r>
          </a:p>
        </p:txBody>
      </p:sp>
      <p:sp>
        <p:nvSpPr>
          <p:cNvPr id="16" name="TextBox 15"/>
          <p:cNvSpPr txBox="1"/>
          <p:nvPr/>
        </p:nvSpPr>
        <p:spPr>
          <a:xfrm>
            <a:off x="713232" y="5029200"/>
            <a:ext cx="5061204" cy="896112"/>
          </a:xfrm>
          <a:prstGeom prst="rect">
            <a:avLst/>
          </a:prstGeom>
          <a:noFill/>
        </p:spPr>
        <p:txBody>
          <a:bodyPr wrap="square" lIns="0" rIns="0" tIns="0" bIns="0">
            <a:spAutoFit/>
          </a:bodyPr>
          <a:lstStyle/>
          <a:p>
            <a:pPr>
              <a:spcAft>
                <a:spcPts val="700"/>
              </a:spcAft>
              <a:defRPr sz="2000" b="0">
                <a:solidFill>
                  <a:srgbClr val="243746"/>
                </a:solidFill>
                <a:latin typeface="Arial"/>
              </a:defRPr>
            </a:pPr>
            <a:r>
              <a:t>Quyền truy cập • support • audit</a:t>
            </a:r>
          </a:p>
        </p:txBody>
      </p:sp>
      <p:sp>
        <p:nvSpPr>
          <p:cNvPr id="17" name="Rounded Rectangle 16"/>
          <p:cNvSpPr/>
          <p:nvPr/>
        </p:nvSpPr>
        <p:spPr>
          <a:xfrm>
            <a:off x="6195060" y="4069080"/>
            <a:ext cx="5481828" cy="19933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95060" y="4069080"/>
            <a:ext cx="50292" cy="199339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5372" y="4297680"/>
            <a:ext cx="506120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Tại sao?</a:t>
            </a:r>
          </a:p>
        </p:txBody>
      </p:sp>
      <p:sp>
        <p:nvSpPr>
          <p:cNvPr id="20" name="TextBox 19"/>
          <p:cNvSpPr txBox="1"/>
          <p:nvPr/>
        </p:nvSpPr>
        <p:spPr>
          <a:xfrm>
            <a:off x="6405372" y="5029200"/>
            <a:ext cx="5061204" cy="896112"/>
          </a:xfrm>
          <a:prstGeom prst="rect">
            <a:avLst/>
          </a:prstGeom>
          <a:noFill/>
        </p:spPr>
        <p:txBody>
          <a:bodyPr wrap="square" lIns="0" rIns="0" tIns="0" bIns="0">
            <a:spAutoFit/>
          </a:bodyPr>
          <a:lstStyle/>
          <a:p>
            <a:pPr>
              <a:spcAft>
                <a:spcPts val="700"/>
              </a:spcAft>
              <a:defRPr sz="2000" b="0">
                <a:solidFill>
                  <a:srgbClr val="243746"/>
                </a:solidFill>
                <a:latin typeface="Arial"/>
              </a:defRPr>
            </a:pPr>
            <a:r>
              <a:t>Che chữ sau STT chưa làm audio gốc mất PII.</a:t>
            </a:r>
          </a:p>
          <a:p>
            <a:pPr>
              <a:spcAft>
                <a:spcPts val="700"/>
              </a:spcAft>
              <a:defRPr sz="2000" b="0">
                <a:solidFill>
                  <a:srgbClr val="243746"/>
                </a:solidFill>
                <a:latin typeface="Arial"/>
              </a:defRPr>
            </a:pPr>
            <a:r>
              <a:t>Nội bộ vẫn cần kiểm soát truy cập.</a:t>
            </a:r>
          </a:p>
        </p:txBody>
      </p:sp>
      <p:sp>
        <p:nvSpPr>
          <p:cNvPr id="21" name="Rectangle 20"/>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6163056"/>
            <a:ext cx="11064240" cy="219456"/>
          </a:xfrm>
          <a:prstGeom prst="rect">
            <a:avLst/>
          </a:prstGeom>
          <a:noFill/>
        </p:spPr>
        <p:txBody>
          <a:bodyPr wrap="square" lIns="0" rIns="0" tIns="0" bIns="0">
            <a:spAutoFit/>
          </a:bodyPr>
          <a:lstStyle/>
          <a:p>
            <a:pPr>
              <a:spcAft>
                <a:spcPts val="700"/>
              </a:spcAft>
              <a:defRPr sz="900" b="0">
                <a:solidFill>
                  <a:srgbClr val="526879"/>
                </a:solidFill>
                <a:latin typeface="Arial"/>
              </a:defRPr>
            </a:pPr>
            <a:r>
              <a:t>OpenAI (n.d.a); Microsoft (n.d.b); phần còn lại là đề xuất kiến trúc.</a:t>
            </a:r>
          </a:p>
        </p:txBody>
      </p:sp>
      <p:sp>
        <p:nvSpPr>
          <p:cNvPr id="23" name="TextBox 22"/>
          <p:cNvSpPr txBox="1"/>
          <p:nvPr/>
        </p:nvSpPr>
        <p:spPr>
          <a:xfrm>
            <a:off x="502920" y="6528816"/>
            <a:ext cx="9509760" cy="182880"/>
          </a:xfrm>
          <a:prstGeom prst="rect">
            <a:avLst/>
          </a:prstGeom>
          <a:noFill/>
        </p:spPr>
        <p:txBody>
          <a:bodyPr wrap="square" lIns="0" rIns="0" tIns="0" bIns="0">
            <a:spAutoFit/>
          </a:bodyPr>
          <a:lstStyle/>
          <a:p>
            <a:pPr>
              <a:spcAft>
                <a:spcPts val="700"/>
              </a:spcAft>
              <a:defRPr sz="1000" b="0">
                <a:solidFill>
                  <a:srgbClr val="526879"/>
                </a:solidFill>
                <a:latin typeface="Arial"/>
              </a:defRPr>
            </a:pPr>
            <a:r>
              <a:t>Tien Phat Dam  •  Dai-ichi Life VN  •  Part 1 — Survey</a:t>
            </a:r>
          </a:p>
        </p:txBody>
      </p:sp>
      <p:sp>
        <p:nvSpPr>
          <p:cNvPr id="24" name="TextBox 23"/>
          <p:cNvSpPr txBox="1"/>
          <p:nvPr/>
        </p:nvSpPr>
        <p:spPr>
          <a:xfrm>
            <a:off x="11091672" y="6492240"/>
            <a:ext cx="594360" cy="228600"/>
          </a:xfrm>
          <a:prstGeom prst="rect">
            <a:avLst/>
          </a:prstGeom>
          <a:noFill/>
        </p:spPr>
        <p:txBody>
          <a:bodyPr wrap="square" lIns="0" rIns="0" tIns="0" bIns="0">
            <a:spAutoFit/>
          </a:bodyPr>
          <a:lstStyle/>
          <a:p>
            <a:pPr>
              <a:spcAft>
                <a:spcPts val="700"/>
              </a:spcAft>
              <a:defRPr sz="1100" b="0">
                <a:solidFill>
                  <a:srgbClr val="526879"/>
                </a:solidFill>
                <a:latin typeface="Arial"/>
              </a:defRPr>
            </a:pPr>
            <a:r>
              <a:t>16/25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685800"/>
          </a:xfrm>
          <a:prstGeom prst="rect">
            <a:avLst/>
          </a:prstGeom>
          <a:noFill/>
        </p:spPr>
        <p:txBody>
          <a:bodyPr wrap="square" lIns="0" rIns="0" tIns="0" bIns="0">
            <a:spAutoFit/>
          </a:bodyPr>
          <a:lstStyle/>
          <a:p>
            <a:pPr>
              <a:spcAft>
                <a:spcPts val="700"/>
              </a:spcAft>
              <a:defRPr sz="3100" b="1">
                <a:solidFill>
                  <a:srgbClr val="173F5F"/>
                </a:solidFill>
                <a:latin typeface="Arial"/>
              </a:defRPr>
            </a:pPr>
            <a:r>
              <a:t>Shortlist ban đầu — ưu tiên thử, không xếp hạng</a:t>
            </a:r>
          </a:p>
        </p:txBody>
      </p:sp>
      <p:sp>
        <p:nvSpPr>
          <p:cNvPr id="4" name="TextBox 3"/>
          <p:cNvSpPr txBox="1"/>
          <p:nvPr/>
        </p:nvSpPr>
        <p:spPr>
          <a:xfrm>
            <a:off x="502920" y="1188720"/>
            <a:ext cx="11155680" cy="548640"/>
          </a:xfrm>
          <a:prstGeom prst="rect">
            <a:avLst/>
          </a:prstGeom>
          <a:noFill/>
        </p:spPr>
        <p:txBody>
          <a:bodyPr wrap="square" lIns="0" rIns="0" tIns="0" bIns="0">
            <a:spAutoFit/>
          </a:bodyPr>
          <a:lstStyle/>
          <a:p>
            <a:pPr>
              <a:spcAft>
                <a:spcPts val="700"/>
              </a:spcAft>
              <a:defRPr sz="1800" b="0">
                <a:solidFill>
                  <a:srgbClr val="526879"/>
                </a:solidFill>
                <a:latin typeface="Arial"/>
              </a:defRPr>
            </a:pPr>
            <a:r>
              <a:t>Đề xuất cho nhánh post-call, sau khi chốt điều kiện</a:t>
            </a:r>
          </a:p>
        </p:txBody>
      </p:sp>
      <p:sp>
        <p:nvSpPr>
          <p:cNvPr id="5" name="Rounded Rectangle 4"/>
          <p:cNvSpPr/>
          <p:nvPr/>
        </p:nvSpPr>
        <p:spPr>
          <a:xfrm>
            <a:off x="50292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Tự triển khai</a:t>
            </a:r>
          </a:p>
        </p:txBody>
      </p:sp>
      <p:sp>
        <p:nvSpPr>
          <p:cNvPr id="8" name="TextBox 7"/>
          <p:cNvSpPr txBox="1"/>
          <p:nvPr/>
        </p:nvSpPr>
        <p:spPr>
          <a:xfrm>
            <a:off x="71323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Whisper large-v3 + faster-whisper</a:t>
            </a:r>
          </a:p>
          <a:p>
            <a:pPr>
              <a:spcAft>
                <a:spcPts val="700"/>
              </a:spcAft>
              <a:defRPr sz="2200" b="0">
                <a:solidFill>
                  <a:srgbClr val="243746"/>
                </a:solidFill>
                <a:latin typeface="Arial"/>
              </a:defRPr>
            </a:pPr>
            <a:r>
              <a:t>PhoWhisper medium / large</a:t>
            </a:r>
          </a:p>
        </p:txBody>
      </p:sp>
      <p:sp>
        <p:nvSpPr>
          <p:cNvPr id="9" name="Rounded Rectangle 8"/>
          <p:cNvSpPr/>
          <p:nvPr/>
        </p:nvSpPr>
        <p:spPr>
          <a:xfrm>
            <a:off x="429768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799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API quốc tế</a:t>
            </a:r>
          </a:p>
        </p:txBody>
      </p:sp>
      <p:sp>
        <p:nvSpPr>
          <p:cNvPr id="12" name="TextBox 11"/>
          <p:cNvSpPr txBox="1"/>
          <p:nvPr/>
        </p:nvSpPr>
        <p:spPr>
          <a:xfrm>
            <a:off x="450799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OpenAI gpt-transcribe</a:t>
            </a:r>
          </a:p>
          <a:p>
            <a:pPr>
              <a:spcAft>
                <a:spcPts val="700"/>
              </a:spcAft>
              <a:defRPr sz="2200" b="0">
                <a:solidFill>
                  <a:srgbClr val="243746"/>
                </a:solidFill>
                <a:latin typeface="Arial"/>
              </a:defRPr>
            </a:pPr>
            <a:r>
              <a:t>Google Chirp 3 • Azure Speech</a:t>
            </a:r>
          </a:p>
        </p:txBody>
      </p:sp>
      <p:sp>
        <p:nvSpPr>
          <p:cNvPr id="13" name="Rounded Rectangle 12"/>
          <p:cNvSpPr/>
          <p:nvPr/>
        </p:nvSpPr>
        <p:spPr>
          <a:xfrm>
            <a:off x="809244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244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Vendor Việt Nam</a:t>
            </a:r>
          </a:p>
        </p:txBody>
      </p:sp>
      <p:sp>
        <p:nvSpPr>
          <p:cNvPr id="16" name="TextBox 15"/>
          <p:cNvSpPr txBox="1"/>
          <p:nvPr/>
        </p:nvSpPr>
        <p:spPr>
          <a:xfrm>
            <a:off x="830275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VNPT SmartVoice</a:t>
            </a:r>
          </a:p>
          <a:p>
            <a:pPr>
              <a:spcAft>
                <a:spcPts val="700"/>
              </a:spcAft>
              <a:defRPr sz="2200" b="0">
                <a:solidFill>
                  <a:srgbClr val="243746"/>
                </a:solidFill>
                <a:latin typeface="Arial"/>
              </a:defRPr>
            </a:pPr>
            <a:r>
              <a:t>Thêm candidate khi có lý do cụ thể</a:t>
            </a:r>
          </a:p>
        </p:txBody>
      </p:sp>
      <p:sp>
        <p:nvSpPr>
          <p:cNvPr id="17" name="Rectangle 16"/>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528816"/>
            <a:ext cx="9509760" cy="182880"/>
          </a:xfrm>
          <a:prstGeom prst="rect">
            <a:avLst/>
          </a:prstGeom>
          <a:noFill/>
        </p:spPr>
        <p:txBody>
          <a:bodyPr wrap="square" lIns="0" rIns="0" tIns="0" bIns="0">
            <a:spAutoFit/>
          </a:bodyPr>
          <a:lstStyle/>
          <a:p>
            <a:pPr>
              <a:spcAft>
                <a:spcPts val="700"/>
              </a:spcAft>
              <a:defRPr sz="1000" b="0">
                <a:solidFill>
                  <a:srgbClr val="526879"/>
                </a:solidFill>
                <a:latin typeface="Arial"/>
              </a:defRPr>
            </a:pPr>
            <a:r>
              <a:t>Tien Phat Dam  •  Dai-ichi Life VN  •  Part 1 — Survey</a:t>
            </a:r>
          </a:p>
        </p:txBody>
      </p:sp>
      <p:sp>
        <p:nvSpPr>
          <p:cNvPr id="19" name="TextBox 18"/>
          <p:cNvSpPr txBox="1"/>
          <p:nvPr/>
        </p:nvSpPr>
        <p:spPr>
          <a:xfrm>
            <a:off x="11091672" y="6492240"/>
            <a:ext cx="594360" cy="228600"/>
          </a:xfrm>
          <a:prstGeom prst="rect">
            <a:avLst/>
          </a:prstGeom>
          <a:noFill/>
        </p:spPr>
        <p:txBody>
          <a:bodyPr wrap="square" lIns="0" rIns="0" tIns="0" bIns="0">
            <a:spAutoFit/>
          </a:bodyPr>
          <a:lstStyle/>
          <a:p>
            <a:pPr>
              <a:spcAft>
                <a:spcPts val="700"/>
              </a:spcAft>
              <a:defRPr sz="1100" b="0">
                <a:solidFill>
                  <a:srgbClr val="526879"/>
                </a:solidFill>
                <a:latin typeface="Arial"/>
              </a:defRPr>
            </a:pPr>
            <a:r>
              <a:t>17/25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685800"/>
          </a:xfrm>
          <a:prstGeom prst="rect">
            <a:avLst/>
          </a:prstGeom>
          <a:noFill/>
        </p:spPr>
        <p:txBody>
          <a:bodyPr wrap="square" lIns="0" rIns="0" tIns="0" bIns="0">
            <a:spAutoFit/>
          </a:bodyPr>
          <a:lstStyle/>
          <a:p>
            <a:pPr>
              <a:spcAft>
                <a:spcPts val="700"/>
              </a:spcAft>
              <a:defRPr sz="3100" b="1">
                <a:solidFill>
                  <a:srgbClr val="173F5F"/>
                </a:solidFill>
                <a:latin typeface="Arial"/>
              </a:defRPr>
            </a:pPr>
            <a:r>
              <a:t>Bước tiếp theo: chốt yêu cầu rồi mới evaluation</a:t>
            </a:r>
          </a:p>
        </p:txBody>
      </p:sp>
      <p:sp>
        <p:nvSpPr>
          <p:cNvPr id="4" name="TextBox 3"/>
          <p:cNvSpPr txBox="1"/>
          <p:nvPr/>
        </p:nvSpPr>
        <p:spPr>
          <a:xfrm>
            <a:off x="502920" y="1188720"/>
            <a:ext cx="11155680" cy="548640"/>
          </a:xfrm>
          <a:prstGeom prst="rect">
            <a:avLst/>
          </a:prstGeom>
          <a:noFill/>
        </p:spPr>
        <p:txBody>
          <a:bodyPr wrap="square" lIns="0" rIns="0" tIns="0" bIns="0">
            <a:spAutoFit/>
          </a:bodyPr>
          <a:lstStyle/>
          <a:p>
            <a:pPr>
              <a:spcAft>
                <a:spcPts val="700"/>
              </a:spcAft>
              <a:defRPr sz="1800" b="0">
                <a:solidFill>
                  <a:srgbClr val="526879"/>
                </a:solidFill>
                <a:latin typeface="Arial"/>
              </a:defRPr>
            </a:pPr>
            <a:r>
              <a:t>Đầu ra của buổi review là điều kiện và ứng viên được chọn</a:t>
            </a:r>
          </a:p>
        </p:txBody>
      </p:sp>
      <p:sp>
        <p:nvSpPr>
          <p:cNvPr id="5" name="Rounded Rectangle 4"/>
          <p:cNvSpPr/>
          <p:nvPr/>
        </p:nvSpPr>
        <p:spPr>
          <a:xfrm>
            <a:off x="50292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Hỏi Manager / QA</a:t>
            </a:r>
          </a:p>
        </p:txBody>
      </p:sp>
      <p:sp>
        <p:nvSpPr>
          <p:cNvPr id="8" name="TextBox 7"/>
          <p:cNvSpPr txBox="1"/>
          <p:nvPr/>
        </p:nvSpPr>
        <p:spPr>
          <a:xfrm>
            <a:off x="71323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Sau call hay live?</a:t>
            </a:r>
          </a:p>
          <a:p>
            <a:pPr>
              <a:spcAft>
                <a:spcPts val="700"/>
              </a:spcAft>
              <a:defRPr sz="2200" b="0">
                <a:solidFill>
                  <a:srgbClr val="243746"/>
                </a:solidFill>
                <a:latin typeface="Arial"/>
              </a:defRPr>
            </a:pPr>
            <a:r>
              <a:t>Output nào và lỗi nào quan trọng?</a:t>
            </a:r>
          </a:p>
        </p:txBody>
      </p:sp>
      <p:sp>
        <p:nvSpPr>
          <p:cNvPr id="9" name="Rounded Rectangle 8"/>
          <p:cNvSpPr/>
          <p:nvPr/>
        </p:nvSpPr>
        <p:spPr>
          <a:xfrm>
            <a:off x="429768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799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Hỏi IT / hạ tầng</a:t>
            </a:r>
          </a:p>
        </p:txBody>
      </p:sp>
      <p:sp>
        <p:nvSpPr>
          <p:cNvPr id="12" name="TextBox 11"/>
          <p:cNvSpPr txBox="1"/>
          <p:nvPr/>
        </p:nvSpPr>
        <p:spPr>
          <a:xfrm>
            <a:off x="450799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Mono hay tách kênh?</a:t>
            </a:r>
          </a:p>
          <a:p>
            <a:pPr>
              <a:spcAft>
                <a:spcPts val="700"/>
              </a:spcAft>
              <a:defRPr sz="2200" b="0">
                <a:solidFill>
                  <a:srgbClr val="243746"/>
                </a:solidFill>
                <a:latin typeface="Arial"/>
              </a:defRPr>
            </a:pPr>
            <a:r>
              <a:t>Format, tải, GPU và cloud được duyệt?</a:t>
            </a:r>
          </a:p>
        </p:txBody>
      </p:sp>
      <p:sp>
        <p:nvSpPr>
          <p:cNvPr id="13" name="Rounded Rectangle 12"/>
          <p:cNvSpPr/>
          <p:nvPr/>
        </p:nvSpPr>
        <p:spPr>
          <a:xfrm>
            <a:off x="8092440" y="1865376"/>
            <a:ext cx="3584448"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2440" y="1865376"/>
            <a:ext cx="50292" cy="42062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Hỏi vendor / đội dữ liệu</a:t>
            </a:r>
          </a:p>
        </p:txBody>
      </p:sp>
      <p:sp>
        <p:nvSpPr>
          <p:cNvPr id="16" name="TextBox 15"/>
          <p:cNvSpPr txBox="1"/>
          <p:nvPr/>
        </p:nvSpPr>
        <p:spPr>
          <a:xfrm>
            <a:off x="8302752" y="2825496"/>
            <a:ext cx="3163824" cy="3108959"/>
          </a:xfrm>
          <a:prstGeom prst="rect">
            <a:avLst/>
          </a:prstGeom>
          <a:noFill/>
        </p:spPr>
        <p:txBody>
          <a:bodyPr wrap="square" lIns="0" rIns="0" tIns="0" bIns="0">
            <a:spAutoFit/>
          </a:bodyPr>
          <a:lstStyle/>
          <a:p>
            <a:pPr>
              <a:spcAft>
                <a:spcPts val="700"/>
              </a:spcAft>
              <a:defRPr sz="2200" b="0">
                <a:solidFill>
                  <a:srgbClr val="243746"/>
                </a:solidFill>
                <a:latin typeface="Arial"/>
              </a:defRPr>
            </a:pPr>
            <a:r>
              <a:t>Feature vi, giá, nơi xử lý và retention</a:t>
            </a:r>
          </a:p>
          <a:p>
            <a:pPr>
              <a:spcAft>
                <a:spcPts val="700"/>
              </a:spcAft>
              <a:defRPr sz="2200" b="0">
                <a:solidFill>
                  <a:srgbClr val="243746"/>
                </a:solidFill>
                <a:latin typeface="Arial"/>
              </a:defRPr>
            </a:pPr>
            <a:r>
              <a:t>→ Chốt cấu hình cho Part 2</a:t>
            </a:r>
          </a:p>
        </p:txBody>
      </p:sp>
      <p:sp>
        <p:nvSpPr>
          <p:cNvPr id="17" name="Rectangle 16"/>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528816"/>
            <a:ext cx="9509760" cy="182880"/>
          </a:xfrm>
          <a:prstGeom prst="rect">
            <a:avLst/>
          </a:prstGeom>
          <a:noFill/>
        </p:spPr>
        <p:txBody>
          <a:bodyPr wrap="square" lIns="0" rIns="0" tIns="0" bIns="0">
            <a:spAutoFit/>
          </a:bodyPr>
          <a:lstStyle/>
          <a:p>
            <a:pPr>
              <a:spcAft>
                <a:spcPts val="700"/>
              </a:spcAft>
              <a:defRPr sz="1000" b="0">
                <a:solidFill>
                  <a:srgbClr val="526879"/>
                </a:solidFill>
                <a:latin typeface="Arial"/>
              </a:defRPr>
            </a:pPr>
            <a:r>
              <a:t>Tien Phat Dam  •  Dai-ichi Life VN  •  Part 1 — Survey</a:t>
            </a:r>
          </a:p>
        </p:txBody>
      </p:sp>
      <p:sp>
        <p:nvSpPr>
          <p:cNvPr id="19" name="TextBox 18"/>
          <p:cNvSpPr txBox="1"/>
          <p:nvPr/>
        </p:nvSpPr>
        <p:spPr>
          <a:xfrm>
            <a:off x="11091672" y="6492240"/>
            <a:ext cx="594360" cy="228600"/>
          </a:xfrm>
          <a:prstGeom prst="rect">
            <a:avLst/>
          </a:prstGeom>
          <a:noFill/>
        </p:spPr>
        <p:txBody>
          <a:bodyPr wrap="square" lIns="0" rIns="0" tIns="0" bIns="0">
            <a:spAutoFit/>
          </a:bodyPr>
          <a:lstStyle/>
          <a:p>
            <a:pPr>
              <a:spcAft>
                <a:spcPts val="700"/>
              </a:spcAft>
              <a:defRPr sz="1100" b="0">
                <a:solidFill>
                  <a:srgbClr val="526879"/>
                </a:solidFill>
                <a:latin typeface="Arial"/>
              </a:defRPr>
            </a:pPr>
            <a:r>
              <a:t>18/25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685800"/>
          </a:xfrm>
          <a:prstGeom prst="rect">
            <a:avLst/>
          </a:prstGeom>
          <a:noFill/>
        </p:spPr>
        <p:txBody>
          <a:bodyPr wrap="square" lIns="0" rIns="0" tIns="0" bIns="0">
            <a:spAutoFit/>
          </a:bodyPr>
          <a:lstStyle/>
          <a:p>
            <a:pPr>
              <a:spcAft>
                <a:spcPts val="700"/>
              </a:spcAft>
              <a:defRPr sz="3100" b="1">
                <a:solidFill>
                  <a:srgbClr val="173F5F"/>
                </a:solidFill>
                <a:latin typeface="Arial"/>
              </a:defRPr>
            </a:pPr>
            <a:r>
              <a:t>Phụ lục • Ma trận đọc nhanh 1/3</a:t>
            </a:r>
          </a:p>
        </p:txBody>
      </p:sp>
      <p:sp>
        <p:nvSpPr>
          <p:cNvPr id="4" name="TextBox 3"/>
          <p:cNvSpPr txBox="1"/>
          <p:nvPr/>
        </p:nvSpPr>
        <p:spPr>
          <a:xfrm>
            <a:off x="502920" y="1188720"/>
            <a:ext cx="11155680" cy="548640"/>
          </a:xfrm>
          <a:prstGeom prst="rect">
            <a:avLst/>
          </a:prstGeom>
          <a:noFill/>
        </p:spPr>
        <p:txBody>
          <a:bodyPr wrap="square" lIns="0" rIns="0" tIns="0" bIns="0">
            <a:spAutoFit/>
          </a:bodyPr>
          <a:lstStyle/>
          <a:p>
            <a:pPr>
              <a:spcAft>
                <a:spcPts val="700"/>
              </a:spcAft>
              <a:defRPr sz="1800" b="0">
                <a:solidFill>
                  <a:srgbClr val="526879"/>
                </a:solidFill>
                <a:latin typeface="Arial"/>
              </a:defRPr>
            </a:pPr>
            <a:r>
              <a:t>Nguồn và lý do lựa chọn được ghi theo từng cấu hình</a:t>
            </a:r>
          </a:p>
        </p:txBody>
      </p:sp>
      <p:pic>
        <p:nvPicPr>
          <p:cNvPr id="5" name="Picture 4" descr="01_Read_First_1.png"/>
          <p:cNvPicPr>
            <a:picLocks noChangeAspect="1"/>
          </p:cNvPicPr>
          <p:nvPr/>
        </p:nvPicPr>
        <p:blipFill>
          <a:blip r:embed="rId2"/>
          <a:stretch>
            <a:fillRect/>
          </a:stretch>
        </p:blipFill>
        <p:spPr>
          <a:xfrm>
            <a:off x="1382933" y="1783080"/>
            <a:ext cx="9425828" cy="4279392"/>
          </a:xfrm>
          <a:prstGeom prst="rect">
            <a:avLst/>
          </a:prstGeom>
        </p:spPr>
      </p:pic>
      <p:sp>
        <p:nvSpPr>
          <p:cNvPr id="6" name="Rectangle 5"/>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28816"/>
            <a:ext cx="9509760" cy="182880"/>
          </a:xfrm>
          <a:prstGeom prst="rect">
            <a:avLst/>
          </a:prstGeom>
          <a:noFill/>
        </p:spPr>
        <p:txBody>
          <a:bodyPr wrap="square" lIns="0" rIns="0" tIns="0" bIns="0">
            <a:spAutoFit/>
          </a:bodyPr>
          <a:lstStyle/>
          <a:p>
            <a:pPr>
              <a:spcAft>
                <a:spcPts val="700"/>
              </a:spcAft>
              <a:defRPr sz="1000" b="0">
                <a:solidFill>
                  <a:srgbClr val="526879"/>
                </a:solidFill>
                <a:latin typeface="Arial"/>
              </a:defRPr>
            </a:pPr>
            <a:r>
              <a:t>Tien Phat Dam  •  Dai-ichi Life VN  •  Part 1 — Survey</a:t>
            </a:r>
          </a:p>
        </p:txBody>
      </p:sp>
      <p:sp>
        <p:nvSpPr>
          <p:cNvPr id="8" name="TextBox 7"/>
          <p:cNvSpPr txBox="1"/>
          <p:nvPr/>
        </p:nvSpPr>
        <p:spPr>
          <a:xfrm>
            <a:off x="11091672" y="6492240"/>
            <a:ext cx="594360" cy="228600"/>
          </a:xfrm>
          <a:prstGeom prst="rect">
            <a:avLst/>
          </a:prstGeom>
          <a:noFill/>
        </p:spPr>
        <p:txBody>
          <a:bodyPr wrap="square" lIns="0" rIns="0" tIns="0" bIns="0">
            <a:spAutoFit/>
          </a:bodyPr>
          <a:lstStyle/>
          <a:p>
            <a:pPr>
              <a:spcAft>
                <a:spcPts val="700"/>
              </a:spcAft>
              <a:defRPr sz="1100" b="0">
                <a:solidFill>
                  <a:srgbClr val="526879"/>
                </a:solidFill>
                <a:latin typeface="Arial"/>
              </a:defRPr>
            </a:pPr>
            <a:r>
              <a:t>19/25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685800"/>
          </a:xfrm>
          <a:prstGeom prst="rect">
            <a:avLst/>
          </a:prstGeom>
          <a:noFill/>
        </p:spPr>
        <p:txBody>
          <a:bodyPr wrap="square" lIns="0" rIns="0" tIns="0" bIns="0">
            <a:spAutoFit/>
          </a:bodyPr>
          <a:lstStyle/>
          <a:p>
            <a:pPr>
              <a:spcAft>
                <a:spcPts val="700"/>
              </a:spcAft>
              <a:defRPr sz="3100" b="1">
                <a:solidFill>
                  <a:srgbClr val="173F5F"/>
                </a:solidFill>
                <a:latin typeface="Arial"/>
              </a:defRPr>
            </a:pPr>
            <a:r>
              <a:t>Phụ lục • Ma trận đọc nhanh 2/3</a:t>
            </a:r>
          </a:p>
        </p:txBody>
      </p:sp>
      <p:sp>
        <p:nvSpPr>
          <p:cNvPr id="4" name="TextBox 3"/>
          <p:cNvSpPr txBox="1"/>
          <p:nvPr/>
        </p:nvSpPr>
        <p:spPr>
          <a:xfrm>
            <a:off x="502920" y="1188720"/>
            <a:ext cx="11155680" cy="548640"/>
          </a:xfrm>
          <a:prstGeom prst="rect">
            <a:avLst/>
          </a:prstGeom>
          <a:noFill/>
        </p:spPr>
        <p:txBody>
          <a:bodyPr wrap="square" lIns="0" rIns="0" tIns="0" bIns="0">
            <a:spAutoFit/>
          </a:bodyPr>
          <a:lstStyle/>
          <a:p>
            <a:pPr>
              <a:spcAft>
                <a:spcPts val="700"/>
              </a:spcAft>
              <a:defRPr sz="1800" b="0">
                <a:solidFill>
                  <a:srgbClr val="526879"/>
                </a:solidFill>
                <a:latin typeface="Arial"/>
              </a:defRPr>
            </a:pPr>
            <a:r>
              <a:t>Nguồn và lý do lựa chọn được ghi theo từng cấu hình</a:t>
            </a:r>
          </a:p>
        </p:txBody>
      </p:sp>
      <p:pic>
        <p:nvPicPr>
          <p:cNvPr id="5" name="Picture 4" descr="01_Read_First_2.png"/>
          <p:cNvPicPr>
            <a:picLocks noChangeAspect="1"/>
          </p:cNvPicPr>
          <p:nvPr/>
        </p:nvPicPr>
        <p:blipFill>
          <a:blip r:embed="rId2"/>
          <a:stretch>
            <a:fillRect/>
          </a:stretch>
        </p:blipFill>
        <p:spPr>
          <a:xfrm>
            <a:off x="1513065" y="1783080"/>
            <a:ext cx="9165563" cy="4279392"/>
          </a:xfrm>
          <a:prstGeom prst="rect">
            <a:avLst/>
          </a:prstGeom>
        </p:spPr>
      </p:pic>
      <p:sp>
        <p:nvSpPr>
          <p:cNvPr id="6" name="Rectangle 5"/>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28816"/>
            <a:ext cx="9509760" cy="182880"/>
          </a:xfrm>
          <a:prstGeom prst="rect">
            <a:avLst/>
          </a:prstGeom>
          <a:noFill/>
        </p:spPr>
        <p:txBody>
          <a:bodyPr wrap="square" lIns="0" rIns="0" tIns="0" bIns="0">
            <a:spAutoFit/>
          </a:bodyPr>
          <a:lstStyle/>
          <a:p>
            <a:pPr>
              <a:spcAft>
                <a:spcPts val="700"/>
              </a:spcAft>
              <a:defRPr sz="1000" b="0">
                <a:solidFill>
                  <a:srgbClr val="526879"/>
                </a:solidFill>
                <a:latin typeface="Arial"/>
              </a:defRPr>
            </a:pPr>
            <a:r>
              <a:t>Tien Phat Dam  •  Dai-ichi Life VN  •  Part 1 — Survey</a:t>
            </a:r>
          </a:p>
        </p:txBody>
      </p:sp>
      <p:sp>
        <p:nvSpPr>
          <p:cNvPr id="8" name="TextBox 7"/>
          <p:cNvSpPr txBox="1"/>
          <p:nvPr/>
        </p:nvSpPr>
        <p:spPr>
          <a:xfrm>
            <a:off x="11091672" y="6492240"/>
            <a:ext cx="594360" cy="228600"/>
          </a:xfrm>
          <a:prstGeom prst="rect">
            <a:avLst/>
          </a:prstGeom>
          <a:noFill/>
        </p:spPr>
        <p:txBody>
          <a:bodyPr wrap="square" lIns="0" rIns="0" tIns="0" bIns="0">
            <a:spAutoFit/>
          </a:bodyPr>
          <a:lstStyle/>
          <a:p>
            <a:pPr>
              <a:spcAft>
                <a:spcPts val="700"/>
              </a:spcAft>
              <a:defRPr sz="1100" b="0">
                <a:solidFill>
                  <a:srgbClr val="526879"/>
                </a:solidFill>
                <a:latin typeface="Arial"/>
              </a:defRPr>
            </a:pPr>
            <a:r>
              <a:t>20/25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685800"/>
          </a:xfrm>
          <a:prstGeom prst="rect">
            <a:avLst/>
          </a:prstGeom>
          <a:noFill/>
        </p:spPr>
        <p:txBody>
          <a:bodyPr wrap="square" lIns="0" rIns="0" tIns="0" bIns="0">
            <a:spAutoFit/>
          </a:bodyPr>
          <a:lstStyle/>
          <a:p>
            <a:pPr>
              <a:spcAft>
                <a:spcPts val="700"/>
              </a:spcAft>
              <a:defRPr sz="3100" b="1">
                <a:solidFill>
                  <a:srgbClr val="173F5F"/>
                </a:solidFill>
                <a:latin typeface="Arial"/>
              </a:defRPr>
            </a:pPr>
            <a:r>
              <a:t>Phụ lục • Ma trận đọc nhanh 3/3</a:t>
            </a:r>
          </a:p>
        </p:txBody>
      </p:sp>
      <p:sp>
        <p:nvSpPr>
          <p:cNvPr id="4" name="TextBox 3"/>
          <p:cNvSpPr txBox="1"/>
          <p:nvPr/>
        </p:nvSpPr>
        <p:spPr>
          <a:xfrm>
            <a:off x="502920" y="1188720"/>
            <a:ext cx="11155680" cy="548640"/>
          </a:xfrm>
          <a:prstGeom prst="rect">
            <a:avLst/>
          </a:prstGeom>
          <a:noFill/>
        </p:spPr>
        <p:txBody>
          <a:bodyPr wrap="square" lIns="0" rIns="0" tIns="0" bIns="0">
            <a:spAutoFit/>
          </a:bodyPr>
          <a:lstStyle/>
          <a:p>
            <a:pPr>
              <a:spcAft>
                <a:spcPts val="700"/>
              </a:spcAft>
              <a:defRPr sz="1800" b="0">
                <a:solidFill>
                  <a:srgbClr val="526879"/>
                </a:solidFill>
                <a:latin typeface="Arial"/>
              </a:defRPr>
            </a:pPr>
            <a:r>
              <a:t>Nguồn và lý do lựa chọn được ghi theo từng cấu hình</a:t>
            </a:r>
          </a:p>
        </p:txBody>
      </p:sp>
      <p:pic>
        <p:nvPicPr>
          <p:cNvPr id="5" name="Picture 4" descr="01_Read_First_3.png"/>
          <p:cNvPicPr>
            <a:picLocks noChangeAspect="1"/>
          </p:cNvPicPr>
          <p:nvPr/>
        </p:nvPicPr>
        <p:blipFill>
          <a:blip r:embed="rId2"/>
          <a:stretch>
            <a:fillRect/>
          </a:stretch>
        </p:blipFill>
        <p:spPr>
          <a:xfrm>
            <a:off x="540867" y="1783080"/>
            <a:ext cx="11109960" cy="4045264"/>
          </a:xfrm>
          <a:prstGeom prst="rect">
            <a:avLst/>
          </a:prstGeom>
        </p:spPr>
      </p:pic>
      <p:sp>
        <p:nvSpPr>
          <p:cNvPr id="6" name="Rectangle 5"/>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28816"/>
            <a:ext cx="9509760" cy="182880"/>
          </a:xfrm>
          <a:prstGeom prst="rect">
            <a:avLst/>
          </a:prstGeom>
          <a:noFill/>
        </p:spPr>
        <p:txBody>
          <a:bodyPr wrap="square" lIns="0" rIns="0" tIns="0" bIns="0">
            <a:spAutoFit/>
          </a:bodyPr>
          <a:lstStyle/>
          <a:p>
            <a:pPr>
              <a:spcAft>
                <a:spcPts val="700"/>
              </a:spcAft>
              <a:defRPr sz="1000" b="0">
                <a:solidFill>
                  <a:srgbClr val="526879"/>
                </a:solidFill>
                <a:latin typeface="Arial"/>
              </a:defRPr>
            </a:pPr>
            <a:r>
              <a:t>Tien Phat Dam  •  Dai-ichi Life VN  •  Part 1 — Survey</a:t>
            </a:r>
          </a:p>
        </p:txBody>
      </p:sp>
      <p:sp>
        <p:nvSpPr>
          <p:cNvPr id="8" name="TextBox 7"/>
          <p:cNvSpPr txBox="1"/>
          <p:nvPr/>
        </p:nvSpPr>
        <p:spPr>
          <a:xfrm>
            <a:off x="11091672" y="6492240"/>
            <a:ext cx="594360" cy="228600"/>
          </a:xfrm>
          <a:prstGeom prst="rect">
            <a:avLst/>
          </a:prstGeom>
          <a:noFill/>
        </p:spPr>
        <p:txBody>
          <a:bodyPr wrap="square" lIns="0" rIns="0" tIns="0" bIns="0">
            <a:spAutoFit/>
          </a:bodyPr>
          <a:lstStyle/>
          <a:p>
            <a:pPr>
              <a:spcAft>
                <a:spcPts val="700"/>
              </a:spcAft>
              <a:defRPr sz="1100" b="0">
                <a:solidFill>
                  <a:srgbClr val="526879"/>
                </a:solidFill>
                <a:latin typeface="Arial"/>
              </a:defRPr>
            </a:pPr>
            <a:r>
              <a:t>21/25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685800"/>
          </a:xfrm>
          <a:prstGeom prst="rect">
            <a:avLst/>
          </a:prstGeom>
          <a:noFill/>
        </p:spPr>
        <p:txBody>
          <a:bodyPr wrap="square" lIns="0" rIns="0" tIns="0" bIns="0">
            <a:spAutoFit/>
          </a:bodyPr>
          <a:lstStyle/>
          <a:p>
            <a:pPr>
              <a:spcAft>
                <a:spcPts val="700"/>
              </a:spcAft>
              <a:defRPr sz="3100" b="1">
                <a:solidFill>
                  <a:srgbClr val="173F5F"/>
                </a:solidFill>
                <a:latin typeface="Arial"/>
              </a:defRPr>
            </a:pPr>
            <a:r>
              <a:t>Phụ lục • Thuật ngữ tra nhanh</a:t>
            </a:r>
          </a:p>
        </p:txBody>
      </p:sp>
      <p:sp>
        <p:nvSpPr>
          <p:cNvPr id="4" name="TextBox 3"/>
          <p:cNvSpPr txBox="1"/>
          <p:nvPr/>
        </p:nvSpPr>
        <p:spPr>
          <a:xfrm>
            <a:off x="502920" y="1188720"/>
            <a:ext cx="11155680" cy="548640"/>
          </a:xfrm>
          <a:prstGeom prst="rect">
            <a:avLst/>
          </a:prstGeom>
          <a:noFill/>
        </p:spPr>
        <p:txBody>
          <a:bodyPr wrap="square" lIns="0" rIns="0" tIns="0" bIns="0">
            <a:spAutoFit/>
          </a:bodyPr>
          <a:lstStyle/>
          <a:p>
            <a:pPr>
              <a:spcAft>
                <a:spcPts val="700"/>
              </a:spcAft>
              <a:defRPr sz="1800" b="0">
                <a:solidFill>
                  <a:srgbClr val="526879"/>
                </a:solidFill>
                <a:latin typeface="Arial"/>
              </a:defRPr>
            </a:pPr>
            <a:r>
              <a:t>Có thể dùng để giải thích lại trong phần hỏi đáp</a:t>
            </a:r>
          </a:p>
        </p:txBody>
      </p:sp>
      <p:sp>
        <p:nvSpPr>
          <p:cNvPr id="5" name="Rounded Rectangle 4"/>
          <p:cNvSpPr/>
          <p:nvPr/>
        </p:nvSpPr>
        <p:spPr>
          <a:xfrm>
            <a:off x="502920" y="1865376"/>
            <a:ext cx="3584448" cy="19933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65376"/>
            <a:ext cx="50292" cy="199339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Transcript / model</a:t>
            </a:r>
          </a:p>
        </p:txBody>
      </p:sp>
      <p:sp>
        <p:nvSpPr>
          <p:cNvPr id="8" name="TextBox 7"/>
          <p:cNvSpPr txBox="1"/>
          <p:nvPr/>
        </p:nvSpPr>
        <p:spPr>
          <a:xfrm>
            <a:off x="713232" y="2825496"/>
            <a:ext cx="3163824" cy="896112"/>
          </a:xfrm>
          <a:prstGeom prst="rect">
            <a:avLst/>
          </a:prstGeom>
          <a:noFill/>
        </p:spPr>
        <p:txBody>
          <a:bodyPr wrap="square" lIns="0" rIns="0" tIns="0" bIns="0">
            <a:spAutoFit/>
          </a:bodyPr>
          <a:lstStyle/>
          <a:p>
            <a:pPr>
              <a:spcAft>
                <a:spcPts val="700"/>
              </a:spcAft>
              <a:defRPr sz="2000" b="0">
                <a:solidFill>
                  <a:srgbClr val="243746"/>
                </a:solidFill>
                <a:latin typeface="Arial"/>
              </a:defRPr>
            </a:pPr>
            <a:r>
              <a:t>Bản chữ / thành phần nhận dạng</a:t>
            </a:r>
          </a:p>
        </p:txBody>
      </p:sp>
      <p:sp>
        <p:nvSpPr>
          <p:cNvPr id="9" name="Rounded Rectangle 8"/>
          <p:cNvSpPr/>
          <p:nvPr/>
        </p:nvSpPr>
        <p:spPr>
          <a:xfrm>
            <a:off x="4297680" y="1865376"/>
            <a:ext cx="3584448" cy="19933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1865376"/>
            <a:ext cx="50292" cy="199339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799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API / runtime</a:t>
            </a:r>
          </a:p>
        </p:txBody>
      </p:sp>
      <p:sp>
        <p:nvSpPr>
          <p:cNvPr id="12" name="TextBox 11"/>
          <p:cNvSpPr txBox="1"/>
          <p:nvPr/>
        </p:nvSpPr>
        <p:spPr>
          <a:xfrm>
            <a:off x="4507992" y="2825496"/>
            <a:ext cx="3163824" cy="896112"/>
          </a:xfrm>
          <a:prstGeom prst="rect">
            <a:avLst/>
          </a:prstGeom>
          <a:noFill/>
        </p:spPr>
        <p:txBody>
          <a:bodyPr wrap="square" lIns="0" rIns="0" tIns="0" bIns="0">
            <a:spAutoFit/>
          </a:bodyPr>
          <a:lstStyle/>
          <a:p>
            <a:pPr>
              <a:spcAft>
                <a:spcPts val="700"/>
              </a:spcAft>
              <a:defRPr sz="2000" b="0">
                <a:solidFill>
                  <a:srgbClr val="243746"/>
                </a:solidFill>
                <a:latin typeface="Arial"/>
              </a:defRPr>
            </a:pPr>
            <a:r>
              <a:t>Cách gửi yêu cầu / phần mềm chạy model</a:t>
            </a:r>
          </a:p>
        </p:txBody>
      </p:sp>
      <p:sp>
        <p:nvSpPr>
          <p:cNvPr id="13" name="Rounded Rectangle 12"/>
          <p:cNvSpPr/>
          <p:nvPr/>
        </p:nvSpPr>
        <p:spPr>
          <a:xfrm>
            <a:off x="8092440" y="1865376"/>
            <a:ext cx="3584448" cy="19933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2440" y="1865376"/>
            <a:ext cx="50292" cy="199339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2093976"/>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Batch / live</a:t>
            </a:r>
          </a:p>
        </p:txBody>
      </p:sp>
      <p:sp>
        <p:nvSpPr>
          <p:cNvPr id="16" name="TextBox 15"/>
          <p:cNvSpPr txBox="1"/>
          <p:nvPr/>
        </p:nvSpPr>
        <p:spPr>
          <a:xfrm>
            <a:off x="8302752" y="2825496"/>
            <a:ext cx="3163824" cy="896112"/>
          </a:xfrm>
          <a:prstGeom prst="rect">
            <a:avLst/>
          </a:prstGeom>
          <a:noFill/>
        </p:spPr>
        <p:txBody>
          <a:bodyPr wrap="square" lIns="0" rIns="0" tIns="0" bIns="0">
            <a:spAutoFit/>
          </a:bodyPr>
          <a:lstStyle/>
          <a:p>
            <a:pPr>
              <a:spcAft>
                <a:spcPts val="700"/>
              </a:spcAft>
              <a:defRPr sz="2000" b="0">
                <a:solidFill>
                  <a:srgbClr val="243746"/>
                </a:solidFill>
                <a:latin typeface="Arial"/>
              </a:defRPr>
            </a:pPr>
            <a:r>
              <a:t>Sau call / trong lúc call</a:t>
            </a:r>
          </a:p>
        </p:txBody>
      </p:sp>
      <p:sp>
        <p:nvSpPr>
          <p:cNvPr id="17" name="Rounded Rectangle 16"/>
          <p:cNvSpPr/>
          <p:nvPr/>
        </p:nvSpPr>
        <p:spPr>
          <a:xfrm>
            <a:off x="502920" y="4069080"/>
            <a:ext cx="3584448" cy="19933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4069080"/>
            <a:ext cx="50292" cy="199339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4297680"/>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Diarization / timestamp</a:t>
            </a:r>
          </a:p>
        </p:txBody>
      </p:sp>
      <p:sp>
        <p:nvSpPr>
          <p:cNvPr id="20" name="TextBox 19"/>
          <p:cNvSpPr txBox="1"/>
          <p:nvPr/>
        </p:nvSpPr>
        <p:spPr>
          <a:xfrm>
            <a:off x="713232" y="5029200"/>
            <a:ext cx="3163824" cy="896112"/>
          </a:xfrm>
          <a:prstGeom prst="rect">
            <a:avLst/>
          </a:prstGeom>
          <a:noFill/>
        </p:spPr>
        <p:txBody>
          <a:bodyPr wrap="square" lIns="0" rIns="0" tIns="0" bIns="0">
            <a:spAutoFit/>
          </a:bodyPr>
          <a:lstStyle/>
          <a:p>
            <a:pPr>
              <a:spcAft>
                <a:spcPts val="700"/>
              </a:spcAft>
              <a:defRPr sz="2000" b="0">
                <a:solidFill>
                  <a:srgbClr val="243746"/>
                </a:solidFill>
                <a:latin typeface="Arial"/>
              </a:defRPr>
            </a:pPr>
            <a:r>
              <a:t>Phân người nói / mốc thời gian</a:t>
            </a:r>
          </a:p>
        </p:txBody>
      </p:sp>
      <p:sp>
        <p:nvSpPr>
          <p:cNvPr id="21" name="Rounded Rectangle 20"/>
          <p:cNvSpPr/>
          <p:nvPr/>
        </p:nvSpPr>
        <p:spPr>
          <a:xfrm>
            <a:off x="4297680" y="4069080"/>
            <a:ext cx="3584448" cy="19933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97680" y="4069080"/>
            <a:ext cx="50292" cy="199339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07992" y="4297680"/>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Shortlist / baseline</a:t>
            </a:r>
          </a:p>
        </p:txBody>
      </p:sp>
      <p:sp>
        <p:nvSpPr>
          <p:cNvPr id="24" name="TextBox 23"/>
          <p:cNvSpPr txBox="1"/>
          <p:nvPr/>
        </p:nvSpPr>
        <p:spPr>
          <a:xfrm>
            <a:off x="4507992" y="5029200"/>
            <a:ext cx="3163824" cy="896112"/>
          </a:xfrm>
          <a:prstGeom prst="rect">
            <a:avLst/>
          </a:prstGeom>
          <a:noFill/>
        </p:spPr>
        <p:txBody>
          <a:bodyPr wrap="square" lIns="0" rIns="0" tIns="0" bIns="0">
            <a:spAutoFit/>
          </a:bodyPr>
          <a:lstStyle/>
          <a:p>
            <a:pPr>
              <a:spcAft>
                <a:spcPts val="700"/>
              </a:spcAft>
              <a:defRPr sz="2000" b="0">
                <a:solidFill>
                  <a:srgbClr val="243746"/>
                </a:solidFill>
                <a:latin typeface="Arial"/>
              </a:defRPr>
            </a:pPr>
            <a:r>
              <a:t>Danh sách rút gọn / phương án mốc</a:t>
            </a:r>
          </a:p>
        </p:txBody>
      </p:sp>
      <p:sp>
        <p:nvSpPr>
          <p:cNvPr id="25" name="Rounded Rectangle 24"/>
          <p:cNvSpPr/>
          <p:nvPr/>
        </p:nvSpPr>
        <p:spPr>
          <a:xfrm>
            <a:off x="8092440" y="4069080"/>
            <a:ext cx="3584448" cy="19933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92440" y="4069080"/>
            <a:ext cx="50292" cy="199339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02752" y="4297680"/>
            <a:ext cx="3163824" cy="731520"/>
          </a:xfrm>
          <a:prstGeom prst="rect">
            <a:avLst/>
          </a:prstGeom>
          <a:noFill/>
        </p:spPr>
        <p:txBody>
          <a:bodyPr wrap="square" lIns="0" rIns="0" tIns="0" bIns="0">
            <a:spAutoFit/>
          </a:bodyPr>
          <a:lstStyle/>
          <a:p>
            <a:pPr>
              <a:spcAft>
                <a:spcPts val="700"/>
              </a:spcAft>
              <a:defRPr sz="2300" b="1">
                <a:solidFill>
                  <a:srgbClr val="173F5F"/>
                </a:solidFill>
                <a:latin typeface="Arial"/>
              </a:defRPr>
            </a:pPr>
            <a:r>
              <a:t>Evaluation / retention</a:t>
            </a:r>
          </a:p>
        </p:txBody>
      </p:sp>
      <p:sp>
        <p:nvSpPr>
          <p:cNvPr id="28" name="TextBox 27"/>
          <p:cNvSpPr txBox="1"/>
          <p:nvPr/>
        </p:nvSpPr>
        <p:spPr>
          <a:xfrm>
            <a:off x="8302752" y="5029200"/>
            <a:ext cx="3163824" cy="896112"/>
          </a:xfrm>
          <a:prstGeom prst="rect">
            <a:avLst/>
          </a:prstGeom>
          <a:noFill/>
        </p:spPr>
        <p:txBody>
          <a:bodyPr wrap="square" lIns="0" rIns="0" tIns="0" bIns="0">
            <a:spAutoFit/>
          </a:bodyPr>
          <a:lstStyle/>
          <a:p>
            <a:pPr>
              <a:spcAft>
                <a:spcPts val="700"/>
              </a:spcAft>
              <a:defRPr sz="2000" b="0">
                <a:solidFill>
                  <a:srgbClr val="243746"/>
                </a:solidFill>
                <a:latin typeface="Arial"/>
              </a:defRPr>
            </a:pPr>
            <a:r>
              <a:t>Đánh giá thực / thời gian giữ dữ liệu</a:t>
            </a:r>
          </a:p>
        </p:txBody>
      </p:sp>
      <p:sp>
        <p:nvSpPr>
          <p:cNvPr id="29" name="Rectangle 28"/>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6528816"/>
            <a:ext cx="9509760" cy="182880"/>
          </a:xfrm>
          <a:prstGeom prst="rect">
            <a:avLst/>
          </a:prstGeom>
          <a:noFill/>
        </p:spPr>
        <p:txBody>
          <a:bodyPr wrap="square" lIns="0" rIns="0" tIns="0" bIns="0">
            <a:spAutoFit/>
          </a:bodyPr>
          <a:lstStyle/>
          <a:p>
            <a:pPr>
              <a:spcAft>
                <a:spcPts val="700"/>
              </a:spcAft>
              <a:defRPr sz="1000" b="0">
                <a:solidFill>
                  <a:srgbClr val="526879"/>
                </a:solidFill>
                <a:latin typeface="Arial"/>
              </a:defRPr>
            </a:pPr>
            <a:r>
              <a:t>Tien Phat Dam  •  Dai-ichi Life VN  •  Part 1 — Survey</a:t>
            </a:r>
          </a:p>
        </p:txBody>
      </p:sp>
      <p:sp>
        <p:nvSpPr>
          <p:cNvPr id="31" name="TextBox 30"/>
          <p:cNvSpPr txBox="1"/>
          <p:nvPr/>
        </p:nvSpPr>
        <p:spPr>
          <a:xfrm>
            <a:off x="11091672" y="6492240"/>
            <a:ext cx="594360" cy="228600"/>
          </a:xfrm>
          <a:prstGeom prst="rect">
            <a:avLst/>
          </a:prstGeom>
          <a:noFill/>
        </p:spPr>
        <p:txBody>
          <a:bodyPr wrap="square" lIns="0" rIns="0" tIns="0" bIns="0">
            <a:spAutoFit/>
          </a:bodyPr>
          <a:lstStyle/>
          <a:p>
            <a:pPr>
              <a:spcAft>
                <a:spcPts val="700"/>
              </a:spcAft>
              <a:defRPr sz="1100" b="0">
                <a:solidFill>
                  <a:srgbClr val="526879"/>
                </a:solidFill>
                <a:latin typeface="Arial"/>
              </a:defRPr>
            </a:pPr>
            <a:r>
              <a:t>22/25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685800"/>
          </a:xfrm>
          <a:prstGeom prst="rect">
            <a:avLst/>
          </a:prstGeom>
          <a:noFill/>
        </p:spPr>
        <p:txBody>
          <a:bodyPr wrap="square" lIns="0" rIns="0" tIns="0" bIns="0">
            <a:spAutoFit/>
          </a:bodyPr>
          <a:lstStyle/>
          <a:p>
            <a:pPr>
              <a:spcAft>
                <a:spcPts val="700"/>
              </a:spcAft>
              <a:defRPr sz="3100" b="1">
                <a:solidFill>
                  <a:srgbClr val="173F5F"/>
                </a:solidFill>
                <a:latin typeface="Arial"/>
              </a:defRPr>
            </a:pPr>
            <a:r>
              <a:t>References • Harvard 1/3</a:t>
            </a:r>
          </a:p>
        </p:txBody>
      </p:sp>
      <p:sp>
        <p:nvSpPr>
          <p:cNvPr id="4" name="TextBox 3"/>
          <p:cNvSpPr txBox="1"/>
          <p:nvPr/>
        </p:nvSpPr>
        <p:spPr>
          <a:xfrm>
            <a:off x="502920" y="1188720"/>
            <a:ext cx="11155680" cy="548640"/>
          </a:xfrm>
          <a:prstGeom prst="rect">
            <a:avLst/>
          </a:prstGeom>
          <a:noFill/>
        </p:spPr>
        <p:txBody>
          <a:bodyPr wrap="square" lIns="0" rIns="0" tIns="0" bIns="0">
            <a:spAutoFit/>
          </a:bodyPr>
          <a:lstStyle/>
          <a:p>
            <a:pPr>
              <a:spcAft>
                <a:spcPts val="700"/>
              </a:spcAft>
              <a:defRPr sz="1800" b="0">
                <a:solidFill>
                  <a:srgbClr val="526879"/>
                </a:solidFill>
                <a:latin typeface="Arial"/>
              </a:defRPr>
            </a:pPr>
            <a:r>
              <a:t>Tài liệu chính thức • ngày truy cập 6 October 2026</a:t>
            </a:r>
          </a:p>
        </p:txBody>
      </p:sp>
      <p:sp>
        <p:nvSpPr>
          <p:cNvPr id="5" name="TextBox 4"/>
          <p:cNvSpPr txBox="1"/>
          <p:nvPr/>
        </p:nvSpPr>
        <p:spPr>
          <a:xfrm>
            <a:off x="502920" y="1819656"/>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AWS (n.d.a) Amazon Transcribe pricing. Available at: https://aws.amazon.com/transcribe/pricing/ (Accessed: 6 October 2026).</a:t>
            </a:r>
          </a:p>
        </p:txBody>
      </p:sp>
      <p:sp>
        <p:nvSpPr>
          <p:cNvPr id="6" name="TextBox 5"/>
          <p:cNvSpPr txBox="1"/>
          <p:nvPr/>
        </p:nvSpPr>
        <p:spPr>
          <a:xfrm>
            <a:off x="502920" y="2660904"/>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AWS (n.d.b) Supported languages and language-specific features. Available at: https://docs.aws.amazon.com/transcribe/latest/dg/supported-languages.html (Accessed: 6 October 2026).</a:t>
            </a:r>
          </a:p>
        </p:txBody>
      </p:sp>
      <p:sp>
        <p:nvSpPr>
          <p:cNvPr id="7" name="TextBox 6"/>
          <p:cNvSpPr txBox="1"/>
          <p:nvPr/>
        </p:nvSpPr>
        <p:spPr>
          <a:xfrm>
            <a:off x="502920" y="3502152"/>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Deepgram (n.d.a) Models &amp; languages overview. Available at: https://developers.deepgram.com/docs/models-languages-overview/ (Accessed: 6 October 2026).</a:t>
            </a:r>
          </a:p>
        </p:txBody>
      </p:sp>
      <p:sp>
        <p:nvSpPr>
          <p:cNvPr id="8" name="TextBox 7"/>
          <p:cNvSpPr txBox="1"/>
          <p:nvPr/>
        </p:nvSpPr>
        <p:spPr>
          <a:xfrm>
            <a:off x="502920" y="4343400"/>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Deepgram (n.d.b) Vietnamese speech to text API. Available at: https://deepgram.com/product/speech-to-text/vietnamese (Accessed: 6 October 2026).</a:t>
            </a:r>
          </a:p>
        </p:txBody>
      </p:sp>
      <p:sp>
        <p:nvSpPr>
          <p:cNvPr id="9" name="TextBox 8"/>
          <p:cNvSpPr txBox="1"/>
          <p:nvPr/>
        </p:nvSpPr>
        <p:spPr>
          <a:xfrm>
            <a:off x="502920" y="5184648"/>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FPT.AI (n.d.) FPT.AI Speech — Speech to Text: API. Available at: https://docs.fpt.ai/docs/en/speech/api/speech-to-text/ (Accessed: 6 October 2026).</a:t>
            </a:r>
          </a:p>
        </p:txBody>
      </p:sp>
      <p:sp>
        <p:nvSpPr>
          <p:cNvPr id="10" name="TextBox 9"/>
          <p:cNvSpPr txBox="1"/>
          <p:nvPr/>
        </p:nvSpPr>
        <p:spPr>
          <a:xfrm>
            <a:off x="6217920" y="1819656"/>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Google Cloud (n.d.a) Chirp 3 transcription: Enhanced multilingual accuracy. Available at: https://docs.cloud.google.com/speech-to-text/docs/models/chirp-3 (Accessed: 6 October 2026).</a:t>
            </a:r>
          </a:p>
        </p:txBody>
      </p:sp>
      <p:sp>
        <p:nvSpPr>
          <p:cNvPr id="11" name="TextBox 10"/>
          <p:cNvSpPr txBox="1"/>
          <p:nvPr/>
        </p:nvSpPr>
        <p:spPr>
          <a:xfrm>
            <a:off x="6217920" y="2660904"/>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Google Cloud (n.d.b) Speech-to-Text API pricing. Available at: https://cloud.google.com/speech-to-text/pricing (Accessed: 6 October 2026).</a:t>
            </a:r>
          </a:p>
        </p:txBody>
      </p:sp>
      <p:sp>
        <p:nvSpPr>
          <p:cNvPr id="12" name="TextBox 11"/>
          <p:cNvSpPr txBox="1"/>
          <p:nvPr/>
        </p:nvSpPr>
        <p:spPr>
          <a:xfrm>
            <a:off x="6217920" y="3502152"/>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Google Cloud (n.d.c) Regional availability. Available at: https://docs.cloud.google.com/speech-to-text/docs/locations (Accessed: 6 October 2026).</a:t>
            </a:r>
          </a:p>
        </p:txBody>
      </p:sp>
      <p:sp>
        <p:nvSpPr>
          <p:cNvPr id="13" name="TextBox 12"/>
          <p:cNvSpPr txBox="1"/>
          <p:nvPr/>
        </p:nvSpPr>
        <p:spPr>
          <a:xfrm>
            <a:off x="6217920" y="4343400"/>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Microsoft (n.d.a) Configure language identification and diarization for speech transcription. Available at: https://learn.microsoft.com/en-us/azure/ai-services/speech-service/configure-language-identification-diarization (Accessed: 6 October 2026).</a:t>
            </a:r>
          </a:p>
        </p:txBody>
      </p:sp>
      <p:sp>
        <p:nvSpPr>
          <p:cNvPr id="14" name="TextBox 13"/>
          <p:cNvSpPr txBox="1"/>
          <p:nvPr/>
        </p:nvSpPr>
        <p:spPr>
          <a:xfrm>
            <a:off x="6217920" y="5184648"/>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Microsoft (n.d.b) Data, privacy, and security for Speech to text. Available at: https://learn.microsoft.com/en-us/azure/foundry/responsible-ai/speech-service/speech-to-text/data-privacy-security (Accessed: 6 October 2026).</a:t>
            </a:r>
          </a:p>
        </p:txBody>
      </p:sp>
      <p:sp>
        <p:nvSpPr>
          <p:cNvPr id="15" name="Rectangle 14"/>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6528816"/>
            <a:ext cx="9509760" cy="182880"/>
          </a:xfrm>
          <a:prstGeom prst="rect">
            <a:avLst/>
          </a:prstGeom>
          <a:noFill/>
        </p:spPr>
        <p:txBody>
          <a:bodyPr wrap="square" lIns="0" rIns="0" tIns="0" bIns="0">
            <a:spAutoFit/>
          </a:bodyPr>
          <a:lstStyle/>
          <a:p>
            <a:pPr>
              <a:spcAft>
                <a:spcPts val="700"/>
              </a:spcAft>
              <a:defRPr sz="1000" b="0">
                <a:solidFill>
                  <a:srgbClr val="526879"/>
                </a:solidFill>
                <a:latin typeface="Arial"/>
              </a:defRPr>
            </a:pPr>
            <a:r>
              <a:t>Tien Phat Dam  •  Dai-ichi Life VN  •  Part 1 — Survey</a:t>
            </a:r>
          </a:p>
        </p:txBody>
      </p:sp>
      <p:sp>
        <p:nvSpPr>
          <p:cNvPr id="17" name="TextBox 16"/>
          <p:cNvSpPr txBox="1"/>
          <p:nvPr/>
        </p:nvSpPr>
        <p:spPr>
          <a:xfrm>
            <a:off x="11091672" y="6492240"/>
            <a:ext cx="594360" cy="228600"/>
          </a:xfrm>
          <a:prstGeom prst="rect">
            <a:avLst/>
          </a:prstGeom>
          <a:noFill/>
        </p:spPr>
        <p:txBody>
          <a:bodyPr wrap="square" lIns="0" rIns="0" tIns="0" bIns="0">
            <a:spAutoFit/>
          </a:bodyPr>
          <a:lstStyle/>
          <a:p>
            <a:pPr>
              <a:spcAft>
                <a:spcPts val="700"/>
              </a:spcAft>
              <a:defRPr sz="1100" b="0">
                <a:solidFill>
                  <a:srgbClr val="526879"/>
                </a:solidFill>
                <a:latin typeface="Arial"/>
              </a:defRPr>
            </a:pPr>
            <a:r>
              <a:t>23/25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685800"/>
          </a:xfrm>
          <a:prstGeom prst="rect">
            <a:avLst/>
          </a:prstGeom>
          <a:noFill/>
        </p:spPr>
        <p:txBody>
          <a:bodyPr wrap="square" lIns="0" rIns="0" tIns="0" bIns="0">
            <a:spAutoFit/>
          </a:bodyPr>
          <a:lstStyle/>
          <a:p>
            <a:pPr>
              <a:spcAft>
                <a:spcPts val="700"/>
              </a:spcAft>
              <a:defRPr sz="3100" b="1">
                <a:solidFill>
                  <a:srgbClr val="173F5F"/>
                </a:solidFill>
                <a:latin typeface="Arial"/>
              </a:defRPr>
            </a:pPr>
            <a:r>
              <a:t>References • Harvard 2/3</a:t>
            </a:r>
          </a:p>
        </p:txBody>
      </p:sp>
      <p:sp>
        <p:nvSpPr>
          <p:cNvPr id="4" name="TextBox 3"/>
          <p:cNvSpPr txBox="1"/>
          <p:nvPr/>
        </p:nvSpPr>
        <p:spPr>
          <a:xfrm>
            <a:off x="502920" y="1188720"/>
            <a:ext cx="11155680" cy="548640"/>
          </a:xfrm>
          <a:prstGeom prst="rect">
            <a:avLst/>
          </a:prstGeom>
          <a:noFill/>
        </p:spPr>
        <p:txBody>
          <a:bodyPr wrap="square" lIns="0" rIns="0" tIns="0" bIns="0">
            <a:spAutoFit/>
          </a:bodyPr>
          <a:lstStyle/>
          <a:p>
            <a:pPr>
              <a:spcAft>
                <a:spcPts val="700"/>
              </a:spcAft>
              <a:defRPr sz="1800" b="0">
                <a:solidFill>
                  <a:srgbClr val="526879"/>
                </a:solidFill>
                <a:latin typeface="Arial"/>
              </a:defRPr>
            </a:pPr>
            <a:r>
              <a:t>Tài liệu chính thức • ngày truy cập 6 October 2026</a:t>
            </a:r>
          </a:p>
        </p:txBody>
      </p:sp>
      <p:sp>
        <p:nvSpPr>
          <p:cNvPr id="5" name="TextBox 4"/>
          <p:cNvSpPr txBox="1"/>
          <p:nvPr/>
        </p:nvSpPr>
        <p:spPr>
          <a:xfrm>
            <a:off x="502920" y="1819656"/>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Microsoft (n.d.c) Install and run Speech containers with Docker. Available at: https://learn.microsoft.com/en-us/azure/ai-services/speech-service/speech-container-howto (Accessed: 6 October 2026).</a:t>
            </a:r>
          </a:p>
        </p:txBody>
      </p:sp>
      <p:sp>
        <p:nvSpPr>
          <p:cNvPr id="6" name="TextBox 5"/>
          <p:cNvSpPr txBox="1"/>
          <p:nvPr/>
        </p:nvSpPr>
        <p:spPr>
          <a:xfrm>
            <a:off x="502920" y="2660904"/>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Microsoft (n.d.d) Language and voice support for Azure Speech. Available at: https://learn.microsoft.com/en-us/azure/ai-services/speech-service/language-support?tabs=stt (Accessed: 6 October 2026).</a:t>
            </a:r>
          </a:p>
        </p:txBody>
      </p:sp>
      <p:sp>
        <p:nvSpPr>
          <p:cNvPr id="7" name="TextBox 6"/>
          <p:cNvSpPr txBox="1"/>
          <p:nvPr/>
        </p:nvSpPr>
        <p:spPr>
          <a:xfrm>
            <a:off x="502920" y="3502152"/>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Microsoft (n.d.e) Pricing — Azure Speech in Foundry Tools. Available at: https://azure.microsoft.com/en-us/pricing/details/speech/ (Accessed: 6 October 2026).</a:t>
            </a:r>
          </a:p>
        </p:txBody>
      </p:sp>
      <p:sp>
        <p:nvSpPr>
          <p:cNvPr id="8" name="TextBox 7"/>
          <p:cNvSpPr txBox="1"/>
          <p:nvPr/>
        </p:nvSpPr>
        <p:spPr>
          <a:xfrm>
            <a:off x="502920" y="4343400"/>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NVIDIA (2026) Parakeet CTC Vietnamese (vi-VN). Updated 13 August 2026. Available at: https://docs.nvidia.com/nim/speech/latest/asr/deploy-asr-models/parakeet-ctc-vi-vn.html (Accessed: 6 October 2026).</a:t>
            </a:r>
          </a:p>
        </p:txBody>
      </p:sp>
      <p:sp>
        <p:nvSpPr>
          <p:cNvPr id="9" name="TextBox 8"/>
          <p:cNvSpPr txBox="1"/>
          <p:nvPr/>
        </p:nvSpPr>
        <p:spPr>
          <a:xfrm>
            <a:off x="502920" y="5184648"/>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NVIDIA (n.d.) NVIDIA ASR NIM support matrix. Available at: https://docs.nvidia.com/nim/speech/latest/reference/support-matrix/asr.html (Accessed: 6 October 2026).</a:t>
            </a:r>
          </a:p>
        </p:txBody>
      </p:sp>
      <p:sp>
        <p:nvSpPr>
          <p:cNvPr id="10" name="TextBox 9"/>
          <p:cNvSpPr txBox="1"/>
          <p:nvPr/>
        </p:nvSpPr>
        <p:spPr>
          <a:xfrm>
            <a:off x="6217920" y="1819656"/>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OpenAI (n.d.a) Data controls in the OpenAI platform. Available at: https://developers.openai.com/api/docs/guides/your-data (Accessed: 6 October 2026).</a:t>
            </a:r>
          </a:p>
        </p:txBody>
      </p:sp>
      <p:sp>
        <p:nvSpPr>
          <p:cNvPr id="11" name="TextBox 10"/>
          <p:cNvSpPr txBox="1"/>
          <p:nvPr/>
        </p:nvSpPr>
        <p:spPr>
          <a:xfrm>
            <a:off x="6217920" y="2660904"/>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OpenAI (n.d.b) File transcription. Available at: https://developers.openai.com/api/docs/guides/speech-to-text (Accessed: 6 October 2026).</a:t>
            </a:r>
          </a:p>
        </p:txBody>
      </p:sp>
      <p:sp>
        <p:nvSpPr>
          <p:cNvPr id="12" name="TextBox 11"/>
          <p:cNvSpPr txBox="1"/>
          <p:nvPr/>
        </p:nvSpPr>
        <p:spPr>
          <a:xfrm>
            <a:off x="6217920" y="3502152"/>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OpenAI (n.d.c) GPT-4o Transcribe Diarize model. Available at: https://developers.openai.com/api/docs/models/gpt-4o-transcribe-diarize (Accessed: 6 October 2026).</a:t>
            </a:r>
          </a:p>
        </p:txBody>
      </p:sp>
      <p:sp>
        <p:nvSpPr>
          <p:cNvPr id="13" name="TextBox 12"/>
          <p:cNvSpPr txBox="1"/>
          <p:nvPr/>
        </p:nvSpPr>
        <p:spPr>
          <a:xfrm>
            <a:off x="6217920" y="4343400"/>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OpenAI (n.d.d) GPT-Live-Transcribe model. Available at: https://developers.openai.com/api/docs/models/gpt-live-transcribe (Accessed: 6 October 2026).</a:t>
            </a:r>
          </a:p>
        </p:txBody>
      </p:sp>
      <p:sp>
        <p:nvSpPr>
          <p:cNvPr id="14" name="TextBox 13"/>
          <p:cNvSpPr txBox="1"/>
          <p:nvPr/>
        </p:nvSpPr>
        <p:spPr>
          <a:xfrm>
            <a:off x="6217920" y="5184648"/>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OpenAI (n.d.e) GPT-Transcribe model. Available at: https://developers.openai.com/api/docs/models/gpt-transcribe (Accessed: 6 October 2026).</a:t>
            </a:r>
          </a:p>
        </p:txBody>
      </p:sp>
      <p:sp>
        <p:nvSpPr>
          <p:cNvPr id="15" name="Rectangle 14"/>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6528816"/>
            <a:ext cx="9509760" cy="182880"/>
          </a:xfrm>
          <a:prstGeom prst="rect">
            <a:avLst/>
          </a:prstGeom>
          <a:noFill/>
        </p:spPr>
        <p:txBody>
          <a:bodyPr wrap="square" lIns="0" rIns="0" tIns="0" bIns="0">
            <a:spAutoFit/>
          </a:bodyPr>
          <a:lstStyle/>
          <a:p>
            <a:pPr>
              <a:spcAft>
                <a:spcPts val="700"/>
              </a:spcAft>
              <a:defRPr sz="1000" b="0">
                <a:solidFill>
                  <a:srgbClr val="526879"/>
                </a:solidFill>
                <a:latin typeface="Arial"/>
              </a:defRPr>
            </a:pPr>
            <a:r>
              <a:t>Tien Phat Dam  •  Dai-ichi Life VN  •  Part 1 — Survey</a:t>
            </a:r>
          </a:p>
        </p:txBody>
      </p:sp>
      <p:sp>
        <p:nvSpPr>
          <p:cNvPr id="17" name="TextBox 16"/>
          <p:cNvSpPr txBox="1"/>
          <p:nvPr/>
        </p:nvSpPr>
        <p:spPr>
          <a:xfrm>
            <a:off x="11091672" y="6492240"/>
            <a:ext cx="594360" cy="228600"/>
          </a:xfrm>
          <a:prstGeom prst="rect">
            <a:avLst/>
          </a:prstGeom>
          <a:noFill/>
        </p:spPr>
        <p:txBody>
          <a:bodyPr wrap="square" lIns="0" rIns="0" tIns="0" bIns="0">
            <a:spAutoFit/>
          </a:bodyPr>
          <a:lstStyle/>
          <a:p>
            <a:pPr>
              <a:spcAft>
                <a:spcPts val="700"/>
              </a:spcAft>
              <a:defRPr sz="1100" b="0">
                <a:solidFill>
                  <a:srgbClr val="526879"/>
                </a:solidFill>
                <a:latin typeface="Arial"/>
              </a:defRPr>
            </a:pPr>
            <a:r>
              <a:t>24/25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685800"/>
          </a:xfrm>
          <a:prstGeom prst="rect">
            <a:avLst/>
          </a:prstGeom>
          <a:noFill/>
        </p:spPr>
        <p:txBody>
          <a:bodyPr wrap="square" lIns="0" rIns="0" tIns="0" bIns="0">
            <a:spAutoFit/>
          </a:bodyPr>
          <a:lstStyle/>
          <a:p>
            <a:pPr>
              <a:spcAft>
                <a:spcPts val="700"/>
              </a:spcAft>
              <a:defRPr sz="3100" b="1">
                <a:solidFill>
                  <a:srgbClr val="173F5F"/>
                </a:solidFill>
                <a:latin typeface="Arial"/>
              </a:defRPr>
            </a:pPr>
            <a:r>
              <a:t>References • Harvard 3/3</a:t>
            </a:r>
          </a:p>
        </p:txBody>
      </p:sp>
      <p:sp>
        <p:nvSpPr>
          <p:cNvPr id="4" name="TextBox 3"/>
          <p:cNvSpPr txBox="1"/>
          <p:nvPr/>
        </p:nvSpPr>
        <p:spPr>
          <a:xfrm>
            <a:off x="502920" y="1188720"/>
            <a:ext cx="11155680" cy="548640"/>
          </a:xfrm>
          <a:prstGeom prst="rect">
            <a:avLst/>
          </a:prstGeom>
          <a:noFill/>
        </p:spPr>
        <p:txBody>
          <a:bodyPr wrap="square" lIns="0" rIns="0" tIns="0" bIns="0">
            <a:spAutoFit/>
          </a:bodyPr>
          <a:lstStyle/>
          <a:p>
            <a:pPr>
              <a:spcAft>
                <a:spcPts val="700"/>
              </a:spcAft>
              <a:defRPr sz="1800" b="0">
                <a:solidFill>
                  <a:srgbClr val="526879"/>
                </a:solidFill>
                <a:latin typeface="Arial"/>
              </a:defRPr>
            </a:pPr>
            <a:r>
              <a:t>Tài liệu chính thức • ngày truy cập 6 October 2026</a:t>
            </a:r>
          </a:p>
        </p:txBody>
      </p:sp>
      <p:sp>
        <p:nvSpPr>
          <p:cNvPr id="5" name="TextBox 4"/>
          <p:cNvSpPr txBox="1"/>
          <p:nvPr/>
        </p:nvSpPr>
        <p:spPr>
          <a:xfrm>
            <a:off x="502920" y="1819656"/>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OpenAI (n.d.f) Pricing. Available at: https://developers.openai.com/api/docs/pricing (Accessed: 6 October 2026).</a:t>
            </a:r>
          </a:p>
        </p:txBody>
      </p:sp>
      <p:sp>
        <p:nvSpPr>
          <p:cNvPr id="6" name="TextBox 5"/>
          <p:cNvSpPr txBox="1"/>
          <p:nvPr/>
        </p:nvSpPr>
        <p:spPr>
          <a:xfrm>
            <a:off x="502920" y="2660904"/>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OpenAI (n.d.g) Whisper: Robust speech recognition via large-scale weak supervision. GitHub repository. Available at: https://github.com/openai/whisper (Accessed: 6 October 2026).</a:t>
            </a:r>
          </a:p>
        </p:txBody>
      </p:sp>
      <p:sp>
        <p:nvSpPr>
          <p:cNvPr id="7" name="TextBox 6"/>
          <p:cNvSpPr txBox="1"/>
          <p:nvPr/>
        </p:nvSpPr>
        <p:spPr>
          <a:xfrm>
            <a:off x="502920" y="3502152"/>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Speechmatics (n.d.a) Languages. Available at: https://docs.speechmatics.com/speech-to-text/languages (Accessed: 6 October 2026).</a:t>
            </a:r>
          </a:p>
        </p:txBody>
      </p:sp>
      <p:sp>
        <p:nvSpPr>
          <p:cNvPr id="8" name="TextBox 7"/>
          <p:cNvSpPr txBox="1"/>
          <p:nvPr/>
        </p:nvSpPr>
        <p:spPr>
          <a:xfrm>
            <a:off x="502920" y="4343400"/>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Speechmatics (n.d.b) Deployments — Overview. Available at: https://docs.speechmatics.com/deployments (Accessed: 6 October 2026).</a:t>
            </a:r>
          </a:p>
        </p:txBody>
      </p:sp>
      <p:sp>
        <p:nvSpPr>
          <p:cNvPr id="9" name="TextBox 8"/>
          <p:cNvSpPr txBox="1"/>
          <p:nvPr/>
        </p:nvSpPr>
        <p:spPr>
          <a:xfrm>
            <a:off x="502920" y="5184648"/>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SYSTRAN (n.d.) faster-whisper: Faster Whisper transcription with CTranslate2. GitHub repository. Available at: https://github.com/SYSTRAN/faster-whisper (Accessed: 6 October 2026).</a:t>
            </a:r>
          </a:p>
        </p:txBody>
      </p:sp>
      <p:sp>
        <p:nvSpPr>
          <p:cNvPr id="10" name="TextBox 9"/>
          <p:cNvSpPr txBox="1"/>
          <p:nvPr/>
        </p:nvSpPr>
        <p:spPr>
          <a:xfrm>
            <a:off x="6217920" y="1819656"/>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Viettel AI (n.d.) Speech to Text. Available at: https://viettelai.vn/en/speech-to-text (Accessed: 6 October 2026).</a:t>
            </a:r>
          </a:p>
        </p:txBody>
      </p:sp>
      <p:sp>
        <p:nvSpPr>
          <p:cNvPr id="11" name="TextBox 10"/>
          <p:cNvSpPr txBox="1"/>
          <p:nvPr/>
        </p:nvSpPr>
        <p:spPr>
          <a:xfrm>
            <a:off x="6217920" y="2660904"/>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VinAI Research (n.d.) PhoWhisper: Automatic speech recognition for Vietnamese. GitHub repository and published benchmark table. Available at: https://github.com/VinAIResearch/PhoWhisper (Accessed: 6 October 2026).</a:t>
            </a:r>
          </a:p>
        </p:txBody>
      </p:sp>
      <p:sp>
        <p:nvSpPr>
          <p:cNvPr id="12" name="TextBox 11"/>
          <p:cNvSpPr txBox="1"/>
          <p:nvPr/>
        </p:nvSpPr>
        <p:spPr>
          <a:xfrm>
            <a:off x="6217920" y="3502152"/>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VNPT AI (n.d.a) SmartVoice: Thông số kỹ thuật. Available at: https://vnptai.io/smartvoice/vi/engine-specs (Accessed: 6 October 2026).</a:t>
            </a:r>
          </a:p>
        </p:txBody>
      </p:sp>
      <p:sp>
        <p:nvSpPr>
          <p:cNvPr id="13" name="TextBox 12"/>
          <p:cNvSpPr txBox="1"/>
          <p:nvPr/>
        </p:nvSpPr>
        <p:spPr>
          <a:xfrm>
            <a:off x="6217920" y="4343400"/>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VNPT AI (n.d.b) Gói cước VNPT SmartVoice — Speech to Text. Available at: https://vnptai.io/smartvoice/vi/service-packages?service=speech-to-text (Accessed: 6 October 2026).</a:t>
            </a:r>
          </a:p>
        </p:txBody>
      </p:sp>
      <p:sp>
        <p:nvSpPr>
          <p:cNvPr id="14" name="Rectangle 13"/>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6528816"/>
            <a:ext cx="9509760" cy="182880"/>
          </a:xfrm>
          <a:prstGeom prst="rect">
            <a:avLst/>
          </a:prstGeom>
          <a:noFill/>
        </p:spPr>
        <p:txBody>
          <a:bodyPr wrap="square" lIns="0" rIns="0" tIns="0" bIns="0">
            <a:spAutoFit/>
          </a:bodyPr>
          <a:lstStyle/>
          <a:p>
            <a:pPr>
              <a:spcAft>
                <a:spcPts val="700"/>
              </a:spcAft>
              <a:defRPr sz="1000" b="0">
                <a:solidFill>
                  <a:srgbClr val="526879"/>
                </a:solidFill>
                <a:latin typeface="Arial"/>
              </a:defRPr>
            </a:pPr>
            <a:r>
              <a:t>Tien Phat Dam  •  Dai-ichi Life VN  •  Part 1 — Survey</a:t>
            </a:r>
          </a:p>
        </p:txBody>
      </p:sp>
      <p:sp>
        <p:nvSpPr>
          <p:cNvPr id="16" name="TextBox 15"/>
          <p:cNvSpPr txBox="1"/>
          <p:nvPr/>
        </p:nvSpPr>
        <p:spPr>
          <a:xfrm>
            <a:off x="11091672" y="6492240"/>
            <a:ext cx="594360" cy="228600"/>
          </a:xfrm>
          <a:prstGeom prst="rect">
            <a:avLst/>
          </a:prstGeom>
          <a:noFill/>
        </p:spPr>
        <p:txBody>
          <a:bodyPr wrap="square" lIns="0" rIns="0" tIns="0" bIns="0">
            <a:spAutoFit/>
          </a:bodyPr>
          <a:lstStyle/>
          <a:p>
            <a:pPr>
              <a:spcAft>
                <a:spcPts val="700"/>
              </a:spcAft>
              <a:defRPr sz="1100" b="0">
                <a:solidFill>
                  <a:srgbClr val="526879"/>
                </a:solidFill>
                <a:latin typeface="Arial"/>
              </a:defRPr>
            </a:pPr>
            <a:r>
              <a:t>25/25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Speech-to-Text Survey — Dai-ichi Life Việt Nam</dc:title>
  <dc:subject>Part 1 — analysis and survey; easy-to-understand presentation</dc:subject>
  <dc:creator>Tien Phat Dam</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