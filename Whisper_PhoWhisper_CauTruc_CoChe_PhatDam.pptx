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Xin chào mọi người. Hôm nay tôi trình bày về Whisper và PhoWhisper, nhưng trọng tâm không phải là cách gọi thư viện. Mục tiêu là nhìn vào bên trong mô hình: âm thanh được biến đổi thành tensor như thế nào, encoder đọc âm thanh ra sao, decoder sinh chữ như thế nào, và vì sao PhoWhisper phù hợp hơn cho tiếng Việt. Trong suốt bài, tôi sẽ dùng một câu ví dụ duy nhất: “tôi muốn kiểm tra hợp đồng”. Câu này sẽ đi từ sóng âm, qua spectrogram, qua encoder-decoder, rồi thành transcript cuối cùng.
Chuyển ý: trước hết ta cần thống nhất bài này nghiên cứu checkpoint nào và phạm vi nào.
Nguồn liên quan:
- Radford et al., 2022/ICML 2023, Robust Speech Recognition via Large-Scale Weak Supervision: https://arxiv.org/abs/2212.04356
- Le, Nguyen &amp; Nguyen, 2024, PhoWhisper: Automatic Speech Recognition for Vietnamese: https://arxiv.org/abs/2406.02555
- Hugging Face model card vinai/PhoWhisper-large: https://huggingface.co/vinai/PhoWhisper-large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đặt cách đọc bài. Trên mỗi slide chỉ giữ một ý chính để người nghe không bị ngợp. Những phần sâu hơn như tensor, attention, decoding hay giới hạn triển khai sẽ nằm trong lời nói.
Điểm quan trọng là không gán nhầm cơ chế. Một số mô hình ASR dùng CTC, một số dùng decoder tự hồi quy, một số có huấn luyện self-supervised. Với Whisper/PhoWhisper, inference thực tế là pipeline encoder-decoder Transformer: audio được đổi thành log-Mel spectrogram, encoder đọc toàn bộ cửa sổ âm thanh, decoder sinh token văn bản từng bước.
Chuyển ý: tiếp theo là mục lục để thấy bài đi từ nền tảng đến ứng dụng call center.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gồm năm phần. Phần đầu xác định rõ checkpoint và phạm vi. Phần hai giải thích audio được biến thành tensor như thế nào. Phần ba là phần quan trọng nhất: kiến trúc bên trong encoder-decoder. Phần bốn tách rõ training và inference để tránh hiểu nhầm. Phần cuối đưa mô hình vào bối cảnh call center, nêu giới hạn và cách đánh giá.
Chuyển ý: ta bắt đầu bằng checkpoint được chọn và các giả định của bài.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Ở đây tôi chốt phạm vi để không nói lan man. Whisper là kiến trúc nền do OpenAI công bố. PhoWhisper là họ mô hình được VinAI fine-tune cho tiếng Việt. Checkpoint trong bài này là vinai/PhoWhisper-large, phù hợp bối cảnh call center tiếng Việt.
Điểm cần nhấn mạnh: PhoWhisper không phải một kiến trúc hoàn toàn mới tách khỏi Whisper. Nó kế thừa cơ chế seq2seq Transformer của Whisper, nhưng được điều chỉnh trọng số bằng dữ liệu tiếng Việt đa giọng. Vì vậy khi ta giải thích encoder, decoder, special token, timestamp hay decoding, phần lớn cơ chế là cơ chế Whisper. Khi nói về khả năng tiếng Việt, ta nói đến phần fine-tuning và dữ liệu PhoWhisper.
Chuyển ý: sau khi biết checkpoint, ta nhìn bức tranh tổng thể trong call center.
Nguồn liên quan:
- Radford et al., 2022/ICML 2023, Robust Speech Recognition via Large-Scale Weak Supervision: https://arxiv.org/abs/2212.04356
- OpenAI Whisper GitHub README/model card: https://github.com/openai/whisper
- Le, Nguyen &amp; Nguyen, 2024, PhoWhisper: Automatic Speech Recognition for Vietnamese: https://arxiv.org/abs/2406.02555
- Hugging Face model card vinai/PhoWhisper-large: https://huggingface.co/vinai/PhoWhisper-large
- Hugging Face generation_config.json for vinai/PhoWhisper-large: https://huggingface.co/vinai/PhoWhisper-large/raw/main/generation_config.json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giúp tránh một hiểu nhầm phổ biến: Whisper/PhoWhisper không tự mình là toàn bộ hệ thống call center. Nó là lõi speech-to-text. Trước mô hình có bước nhận file, chuẩn hóa sample rate, chuyển mono, cắt đoạn. Sau mô hình có lưu transcript, gắn metadata cuộc gọi, tìm từ khóa, kiểm tra chất lượng tư vấn, hoặc phân tích nội dung.
Trong lõi ASR, luồng chính là: audio thành log-Mel, log-Mel vào encoder, decoder sinh token, token ghép lại thành transcript. Những thứ như tách người nói, streaming hay dashboard thường là thành phần ngoài.
Chuyển ý: trước khi vào log-Mel, ta cần hiểu đầu vào âm thanh là gì.
Nguồn liên quan:
- OpenAI Whisper GitHub README/model card: https://github.com/openai/whisper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Waveform là dạng thô nhất của âm thanh số: một chuỗi số biểu diễn biên độ âm thanh theo thời gian. Nếu sample rate là 16 kHz, nghĩa là mỗi giây có 16.000 mẫu. Whisper thường xử lý audio ở 16 kHz, mono, rồi pad hoặc trim về cửa sổ 30 giây ở bước xử lý thấp hơn.
Với câu ví dụ “tôi muốn kiểm tra hợp đồng”, nếu giả định câu dài khoảng hai giây, thì nó có khoảng 32.000 mẫu. Đây chỉ là số minh họa, không phải audio thật. Mô hình không đọc trực tiếp từng mẫu này như đọc chữ. Nó cần đổi waveform thành biểu diễn tần số theo thời gian.
Chuyển ý: bước tiếp theo là chia âm thanh thành frame và biến đổi sang miền tần số.
Nguồn liên quan:
- OpenAI Whisper GitHub README/model card: https://github.com/openai/whisper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Thay vì đưa toàn bộ waveform thô vào Transformer, Whisper dùng đặc trưng âm thanh. Đầu tiên audio được chia thành các lát ngắn gọi là frame. Sau đó mỗi frame được phân tích xem có năng lượng ở những dải tần nào. Kết quả là spectrogram: trục ngang là thời gian, trục dọc là tần số, còn màu biểu diễn năng lượng.
Điểm cần nhớ là frame không phải từ. Một từ có thể kéo dài qua nhiều frame; một frame cũng không tự nói lên từ gì. Nó chỉ là bằng chứng âm học.
Chuyển ý: spectrogram thường vẫn còn quá “vật lý”, nên Whisper dùng log-Mel spectrogram gần hơn với cách tai người cảm nhận âm thanh.
Nguồn liên quan:
- OpenAI Whisper GitHub README/model card: https://github.com/openai/whisper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Log-Mel spectrogram là đầu vào then chốt. Ta có thể hình dung nó như một ảnh của âm thanh: mỗi cột là một thời điểm, mỗi hàng là một dải tần theo thang Mel, giá trị là năng lượng đã lấy log.
Ở Whisper gốc, tài liệu và mã nguồn mô tả bước tạo log-Mel rồi đưa vào model. Một số model Whisper mới sử dụng số kênh Mel khác nhau theo config; vì vậy trong slide tôi ghi rõ “tùy model/config”. Với PhoWhisper-large, về cơ chế vẫn là Whisper-style speech seq2seq.
Chuyển ý: bây giờ ta đưa ma trận này vào kiến trúc tổng thể của Whisper.
Nguồn liên quan:
- OpenAI Whisper GitHub README/model card: https://github.com/openai/whisper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lõi. Whisper là mô hình Transformer sequence-to-sequence. Sequence đầu vào là chuỗi frame âm thanh sau log-Mel. Sequence đầu ra là chuỗi token văn bản.
Encoder nhận log-Mel và tạo ra biểu diễn âm thanh ẩn. Biểu diễn này không phải chữ, mà là vector chứa thông tin âm vị, nhịp, ngữ cảnh và nội dung âm thanh. Decoder nhận các token đã có, ví dụ token bắt đầu, token ngôn ngữ, token task, rồi sinh token tiếp theo. Khi sinh, decoder dùng cross-attention để hỏi encoder: “ở âm thanh này, phần nào liên quan đến token tiếp theo?”.
Chuyển ý: ta đi sâu vào phần đầu tiên của encoder: convolution và thay đổi chiều thời gian.
Nguồn liên quan:
- Radford et al., 2022/ICML 2023, Robust Speech Recognition via Large-Scale Weak Supervision: https://arxiv.org/abs/2212.04356
- OpenAI Whisper GitHub README/model card: https://github.com/openai/whisper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vào Transformer encoder, Whisper có các lớp convolution một chiều. Đây là bước thường bị bỏ qua khi giải thích. Convolution giúp chiếu đặc trưng Mel sang không gian vector của model và giảm số bước thời gian.
Hãy hình dung log-Mel là một ma trận: hàng là kênh Mel, cột là frame thời gian. Sau các lớp convolution, ta có chuỗi vector. Nếu có stride 2, số bước thời gian giảm khoảng một nửa. Mục tiêu là làm cho Transformer xử lý hiệu quả hơn, vì attention có chi phí tăng theo số bước thời gian.
Chuyển ý: sau convolution, chuỗi vector đi vào nhiều block Transformer encoder.
Nguồn liên quan:
- Radford et al., 2022/ICML 2023, Robust Speech Recognition via Large-Scale Weak Supervision: https://arxiv.org/abs/2212.04356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 projection bằng convolution, dữ liệu đi vào nhiều block Transformer encoder. Mỗi block thường gồm self-attention, mạng feed-forward, residual connection và normalization.
Self-attention là điểm then chốt: một frame không chỉ nhìn chính nó mà còn nhìn các frame xung quanh và cả xa hơn. Trong câu “tôi muốn kiểm tra hợp đồng”, âm thanh của “hợp” và “đồng” cần được hiểu trong ngữ cảnh, vì âm riêng lẻ có thể dễ nhầm khi có nhiễu hoặc nói nhanh. Encoder giúp mỗi vị trí có thông tin ngữ cảnh rộng hơn.
Chuyển ý: để hiểu encoder, ta cần giải thích attention bằng hình dễ hiểu.
Nguồn liên quan:
- Radford et al., 2022/ICML 2023, Robust Speech Recognition via Large-Scale Weak Supervision: https://arxiv.org/abs/2212.04356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Attention có thể hiểu là cơ chế chọn phần liên quan. Với mỗi vị trí, mô hình tạo Query. Các vị trí khác có Key và Value. Query so với Key để ra trọng số chú ý; sau đó trọng số này dùng để trộn Value.
Trong encoder, attention là self-attention: frame âm thanh nhìn các frame âm thanh khác. Trong decoder, có hai loại. Masked self-attention giúp token đang sinh nhìn lại các token đã sinh, nhưng không nhìn tương lai. Cross-attention giúp decoder nhìn sang biểu diễn audio từ encoder.
Chuyển ý: bây giờ ta đi vào decoder, nơi mô hình thật sự sinh chữ.
Nguồn liên quan:
- Radford et al., 2022/ICML 2023, Robust Speech Recognition via Large-Scale Weak Supervision: https://arxiv.org/abs/2212.04356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Decoder của Whisper được điều khiển bằng special tokens. Chúng giống như chỉ dẫn ngắn đặt trước câu: bắt đầu transcript, ngôn ngữ gì, tác vụ gì, có timestamp hay không.
Với PhoWhisper-large, generation_config thể hiện mô hình là multilingual và có token &lt;|vi|&gt; cho tiếng Việt. Task transcribe có ID 50359. Điều này quan trọng trong call center, vì ta cần transcript tiếng Việt, không phải dịch sang tiếng Anh.
Chuyển ý: sau khi có token điều khiển, decoder vừa nhìn token trước vừa nhìn audio encoded để sinh token mới.
Nguồn liên quan:
- Hugging Face generation_config.json for vinai/PhoWhisper-large: https://huggingface.co/vinai/PhoWhisper-large/raw/main/generation_config.json
- OpenAI Whisper GitHub README/model card: https://github.com/openai/whisper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decoder sinh token tiếp theo, nó có hai nguồn thông tin. Nguồn thứ nhất là lịch sử token đã sinh, ví dụ đã có “tôi muốn”. Nguồn thứ hai là audio encoded từ encoder. Cross-attention là cây cầu giữa text và audio: token đang sinh hỏi encoder xem phần âm thanh nào liên quan.
Sau các lớp decoder, mô hình tạo logits, tức là điểm số cho từng token trong vocab. Softmax biến logits thành xác suất. Tùy chiến lược decoding, mô hình chọn token có xác suất cao nhất hoặc dùng beam search. Trong slide, “kiểm” chỉ là minh họa, không phải kết quả chạy thật từ checkpoint.
Chuyển ý: giờ ta gom toàn bộ luồng của câu ví dụ theo tensor và đơn vị dữ liệu.
Nguồn liên quan:
- Radford et al., 2022/ICML 2023, Robust Speech Recognition via Large-Scale Weak Supervision: https://arxiv.org/abs/2212.04356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nối toàn bộ luồng dữ liệu. Waveform là mẫu âm thanh. Sau đó log-Mel là frame đặc trưng. Encoder biến frame thành vector theo thời gian. Decoder làm việc với token ID. Logits là điểm số cho từng token trong vocab. Cuối cùng tokenizer giải mã token thành văn bản.
Điểm quan trọng: từ “hợp đồng” không tồn tại ngay ở đầu vào. Nó xuất hiện ở cuối quá trình decoding. Trước đó mô hình chỉ có mẫu âm thanh, năng lượng tần số, vector ẩn và xác suất token.
Chuyển ý: sau ví dụ tổng thể, ta nhìn cụ thể quá trình decoding từng bước.
Nguồn liên quan:
- OpenAI Whisper GitHub README/model card: https://github.com/openai/whisper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Autoregressive nghĩa là sinh theo chuỗi. Ở mỗi bước, decoder nhận các token đã sinh và biểu diễn audio từ encoder, sau đó tạo logits cho toàn bộ vocab. Logits giả lập ở đây chỉ để minh họa, không phải kết quả chạy checkpoint.
Nếu dùng greedy decoding, mô hình chọn token có xác suất cao nhất ở mỗi bước. Nếu dùng beam search, mô hình giữ nhiều đường ứng viên và chọn chuỗi cuối tốt nhất theo điểm tổng. Các tham số decoding có thể ảnh hưởng kết quả, nhất là với audio nhiễu, đoạn im lặng hoặc tên riêng trong bảo hiểm.
Chuyển ý: bây giờ phân biệt training, fine-tuning và inference, vì nhiều thành phần chỉ dùng khi huấn luyện.
Nguồn liên quan:
- OpenAI Whisper GitHub README/model card: https://github.com/openai/whisper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thuật ngữ này cần tách rõ. Pretraining là huấn luyện nền rất lớn của Whisper, giúp model có khả năng nhận dạng đa ngôn ngữ và đa nhiệm. Fine-tuning là lấy mô hình nền và điều chỉnh bằng dữ liệu cụ thể hơn, ở đây PhoWhisper được fine-tune cho tiếng Việt. Inference là lúc ta đưa cuộc gọi mới vào mô hình để lấy transcript.
Trong inference không có cập nhật trọng số, không có loss huấn luyện, không dùng nhãn đúng. Nó chỉ chạy tiền xử lý, encoder, decoder và giải mã token.
Chuyển ý: vậy PhoWhisper đã thay đổi gì so với Whisper gốc?
Nguồn liên quan:
- Radford et al., 2022/ICML 2023, Robust Speech Recognition via Large-Scale Weak Supervision: https://arxiv.org/abs/2212.04356
- Le, Nguyen &amp; Nguyen, 2024, PhoWhisper: Automatic Speech Recognition for Vietnamese: https://arxiv.org/abs/2406.02555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PhoWhisper được công bố cho bài toán ASR tiếng Việt. Paper và model card mô tả PhoWhisper là kết quả fine-tune Whisper đa ngôn ngữ trên 844 giờ dữ liệu tiếng Việt đa giọng. Vì vậy điểm mạnh kỳ vọng là khả năng thích nghi tiếng Việt tốt hơn Whisper gốc, đặc biệt với giọng vùng miền và từ tiếng Việt.
Tuy nhiên trong doanh nghiệp, không nên kết luận chỉ dựa vào tên model hoặc số tham số. Call center có nhiễu điện thoại, nói chen, tên khách hàng, số hợp đồng và thuật ngữ bảo hiểm. Cần benchmark trên tập đại diện.
Chuyển ý: sau khi hiểu fine-tuning, ta tách rõ thành phần nào chạy khi inference và thành phần nào chỉ dùng khi training.
Nguồn liên quan:
- Le, Nguyen &amp; Nguyen, 2024, PhoWhisper: Automatic Speech Recognition for Vietnamese: https://arxiv.org/abs/2406.02555
- Hugging Face model card vinai/PhoWhisper-large: https://huggingface.co/vinai/PhoWhisper-large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giúp tách phần chạy thật khỏi phần huấn luyện. Khi nhận dạng một cuộc gọi mới, hệ thống chỉ cần chuẩn hóa audio, tạo log-Mel, chạy encoder, chạy decoder, giải mã token và trả transcript.
Các bước như loss, backpropagation, optimizer hoặc teacher forcing chỉ xuất hiện khi training hoặc fine-tuning. Nếu công ty muốn model học thêm từ dữ liệu nội bộ, đó là một dự án fine-tuning riêng, cần nhãn dữ liệu, quyền sử dụng dữ liệu, kiểm soát bảo mật và đánh giá trước/sau.
Chuyển ý: ngoài transcript, nhiều người hỏi timestamp, diarization, dấu câu và streaming. Ta cần phân biệt khả năng model và pipeline.
Nguồn liên quan:
- OpenAI Whisper GitHub README/model card: https://github.com/openai/whisper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Timestamp, diarization, dấu câu và streaming thường bị gom chung vào “model có làm được không”. Cần tách ra. Whisper có cơ chế timestamp token, nhưng việc trả timestamp thế nào phụ thuộc thiết lập decoding và pipeline. Diarization, tức tách người nói, thường không phải chức năng của Whisper/PhoWhisper mà cần model ngoài. Dấu câu có thể xuất hiện trong transcript nhưng cần kiểm tra trên audio thật. Streaming thời gian thực thường là thiết kế hệ thống: chia chunk, xử lý trượt, ghép kết quả.
Với call center, câu hỏi nghiệp vụ cần rõ: chỉ cần transcript cuối cuộc gọi, hay cần theo thời gian gần realtime, hay cần tách tư vấn viên và khách hàng?
Chuyển ý: ta ghép các thành phần lại thành kiến trúc đề xuất cho Dai-ichi Life VN call center.
Nguồn liên quan:
- OpenAI Whisper GitHub README/model card: https://github.com/openai/whisper
- Hugging Face generation_config.json for vinai/PhoWhisper-large: https://huggingface.co/vinai/PhoWhisper-large/raw/main/generation_config.json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Kiến trúc đề xuất không đặt tất cả trách nhiệm lên PhoWhisper. Audio đi vào hệ thống cần được chuẩn hóa, có thể dùng VAD để cắt im lặng hoặc chia đoạn. Sau đó lõi ASR là PhoWhisper hoặc Whisper checkpoint được chọn. Kết quả transcript nên qua hậu xử lý, ví dụ chuẩn hóa số, chuẩn hóa tên sản phẩm, loại bỏ lặp vô nghĩa nếu có.
Sau đó transcript và metadata được lưu trong môi trường bảo mật, phục vụ tìm kiếm, kiểm tra chất lượng tư vấn, phát hiện từ khóa tuân thủ hoặc tạo báo cáo. Thiết kế module giúp sau này thay PhoWhisper bằng model khác mà không phải viết lại toàn hệ thống.
Chuyển ý: để triển khai an toàn, cần hiểu giới hạn của model.
Nguồn liên quan:
- Hugging Face model card vinai/PhoWhisper-large: https://huggingface.co/vinai/PhoWhisper-large
- OpenAI Whisper GitHub README/model card: https://github.com/openai/whisper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thực tế nhất khi đưa vào doanh nghiệp. Model có thể mạnh trên benchmark công khai nhưng vẫn lỗi trên audio call center. Audio điện thoại có thể chỉ 8 kHz, có nhiễu, khách hàng nói nhỏ, tư vấn viên nói chen, hoặc có đoạn im lặng. Tên riêng, mã hợp đồng và số tiền là các điểm dễ sai nhưng lại quan trọng.
Vì vậy không chỉ đo WER tổng thể. Cần đo thêm CER cho tiếng Việt, lỗi số, lỗi mã hợp đồng, lỗi tên riêng, hallucination rate, tốc độ real-time factor và VRAM.
Chuyển ý: trước khi kết thúc, ta có một slide câu hỏi để kiểm tra mức hiểu.
Nguồn liên quan:
- Radford et al., 2022/ICML 2023, Robust Speech Recognition via Large-Scale Weak Supervision: https://arxiv.org/abs/2212.04356
- Le, Nguyen &amp; Nguyen, 2024, PhoWhisper: Automatic Speech Recognition for Vietnamese: https://arxiv.org/abs/2406.02555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Dừng tại đây khoảng một phút để người nghe trả lời.
Đáp án câu 1: Encoder không nhận waveform thô trực tiếp. Audio được chuẩn hóa rồi chuyển thành log-Mel spectrogram. Sau đó qua convolution và Transformer encoder.
Đáp án câu 2: Diarization không phải chức năng mặc định của PhoWhisper checkpoint. Nó thường cần một module hoặc model tách người nói bên ngoài.
Đáp án câu 3: Pretraining là huấn luyện nền trên dữ liệu lớn, fine-tuning là điều chỉnh trọng số trên dữ liệu mục tiêu như tiếng Việt, inference là chạy mô hình đã học trên audio mới để sinh transcript, không cập nhật trọng số.
Chuyển ý: ta kết thúc bằng khuyến nghị triển khai và nguồn tham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lại, Whisper và PhoWhisper nên được hiểu như một pipeline biến đổi dữ liệu. Audio thô không biến thẳng thành chữ. Nó đi qua log-Mel spectrogram, convolution, encoder, decoder, logits và token. PhoWhisper không phải ma thuật riêng cho mọi tình huống tiếng Việt; nó là Whisper được fine-tune cho tiếng Việt và cần benchmark trên dữ liệu call center thật hoặc dữ liệu mô phỏng hợp lệ.
Các nguồn chính của bài gồm paper Whisper, repository OpenAI Whisper, paper PhoWhisper, model card vinai/PhoWhisper-large và generation config của checkpoint.
Kết thúc bài: nếu triển khai trong Dai-ichi Life VN call center, quyết định đúng nhất là xây một bộ benchmark nhỏ nhưng đại diện trước khi chọn checkpoint và cấu hình pipeline.
Nguồn liên quan:
- Radford et al., 2022/ICML 2023, Robust Speech Recognition via Large-Scale Weak Supervision: https://arxiv.org/abs/2212.04356
- OpenAI Whisper GitHub README/model card: https://github.com/openai/whisper
- Le, Nguyen &amp; Nguyen, 2024, PhoWhisper: Automatic Speech Recognition for Vietnamese: https://arxiv.org/abs/2406.02555
- Hugging Face model card vinai/PhoWhisper-large: https://huggingface.co/vinai/PhoWhisper-large
- Hugging Face generation_config.json for vinai/PhoWhisper-large: https://huggingface.co/vinai/PhoWhisper-large/raw/main/generation_config.json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8F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8FB"/>
          </a:solidFill>
          <a:ln w="12700">
            <a:solidFill>
              <a:srgbClr val="F7F8FB">
                <a:alpha val="0"/>
              </a:srgbClr>
            </a:solidFill>
            <a:prstDash val="solid"/>
          </a:ln>
        </p:spPr>
      </p:sp>
      <p:sp>
        <p:nvSpPr>
          <p:cNvPr id="3" name="Shape 1"/>
          <p:cNvSpPr/>
          <p:nvPr/>
        </p:nvSpPr>
        <p:spPr>
          <a:xfrm>
            <a:off x="0" y="0"/>
            <a:ext cx="109728" cy="6858000"/>
          </a:xfrm>
          <a:prstGeom prst="rect">
            <a:avLst/>
          </a:prstGeom>
          <a:solidFill>
            <a:srgbClr val="175D7C"/>
          </a:solidFill>
          <a:ln w="12700">
            <a:solidFill>
              <a:srgbClr val="175D7C"/>
            </a:solidFill>
            <a:prstDash val="solid"/>
          </a:ln>
        </p:spPr>
      </p:sp>
      <p:sp>
        <p:nvSpPr>
          <p:cNvPr id="4" name="Text 2"/>
          <p:cNvSpPr/>
          <p:nvPr/>
        </p:nvSpPr>
        <p:spPr>
          <a:xfrm>
            <a:off x="329184" y="6519672"/>
            <a:ext cx="6400800" cy="164592"/>
          </a:xfrm>
          <a:prstGeom prst="rect">
            <a:avLst/>
          </a:prstGeom>
          <a:noFill/>
          <a:ln/>
        </p:spPr>
        <p:txBody>
          <a:bodyPr wrap="square" lIns="0" tIns="0" rIns="0" bIns="0" rtlCol="0" anchor="ctr"/>
          <a:lstStyle/>
          <a:p>
            <a:pPr indent="0" marL="0">
              <a:buNone/>
            </a:pPr>
            <a:r>
              <a:rPr lang="en-US" sz="650" dirty="0">
                <a:solidFill>
                  <a:srgbClr val="7C8794"/>
                </a:solidFill>
                <a:latin typeface="Aptos" pitchFamily="34" charset="0"/>
                <a:ea typeface="Aptos" pitchFamily="34" charset="-122"/>
                <a:cs typeface="Aptos" pitchFamily="34" charset="-120"/>
              </a:rPr>
              <a:t>Whisper &amp; PhoWhisper | Speech-to-Text cho call center</a:t>
            </a:r>
            <a:endParaRPr lang="en-US" sz="650" dirty="0"/>
          </a:p>
        </p:txBody>
      </p:sp>
      <p:sp>
        <p:nvSpPr>
          <p:cNvPr id="5" name="Text 3"/>
          <p:cNvSpPr/>
          <p:nvPr/>
        </p:nvSpPr>
        <p:spPr>
          <a:xfrm>
            <a:off x="10378440" y="6519672"/>
            <a:ext cx="1371600" cy="164592"/>
          </a:xfrm>
          <a:prstGeom prst="rect">
            <a:avLst/>
          </a:prstGeom>
          <a:noFill/>
          <a:ln/>
        </p:spPr>
        <p:txBody>
          <a:bodyPr wrap="square" lIns="0" tIns="0" rIns="0" bIns="0" rtlCol="0" anchor="ctr"/>
          <a:lstStyle/>
          <a:p>
            <a:pPr algn="r" indent="0" marL="0">
              <a:buNone/>
            </a:pPr>
            <a:r>
              <a:rPr lang="en-US" sz="650" dirty="0">
                <a:solidFill>
                  <a:srgbClr val="7C8794"/>
                </a:solidFill>
                <a:latin typeface="Aptos" pitchFamily="34" charset="0"/>
                <a:ea typeface="Aptos" pitchFamily="34" charset="-122"/>
                <a:cs typeface="Aptos" pitchFamily="34" charset="-120"/>
              </a:rPr>
              <a:t>Phát Đàm</a:t>
            </a:r>
            <a:endParaRPr lang="en-US" sz="650" dirty="0"/>
          </a:p>
        </p:txBody>
      </p:sp>
      <p:sp>
        <p:nvSpPr>
          <p:cNvPr id="25" name="Slide Number Placeholder 0"/>
          <p:cNvSpPr>
            <a:spLocks noGrp="1"/>
          </p:cNvSpPr>
          <p:nvPr>
            <p:ph type="sldNum" sz="quarter" idx="4294967295"/>
          </p:nvPr>
        </p:nvSpPr>
        <p:spPr>
          <a:xfrm>
            <a:off x="11841480" y="6519672"/>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7C8794"/>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841480" y="6519672"/>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7C879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2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2A"/>
          </a:solidFill>
          <a:ln w="12700">
            <a:solidFill>
              <a:srgbClr val="0B1F2A"/>
            </a:solidFill>
            <a:prstDash val="solid"/>
          </a:ln>
        </p:spPr>
      </p:sp>
      <p:sp>
        <p:nvSpPr>
          <p:cNvPr id="3" name="Shape 1"/>
          <p:cNvSpPr/>
          <p:nvPr/>
        </p:nvSpPr>
        <p:spPr>
          <a:xfrm>
            <a:off x="8046720" y="45720"/>
            <a:ext cx="3657600" cy="3657600"/>
          </a:xfrm>
          <a:prstGeom prst="arc">
            <a:avLst/>
          </a:prstGeom>
          <a:noFill/>
          <a:ln w="25400">
            <a:solidFill>
              <a:srgbClr val="2BA9C6">
                <a:alpha val="70000"/>
              </a:srgbClr>
            </a:solidFill>
            <a:prstDash val="solid"/>
          </a:ln>
        </p:spPr>
      </p:sp>
      <p:sp>
        <p:nvSpPr>
          <p:cNvPr id="4" name="Shape 2"/>
          <p:cNvSpPr/>
          <p:nvPr/>
        </p:nvSpPr>
        <p:spPr>
          <a:xfrm>
            <a:off x="8412480" y="182880"/>
            <a:ext cx="3108960" cy="3108960"/>
          </a:xfrm>
          <a:prstGeom prst="arc">
            <a:avLst/>
          </a:prstGeom>
          <a:noFill/>
          <a:ln w="25400">
            <a:solidFill>
              <a:srgbClr val="F0B429">
                <a:alpha val="75000"/>
              </a:srgbClr>
            </a:solidFill>
            <a:prstDash val="solid"/>
          </a:ln>
        </p:spPr>
      </p:sp>
      <p:sp>
        <p:nvSpPr>
          <p:cNvPr id="5" name="Text 3"/>
          <p:cNvSpPr/>
          <p:nvPr/>
        </p:nvSpPr>
        <p:spPr>
          <a:xfrm>
            <a:off x="694944" y="1143000"/>
            <a:ext cx="7040880" cy="548640"/>
          </a:xfrm>
          <a:prstGeom prst="rect">
            <a:avLst/>
          </a:prstGeom>
          <a:noFill/>
          <a:ln/>
        </p:spPr>
        <p:txBody>
          <a:bodyPr wrap="square" lIns="762" tIns="762" rIns="762" bIns="762" rtlCol="0" anchor="ctr">
            <a:normAutofit/>
          </a:bodyPr>
          <a:lstStyle/>
          <a:p>
            <a:pPr algn="l" indent="0" marL="0">
              <a:buNone/>
            </a:pPr>
            <a:r>
              <a:rPr lang="en-US" sz="3400" b="1" dirty="0">
                <a:solidFill>
                  <a:srgbClr val="FFFFFF"/>
                </a:solidFill>
                <a:latin typeface="Aptos" pitchFamily="34" charset="0"/>
                <a:ea typeface="Aptos" pitchFamily="34" charset="-122"/>
                <a:cs typeface="Aptos" pitchFamily="34" charset="-120"/>
              </a:rPr>
              <a:t>Whisper &amp; PhoWhisper</a:t>
            </a:r>
            <a:endParaRPr lang="en-US" sz="3400" dirty="0"/>
          </a:p>
        </p:txBody>
      </p:sp>
      <p:sp>
        <p:nvSpPr>
          <p:cNvPr id="6" name="Text 4"/>
          <p:cNvSpPr/>
          <p:nvPr/>
        </p:nvSpPr>
        <p:spPr>
          <a:xfrm>
            <a:off x="713232" y="1828800"/>
            <a:ext cx="7132320" cy="365760"/>
          </a:xfrm>
          <a:prstGeom prst="rect">
            <a:avLst/>
          </a:prstGeom>
          <a:noFill/>
          <a:ln/>
        </p:spPr>
        <p:txBody>
          <a:bodyPr wrap="square" lIns="762" tIns="762" rIns="762" bIns="762" rtlCol="0" anchor="ctr">
            <a:normAutofit/>
          </a:bodyPr>
          <a:lstStyle/>
          <a:p>
            <a:pPr algn="l" indent="0" marL="0">
              <a:buNone/>
            </a:pPr>
            <a:r>
              <a:rPr lang="en-US" sz="1800" dirty="0">
                <a:solidFill>
                  <a:srgbClr val="D4E7EE"/>
                </a:solidFill>
                <a:latin typeface="Aptos" pitchFamily="34" charset="0"/>
                <a:ea typeface="Aptos" pitchFamily="34" charset="-122"/>
                <a:cs typeface="Aptos" pitchFamily="34" charset="-120"/>
              </a:rPr>
              <a:t>Cấu trúc mô hình và cơ chế chuyển giọng nói thành văn bản</a:t>
            </a:r>
            <a:endParaRPr lang="en-US" sz="1800" dirty="0"/>
          </a:p>
        </p:txBody>
      </p:sp>
      <p:sp>
        <p:nvSpPr>
          <p:cNvPr id="7" name="Text 5"/>
          <p:cNvSpPr/>
          <p:nvPr/>
        </p:nvSpPr>
        <p:spPr>
          <a:xfrm>
            <a:off x="713232" y="2331720"/>
            <a:ext cx="5943600" cy="256032"/>
          </a:xfrm>
          <a:prstGeom prst="rect">
            <a:avLst/>
          </a:prstGeom>
          <a:noFill/>
          <a:ln/>
        </p:spPr>
        <p:txBody>
          <a:bodyPr wrap="square" lIns="762" tIns="762" rIns="762" bIns="762" rtlCol="0" anchor="ctr">
            <a:normAutofit/>
          </a:bodyPr>
          <a:lstStyle/>
          <a:p>
            <a:pPr algn="l" indent="0" marL="0">
              <a:buNone/>
            </a:pPr>
            <a:r>
              <a:rPr lang="en-US" sz="1300" dirty="0">
                <a:solidFill>
                  <a:srgbClr val="A9C7D0"/>
                </a:solidFill>
                <a:latin typeface="Aptos" pitchFamily="34" charset="0"/>
                <a:ea typeface="Aptos" pitchFamily="34" charset="-122"/>
                <a:cs typeface="Aptos" pitchFamily="34" charset="-120"/>
              </a:rPr>
              <a:t>Bối cảnh: Dai-ichi Life Việt Nam Call Center</a:t>
            </a:r>
            <a:endParaRPr lang="en-US" sz="1300" dirty="0"/>
          </a:p>
        </p:txBody>
      </p:sp>
      <p:sp>
        <p:nvSpPr>
          <p:cNvPr id="8" name="Shape 6"/>
          <p:cNvSpPr/>
          <p:nvPr/>
        </p:nvSpPr>
        <p:spPr>
          <a:xfrm>
            <a:off x="777240" y="4434840"/>
            <a:ext cx="191589" cy="246427"/>
          </a:xfrm>
          <a:prstGeom prst="line">
            <a:avLst/>
          </a:prstGeom>
          <a:noFill/>
          <a:ln w="17780">
            <a:solidFill>
              <a:srgbClr val="28A6C7"/>
            </a:solidFill>
            <a:prstDash val="solid"/>
          </a:ln>
        </p:spPr>
      </p:sp>
      <p:sp>
        <p:nvSpPr>
          <p:cNvPr id="9" name="Shape 7"/>
          <p:cNvSpPr/>
          <p:nvPr/>
        </p:nvSpPr>
        <p:spPr>
          <a:xfrm>
            <a:off x="968829" y="4681267"/>
            <a:ext cx="191589" cy="-144904"/>
          </a:xfrm>
          <a:prstGeom prst="line">
            <a:avLst/>
          </a:prstGeom>
          <a:noFill/>
          <a:ln w="17780">
            <a:solidFill>
              <a:srgbClr val="28A6C7"/>
            </a:solidFill>
            <a:prstDash val="solid"/>
          </a:ln>
        </p:spPr>
      </p:sp>
      <p:sp>
        <p:nvSpPr>
          <p:cNvPr id="10" name="Shape 8"/>
          <p:cNvSpPr/>
          <p:nvPr/>
        </p:nvSpPr>
        <p:spPr>
          <a:xfrm>
            <a:off x="1160417" y="4536363"/>
            <a:ext cx="191589" cy="-89343"/>
          </a:xfrm>
          <a:prstGeom prst="line">
            <a:avLst/>
          </a:prstGeom>
          <a:noFill/>
          <a:ln w="17780">
            <a:solidFill>
              <a:srgbClr val="28A6C7"/>
            </a:solidFill>
            <a:prstDash val="solid"/>
          </a:ln>
        </p:spPr>
      </p:sp>
      <p:sp>
        <p:nvSpPr>
          <p:cNvPr id="11" name="Shape 9"/>
          <p:cNvSpPr/>
          <p:nvPr/>
        </p:nvSpPr>
        <p:spPr>
          <a:xfrm>
            <a:off x="1352006" y="4447020"/>
            <a:ext cx="191589" cy="209534"/>
          </a:xfrm>
          <a:prstGeom prst="line">
            <a:avLst/>
          </a:prstGeom>
          <a:noFill/>
          <a:ln w="17780">
            <a:solidFill>
              <a:srgbClr val="28A6C7"/>
            </a:solidFill>
            <a:prstDash val="solid"/>
          </a:ln>
        </p:spPr>
      </p:sp>
      <p:sp>
        <p:nvSpPr>
          <p:cNvPr id="12" name="Shape 10"/>
          <p:cNvSpPr/>
          <p:nvPr/>
        </p:nvSpPr>
        <p:spPr>
          <a:xfrm>
            <a:off x="1543594" y="4656554"/>
            <a:ext cx="191589" cy="-12597"/>
          </a:xfrm>
          <a:prstGeom prst="line">
            <a:avLst/>
          </a:prstGeom>
          <a:noFill/>
          <a:ln w="17780">
            <a:solidFill>
              <a:srgbClr val="28A6C7"/>
            </a:solidFill>
            <a:prstDash val="solid"/>
          </a:ln>
        </p:spPr>
      </p:sp>
      <p:sp>
        <p:nvSpPr>
          <p:cNvPr id="13" name="Shape 11"/>
          <p:cNvSpPr/>
          <p:nvPr/>
        </p:nvSpPr>
        <p:spPr>
          <a:xfrm>
            <a:off x="1735183" y="4643957"/>
            <a:ext cx="191589" cy="-330631"/>
          </a:xfrm>
          <a:prstGeom prst="line">
            <a:avLst/>
          </a:prstGeom>
          <a:noFill/>
          <a:ln w="17780">
            <a:solidFill>
              <a:srgbClr val="28A6C7"/>
            </a:solidFill>
            <a:prstDash val="solid"/>
          </a:ln>
        </p:spPr>
      </p:sp>
      <p:sp>
        <p:nvSpPr>
          <p:cNvPr id="14" name="Shape 12"/>
          <p:cNvSpPr/>
          <p:nvPr/>
        </p:nvSpPr>
        <p:spPr>
          <a:xfrm>
            <a:off x="1926771" y="4313326"/>
            <a:ext cx="191589" cy="-68825"/>
          </a:xfrm>
          <a:prstGeom prst="line">
            <a:avLst/>
          </a:prstGeom>
          <a:noFill/>
          <a:ln w="17780">
            <a:solidFill>
              <a:srgbClr val="28A6C7"/>
            </a:solidFill>
            <a:prstDash val="solid"/>
          </a:ln>
        </p:spPr>
      </p:sp>
      <p:sp>
        <p:nvSpPr>
          <p:cNvPr id="15" name="Shape 13"/>
          <p:cNvSpPr/>
          <p:nvPr/>
        </p:nvSpPr>
        <p:spPr>
          <a:xfrm>
            <a:off x="2118360" y="4244501"/>
            <a:ext cx="191589" cy="185183"/>
          </a:xfrm>
          <a:prstGeom prst="line">
            <a:avLst/>
          </a:prstGeom>
          <a:noFill/>
          <a:ln w="17780">
            <a:solidFill>
              <a:srgbClr val="28A6C7"/>
            </a:solidFill>
            <a:prstDash val="solid"/>
          </a:ln>
        </p:spPr>
      </p:sp>
      <p:sp>
        <p:nvSpPr>
          <p:cNvPr id="16" name="Shape 14"/>
          <p:cNvSpPr/>
          <p:nvPr/>
        </p:nvSpPr>
        <p:spPr>
          <a:xfrm>
            <a:off x="2309949" y="4429685"/>
            <a:ext cx="191589" cy="-93863"/>
          </a:xfrm>
          <a:prstGeom prst="line">
            <a:avLst/>
          </a:prstGeom>
          <a:noFill/>
          <a:ln w="17780">
            <a:solidFill>
              <a:srgbClr val="28A6C7"/>
            </a:solidFill>
            <a:prstDash val="solid"/>
          </a:ln>
        </p:spPr>
      </p:sp>
      <p:sp>
        <p:nvSpPr>
          <p:cNvPr id="17" name="Shape 15"/>
          <p:cNvSpPr/>
          <p:nvPr/>
        </p:nvSpPr>
        <p:spPr>
          <a:xfrm>
            <a:off x="2501537" y="4335821"/>
            <a:ext cx="191589" cy="-196204"/>
          </a:xfrm>
          <a:prstGeom prst="line">
            <a:avLst/>
          </a:prstGeom>
          <a:noFill/>
          <a:ln w="17780">
            <a:solidFill>
              <a:srgbClr val="28A6C7"/>
            </a:solidFill>
            <a:prstDash val="solid"/>
          </a:ln>
        </p:spPr>
      </p:sp>
      <p:sp>
        <p:nvSpPr>
          <p:cNvPr id="18" name="Shape 16"/>
          <p:cNvSpPr/>
          <p:nvPr/>
        </p:nvSpPr>
        <p:spPr>
          <a:xfrm>
            <a:off x="2693126" y="4139617"/>
            <a:ext cx="191589" cy="198635"/>
          </a:xfrm>
          <a:prstGeom prst="line">
            <a:avLst/>
          </a:prstGeom>
          <a:noFill/>
          <a:ln w="17780">
            <a:solidFill>
              <a:srgbClr val="28A6C7"/>
            </a:solidFill>
            <a:prstDash val="solid"/>
          </a:ln>
        </p:spPr>
      </p:sp>
      <p:sp>
        <p:nvSpPr>
          <p:cNvPr id="19" name="Shape 17"/>
          <p:cNvSpPr/>
          <p:nvPr/>
        </p:nvSpPr>
        <p:spPr>
          <a:xfrm>
            <a:off x="2884714" y="4338252"/>
            <a:ext cx="191589" cy="273776"/>
          </a:xfrm>
          <a:prstGeom prst="line">
            <a:avLst/>
          </a:prstGeom>
          <a:noFill/>
          <a:ln w="17780">
            <a:solidFill>
              <a:srgbClr val="28A6C7"/>
            </a:solidFill>
            <a:prstDash val="solid"/>
          </a:ln>
        </p:spPr>
      </p:sp>
      <p:sp>
        <p:nvSpPr>
          <p:cNvPr id="20" name="Shape 18"/>
          <p:cNvSpPr/>
          <p:nvPr/>
        </p:nvSpPr>
        <p:spPr>
          <a:xfrm>
            <a:off x="3076303" y="4612029"/>
            <a:ext cx="191589" cy="-101210"/>
          </a:xfrm>
          <a:prstGeom prst="line">
            <a:avLst/>
          </a:prstGeom>
          <a:noFill/>
          <a:ln w="17780">
            <a:solidFill>
              <a:srgbClr val="28A6C7"/>
            </a:solidFill>
            <a:prstDash val="solid"/>
          </a:ln>
        </p:spPr>
      </p:sp>
      <p:sp>
        <p:nvSpPr>
          <p:cNvPr id="21" name="Shape 19"/>
          <p:cNvSpPr/>
          <p:nvPr/>
        </p:nvSpPr>
        <p:spPr>
          <a:xfrm>
            <a:off x="3267891" y="4510818"/>
            <a:ext cx="191589" cy="-86595"/>
          </a:xfrm>
          <a:prstGeom prst="line">
            <a:avLst/>
          </a:prstGeom>
          <a:noFill/>
          <a:ln w="17780">
            <a:solidFill>
              <a:srgbClr val="28A6C7"/>
            </a:solidFill>
            <a:prstDash val="solid"/>
          </a:ln>
        </p:spPr>
      </p:sp>
      <p:sp>
        <p:nvSpPr>
          <p:cNvPr id="22" name="Shape 20"/>
          <p:cNvSpPr/>
          <p:nvPr/>
        </p:nvSpPr>
        <p:spPr>
          <a:xfrm>
            <a:off x="3459480" y="4424224"/>
            <a:ext cx="191589" cy="233548"/>
          </a:xfrm>
          <a:prstGeom prst="line">
            <a:avLst/>
          </a:prstGeom>
          <a:noFill/>
          <a:ln w="17780">
            <a:solidFill>
              <a:srgbClr val="28A6C7"/>
            </a:solidFill>
            <a:prstDash val="solid"/>
          </a:ln>
        </p:spPr>
      </p:sp>
      <p:sp>
        <p:nvSpPr>
          <p:cNvPr id="23" name="Shape 21"/>
          <p:cNvSpPr/>
          <p:nvPr/>
        </p:nvSpPr>
        <p:spPr>
          <a:xfrm>
            <a:off x="3651069" y="4657772"/>
            <a:ext cx="191589" cy="55169"/>
          </a:xfrm>
          <a:prstGeom prst="line">
            <a:avLst/>
          </a:prstGeom>
          <a:noFill/>
          <a:ln w="17780">
            <a:solidFill>
              <a:srgbClr val="28A6C7"/>
            </a:solidFill>
            <a:prstDash val="solid"/>
          </a:ln>
        </p:spPr>
      </p:sp>
      <p:sp>
        <p:nvSpPr>
          <p:cNvPr id="24" name="Shape 22"/>
          <p:cNvSpPr/>
          <p:nvPr/>
        </p:nvSpPr>
        <p:spPr>
          <a:xfrm>
            <a:off x="3842657" y="4712941"/>
            <a:ext cx="191589" cy="-308164"/>
          </a:xfrm>
          <a:prstGeom prst="line">
            <a:avLst/>
          </a:prstGeom>
          <a:noFill/>
          <a:ln w="17780">
            <a:solidFill>
              <a:srgbClr val="28A6C7"/>
            </a:solidFill>
            <a:prstDash val="solid"/>
          </a:ln>
        </p:spPr>
      </p:sp>
      <p:sp>
        <p:nvSpPr>
          <p:cNvPr id="25" name="Shape 23"/>
          <p:cNvSpPr/>
          <p:nvPr/>
        </p:nvSpPr>
        <p:spPr>
          <a:xfrm>
            <a:off x="4034246" y="4404777"/>
            <a:ext cx="191589" cy="-108742"/>
          </a:xfrm>
          <a:prstGeom prst="line">
            <a:avLst/>
          </a:prstGeom>
          <a:noFill/>
          <a:ln w="17780">
            <a:solidFill>
              <a:srgbClr val="28A6C7"/>
            </a:solidFill>
            <a:prstDash val="solid"/>
          </a:ln>
        </p:spPr>
      </p:sp>
      <p:sp>
        <p:nvSpPr>
          <p:cNvPr id="26" name="Shape 24"/>
          <p:cNvSpPr/>
          <p:nvPr/>
        </p:nvSpPr>
        <p:spPr>
          <a:xfrm>
            <a:off x="4225834" y="4296035"/>
            <a:ext cx="191589" cy="167107"/>
          </a:xfrm>
          <a:prstGeom prst="line">
            <a:avLst/>
          </a:prstGeom>
          <a:noFill/>
          <a:ln w="17780">
            <a:solidFill>
              <a:srgbClr val="28A6C7"/>
            </a:solidFill>
            <a:prstDash val="solid"/>
          </a:ln>
        </p:spPr>
      </p:sp>
      <p:sp>
        <p:nvSpPr>
          <p:cNvPr id="27" name="Shape 25"/>
          <p:cNvSpPr/>
          <p:nvPr/>
        </p:nvSpPr>
        <p:spPr>
          <a:xfrm>
            <a:off x="4417423" y="4463142"/>
            <a:ext cx="191589" cy="-93101"/>
          </a:xfrm>
          <a:prstGeom prst="line">
            <a:avLst/>
          </a:prstGeom>
          <a:noFill/>
          <a:ln w="17780">
            <a:solidFill>
              <a:srgbClr val="28A6C7"/>
            </a:solidFill>
            <a:prstDash val="solid"/>
          </a:ln>
        </p:spPr>
      </p:sp>
      <p:sp>
        <p:nvSpPr>
          <p:cNvPr id="28" name="Shape 26"/>
          <p:cNvSpPr/>
          <p:nvPr/>
        </p:nvSpPr>
        <p:spPr>
          <a:xfrm>
            <a:off x="4609011" y="4370041"/>
            <a:ext cx="191589" cy="-248032"/>
          </a:xfrm>
          <a:prstGeom prst="line">
            <a:avLst/>
          </a:prstGeom>
          <a:noFill/>
          <a:ln w="17780">
            <a:solidFill>
              <a:srgbClr val="28A6C7"/>
            </a:solidFill>
            <a:prstDash val="solid"/>
          </a:ln>
        </p:spPr>
      </p:sp>
      <p:sp>
        <p:nvSpPr>
          <p:cNvPr id="29" name="Shape 27"/>
          <p:cNvSpPr/>
          <p:nvPr/>
        </p:nvSpPr>
        <p:spPr>
          <a:xfrm>
            <a:off x="5120640" y="4434840"/>
            <a:ext cx="1005840" cy="0"/>
          </a:xfrm>
          <a:prstGeom prst="line">
            <a:avLst/>
          </a:prstGeom>
          <a:noFill/>
          <a:ln w="25400">
            <a:solidFill>
              <a:srgbClr val="F0B429"/>
            </a:solidFill>
            <a:prstDash val="solid"/>
            <a:headEnd type="none"/>
            <a:tailEnd type="triangle"/>
          </a:ln>
        </p:spPr>
      </p:sp>
      <p:sp>
        <p:nvSpPr>
          <p:cNvPr id="30" name="Shape 28"/>
          <p:cNvSpPr/>
          <p:nvPr/>
        </p:nvSpPr>
        <p:spPr>
          <a:xfrm>
            <a:off x="6400800" y="4096512"/>
            <a:ext cx="3474720" cy="685800"/>
          </a:xfrm>
          <a:prstGeom prst="roundRect">
            <a:avLst>
              <a:gd name="adj" fmla="val 16000"/>
            </a:avLst>
          </a:prstGeom>
          <a:solidFill>
            <a:srgbClr val="163645"/>
          </a:solidFill>
          <a:ln w="12700">
            <a:solidFill>
              <a:srgbClr val="28A6C7"/>
            </a:solidFill>
            <a:prstDash val="solid"/>
          </a:ln>
        </p:spPr>
      </p:sp>
      <p:sp>
        <p:nvSpPr>
          <p:cNvPr id="31" name="Text 29"/>
          <p:cNvSpPr/>
          <p:nvPr/>
        </p:nvSpPr>
        <p:spPr>
          <a:xfrm>
            <a:off x="6464808" y="4142232"/>
            <a:ext cx="3346704" cy="594360"/>
          </a:xfrm>
          <a:prstGeom prst="rect">
            <a:avLst/>
          </a:prstGeom>
          <a:noFill/>
          <a:ln/>
        </p:spPr>
        <p:txBody>
          <a:bodyPr wrap="square" lIns="762" tIns="762" rIns="762" bIns="762"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tôi muốn kiểm tra hợp đồng</a:t>
            </a:r>
            <a:endParaRPr lang="en-US" sz="1700" dirty="0"/>
          </a:p>
        </p:txBody>
      </p:sp>
      <p:sp>
        <p:nvSpPr>
          <p:cNvPr id="32" name="Text 30"/>
          <p:cNvSpPr/>
          <p:nvPr/>
        </p:nvSpPr>
        <p:spPr>
          <a:xfrm>
            <a:off x="713232" y="5806440"/>
            <a:ext cx="4206240" cy="256032"/>
          </a:xfrm>
          <a:prstGeom prst="rect">
            <a:avLst/>
          </a:prstGeom>
          <a:noFill/>
          <a:ln/>
        </p:spPr>
        <p:txBody>
          <a:bodyPr wrap="square" lIns="762" tIns="762" rIns="762" bIns="762" rtlCol="0" anchor="ctr">
            <a:normAutofit/>
          </a:bodyPr>
          <a:lstStyle/>
          <a:p>
            <a:pPr algn="l" indent="0" marL="0">
              <a:buNone/>
            </a:pPr>
            <a:r>
              <a:rPr lang="en-US" sz="1300" b="1" dirty="0">
                <a:solidFill>
                  <a:srgbClr val="FFFFFF"/>
                </a:solidFill>
                <a:latin typeface="Aptos" pitchFamily="34" charset="0"/>
                <a:ea typeface="Aptos" pitchFamily="34" charset="-122"/>
                <a:cs typeface="Aptos" pitchFamily="34" charset="-120"/>
              </a:rPr>
              <a:t>Người thực hiện: Phát Đàm</a:t>
            </a:r>
            <a:endParaRPr lang="en-US" sz="1300" dirty="0"/>
          </a:p>
        </p:txBody>
      </p:sp>
      <p:sp>
        <p:nvSpPr>
          <p:cNvPr id="33" name="Text 31"/>
          <p:cNvSpPr/>
          <p:nvPr/>
        </p:nvSpPr>
        <p:spPr>
          <a:xfrm>
            <a:off x="713232" y="6144768"/>
            <a:ext cx="4206240" cy="219456"/>
          </a:xfrm>
          <a:prstGeom prst="rect">
            <a:avLst/>
          </a:prstGeom>
          <a:noFill/>
          <a:ln/>
        </p:spPr>
        <p:txBody>
          <a:bodyPr wrap="square" lIns="762" tIns="762" rIns="762" bIns="762" rtlCol="0" anchor="ctr">
            <a:normAutofit/>
          </a:bodyPr>
          <a:lstStyle/>
          <a:p>
            <a:pPr algn="l" indent="0" marL="0">
              <a:buNone/>
            </a:pPr>
            <a:r>
              <a:rPr lang="en-US" sz="1100" dirty="0">
                <a:solidFill>
                  <a:srgbClr val="A9C7D0"/>
                </a:solidFill>
                <a:latin typeface="Aptos" pitchFamily="34" charset="0"/>
                <a:ea typeface="Aptos" pitchFamily="34" charset="-122"/>
                <a:cs typeface="Aptos" pitchFamily="34" charset="-120"/>
              </a:rPr>
              <a:t>Ngày biên soạn: 07/10/2026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420624" y="256032"/>
            <a:ext cx="9875520" cy="384048"/>
          </a:xfrm>
          <a:prstGeom prst="rect">
            <a:avLst/>
          </a:prstGeom>
          <a:noFill/>
          <a:ln/>
        </p:spPr>
        <p:txBody>
          <a:bodyPr wrap="square" lIns="0" tIns="0" rIns="0" bIns="0" rtlCol="0" anchor="ctr"/>
          <a:lstStyle/>
          <a:p>
            <a:pPr indent="0" marL="0">
              <a:buNone/>
            </a:pPr>
            <a:r>
              <a:rPr lang="en-US" sz="2500" b="1" dirty="0">
                <a:solidFill>
                  <a:srgbClr val="12212B"/>
                </a:solidFill>
                <a:latin typeface="Aptos Display" pitchFamily="34" charset="0"/>
                <a:ea typeface="Aptos Display" pitchFamily="34" charset="-122"/>
                <a:cs typeface="Aptos Display" pitchFamily="34" charset="-120"/>
              </a:rPr>
              <a:t>Mục tiêu: hiểu “dữ liệu đi qua mạng”</a:t>
            </a:r>
            <a:endParaRPr lang="en-US" sz="2500" dirty="0"/>
          </a:p>
        </p:txBody>
      </p:sp>
      <p:sp>
        <p:nvSpPr>
          <p:cNvPr id="3" name="Text 1"/>
          <p:cNvSpPr/>
          <p:nvPr/>
        </p:nvSpPr>
        <p:spPr>
          <a:xfrm>
            <a:off x="438912" y="694944"/>
            <a:ext cx="9875520" cy="256032"/>
          </a:xfrm>
          <a:prstGeom prst="rect">
            <a:avLst/>
          </a:prstGeom>
          <a:noFill/>
          <a:ln/>
        </p:spPr>
        <p:txBody>
          <a:bodyPr wrap="square" lIns="0" tIns="0" rIns="0" bIns="0" rtlCol="0" anchor="ctr"/>
          <a:lstStyle/>
          <a:p>
            <a:pPr indent="0" marL="0">
              <a:buNone/>
            </a:pPr>
            <a:r>
              <a:rPr lang="en-US" sz="1050" dirty="0">
                <a:solidFill>
                  <a:srgbClr val="516271"/>
                </a:solidFill>
              </a:rPr>
              <a:t>Slide ít chữ; phần giải thích chi tiết nằm trong Speaker Notes</a:t>
            </a:r>
            <a:endParaRPr lang="en-US" sz="1050" dirty="0"/>
          </a:p>
        </p:txBody>
      </p:sp>
      <p:sp>
        <p:nvSpPr>
          <p:cNvPr id="4" name="Shape 2"/>
          <p:cNvSpPr/>
          <p:nvPr/>
        </p:nvSpPr>
        <p:spPr>
          <a:xfrm>
            <a:off x="594360" y="1234440"/>
            <a:ext cx="438912" cy="438912"/>
          </a:xfrm>
          <a:prstGeom prst="roundRect">
            <a:avLst>
              <a:gd name="adj" fmla="val 25000"/>
            </a:avLst>
          </a:prstGeom>
          <a:solidFill>
            <a:srgbClr val="F0B429"/>
          </a:solidFill>
          <a:ln w="12700">
            <a:solidFill>
              <a:srgbClr val="F0B429"/>
            </a:solidFill>
            <a:prstDash val="solid"/>
          </a:ln>
        </p:spPr>
      </p:sp>
      <p:sp>
        <p:nvSpPr>
          <p:cNvPr id="5" name="Text 3"/>
          <p:cNvSpPr/>
          <p:nvPr/>
        </p:nvSpPr>
        <p:spPr>
          <a:xfrm>
            <a:off x="658368" y="1280160"/>
            <a:ext cx="310896" cy="347472"/>
          </a:xfrm>
          <a:prstGeom prst="rect">
            <a:avLst/>
          </a:prstGeom>
          <a:noFill/>
          <a:ln/>
        </p:spPr>
        <p:txBody>
          <a:bodyPr wrap="square" lIns="762" tIns="762" rIns="762" bIns="762" rtlCol="0" anchor="ctr">
            <a:normAutofit/>
          </a:bodyPr>
          <a:lstStyle/>
          <a:p>
            <a:pPr algn="ctr" indent="0" marL="0">
              <a:buNone/>
            </a:pPr>
            <a:r>
              <a:rPr lang="en-US" sz="1500" b="1" dirty="0">
                <a:solidFill>
                  <a:srgbClr val="12212B"/>
                </a:solidFill>
                <a:latin typeface="Aptos" pitchFamily="34" charset="0"/>
                <a:ea typeface="Aptos" pitchFamily="34" charset="-122"/>
                <a:cs typeface="Aptos" pitchFamily="34" charset="-120"/>
              </a:rPr>
              <a:t>1</a:t>
            </a:r>
            <a:endParaRPr lang="en-US" sz="1500" dirty="0"/>
          </a:p>
        </p:txBody>
      </p:sp>
      <p:sp>
        <p:nvSpPr>
          <p:cNvPr id="6" name="Text 4"/>
          <p:cNvSpPr/>
          <p:nvPr/>
        </p:nvSpPr>
        <p:spPr>
          <a:xfrm>
            <a:off x="1161288" y="1143000"/>
            <a:ext cx="1417320" cy="256032"/>
          </a:xfrm>
          <a:prstGeom prst="rect">
            <a:avLst/>
          </a:prstGeom>
          <a:noFill/>
          <a:ln/>
        </p:spPr>
        <p:txBody>
          <a:bodyPr wrap="square" lIns="762" tIns="762" rIns="762" bIns="762" rtlCol="0" anchor="ctr">
            <a:normAutofit/>
          </a:bodyPr>
          <a:lstStyle/>
          <a:p>
            <a:pPr algn="l" indent="0" marL="0">
              <a:buNone/>
            </a:pPr>
            <a:r>
              <a:rPr lang="en-US" sz="1300" b="1" dirty="0">
                <a:solidFill>
                  <a:srgbClr val="12212B"/>
                </a:solidFill>
                <a:latin typeface="Aptos" pitchFamily="34" charset="0"/>
                <a:ea typeface="Aptos" pitchFamily="34" charset="-122"/>
                <a:cs typeface="Aptos" pitchFamily="34" charset="-120"/>
              </a:rPr>
              <a:t>Âm thanh</a:t>
            </a:r>
            <a:endParaRPr lang="en-US" sz="1300" dirty="0"/>
          </a:p>
        </p:txBody>
      </p:sp>
      <p:sp>
        <p:nvSpPr>
          <p:cNvPr id="7" name="Text 5"/>
          <p:cNvSpPr/>
          <p:nvPr/>
        </p:nvSpPr>
        <p:spPr>
          <a:xfrm>
            <a:off x="1161288" y="1435608"/>
            <a:ext cx="1508760" cy="438912"/>
          </a:xfrm>
          <a:prstGeom prst="rect">
            <a:avLst/>
          </a:prstGeom>
          <a:noFill/>
          <a:ln/>
        </p:spPr>
        <p:txBody>
          <a:bodyPr wrap="square" lIns="762" tIns="762" rIns="762" bIns="762" rtlCol="0" anchor="ctr">
            <a:normAutofit/>
          </a:bodyPr>
          <a:lstStyle/>
          <a:p>
            <a:pPr algn="l" indent="0" marL="0">
              <a:buNone/>
            </a:pPr>
            <a:r>
              <a:rPr lang="en-US" sz="920" dirty="0">
                <a:solidFill>
                  <a:srgbClr val="516271"/>
                </a:solidFill>
                <a:latin typeface="Aptos" pitchFamily="34" charset="0"/>
                <a:ea typeface="Aptos" pitchFamily="34" charset="-122"/>
                <a:cs typeface="Aptos" pitchFamily="34" charset="-120"/>
              </a:rPr>
              <a:t>Waveform, sample rate, frame</a:t>
            </a:r>
            <a:endParaRPr lang="en-US" sz="920" dirty="0"/>
          </a:p>
        </p:txBody>
      </p:sp>
      <p:sp>
        <p:nvSpPr>
          <p:cNvPr id="8" name="Shape 6"/>
          <p:cNvSpPr/>
          <p:nvPr/>
        </p:nvSpPr>
        <p:spPr>
          <a:xfrm>
            <a:off x="2587752" y="1453896"/>
            <a:ext cx="493776" cy="0"/>
          </a:xfrm>
          <a:prstGeom prst="line">
            <a:avLst/>
          </a:prstGeom>
          <a:noFill/>
          <a:ln w="12700">
            <a:solidFill>
              <a:srgbClr val="AAB7C3"/>
            </a:solidFill>
            <a:prstDash val="solid"/>
            <a:headEnd type="none"/>
            <a:tailEnd type="triangle"/>
          </a:ln>
        </p:spPr>
      </p:sp>
      <p:sp>
        <p:nvSpPr>
          <p:cNvPr id="9" name="Shape 7"/>
          <p:cNvSpPr/>
          <p:nvPr/>
        </p:nvSpPr>
        <p:spPr>
          <a:xfrm>
            <a:off x="2834640" y="1234440"/>
            <a:ext cx="438912" cy="438912"/>
          </a:xfrm>
          <a:prstGeom prst="roundRect">
            <a:avLst>
              <a:gd name="adj" fmla="val 25000"/>
            </a:avLst>
          </a:prstGeom>
          <a:solidFill>
            <a:srgbClr val="175D7C"/>
          </a:solidFill>
          <a:ln w="12700">
            <a:solidFill>
              <a:srgbClr val="175D7C"/>
            </a:solidFill>
            <a:prstDash val="solid"/>
          </a:ln>
        </p:spPr>
      </p:sp>
      <p:sp>
        <p:nvSpPr>
          <p:cNvPr id="10" name="Text 8"/>
          <p:cNvSpPr/>
          <p:nvPr/>
        </p:nvSpPr>
        <p:spPr>
          <a:xfrm>
            <a:off x="2898648" y="1280160"/>
            <a:ext cx="310896" cy="347472"/>
          </a:xfrm>
          <a:prstGeom prst="rect">
            <a:avLst/>
          </a:prstGeom>
          <a:noFill/>
          <a:ln/>
        </p:spPr>
        <p:txBody>
          <a:bodyPr wrap="square" lIns="762" tIns="762" rIns="762" bIns="762"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1" name="Text 9"/>
          <p:cNvSpPr/>
          <p:nvPr/>
        </p:nvSpPr>
        <p:spPr>
          <a:xfrm>
            <a:off x="3401568" y="1143000"/>
            <a:ext cx="1417320" cy="256032"/>
          </a:xfrm>
          <a:prstGeom prst="rect">
            <a:avLst/>
          </a:prstGeom>
          <a:noFill/>
          <a:ln/>
        </p:spPr>
        <p:txBody>
          <a:bodyPr wrap="square" lIns="762" tIns="762" rIns="762" bIns="762" rtlCol="0" anchor="ctr">
            <a:normAutofit/>
          </a:bodyPr>
          <a:lstStyle/>
          <a:p>
            <a:pPr algn="l" indent="0" marL="0">
              <a:buNone/>
            </a:pPr>
            <a:r>
              <a:rPr lang="en-US" sz="1300" b="1" dirty="0">
                <a:solidFill>
                  <a:srgbClr val="12212B"/>
                </a:solidFill>
                <a:latin typeface="Aptos" pitchFamily="34" charset="0"/>
                <a:ea typeface="Aptos" pitchFamily="34" charset="-122"/>
                <a:cs typeface="Aptos" pitchFamily="34" charset="-120"/>
              </a:rPr>
              <a:t>Đặc trưng</a:t>
            </a:r>
            <a:endParaRPr lang="en-US" sz="1300" dirty="0"/>
          </a:p>
        </p:txBody>
      </p:sp>
      <p:sp>
        <p:nvSpPr>
          <p:cNvPr id="12" name="Text 10"/>
          <p:cNvSpPr/>
          <p:nvPr/>
        </p:nvSpPr>
        <p:spPr>
          <a:xfrm>
            <a:off x="3401568" y="1435608"/>
            <a:ext cx="1508760" cy="438912"/>
          </a:xfrm>
          <a:prstGeom prst="rect">
            <a:avLst/>
          </a:prstGeom>
          <a:noFill/>
          <a:ln/>
        </p:spPr>
        <p:txBody>
          <a:bodyPr wrap="square" lIns="762" tIns="762" rIns="762" bIns="762" rtlCol="0" anchor="ctr">
            <a:normAutofit/>
          </a:bodyPr>
          <a:lstStyle/>
          <a:p>
            <a:pPr algn="l" indent="0" marL="0">
              <a:buNone/>
            </a:pPr>
            <a:r>
              <a:rPr lang="en-US" sz="920" dirty="0">
                <a:solidFill>
                  <a:srgbClr val="516271"/>
                </a:solidFill>
                <a:latin typeface="Aptos" pitchFamily="34" charset="0"/>
                <a:ea typeface="Aptos" pitchFamily="34" charset="-122"/>
                <a:cs typeface="Aptos" pitchFamily="34" charset="-120"/>
              </a:rPr>
              <a:t>Log-Mel spectrogram</a:t>
            </a:r>
            <a:endParaRPr lang="en-US" sz="920" dirty="0"/>
          </a:p>
        </p:txBody>
      </p:sp>
      <p:sp>
        <p:nvSpPr>
          <p:cNvPr id="13" name="Shape 11"/>
          <p:cNvSpPr/>
          <p:nvPr/>
        </p:nvSpPr>
        <p:spPr>
          <a:xfrm>
            <a:off x="4828032" y="1453896"/>
            <a:ext cx="493776" cy="0"/>
          </a:xfrm>
          <a:prstGeom prst="line">
            <a:avLst/>
          </a:prstGeom>
          <a:noFill/>
          <a:ln w="12700">
            <a:solidFill>
              <a:srgbClr val="AAB7C3"/>
            </a:solidFill>
            <a:prstDash val="solid"/>
            <a:headEnd type="none"/>
            <a:tailEnd type="triangle"/>
          </a:ln>
        </p:spPr>
      </p:sp>
      <p:sp>
        <p:nvSpPr>
          <p:cNvPr id="14" name="Shape 12"/>
          <p:cNvSpPr/>
          <p:nvPr/>
        </p:nvSpPr>
        <p:spPr>
          <a:xfrm>
            <a:off x="5074920" y="1234440"/>
            <a:ext cx="438912" cy="438912"/>
          </a:xfrm>
          <a:prstGeom prst="roundRect">
            <a:avLst>
              <a:gd name="adj" fmla="val 25000"/>
            </a:avLst>
          </a:prstGeom>
          <a:solidFill>
            <a:srgbClr val="F0B429"/>
          </a:solidFill>
          <a:ln w="12700">
            <a:solidFill>
              <a:srgbClr val="F0B429"/>
            </a:solidFill>
            <a:prstDash val="solid"/>
          </a:ln>
        </p:spPr>
      </p:sp>
      <p:sp>
        <p:nvSpPr>
          <p:cNvPr id="15" name="Text 13"/>
          <p:cNvSpPr/>
          <p:nvPr/>
        </p:nvSpPr>
        <p:spPr>
          <a:xfrm>
            <a:off x="5138928" y="1280160"/>
            <a:ext cx="310896" cy="347472"/>
          </a:xfrm>
          <a:prstGeom prst="rect">
            <a:avLst/>
          </a:prstGeom>
          <a:noFill/>
          <a:ln/>
        </p:spPr>
        <p:txBody>
          <a:bodyPr wrap="square" lIns="762" tIns="762" rIns="762" bIns="762" rtlCol="0" anchor="ctr">
            <a:normAutofit/>
          </a:bodyPr>
          <a:lstStyle/>
          <a:p>
            <a:pPr algn="ctr" indent="0" marL="0">
              <a:buNone/>
            </a:pPr>
            <a:r>
              <a:rPr lang="en-US" sz="1500" b="1" dirty="0">
                <a:solidFill>
                  <a:srgbClr val="12212B"/>
                </a:solidFill>
                <a:latin typeface="Aptos" pitchFamily="34" charset="0"/>
                <a:ea typeface="Aptos" pitchFamily="34" charset="-122"/>
                <a:cs typeface="Aptos" pitchFamily="34" charset="-120"/>
              </a:rPr>
              <a:t>3</a:t>
            </a:r>
            <a:endParaRPr lang="en-US" sz="1500" dirty="0"/>
          </a:p>
        </p:txBody>
      </p:sp>
      <p:sp>
        <p:nvSpPr>
          <p:cNvPr id="16" name="Text 14"/>
          <p:cNvSpPr/>
          <p:nvPr/>
        </p:nvSpPr>
        <p:spPr>
          <a:xfrm>
            <a:off x="5641848" y="1143000"/>
            <a:ext cx="1417320" cy="256032"/>
          </a:xfrm>
          <a:prstGeom prst="rect">
            <a:avLst/>
          </a:prstGeom>
          <a:noFill/>
          <a:ln/>
        </p:spPr>
        <p:txBody>
          <a:bodyPr wrap="square" lIns="762" tIns="762" rIns="762" bIns="762" rtlCol="0" anchor="ctr">
            <a:normAutofit/>
          </a:bodyPr>
          <a:lstStyle/>
          <a:p>
            <a:pPr algn="l" indent="0" marL="0">
              <a:buNone/>
            </a:pPr>
            <a:r>
              <a:rPr lang="en-US" sz="1300" b="1" dirty="0">
                <a:solidFill>
                  <a:srgbClr val="12212B"/>
                </a:solidFill>
                <a:latin typeface="Aptos" pitchFamily="34" charset="0"/>
                <a:ea typeface="Aptos" pitchFamily="34" charset="-122"/>
                <a:cs typeface="Aptos" pitchFamily="34" charset="-120"/>
              </a:rPr>
              <a:t>Encoder</a:t>
            </a:r>
            <a:endParaRPr lang="en-US" sz="1300" dirty="0"/>
          </a:p>
        </p:txBody>
      </p:sp>
      <p:sp>
        <p:nvSpPr>
          <p:cNvPr id="17" name="Text 15"/>
          <p:cNvSpPr/>
          <p:nvPr/>
        </p:nvSpPr>
        <p:spPr>
          <a:xfrm>
            <a:off x="5641848" y="1435608"/>
            <a:ext cx="1508760" cy="438912"/>
          </a:xfrm>
          <a:prstGeom prst="rect">
            <a:avLst/>
          </a:prstGeom>
          <a:noFill/>
          <a:ln/>
        </p:spPr>
        <p:txBody>
          <a:bodyPr wrap="square" lIns="762" tIns="762" rIns="762" bIns="762" rtlCol="0" anchor="ctr">
            <a:normAutofit/>
          </a:bodyPr>
          <a:lstStyle/>
          <a:p>
            <a:pPr algn="l" indent="0" marL="0">
              <a:buNone/>
            </a:pPr>
            <a:r>
              <a:rPr lang="en-US" sz="920" dirty="0">
                <a:solidFill>
                  <a:srgbClr val="516271"/>
                </a:solidFill>
                <a:latin typeface="Aptos" pitchFamily="34" charset="0"/>
                <a:ea typeface="Aptos" pitchFamily="34" charset="-122"/>
                <a:cs typeface="Aptos" pitchFamily="34" charset="-120"/>
              </a:rPr>
              <a:t>Biến âm thanh thành biểu diễn ngữ cảnh</a:t>
            </a:r>
            <a:endParaRPr lang="en-US" sz="920" dirty="0"/>
          </a:p>
        </p:txBody>
      </p:sp>
      <p:sp>
        <p:nvSpPr>
          <p:cNvPr id="18" name="Shape 16"/>
          <p:cNvSpPr/>
          <p:nvPr/>
        </p:nvSpPr>
        <p:spPr>
          <a:xfrm>
            <a:off x="7068312" y="1453896"/>
            <a:ext cx="493776" cy="0"/>
          </a:xfrm>
          <a:prstGeom prst="line">
            <a:avLst/>
          </a:prstGeom>
          <a:noFill/>
          <a:ln w="12700">
            <a:solidFill>
              <a:srgbClr val="AAB7C3"/>
            </a:solidFill>
            <a:prstDash val="solid"/>
            <a:headEnd type="none"/>
            <a:tailEnd type="triangle"/>
          </a:ln>
        </p:spPr>
      </p:sp>
      <p:sp>
        <p:nvSpPr>
          <p:cNvPr id="19" name="Shape 17"/>
          <p:cNvSpPr/>
          <p:nvPr/>
        </p:nvSpPr>
        <p:spPr>
          <a:xfrm>
            <a:off x="7315200" y="1234440"/>
            <a:ext cx="438912" cy="438912"/>
          </a:xfrm>
          <a:prstGeom prst="roundRect">
            <a:avLst>
              <a:gd name="adj" fmla="val 25000"/>
            </a:avLst>
          </a:prstGeom>
          <a:solidFill>
            <a:srgbClr val="175D7C"/>
          </a:solidFill>
          <a:ln w="12700">
            <a:solidFill>
              <a:srgbClr val="175D7C"/>
            </a:solidFill>
            <a:prstDash val="solid"/>
          </a:ln>
        </p:spPr>
      </p:sp>
      <p:sp>
        <p:nvSpPr>
          <p:cNvPr id="20" name="Text 18"/>
          <p:cNvSpPr/>
          <p:nvPr/>
        </p:nvSpPr>
        <p:spPr>
          <a:xfrm>
            <a:off x="7379208" y="1280160"/>
            <a:ext cx="310896" cy="347472"/>
          </a:xfrm>
          <a:prstGeom prst="rect">
            <a:avLst/>
          </a:prstGeom>
          <a:noFill/>
          <a:ln/>
        </p:spPr>
        <p:txBody>
          <a:bodyPr wrap="square" lIns="762" tIns="762" rIns="762" bIns="762"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1" name="Text 19"/>
          <p:cNvSpPr/>
          <p:nvPr/>
        </p:nvSpPr>
        <p:spPr>
          <a:xfrm>
            <a:off x="7882128" y="1143000"/>
            <a:ext cx="1417320" cy="256032"/>
          </a:xfrm>
          <a:prstGeom prst="rect">
            <a:avLst/>
          </a:prstGeom>
          <a:noFill/>
          <a:ln/>
        </p:spPr>
        <p:txBody>
          <a:bodyPr wrap="square" lIns="762" tIns="762" rIns="762" bIns="762" rtlCol="0" anchor="ctr">
            <a:normAutofit/>
          </a:bodyPr>
          <a:lstStyle/>
          <a:p>
            <a:pPr algn="l" indent="0" marL="0">
              <a:buNone/>
            </a:pPr>
            <a:r>
              <a:rPr lang="en-US" sz="1300" b="1" dirty="0">
                <a:solidFill>
                  <a:srgbClr val="12212B"/>
                </a:solidFill>
                <a:latin typeface="Aptos" pitchFamily="34" charset="0"/>
                <a:ea typeface="Aptos" pitchFamily="34" charset="-122"/>
                <a:cs typeface="Aptos" pitchFamily="34" charset="-120"/>
              </a:rPr>
              <a:t>Decoder</a:t>
            </a:r>
            <a:endParaRPr lang="en-US" sz="1300" dirty="0"/>
          </a:p>
        </p:txBody>
      </p:sp>
      <p:sp>
        <p:nvSpPr>
          <p:cNvPr id="22" name="Text 20"/>
          <p:cNvSpPr/>
          <p:nvPr/>
        </p:nvSpPr>
        <p:spPr>
          <a:xfrm>
            <a:off x="7882128" y="1435608"/>
            <a:ext cx="1508760" cy="438912"/>
          </a:xfrm>
          <a:prstGeom prst="rect">
            <a:avLst/>
          </a:prstGeom>
          <a:noFill/>
          <a:ln/>
        </p:spPr>
        <p:txBody>
          <a:bodyPr wrap="square" lIns="762" tIns="762" rIns="762" bIns="762" rtlCol="0" anchor="ctr">
            <a:normAutofit/>
          </a:bodyPr>
          <a:lstStyle/>
          <a:p>
            <a:pPr algn="l" indent="0" marL="0">
              <a:buNone/>
            </a:pPr>
            <a:r>
              <a:rPr lang="en-US" sz="920" dirty="0">
                <a:solidFill>
                  <a:srgbClr val="516271"/>
                </a:solidFill>
                <a:latin typeface="Aptos" pitchFamily="34" charset="0"/>
                <a:ea typeface="Aptos" pitchFamily="34" charset="-122"/>
                <a:cs typeface="Aptos" pitchFamily="34" charset="-120"/>
              </a:rPr>
              <a:t>Sinh token văn bản từng bước</a:t>
            </a:r>
            <a:endParaRPr lang="en-US" sz="920" dirty="0"/>
          </a:p>
        </p:txBody>
      </p:sp>
      <p:sp>
        <p:nvSpPr>
          <p:cNvPr id="23" name="Shape 21"/>
          <p:cNvSpPr/>
          <p:nvPr/>
        </p:nvSpPr>
        <p:spPr>
          <a:xfrm>
            <a:off x="9308592" y="1453896"/>
            <a:ext cx="493776" cy="0"/>
          </a:xfrm>
          <a:prstGeom prst="line">
            <a:avLst/>
          </a:prstGeom>
          <a:noFill/>
          <a:ln w="12700">
            <a:solidFill>
              <a:srgbClr val="AAB7C3"/>
            </a:solidFill>
            <a:prstDash val="solid"/>
            <a:headEnd type="none"/>
            <a:tailEnd type="triangle"/>
          </a:ln>
        </p:spPr>
      </p:sp>
      <p:sp>
        <p:nvSpPr>
          <p:cNvPr id="24" name="Shape 22"/>
          <p:cNvSpPr/>
          <p:nvPr/>
        </p:nvSpPr>
        <p:spPr>
          <a:xfrm>
            <a:off x="9555480" y="1234440"/>
            <a:ext cx="438912" cy="438912"/>
          </a:xfrm>
          <a:prstGeom prst="roundRect">
            <a:avLst>
              <a:gd name="adj" fmla="val 25000"/>
            </a:avLst>
          </a:prstGeom>
          <a:solidFill>
            <a:srgbClr val="F0B429"/>
          </a:solidFill>
          <a:ln w="12700">
            <a:solidFill>
              <a:srgbClr val="F0B429"/>
            </a:solidFill>
            <a:prstDash val="solid"/>
          </a:ln>
        </p:spPr>
      </p:sp>
      <p:sp>
        <p:nvSpPr>
          <p:cNvPr id="25" name="Text 23"/>
          <p:cNvSpPr/>
          <p:nvPr/>
        </p:nvSpPr>
        <p:spPr>
          <a:xfrm>
            <a:off x="9619488" y="1280160"/>
            <a:ext cx="310896" cy="347472"/>
          </a:xfrm>
          <a:prstGeom prst="rect">
            <a:avLst/>
          </a:prstGeom>
          <a:noFill/>
          <a:ln/>
        </p:spPr>
        <p:txBody>
          <a:bodyPr wrap="square" lIns="762" tIns="762" rIns="762" bIns="762" rtlCol="0" anchor="ctr">
            <a:normAutofit/>
          </a:bodyPr>
          <a:lstStyle/>
          <a:p>
            <a:pPr algn="ctr" indent="0" marL="0">
              <a:buNone/>
            </a:pPr>
            <a:r>
              <a:rPr lang="en-US" sz="1500" b="1" dirty="0">
                <a:solidFill>
                  <a:srgbClr val="12212B"/>
                </a:solidFill>
                <a:latin typeface="Aptos" pitchFamily="34" charset="0"/>
                <a:ea typeface="Aptos" pitchFamily="34" charset="-122"/>
                <a:cs typeface="Aptos" pitchFamily="34" charset="-120"/>
              </a:rPr>
              <a:t>5</a:t>
            </a:r>
            <a:endParaRPr lang="en-US" sz="1500" dirty="0"/>
          </a:p>
        </p:txBody>
      </p:sp>
      <p:sp>
        <p:nvSpPr>
          <p:cNvPr id="26" name="Text 24"/>
          <p:cNvSpPr/>
          <p:nvPr/>
        </p:nvSpPr>
        <p:spPr>
          <a:xfrm>
            <a:off x="10122408" y="1143000"/>
            <a:ext cx="1417320" cy="256032"/>
          </a:xfrm>
          <a:prstGeom prst="rect">
            <a:avLst/>
          </a:prstGeom>
          <a:noFill/>
          <a:ln/>
        </p:spPr>
        <p:txBody>
          <a:bodyPr wrap="square" lIns="762" tIns="762" rIns="762" bIns="762" rtlCol="0" anchor="ctr">
            <a:normAutofit/>
          </a:bodyPr>
          <a:lstStyle/>
          <a:p>
            <a:pPr algn="l" indent="0" marL="0">
              <a:buNone/>
            </a:pPr>
            <a:r>
              <a:rPr lang="en-US" sz="1300" b="1" dirty="0">
                <a:solidFill>
                  <a:srgbClr val="12212B"/>
                </a:solidFill>
                <a:latin typeface="Aptos" pitchFamily="34" charset="0"/>
                <a:ea typeface="Aptos" pitchFamily="34" charset="-122"/>
                <a:cs typeface="Aptos" pitchFamily="34" charset="-120"/>
              </a:rPr>
              <a:t>Call center</a:t>
            </a:r>
            <a:endParaRPr lang="en-US" sz="1300" dirty="0"/>
          </a:p>
        </p:txBody>
      </p:sp>
      <p:sp>
        <p:nvSpPr>
          <p:cNvPr id="27" name="Text 25"/>
          <p:cNvSpPr/>
          <p:nvPr/>
        </p:nvSpPr>
        <p:spPr>
          <a:xfrm>
            <a:off x="10122408" y="1435608"/>
            <a:ext cx="1508760" cy="438912"/>
          </a:xfrm>
          <a:prstGeom prst="rect">
            <a:avLst/>
          </a:prstGeom>
          <a:noFill/>
          <a:ln/>
        </p:spPr>
        <p:txBody>
          <a:bodyPr wrap="square" lIns="762" tIns="762" rIns="762" bIns="762" rtlCol="0" anchor="ctr">
            <a:normAutofit/>
          </a:bodyPr>
          <a:lstStyle/>
          <a:p>
            <a:pPr algn="l" indent="0" marL="0">
              <a:buNone/>
            </a:pPr>
            <a:r>
              <a:rPr lang="en-US" sz="920" dirty="0">
                <a:solidFill>
                  <a:srgbClr val="516271"/>
                </a:solidFill>
                <a:latin typeface="Aptos" pitchFamily="34" charset="0"/>
                <a:ea typeface="Aptos" pitchFamily="34" charset="-122"/>
                <a:cs typeface="Aptos" pitchFamily="34" charset="-120"/>
              </a:rPr>
              <a:t>Timestamp, diarization, giới hạn thực tế</a:t>
            </a:r>
            <a:endParaRPr lang="en-US" sz="920" dirty="0"/>
          </a:p>
        </p:txBody>
      </p:sp>
      <p:sp>
        <p:nvSpPr>
          <p:cNvPr id="28" name="Text 26"/>
          <p:cNvSpPr/>
          <p:nvPr/>
        </p:nvSpPr>
        <p:spPr>
          <a:xfrm>
            <a:off x="777240" y="2834640"/>
            <a:ext cx="5212080" cy="1828800"/>
          </a:xfrm>
          <a:prstGeom prst="rect">
            <a:avLst/>
          </a:prstGeom>
          <a:noFill/>
          <a:ln/>
        </p:spPr>
        <p:txBody>
          <a:bodyPr wrap="square" lIns="1016" tIns="1016" rIns="1016" bIns="1016" rtlCol="0" anchor="ctr">
            <a:normAutofit/>
          </a:bodyPr>
          <a:lstStyle/>
          <a:p>
            <a:r>
              <a:rPr lang="en-US" sz="1400" dirty="0">
                <a:solidFill>
                  <a:srgbClr val="12212B"/>
                </a:solidFill>
                <a:latin typeface="Aptos" pitchFamily="34" charset="0"/>
                <a:ea typeface="Aptos" pitchFamily="34" charset="-122"/>
                <a:cs typeface="Aptos" pitchFamily="34" charset="-120"/>
              </a:rPr>
              <a:t>Không mặc định CTC/quantization/contrastive learning nếu checkpoint không dùng trong inference.</a:t>
            </a:r>
            <a:endParaRPr lang="en-US" sz="1400" dirty="0"/>
          </a:p>
          <a:p>
            <a:r>
              <a:rPr lang="en-US" sz="1400" dirty="0">
                <a:solidFill>
                  <a:srgbClr val="12212B"/>
                </a:solidFill>
                <a:latin typeface="Aptos" pitchFamily="34" charset="0"/>
                <a:ea typeface="Aptos" pitchFamily="34" charset="-122"/>
                <a:cs typeface="Aptos" pitchFamily="34" charset="-120"/>
              </a:rPr>
              <a:t>Phân biệt rõ pretraining, fine-tuning và inference.</a:t>
            </a:r>
            <a:endParaRPr lang="en-US" sz="1400" dirty="0"/>
          </a:p>
          <a:p>
            <a:r>
              <a:rPr lang="en-US" sz="1400" dirty="0">
                <a:solidFill>
                  <a:srgbClr val="12212B"/>
                </a:solidFill>
                <a:latin typeface="Aptos" pitchFamily="34" charset="0"/>
                <a:ea typeface="Aptos" pitchFamily="34" charset="-122"/>
                <a:cs typeface="Aptos" pitchFamily="34" charset="-120"/>
              </a:rPr>
              <a:t>Mọi số đo “minh họa” sẽ được ghi rõ là giả lập, không phải kết quả chạy thật.</a:t>
            </a:r>
            <a:endParaRPr lang="en-US" sz="1400" dirty="0"/>
          </a:p>
        </p:txBody>
      </p:sp>
      <p:sp>
        <p:nvSpPr>
          <p:cNvPr id="29" name="Shape 27"/>
          <p:cNvSpPr/>
          <p:nvPr/>
        </p:nvSpPr>
        <p:spPr>
          <a:xfrm>
            <a:off x="6629400" y="2788920"/>
            <a:ext cx="4434840" cy="960120"/>
          </a:xfrm>
          <a:prstGeom prst="roundRect">
            <a:avLst>
              <a:gd name="adj" fmla="val 11429"/>
            </a:avLst>
          </a:prstGeom>
          <a:solidFill>
            <a:srgbClr val="FFFFFF"/>
          </a:solidFill>
          <a:ln w="12700">
            <a:solidFill>
              <a:srgbClr val="175D7C"/>
            </a:solidFill>
            <a:prstDash val="solid"/>
          </a:ln>
        </p:spPr>
      </p:sp>
      <p:sp>
        <p:nvSpPr>
          <p:cNvPr id="30" name="Text 28"/>
          <p:cNvSpPr/>
          <p:nvPr/>
        </p:nvSpPr>
        <p:spPr>
          <a:xfrm>
            <a:off x="6693408" y="2834640"/>
            <a:ext cx="4306824" cy="868680"/>
          </a:xfrm>
          <a:prstGeom prst="rect">
            <a:avLst/>
          </a:prstGeom>
          <a:noFill/>
          <a:ln/>
        </p:spPr>
        <p:txBody>
          <a:bodyPr wrap="square" lIns="762" tIns="762" rIns="762" bIns="762" rtlCol="0" anchor="ctr">
            <a:normAutofit/>
          </a:bodyPr>
          <a:lstStyle/>
          <a:p>
            <a:pPr algn="ctr" indent="0" marL="0">
              <a:buNone/>
            </a:pPr>
            <a:r>
              <a:rPr lang="en-US" sz="1900" b="1" dirty="0">
                <a:solidFill>
                  <a:srgbClr val="175D7C"/>
                </a:solidFill>
                <a:latin typeface="Aptos" pitchFamily="34" charset="0"/>
                <a:ea typeface="Aptos" pitchFamily="34" charset="-122"/>
                <a:cs typeface="Aptos" pitchFamily="34" charset="-120"/>
              </a:rPr>
              <a:t>Câu ví dụ xuyên suốt</a:t>
            </a:r>
            <a:endParaRPr lang="en-US" sz="1900" dirty="0"/>
          </a:p>
          <a:p>
            <a:pPr algn="ctr" indent="0" marL="0">
              <a:buNone/>
            </a:pPr>
            <a:r>
              <a:rPr lang="en-US" sz="1900" b="1" dirty="0">
                <a:solidFill>
                  <a:srgbClr val="175D7C"/>
                </a:solidFill>
                <a:latin typeface="Aptos" pitchFamily="34" charset="0"/>
                <a:ea typeface="Aptos" pitchFamily="34" charset="-122"/>
                <a:cs typeface="Aptos" pitchFamily="34" charset="-120"/>
              </a:rPr>
              <a:t>“tôi muốn kiểm tra hợp đồng”</a:t>
            </a:r>
            <a:endParaRPr lang="en-US" sz="1900" dirty="0"/>
          </a:p>
        </p:txBody>
      </p:sp>
      <p:sp>
        <p:nvSpPr>
          <p:cNvPr id="31" name="Text 29"/>
          <p:cNvSpPr/>
          <p:nvPr/>
        </p:nvSpPr>
        <p:spPr>
          <a:xfrm>
            <a:off x="6812280" y="4069080"/>
            <a:ext cx="4023360" cy="411480"/>
          </a:xfrm>
          <a:prstGeom prst="rect">
            <a:avLst/>
          </a:prstGeom>
          <a:noFill/>
          <a:ln/>
        </p:spPr>
        <p:txBody>
          <a:bodyPr wrap="square" lIns="762" tIns="762" rIns="762" bIns="762" rtlCol="0" anchor="ctr">
            <a:normAutofit/>
          </a:bodyPr>
          <a:lstStyle/>
          <a:p>
            <a:pPr algn="ctr" indent="0" marL="0">
              <a:buNone/>
            </a:pPr>
            <a:r>
              <a:rPr lang="en-US" sz="1300" dirty="0">
                <a:solidFill>
                  <a:srgbClr val="516271"/>
                </a:solidFill>
                <a:latin typeface="Aptos" pitchFamily="34" charset="0"/>
                <a:ea typeface="Aptos" pitchFamily="34" charset="-122"/>
                <a:cs typeface="Aptos" pitchFamily="34" charset="-120"/>
              </a:rPr>
              <a:t>Nguyên tắc đọc: trên slide là bản đồ; trong Notes là lời thuyết trình đầy đủ.</a:t>
            </a:r>
            <a:endParaRPr lang="en-US" sz="1300" dirty="0"/>
          </a:p>
        </p:txBody>
      </p:sp>
      <p:sp>
        <p:nvSpPr>
          <p:cNvPr id="32" name="Shape 30"/>
          <p:cNvSpPr/>
          <p:nvPr/>
        </p:nvSpPr>
        <p:spPr>
          <a:xfrm>
            <a:off x="438912" y="6199632"/>
            <a:ext cx="2377440" cy="310896"/>
          </a:xfrm>
          <a:prstGeom prst="roundRect">
            <a:avLst>
              <a:gd name="adj" fmla="val 44118"/>
            </a:avLst>
          </a:prstGeom>
          <a:solidFill>
            <a:srgbClr val="E8F2F6"/>
          </a:solidFill>
          <a:ln w="12700">
            <a:solidFill>
              <a:srgbClr val="E8F2F6"/>
            </a:solidFill>
            <a:prstDash val="solid"/>
          </a:ln>
        </p:spPr>
      </p:sp>
      <p:sp>
        <p:nvSpPr>
          <p:cNvPr id="33" name="Text 31"/>
          <p:cNvSpPr/>
          <p:nvPr/>
        </p:nvSpPr>
        <p:spPr>
          <a:xfrm>
            <a:off x="512064" y="6259068"/>
            <a:ext cx="2231136" cy="201168"/>
          </a:xfrm>
          <a:prstGeom prst="rect">
            <a:avLst/>
          </a:prstGeom>
          <a:noFill/>
          <a:ln/>
        </p:spPr>
        <p:txBody>
          <a:bodyPr wrap="square" lIns="0" tIns="0" rIns="0" bIns="0" rtlCol="0" anchor="ctr">
            <a:normAutofit/>
          </a:bodyPr>
          <a:lstStyle/>
          <a:p>
            <a:pPr algn="ctr" indent="0" marL="0">
              <a:buNone/>
            </a:pPr>
            <a:r>
              <a:rPr lang="en-US" sz="950" b="1" dirty="0">
                <a:solidFill>
                  <a:srgbClr val="175D7C"/>
                </a:solidFill>
                <a:latin typeface="Aptos" pitchFamily="34" charset="0"/>
                <a:ea typeface="Aptos" pitchFamily="34" charset="-122"/>
                <a:cs typeface="Aptos" pitchFamily="34" charset="-120"/>
              </a:rPr>
              <a:t>Mục tiêu bài trình bày</a:t>
            </a:r>
            <a:endParaRPr lang="en-US" sz="950" dirty="0"/>
          </a:p>
        </p:txBody>
      </p:sp>
      <p:sp>
        <p:nvSpPr>
          <p:cNvPr id="25" name="Slide Number Placeholder 0"/>
          <p:cNvSpPr>
            <a:spLocks noGrp="1"/>
          </p:cNvSpPr>
          <p:nvPr>
            <p:ph type="sldNum" sz="quarter" idx="4294967295"/>
          </p:nvPr>
        </p:nvSpPr>
        <p:spPr>
          <a:xfrm>
            <a:off x="11841480" y="6519672"/>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7C879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420624" y="256032"/>
            <a:ext cx="9875520" cy="384048"/>
          </a:xfrm>
          <a:prstGeom prst="rect">
            <a:avLst/>
          </a:prstGeom>
          <a:noFill/>
          <a:ln/>
        </p:spPr>
        <p:txBody>
          <a:bodyPr wrap="square" lIns="0" tIns="0" rIns="0" bIns="0" rtlCol="0" anchor="ctr"/>
          <a:lstStyle/>
          <a:p>
            <a:pPr indent="0" marL="0">
              <a:buNone/>
            </a:pPr>
            <a:r>
              <a:rPr lang="en-US" sz="2500" b="1" dirty="0">
                <a:solidFill>
                  <a:srgbClr val="12212B"/>
                </a:solidFill>
                <a:latin typeface="Aptos Display" pitchFamily="34" charset="0"/>
                <a:ea typeface="Aptos Display" pitchFamily="34" charset="-122"/>
                <a:cs typeface="Aptos Display" pitchFamily="34" charset="-120"/>
              </a:rPr>
              <a:t>Mục lục ngắn</a:t>
            </a:r>
            <a:endParaRPr lang="en-US" sz="2500" dirty="0"/>
          </a:p>
        </p:txBody>
      </p:sp>
      <p:sp>
        <p:nvSpPr>
          <p:cNvPr id="3" name="Text 1"/>
          <p:cNvSpPr/>
          <p:nvPr/>
        </p:nvSpPr>
        <p:spPr>
          <a:xfrm>
            <a:off x="438912" y="694944"/>
            <a:ext cx="9875520" cy="256032"/>
          </a:xfrm>
          <a:prstGeom prst="rect">
            <a:avLst/>
          </a:prstGeom>
          <a:noFill/>
          <a:ln/>
        </p:spPr>
        <p:txBody>
          <a:bodyPr wrap="square" lIns="0" tIns="0" rIns="0" bIns="0" rtlCol="0" anchor="ctr"/>
          <a:lstStyle/>
          <a:p>
            <a:pPr indent="0" marL="0">
              <a:buNone/>
            </a:pPr>
            <a:r>
              <a:rPr lang="en-US" sz="1050" dirty="0">
                <a:solidFill>
                  <a:srgbClr val="516271"/>
                </a:solidFill>
              </a:rPr>
              <a:t>5 phần chính cho bài trình bày 20–25 phút</a:t>
            </a:r>
            <a:endParaRPr lang="en-US" sz="1050" dirty="0"/>
          </a:p>
        </p:txBody>
      </p:sp>
      <p:sp>
        <p:nvSpPr>
          <p:cNvPr id="4" name="Shape 2"/>
          <p:cNvSpPr/>
          <p:nvPr/>
        </p:nvSpPr>
        <p:spPr>
          <a:xfrm>
            <a:off x="822960" y="1143000"/>
            <a:ext cx="566928" cy="420624"/>
          </a:xfrm>
          <a:prstGeom prst="roundRect">
            <a:avLst>
              <a:gd name="adj" fmla="val 26087"/>
            </a:avLst>
          </a:prstGeom>
          <a:solidFill>
            <a:srgbClr val="F0B429"/>
          </a:solidFill>
          <a:ln w="12700">
            <a:solidFill>
              <a:srgbClr val="F0B429"/>
            </a:solidFill>
            <a:prstDash val="solid"/>
          </a:ln>
        </p:spPr>
      </p:sp>
      <p:sp>
        <p:nvSpPr>
          <p:cNvPr id="5" name="Text 3"/>
          <p:cNvSpPr/>
          <p:nvPr/>
        </p:nvSpPr>
        <p:spPr>
          <a:xfrm>
            <a:off x="886968" y="1188720"/>
            <a:ext cx="438912" cy="329184"/>
          </a:xfrm>
          <a:prstGeom prst="rect">
            <a:avLst/>
          </a:prstGeom>
          <a:noFill/>
          <a:ln/>
        </p:spPr>
        <p:txBody>
          <a:bodyPr wrap="square" lIns="762" tIns="762" rIns="762" bIns="762" rtlCol="0" anchor="ctr">
            <a:normAutofit/>
          </a:bodyPr>
          <a:lstStyle/>
          <a:p>
            <a:pPr algn="ctr" indent="0" marL="0">
              <a:buNone/>
            </a:pPr>
            <a:r>
              <a:rPr lang="en-US" sz="1300" b="1" dirty="0">
                <a:solidFill>
                  <a:srgbClr val="12212B"/>
                </a:solidFill>
                <a:latin typeface="Aptos" pitchFamily="34" charset="0"/>
                <a:ea typeface="Aptos" pitchFamily="34" charset="-122"/>
                <a:cs typeface="Aptos" pitchFamily="34" charset="-120"/>
              </a:rPr>
              <a:t>01</a:t>
            </a:r>
            <a:endParaRPr lang="en-US" sz="1300" dirty="0"/>
          </a:p>
        </p:txBody>
      </p:sp>
      <p:sp>
        <p:nvSpPr>
          <p:cNvPr id="6" name="Text 4"/>
          <p:cNvSpPr/>
          <p:nvPr/>
        </p:nvSpPr>
        <p:spPr>
          <a:xfrm>
            <a:off x="1600200" y="1124712"/>
            <a:ext cx="2331720" cy="310896"/>
          </a:xfrm>
          <a:prstGeom prst="rect">
            <a:avLst/>
          </a:prstGeom>
          <a:noFill/>
          <a:ln/>
        </p:spPr>
        <p:txBody>
          <a:bodyPr wrap="square" lIns="762" tIns="762" rIns="762" bIns="762" rtlCol="0" anchor="ctr">
            <a:normAutofit/>
          </a:bodyPr>
          <a:lstStyle/>
          <a:p>
            <a:pPr algn="l" indent="0" marL="0">
              <a:buNone/>
            </a:pPr>
            <a:r>
              <a:rPr lang="en-US" sz="1700" b="1" dirty="0">
                <a:solidFill>
                  <a:srgbClr val="12212B"/>
                </a:solidFill>
                <a:latin typeface="Aptos" pitchFamily="34" charset="0"/>
                <a:ea typeface="Aptos" pitchFamily="34" charset="-122"/>
                <a:cs typeface="Aptos" pitchFamily="34" charset="-120"/>
              </a:rPr>
              <a:t>Checkpoint &amp; phạm vi</a:t>
            </a:r>
            <a:endParaRPr lang="en-US" sz="1700" dirty="0"/>
          </a:p>
        </p:txBody>
      </p:sp>
      <p:sp>
        <p:nvSpPr>
          <p:cNvPr id="7" name="Text 5"/>
          <p:cNvSpPr/>
          <p:nvPr/>
        </p:nvSpPr>
        <p:spPr>
          <a:xfrm>
            <a:off x="4434840" y="1161288"/>
            <a:ext cx="5806440" cy="256032"/>
          </a:xfrm>
          <a:prstGeom prst="rect">
            <a:avLst/>
          </a:prstGeom>
          <a:noFill/>
          <a:ln/>
        </p:spPr>
        <p:txBody>
          <a:bodyPr wrap="square" lIns="762" tIns="762" rIns="762" bIns="762" rtlCol="0" anchor="ctr">
            <a:normAutofit/>
          </a:bodyPr>
          <a:lstStyle/>
          <a:p>
            <a:pPr algn="l" indent="0" marL="0">
              <a:buNone/>
            </a:pPr>
            <a:r>
              <a:rPr lang="en-US" sz="1200" dirty="0">
                <a:solidFill>
                  <a:srgbClr val="516271"/>
                </a:solidFill>
                <a:latin typeface="Aptos" pitchFamily="34" charset="0"/>
                <a:ea typeface="Aptos" pitchFamily="34" charset="-122"/>
                <a:cs typeface="Aptos" pitchFamily="34" charset="-120"/>
              </a:rPr>
              <a:t>Whisper gốc, PhoWhisper-large, Dai-ichi Life VN</a:t>
            </a:r>
            <a:endParaRPr lang="en-US" sz="1200" dirty="0"/>
          </a:p>
        </p:txBody>
      </p:sp>
      <p:sp>
        <p:nvSpPr>
          <p:cNvPr id="8" name="Shape 6"/>
          <p:cNvSpPr/>
          <p:nvPr/>
        </p:nvSpPr>
        <p:spPr>
          <a:xfrm>
            <a:off x="1609344" y="1645920"/>
            <a:ext cx="8631936" cy="0"/>
          </a:xfrm>
          <a:prstGeom prst="line">
            <a:avLst/>
          </a:prstGeom>
          <a:noFill/>
          <a:ln w="12700">
            <a:solidFill>
              <a:srgbClr val="DEE6EC"/>
            </a:solidFill>
            <a:prstDash val="solid"/>
          </a:ln>
        </p:spPr>
      </p:sp>
      <p:sp>
        <p:nvSpPr>
          <p:cNvPr id="9" name="Shape 7"/>
          <p:cNvSpPr/>
          <p:nvPr/>
        </p:nvSpPr>
        <p:spPr>
          <a:xfrm>
            <a:off x="822960" y="1947672"/>
            <a:ext cx="566928" cy="420624"/>
          </a:xfrm>
          <a:prstGeom prst="roundRect">
            <a:avLst>
              <a:gd name="adj" fmla="val 26087"/>
            </a:avLst>
          </a:prstGeom>
          <a:solidFill>
            <a:srgbClr val="175D7C"/>
          </a:solidFill>
          <a:ln w="12700">
            <a:solidFill>
              <a:srgbClr val="175D7C"/>
            </a:solidFill>
            <a:prstDash val="solid"/>
          </a:ln>
        </p:spPr>
      </p:sp>
      <p:sp>
        <p:nvSpPr>
          <p:cNvPr id="10" name="Text 8"/>
          <p:cNvSpPr/>
          <p:nvPr/>
        </p:nvSpPr>
        <p:spPr>
          <a:xfrm>
            <a:off x="886968" y="1993392"/>
            <a:ext cx="438912" cy="329184"/>
          </a:xfrm>
          <a:prstGeom prst="rect">
            <a:avLst/>
          </a:prstGeom>
          <a:noFill/>
          <a:ln/>
        </p:spPr>
        <p:txBody>
          <a:bodyPr wrap="square" lIns="762" tIns="762" rIns="762" bIns="762" rtlCol="0" anchor="ctr">
            <a:normAutofit/>
          </a:bodyPr>
          <a:lstStyle/>
          <a:p>
            <a:pPr algn="ctr" indent="0" marL="0">
              <a:buNone/>
            </a:pPr>
            <a:r>
              <a:rPr lang="en-US" sz="1300" b="1" dirty="0">
                <a:solidFill>
                  <a:srgbClr val="FFFFFF"/>
                </a:solidFill>
                <a:latin typeface="Aptos" pitchFamily="34" charset="0"/>
                <a:ea typeface="Aptos" pitchFamily="34" charset="-122"/>
                <a:cs typeface="Aptos" pitchFamily="34" charset="-120"/>
              </a:rPr>
              <a:t>02</a:t>
            </a:r>
            <a:endParaRPr lang="en-US" sz="1300" dirty="0"/>
          </a:p>
        </p:txBody>
      </p:sp>
      <p:sp>
        <p:nvSpPr>
          <p:cNvPr id="11" name="Text 9"/>
          <p:cNvSpPr/>
          <p:nvPr/>
        </p:nvSpPr>
        <p:spPr>
          <a:xfrm>
            <a:off x="1600200" y="1929384"/>
            <a:ext cx="2331720" cy="310896"/>
          </a:xfrm>
          <a:prstGeom prst="rect">
            <a:avLst/>
          </a:prstGeom>
          <a:noFill/>
          <a:ln/>
        </p:spPr>
        <p:txBody>
          <a:bodyPr wrap="square" lIns="762" tIns="762" rIns="762" bIns="762" rtlCol="0" anchor="ctr">
            <a:normAutofit/>
          </a:bodyPr>
          <a:lstStyle/>
          <a:p>
            <a:pPr algn="l" indent="0" marL="0">
              <a:buNone/>
            </a:pPr>
            <a:r>
              <a:rPr lang="en-US" sz="1700" b="1" dirty="0">
                <a:solidFill>
                  <a:srgbClr val="12212B"/>
                </a:solidFill>
                <a:latin typeface="Aptos" pitchFamily="34" charset="0"/>
                <a:ea typeface="Aptos" pitchFamily="34" charset="-122"/>
                <a:cs typeface="Aptos" pitchFamily="34" charset="-120"/>
              </a:rPr>
              <a:t>Audio → tensor</a:t>
            </a:r>
            <a:endParaRPr lang="en-US" sz="1700" dirty="0"/>
          </a:p>
        </p:txBody>
      </p:sp>
      <p:sp>
        <p:nvSpPr>
          <p:cNvPr id="12" name="Text 10"/>
          <p:cNvSpPr/>
          <p:nvPr/>
        </p:nvSpPr>
        <p:spPr>
          <a:xfrm>
            <a:off x="4434840" y="1965960"/>
            <a:ext cx="5806440" cy="256032"/>
          </a:xfrm>
          <a:prstGeom prst="rect">
            <a:avLst/>
          </a:prstGeom>
          <a:noFill/>
          <a:ln/>
        </p:spPr>
        <p:txBody>
          <a:bodyPr wrap="square" lIns="762" tIns="762" rIns="762" bIns="762" rtlCol="0" anchor="ctr">
            <a:normAutofit/>
          </a:bodyPr>
          <a:lstStyle/>
          <a:p>
            <a:pPr algn="l" indent="0" marL="0">
              <a:buNone/>
            </a:pPr>
            <a:r>
              <a:rPr lang="en-US" sz="1200" dirty="0">
                <a:solidFill>
                  <a:srgbClr val="516271"/>
                </a:solidFill>
                <a:latin typeface="Aptos" pitchFamily="34" charset="0"/>
                <a:ea typeface="Aptos" pitchFamily="34" charset="-122"/>
                <a:cs typeface="Aptos" pitchFamily="34" charset="-120"/>
              </a:rPr>
              <a:t>Waveform, frame, log-Mel spectrogram</a:t>
            </a:r>
            <a:endParaRPr lang="en-US" sz="1200" dirty="0"/>
          </a:p>
        </p:txBody>
      </p:sp>
      <p:sp>
        <p:nvSpPr>
          <p:cNvPr id="13" name="Shape 11"/>
          <p:cNvSpPr/>
          <p:nvPr/>
        </p:nvSpPr>
        <p:spPr>
          <a:xfrm>
            <a:off x="1609344" y="2450592"/>
            <a:ext cx="8631936" cy="0"/>
          </a:xfrm>
          <a:prstGeom prst="line">
            <a:avLst/>
          </a:prstGeom>
          <a:noFill/>
          <a:ln w="12700">
            <a:solidFill>
              <a:srgbClr val="DEE6EC"/>
            </a:solidFill>
            <a:prstDash val="solid"/>
          </a:ln>
        </p:spPr>
      </p:sp>
      <p:sp>
        <p:nvSpPr>
          <p:cNvPr id="14" name="Shape 12"/>
          <p:cNvSpPr/>
          <p:nvPr/>
        </p:nvSpPr>
        <p:spPr>
          <a:xfrm>
            <a:off x="822960" y="2752344"/>
            <a:ext cx="566928" cy="420624"/>
          </a:xfrm>
          <a:prstGeom prst="roundRect">
            <a:avLst>
              <a:gd name="adj" fmla="val 26087"/>
            </a:avLst>
          </a:prstGeom>
          <a:solidFill>
            <a:srgbClr val="F0B429"/>
          </a:solidFill>
          <a:ln w="12700">
            <a:solidFill>
              <a:srgbClr val="F0B429"/>
            </a:solidFill>
            <a:prstDash val="solid"/>
          </a:ln>
        </p:spPr>
      </p:sp>
      <p:sp>
        <p:nvSpPr>
          <p:cNvPr id="15" name="Text 13"/>
          <p:cNvSpPr/>
          <p:nvPr/>
        </p:nvSpPr>
        <p:spPr>
          <a:xfrm>
            <a:off x="886968" y="2798064"/>
            <a:ext cx="438912" cy="329184"/>
          </a:xfrm>
          <a:prstGeom prst="rect">
            <a:avLst/>
          </a:prstGeom>
          <a:noFill/>
          <a:ln/>
        </p:spPr>
        <p:txBody>
          <a:bodyPr wrap="square" lIns="762" tIns="762" rIns="762" bIns="762" rtlCol="0" anchor="ctr">
            <a:normAutofit/>
          </a:bodyPr>
          <a:lstStyle/>
          <a:p>
            <a:pPr algn="ctr" indent="0" marL="0">
              <a:buNone/>
            </a:pPr>
            <a:r>
              <a:rPr lang="en-US" sz="1300" b="1" dirty="0">
                <a:solidFill>
                  <a:srgbClr val="12212B"/>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600200" y="2734056"/>
            <a:ext cx="2331720" cy="310896"/>
          </a:xfrm>
          <a:prstGeom prst="rect">
            <a:avLst/>
          </a:prstGeom>
          <a:noFill/>
          <a:ln/>
        </p:spPr>
        <p:txBody>
          <a:bodyPr wrap="square" lIns="762" tIns="762" rIns="762" bIns="762" rtlCol="0" anchor="ctr">
            <a:normAutofit/>
          </a:bodyPr>
          <a:lstStyle/>
          <a:p>
            <a:pPr algn="l" indent="0" marL="0">
              <a:buNone/>
            </a:pPr>
            <a:r>
              <a:rPr lang="en-US" sz="1700" b="1" dirty="0">
                <a:solidFill>
                  <a:srgbClr val="12212B"/>
                </a:solidFill>
                <a:latin typeface="Aptos" pitchFamily="34" charset="0"/>
                <a:ea typeface="Aptos" pitchFamily="34" charset="-122"/>
                <a:cs typeface="Aptos" pitchFamily="34" charset="-120"/>
              </a:rPr>
              <a:t>Kiến trúc bên trong</a:t>
            </a:r>
            <a:endParaRPr lang="en-US" sz="1700" dirty="0"/>
          </a:p>
        </p:txBody>
      </p:sp>
      <p:sp>
        <p:nvSpPr>
          <p:cNvPr id="17" name="Text 15"/>
          <p:cNvSpPr/>
          <p:nvPr/>
        </p:nvSpPr>
        <p:spPr>
          <a:xfrm>
            <a:off x="4434840" y="2770632"/>
            <a:ext cx="5806440" cy="256032"/>
          </a:xfrm>
          <a:prstGeom prst="rect">
            <a:avLst/>
          </a:prstGeom>
          <a:noFill/>
          <a:ln/>
        </p:spPr>
        <p:txBody>
          <a:bodyPr wrap="square" lIns="762" tIns="762" rIns="762" bIns="762" rtlCol="0" anchor="ctr">
            <a:normAutofit/>
          </a:bodyPr>
          <a:lstStyle/>
          <a:p>
            <a:pPr algn="l" indent="0" marL="0">
              <a:buNone/>
            </a:pPr>
            <a:r>
              <a:rPr lang="en-US" sz="1200" dirty="0">
                <a:solidFill>
                  <a:srgbClr val="516271"/>
                </a:solidFill>
                <a:latin typeface="Aptos" pitchFamily="34" charset="0"/>
                <a:ea typeface="Aptos" pitchFamily="34" charset="-122"/>
                <a:cs typeface="Aptos" pitchFamily="34" charset="-120"/>
              </a:rPr>
              <a:t>Encoder, attention, decoder, token</a:t>
            </a:r>
            <a:endParaRPr lang="en-US" sz="1200" dirty="0"/>
          </a:p>
        </p:txBody>
      </p:sp>
      <p:sp>
        <p:nvSpPr>
          <p:cNvPr id="18" name="Shape 16"/>
          <p:cNvSpPr/>
          <p:nvPr/>
        </p:nvSpPr>
        <p:spPr>
          <a:xfrm>
            <a:off x="1609344" y="3255264"/>
            <a:ext cx="8631936" cy="0"/>
          </a:xfrm>
          <a:prstGeom prst="line">
            <a:avLst/>
          </a:prstGeom>
          <a:noFill/>
          <a:ln w="12700">
            <a:solidFill>
              <a:srgbClr val="DEE6EC"/>
            </a:solidFill>
            <a:prstDash val="solid"/>
          </a:ln>
        </p:spPr>
      </p:sp>
      <p:sp>
        <p:nvSpPr>
          <p:cNvPr id="19" name="Shape 17"/>
          <p:cNvSpPr/>
          <p:nvPr/>
        </p:nvSpPr>
        <p:spPr>
          <a:xfrm>
            <a:off x="822960" y="3557016"/>
            <a:ext cx="566928" cy="420624"/>
          </a:xfrm>
          <a:prstGeom prst="roundRect">
            <a:avLst>
              <a:gd name="adj" fmla="val 26087"/>
            </a:avLst>
          </a:prstGeom>
          <a:solidFill>
            <a:srgbClr val="175D7C"/>
          </a:solidFill>
          <a:ln w="12700">
            <a:solidFill>
              <a:srgbClr val="175D7C"/>
            </a:solidFill>
            <a:prstDash val="solid"/>
          </a:ln>
        </p:spPr>
      </p:sp>
      <p:sp>
        <p:nvSpPr>
          <p:cNvPr id="20" name="Text 18"/>
          <p:cNvSpPr/>
          <p:nvPr/>
        </p:nvSpPr>
        <p:spPr>
          <a:xfrm>
            <a:off x="886968" y="3602736"/>
            <a:ext cx="438912" cy="329184"/>
          </a:xfrm>
          <a:prstGeom prst="rect">
            <a:avLst/>
          </a:prstGeom>
          <a:noFill/>
          <a:ln/>
        </p:spPr>
        <p:txBody>
          <a:bodyPr wrap="square" lIns="762" tIns="762" rIns="762" bIns="762" rtlCol="0" anchor="ctr">
            <a:normAutofit/>
          </a:bodyPr>
          <a:lstStyle/>
          <a:p>
            <a:pPr algn="ctr" indent="0" marL="0">
              <a:buNone/>
            </a:pPr>
            <a:r>
              <a:rPr lang="en-US" sz="1300" b="1" dirty="0">
                <a:solidFill>
                  <a:srgbClr val="FFFFFF"/>
                </a:solidFill>
                <a:latin typeface="Aptos" pitchFamily="34" charset="0"/>
                <a:ea typeface="Aptos" pitchFamily="34" charset="-122"/>
                <a:cs typeface="Aptos" pitchFamily="34" charset="-120"/>
              </a:rPr>
              <a:t>04</a:t>
            </a:r>
            <a:endParaRPr lang="en-US" sz="1300" dirty="0"/>
          </a:p>
        </p:txBody>
      </p:sp>
      <p:sp>
        <p:nvSpPr>
          <p:cNvPr id="21" name="Text 19"/>
          <p:cNvSpPr/>
          <p:nvPr/>
        </p:nvSpPr>
        <p:spPr>
          <a:xfrm>
            <a:off x="1600200" y="3538728"/>
            <a:ext cx="2331720" cy="310896"/>
          </a:xfrm>
          <a:prstGeom prst="rect">
            <a:avLst/>
          </a:prstGeom>
          <a:noFill/>
          <a:ln/>
        </p:spPr>
        <p:txBody>
          <a:bodyPr wrap="square" lIns="762" tIns="762" rIns="762" bIns="762" rtlCol="0" anchor="ctr">
            <a:normAutofit/>
          </a:bodyPr>
          <a:lstStyle/>
          <a:p>
            <a:pPr algn="l" indent="0" marL="0">
              <a:buNone/>
            </a:pPr>
            <a:r>
              <a:rPr lang="en-US" sz="1700" b="1" dirty="0">
                <a:solidFill>
                  <a:srgbClr val="12212B"/>
                </a:solidFill>
                <a:latin typeface="Aptos" pitchFamily="34" charset="0"/>
                <a:ea typeface="Aptos" pitchFamily="34" charset="-122"/>
                <a:cs typeface="Aptos" pitchFamily="34" charset="-120"/>
              </a:rPr>
              <a:t>Huấn luyện &amp; suy luận</a:t>
            </a:r>
            <a:endParaRPr lang="en-US" sz="1700" dirty="0"/>
          </a:p>
        </p:txBody>
      </p:sp>
      <p:sp>
        <p:nvSpPr>
          <p:cNvPr id="22" name="Text 20"/>
          <p:cNvSpPr/>
          <p:nvPr/>
        </p:nvSpPr>
        <p:spPr>
          <a:xfrm>
            <a:off x="4434840" y="3575304"/>
            <a:ext cx="5806440" cy="256032"/>
          </a:xfrm>
          <a:prstGeom prst="rect">
            <a:avLst/>
          </a:prstGeom>
          <a:noFill/>
          <a:ln/>
        </p:spPr>
        <p:txBody>
          <a:bodyPr wrap="square" lIns="762" tIns="762" rIns="762" bIns="762" rtlCol="0" anchor="ctr">
            <a:normAutofit/>
          </a:bodyPr>
          <a:lstStyle/>
          <a:p>
            <a:pPr algn="l" indent="0" marL="0">
              <a:buNone/>
            </a:pPr>
            <a:r>
              <a:rPr lang="en-US" sz="1200" dirty="0">
                <a:solidFill>
                  <a:srgbClr val="516271"/>
                </a:solidFill>
                <a:latin typeface="Aptos" pitchFamily="34" charset="0"/>
                <a:ea typeface="Aptos" pitchFamily="34" charset="-122"/>
                <a:cs typeface="Aptos" pitchFamily="34" charset="-120"/>
              </a:rPr>
              <a:t>Pretraining, fine-tuning, inference, decoding</a:t>
            </a:r>
            <a:endParaRPr lang="en-US" sz="1200" dirty="0"/>
          </a:p>
        </p:txBody>
      </p:sp>
      <p:sp>
        <p:nvSpPr>
          <p:cNvPr id="23" name="Shape 21"/>
          <p:cNvSpPr/>
          <p:nvPr/>
        </p:nvSpPr>
        <p:spPr>
          <a:xfrm>
            <a:off x="1609344" y="4059936"/>
            <a:ext cx="8631936" cy="0"/>
          </a:xfrm>
          <a:prstGeom prst="line">
            <a:avLst/>
          </a:prstGeom>
          <a:noFill/>
          <a:ln w="12700">
            <a:solidFill>
              <a:srgbClr val="DEE6EC"/>
            </a:solidFill>
            <a:prstDash val="solid"/>
          </a:ln>
        </p:spPr>
      </p:sp>
      <p:sp>
        <p:nvSpPr>
          <p:cNvPr id="24" name="Shape 22"/>
          <p:cNvSpPr/>
          <p:nvPr/>
        </p:nvSpPr>
        <p:spPr>
          <a:xfrm>
            <a:off x="822960" y="4361688"/>
            <a:ext cx="566928" cy="420624"/>
          </a:xfrm>
          <a:prstGeom prst="roundRect">
            <a:avLst>
              <a:gd name="adj" fmla="val 26087"/>
            </a:avLst>
          </a:prstGeom>
          <a:solidFill>
            <a:srgbClr val="F0B429"/>
          </a:solidFill>
          <a:ln w="12700">
            <a:solidFill>
              <a:srgbClr val="F0B429"/>
            </a:solidFill>
            <a:prstDash val="solid"/>
          </a:ln>
        </p:spPr>
      </p:sp>
      <p:sp>
        <p:nvSpPr>
          <p:cNvPr id="25" name="Text 23"/>
          <p:cNvSpPr/>
          <p:nvPr/>
        </p:nvSpPr>
        <p:spPr>
          <a:xfrm>
            <a:off x="886968" y="4407408"/>
            <a:ext cx="438912" cy="329184"/>
          </a:xfrm>
          <a:prstGeom prst="rect">
            <a:avLst/>
          </a:prstGeom>
          <a:noFill/>
          <a:ln/>
        </p:spPr>
        <p:txBody>
          <a:bodyPr wrap="square" lIns="762" tIns="762" rIns="762" bIns="762" rtlCol="0" anchor="ctr">
            <a:normAutofit/>
          </a:bodyPr>
          <a:lstStyle/>
          <a:p>
            <a:pPr algn="ctr" indent="0" marL="0">
              <a:buNone/>
            </a:pPr>
            <a:r>
              <a:rPr lang="en-US" sz="1300" b="1" dirty="0">
                <a:solidFill>
                  <a:srgbClr val="12212B"/>
                </a:solidFill>
                <a:latin typeface="Aptos" pitchFamily="34" charset="0"/>
                <a:ea typeface="Aptos" pitchFamily="34" charset="-122"/>
                <a:cs typeface="Aptos" pitchFamily="34" charset="-120"/>
              </a:rPr>
              <a:t>05</a:t>
            </a:r>
            <a:endParaRPr lang="en-US" sz="1300" dirty="0"/>
          </a:p>
        </p:txBody>
      </p:sp>
      <p:sp>
        <p:nvSpPr>
          <p:cNvPr id="26" name="Text 24"/>
          <p:cNvSpPr/>
          <p:nvPr/>
        </p:nvSpPr>
        <p:spPr>
          <a:xfrm>
            <a:off x="1600200" y="4343400"/>
            <a:ext cx="2331720" cy="310896"/>
          </a:xfrm>
          <a:prstGeom prst="rect">
            <a:avLst/>
          </a:prstGeom>
          <a:noFill/>
          <a:ln/>
        </p:spPr>
        <p:txBody>
          <a:bodyPr wrap="square" lIns="762" tIns="762" rIns="762" bIns="762" rtlCol="0" anchor="ctr">
            <a:normAutofit/>
          </a:bodyPr>
          <a:lstStyle/>
          <a:p>
            <a:pPr algn="l" indent="0" marL="0">
              <a:buNone/>
            </a:pPr>
            <a:r>
              <a:rPr lang="en-US" sz="1700" b="1" dirty="0">
                <a:solidFill>
                  <a:srgbClr val="12212B"/>
                </a:solidFill>
                <a:latin typeface="Aptos" pitchFamily="34" charset="0"/>
                <a:ea typeface="Aptos" pitchFamily="34" charset="-122"/>
                <a:cs typeface="Aptos" pitchFamily="34" charset="-120"/>
              </a:rPr>
              <a:t>Triển khai call center</a:t>
            </a:r>
            <a:endParaRPr lang="en-US" sz="1700" dirty="0"/>
          </a:p>
        </p:txBody>
      </p:sp>
      <p:sp>
        <p:nvSpPr>
          <p:cNvPr id="27" name="Text 25"/>
          <p:cNvSpPr/>
          <p:nvPr/>
        </p:nvSpPr>
        <p:spPr>
          <a:xfrm>
            <a:off x="4434840" y="4379976"/>
            <a:ext cx="5806440" cy="256032"/>
          </a:xfrm>
          <a:prstGeom prst="rect">
            <a:avLst/>
          </a:prstGeom>
          <a:noFill/>
          <a:ln/>
        </p:spPr>
        <p:txBody>
          <a:bodyPr wrap="square" lIns="762" tIns="762" rIns="762" bIns="762" rtlCol="0" anchor="ctr">
            <a:normAutofit/>
          </a:bodyPr>
          <a:lstStyle/>
          <a:p>
            <a:pPr algn="l" indent="0" marL="0">
              <a:buNone/>
            </a:pPr>
            <a:r>
              <a:rPr lang="en-US" sz="1200" dirty="0">
                <a:solidFill>
                  <a:srgbClr val="516271"/>
                </a:solidFill>
                <a:latin typeface="Aptos" pitchFamily="34" charset="0"/>
                <a:ea typeface="Aptos" pitchFamily="34" charset="-122"/>
                <a:cs typeface="Aptos" pitchFamily="34" charset="-120"/>
              </a:rPr>
              <a:t>Pipeline, giới hạn, benchmark, câu hỏi</a:t>
            </a:r>
            <a:endParaRPr lang="en-US" sz="1200" dirty="0"/>
          </a:p>
        </p:txBody>
      </p:sp>
      <p:sp>
        <p:nvSpPr>
          <p:cNvPr id="28" name="Shape 26"/>
          <p:cNvSpPr/>
          <p:nvPr/>
        </p:nvSpPr>
        <p:spPr>
          <a:xfrm>
            <a:off x="1609344" y="4864608"/>
            <a:ext cx="8631936" cy="0"/>
          </a:xfrm>
          <a:prstGeom prst="line">
            <a:avLst/>
          </a:prstGeom>
          <a:noFill/>
          <a:ln w="12700">
            <a:solidFill>
              <a:srgbClr val="DEE6EC"/>
            </a:solidFill>
            <a:prstDash val="solid"/>
          </a:ln>
        </p:spPr>
      </p:sp>
      <p:sp>
        <p:nvSpPr>
          <p:cNvPr id="29" name="Shape 27"/>
          <p:cNvSpPr/>
          <p:nvPr/>
        </p:nvSpPr>
        <p:spPr>
          <a:xfrm>
            <a:off x="438912" y="6199632"/>
            <a:ext cx="2377440" cy="310896"/>
          </a:xfrm>
          <a:prstGeom prst="roundRect">
            <a:avLst>
              <a:gd name="adj" fmla="val 44118"/>
            </a:avLst>
          </a:prstGeom>
          <a:solidFill>
            <a:srgbClr val="E8F2F6"/>
          </a:solidFill>
          <a:ln w="12700">
            <a:solidFill>
              <a:srgbClr val="E8F2F6"/>
            </a:solidFill>
            <a:prstDash val="solid"/>
          </a:ln>
        </p:spPr>
      </p:sp>
      <p:sp>
        <p:nvSpPr>
          <p:cNvPr id="30" name="Text 28"/>
          <p:cNvSpPr/>
          <p:nvPr/>
        </p:nvSpPr>
        <p:spPr>
          <a:xfrm>
            <a:off x="512064" y="6259068"/>
            <a:ext cx="2231136" cy="201168"/>
          </a:xfrm>
          <a:prstGeom prst="rect">
            <a:avLst/>
          </a:prstGeom>
          <a:noFill/>
          <a:ln/>
        </p:spPr>
        <p:txBody>
          <a:bodyPr wrap="square" lIns="0" tIns="0" rIns="0" bIns="0" rtlCol="0" anchor="ctr">
            <a:normAutofit/>
          </a:bodyPr>
          <a:lstStyle/>
          <a:p>
            <a:pPr algn="ctr" indent="0" marL="0">
              <a:buNone/>
            </a:pPr>
            <a:r>
              <a:rPr lang="en-US" sz="950" b="1" dirty="0">
                <a:solidFill>
                  <a:srgbClr val="175D7C"/>
                </a:solidFill>
                <a:latin typeface="Aptos" pitchFamily="34" charset="0"/>
                <a:ea typeface="Aptos" pitchFamily="34" charset="-122"/>
                <a:cs typeface="Aptos" pitchFamily="34" charset="-120"/>
              </a:rPr>
              <a:t>Mục lục</a:t>
            </a:r>
            <a:endParaRPr lang="en-US" sz="950" dirty="0"/>
          </a:p>
        </p:txBody>
      </p:sp>
      <p:sp>
        <p:nvSpPr>
          <p:cNvPr id="25" name="Slide Number Placeholder 0"/>
          <p:cNvSpPr>
            <a:spLocks noGrp="1"/>
          </p:cNvSpPr>
          <p:nvPr>
            <p:ph type="sldNum" sz="quarter" idx="4294967295"/>
          </p:nvPr>
        </p:nvSpPr>
        <p:spPr>
          <a:xfrm>
            <a:off x="11841480" y="6519672"/>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7C879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420624" y="256032"/>
            <a:ext cx="9875520" cy="384048"/>
          </a:xfrm>
          <a:prstGeom prst="rect">
            <a:avLst/>
          </a:prstGeom>
          <a:noFill/>
          <a:ln/>
        </p:spPr>
        <p:txBody>
          <a:bodyPr wrap="square" lIns="0" tIns="0" rIns="0" bIns="0" rtlCol="0" anchor="ctr"/>
          <a:lstStyle/>
          <a:p>
            <a:pPr indent="0" marL="0">
              <a:buNone/>
            </a:pPr>
            <a:r>
              <a:rPr lang="en-US" sz="2500" b="1" dirty="0">
                <a:solidFill>
                  <a:srgbClr val="12212B"/>
                </a:solidFill>
                <a:latin typeface="Aptos Display" pitchFamily="34" charset="0"/>
                <a:ea typeface="Aptos Display" pitchFamily="34" charset="-122"/>
                <a:cs typeface="Aptos Display" pitchFamily="34" charset="-120"/>
              </a:rPr>
              <a:t>Checkpoint &amp; phạm vi nghiên cứu</a:t>
            </a:r>
            <a:endParaRPr lang="en-US" sz="2500" dirty="0"/>
          </a:p>
        </p:txBody>
      </p:sp>
      <p:sp>
        <p:nvSpPr>
          <p:cNvPr id="3" name="Text 1"/>
          <p:cNvSpPr/>
          <p:nvPr/>
        </p:nvSpPr>
        <p:spPr>
          <a:xfrm>
            <a:off x="438912" y="694944"/>
            <a:ext cx="9875520" cy="256032"/>
          </a:xfrm>
          <a:prstGeom prst="rect">
            <a:avLst/>
          </a:prstGeom>
          <a:noFill/>
          <a:ln/>
        </p:spPr>
        <p:txBody>
          <a:bodyPr wrap="square" lIns="0" tIns="0" rIns="0" bIns="0" rtlCol="0" anchor="ctr"/>
          <a:lstStyle/>
          <a:p>
            <a:pPr indent="0" marL="0">
              <a:buNone/>
            </a:pPr>
            <a:r>
              <a:rPr lang="en-US" sz="1050" dirty="0">
                <a:solidFill>
                  <a:srgbClr val="516271"/>
                </a:solidFill>
              </a:rPr>
              <a:t>Checkpoint giả định cho bài: vinai/PhoWhisper-large; kiến trúc nền là Whisper</a:t>
            </a:r>
            <a:endParaRPr lang="en-US" sz="1050" dirty="0"/>
          </a:p>
        </p:txBody>
      </p:sp>
      <p:sp>
        <p:nvSpPr>
          <p:cNvPr id="4" name="Shape 2"/>
          <p:cNvSpPr/>
          <p:nvPr/>
        </p:nvSpPr>
        <p:spPr>
          <a:xfrm>
            <a:off x="731520" y="1234440"/>
            <a:ext cx="2743200" cy="1143000"/>
          </a:xfrm>
          <a:prstGeom prst="roundRect">
            <a:avLst>
              <a:gd name="adj" fmla="val 9600"/>
            </a:avLst>
          </a:prstGeom>
          <a:solidFill>
            <a:srgbClr val="FFFFFF"/>
          </a:solidFill>
          <a:ln w="12700">
            <a:solidFill>
              <a:srgbClr val="2A67B1"/>
            </a:solidFill>
            <a:prstDash val="solid"/>
          </a:ln>
        </p:spPr>
      </p:sp>
      <p:sp>
        <p:nvSpPr>
          <p:cNvPr id="5" name="Text 3"/>
          <p:cNvSpPr/>
          <p:nvPr/>
        </p:nvSpPr>
        <p:spPr>
          <a:xfrm>
            <a:off x="795528" y="1280160"/>
            <a:ext cx="2615184" cy="1051560"/>
          </a:xfrm>
          <a:prstGeom prst="rect">
            <a:avLst/>
          </a:prstGeom>
          <a:noFill/>
          <a:ln/>
        </p:spPr>
        <p:txBody>
          <a:bodyPr wrap="square" lIns="762" tIns="762" rIns="762" bIns="762" rtlCol="0" anchor="ctr">
            <a:normAutofit/>
          </a:bodyPr>
          <a:lstStyle/>
          <a:p>
            <a:pPr algn="ctr" indent="0" marL="0">
              <a:buNone/>
            </a:pPr>
            <a:r>
              <a:rPr lang="en-US" sz="1700" b="1" dirty="0">
                <a:solidFill>
                  <a:srgbClr val="2A67B1"/>
                </a:solidFill>
                <a:latin typeface="Aptos" pitchFamily="34" charset="0"/>
                <a:ea typeface="Aptos" pitchFamily="34" charset="-122"/>
                <a:cs typeface="Aptos" pitchFamily="34" charset="-120"/>
              </a:rPr>
              <a:t>Kiến trúc gốc</a:t>
            </a:r>
            <a:endParaRPr lang="en-US" sz="1700" dirty="0"/>
          </a:p>
          <a:p>
            <a:pPr algn="ctr" indent="0" marL="0">
              <a:buNone/>
            </a:pPr>
            <a:r>
              <a:rPr lang="en-US" sz="1700" b="1" dirty="0">
                <a:solidFill>
                  <a:srgbClr val="2A67B1"/>
                </a:solidFill>
                <a:latin typeface="Aptos" pitchFamily="34" charset="0"/>
                <a:ea typeface="Aptos" pitchFamily="34" charset="-122"/>
                <a:cs typeface="Aptos" pitchFamily="34" charset="-120"/>
              </a:rPr>
              <a:t>OpenAI Whisper</a:t>
            </a:r>
            <a:endParaRPr lang="en-US" sz="1700" dirty="0"/>
          </a:p>
        </p:txBody>
      </p:sp>
      <p:sp>
        <p:nvSpPr>
          <p:cNvPr id="6" name="Shape 4"/>
          <p:cNvSpPr/>
          <p:nvPr/>
        </p:nvSpPr>
        <p:spPr>
          <a:xfrm>
            <a:off x="3611880" y="1810512"/>
            <a:ext cx="960120" cy="0"/>
          </a:xfrm>
          <a:prstGeom prst="line">
            <a:avLst/>
          </a:prstGeom>
          <a:noFill/>
          <a:ln w="19050">
            <a:solidFill>
              <a:srgbClr val="AAB7C3"/>
            </a:solidFill>
            <a:prstDash val="solid"/>
            <a:headEnd type="none"/>
            <a:tailEnd type="triangle"/>
          </a:ln>
        </p:spPr>
      </p:sp>
      <p:sp>
        <p:nvSpPr>
          <p:cNvPr id="7" name="Shape 5"/>
          <p:cNvSpPr/>
          <p:nvPr/>
        </p:nvSpPr>
        <p:spPr>
          <a:xfrm>
            <a:off x="4681728" y="1234440"/>
            <a:ext cx="2743200" cy="1143000"/>
          </a:xfrm>
          <a:prstGeom prst="roundRect">
            <a:avLst>
              <a:gd name="adj" fmla="val 9600"/>
            </a:avLst>
          </a:prstGeom>
          <a:solidFill>
            <a:srgbClr val="FFFFFF"/>
          </a:solidFill>
          <a:ln w="12700">
            <a:solidFill>
              <a:srgbClr val="2F9E74"/>
            </a:solidFill>
            <a:prstDash val="solid"/>
          </a:ln>
        </p:spPr>
      </p:sp>
      <p:sp>
        <p:nvSpPr>
          <p:cNvPr id="8" name="Text 6"/>
          <p:cNvSpPr/>
          <p:nvPr/>
        </p:nvSpPr>
        <p:spPr>
          <a:xfrm>
            <a:off x="4745736" y="1280160"/>
            <a:ext cx="2615184" cy="1051560"/>
          </a:xfrm>
          <a:prstGeom prst="rect">
            <a:avLst/>
          </a:prstGeom>
          <a:noFill/>
          <a:ln/>
        </p:spPr>
        <p:txBody>
          <a:bodyPr wrap="square" lIns="762" tIns="762" rIns="762" bIns="762" rtlCol="0" anchor="ctr">
            <a:normAutofit/>
          </a:bodyPr>
          <a:lstStyle/>
          <a:p>
            <a:pPr algn="ctr" indent="0" marL="0">
              <a:buNone/>
            </a:pPr>
            <a:r>
              <a:rPr lang="en-US" sz="1700" b="1" dirty="0">
                <a:solidFill>
                  <a:srgbClr val="2F9E74"/>
                </a:solidFill>
                <a:latin typeface="Aptos" pitchFamily="34" charset="0"/>
                <a:ea typeface="Aptos" pitchFamily="34" charset="-122"/>
                <a:cs typeface="Aptos" pitchFamily="34" charset="-120"/>
              </a:rPr>
              <a:t>Fine-tune tiếng Việt</a:t>
            </a:r>
            <a:endParaRPr lang="en-US" sz="1700" dirty="0"/>
          </a:p>
          <a:p>
            <a:pPr algn="ctr" indent="0" marL="0">
              <a:buNone/>
            </a:pPr>
            <a:r>
              <a:rPr lang="en-US" sz="1700" b="1" dirty="0">
                <a:solidFill>
                  <a:srgbClr val="2F9E74"/>
                </a:solidFill>
                <a:latin typeface="Aptos" pitchFamily="34" charset="0"/>
                <a:ea typeface="Aptos" pitchFamily="34" charset="-122"/>
                <a:cs typeface="Aptos" pitchFamily="34" charset="-120"/>
              </a:rPr>
              <a:t>PhoWhisper</a:t>
            </a:r>
            <a:endParaRPr lang="en-US" sz="1700" dirty="0"/>
          </a:p>
        </p:txBody>
      </p:sp>
      <p:sp>
        <p:nvSpPr>
          <p:cNvPr id="9" name="Shape 7"/>
          <p:cNvSpPr/>
          <p:nvPr/>
        </p:nvSpPr>
        <p:spPr>
          <a:xfrm>
            <a:off x="7589520" y="1810512"/>
            <a:ext cx="932688" cy="0"/>
          </a:xfrm>
          <a:prstGeom prst="line">
            <a:avLst/>
          </a:prstGeom>
          <a:noFill/>
          <a:ln w="19050">
            <a:solidFill>
              <a:srgbClr val="AAB7C3"/>
            </a:solidFill>
            <a:prstDash val="solid"/>
            <a:headEnd type="none"/>
            <a:tailEnd type="triangle"/>
          </a:ln>
        </p:spPr>
      </p:sp>
      <p:sp>
        <p:nvSpPr>
          <p:cNvPr id="10" name="Shape 8"/>
          <p:cNvSpPr/>
          <p:nvPr/>
        </p:nvSpPr>
        <p:spPr>
          <a:xfrm>
            <a:off x="8641080" y="1234440"/>
            <a:ext cx="2788920" cy="1143000"/>
          </a:xfrm>
          <a:prstGeom prst="roundRect">
            <a:avLst>
              <a:gd name="adj" fmla="val 9600"/>
            </a:avLst>
          </a:prstGeom>
          <a:solidFill>
            <a:srgbClr val="FFFFFF"/>
          </a:solidFill>
          <a:ln w="12700">
            <a:solidFill>
              <a:srgbClr val="175D7C"/>
            </a:solidFill>
            <a:prstDash val="solid"/>
          </a:ln>
        </p:spPr>
      </p:sp>
      <p:sp>
        <p:nvSpPr>
          <p:cNvPr id="11" name="Text 9"/>
          <p:cNvSpPr/>
          <p:nvPr/>
        </p:nvSpPr>
        <p:spPr>
          <a:xfrm>
            <a:off x="8705088" y="1280160"/>
            <a:ext cx="2660904" cy="1051560"/>
          </a:xfrm>
          <a:prstGeom prst="rect">
            <a:avLst/>
          </a:prstGeom>
          <a:noFill/>
          <a:ln/>
        </p:spPr>
        <p:txBody>
          <a:bodyPr wrap="square" lIns="762" tIns="762" rIns="762" bIns="762" rtlCol="0" anchor="ctr">
            <a:normAutofit/>
          </a:bodyPr>
          <a:lstStyle/>
          <a:p>
            <a:pPr algn="ctr" indent="0" marL="0">
              <a:buNone/>
            </a:pPr>
            <a:r>
              <a:rPr lang="en-US" sz="1600" b="1" dirty="0">
                <a:solidFill>
                  <a:srgbClr val="175D7C"/>
                </a:solidFill>
                <a:latin typeface="Aptos" pitchFamily="34" charset="0"/>
                <a:ea typeface="Aptos" pitchFamily="34" charset="-122"/>
                <a:cs typeface="Aptos" pitchFamily="34" charset="-120"/>
              </a:rPr>
              <a:t>Checkpoint dùng trong slide</a:t>
            </a:r>
            <a:endParaRPr lang="en-US" sz="1600" dirty="0"/>
          </a:p>
          <a:p>
            <a:pPr algn="ctr" indent="0" marL="0">
              <a:buNone/>
            </a:pPr>
            <a:r>
              <a:rPr lang="en-US" sz="1600" b="1" dirty="0">
                <a:solidFill>
                  <a:srgbClr val="175D7C"/>
                </a:solidFill>
                <a:latin typeface="Aptos" pitchFamily="34" charset="0"/>
                <a:ea typeface="Aptos" pitchFamily="34" charset="-122"/>
                <a:cs typeface="Aptos" pitchFamily="34" charset="-120"/>
              </a:rPr>
              <a:t>vinai/PhoWhisper-large</a:t>
            </a:r>
            <a:endParaRPr lang="en-US" sz="1600" dirty="0"/>
          </a:p>
        </p:txBody>
      </p:sp>
      <p:sp>
        <p:nvSpPr>
          <p:cNvPr id="12" name="Text 10"/>
          <p:cNvSpPr/>
          <p:nvPr/>
        </p:nvSpPr>
        <p:spPr>
          <a:xfrm>
            <a:off x="914400" y="3154680"/>
            <a:ext cx="10058400" cy="1965960"/>
          </a:xfrm>
          <a:prstGeom prst="rect">
            <a:avLst/>
          </a:prstGeom>
          <a:noFill/>
          <a:ln/>
        </p:spPr>
        <p:txBody>
          <a:bodyPr wrap="square" lIns="1016" tIns="1016" rIns="1016" bIns="1016" rtlCol="0" anchor="ctr">
            <a:normAutofit/>
          </a:bodyPr>
          <a:lstStyle/>
          <a:p>
            <a:r>
              <a:rPr lang="en-US" sz="1350" dirty="0">
                <a:solidFill>
                  <a:srgbClr val="12212B"/>
                </a:solidFill>
                <a:latin typeface="Aptos" pitchFamily="34" charset="0"/>
                <a:ea typeface="Aptos" pitchFamily="34" charset="-122"/>
                <a:cs typeface="Aptos" pitchFamily="34" charset="-120"/>
              </a:rPr>
              <a:t>PhoWhisper là các checkpoint ASR tiếng Việt được fine-tune từ Whisper đa ngôn ngữ.</a:t>
            </a:r>
            <a:endParaRPr lang="en-US" sz="1350" dirty="0"/>
          </a:p>
          <a:p>
            <a:r>
              <a:rPr lang="en-US" sz="1350" dirty="0">
                <a:solidFill>
                  <a:srgbClr val="12212B"/>
                </a:solidFill>
                <a:latin typeface="Aptos" pitchFamily="34" charset="0"/>
                <a:ea typeface="Aptos" pitchFamily="34" charset="-122"/>
                <a:cs typeface="Aptos" pitchFamily="34" charset="-120"/>
              </a:rPr>
              <a:t>Model card của vinai/PhoWhisper-large ghi license BSD-3-Clause.</a:t>
            </a:r>
            <a:endParaRPr lang="en-US" sz="1350" dirty="0"/>
          </a:p>
          <a:p>
            <a:r>
              <a:rPr lang="en-US" sz="1350" dirty="0">
                <a:solidFill>
                  <a:srgbClr val="12212B"/>
                </a:solidFill>
                <a:latin typeface="Aptos" pitchFamily="34" charset="0"/>
                <a:ea typeface="Aptos" pitchFamily="34" charset="-122"/>
                <a:cs typeface="Aptos" pitchFamily="34" charset="-120"/>
              </a:rPr>
              <a:t>Generation config cho thấy checkpoint vẫn dùng cơ chế multilingual Whisper với token tiếng Việt &lt;|vi|&gt; và task transcribe.</a:t>
            </a:r>
            <a:endParaRPr lang="en-US" sz="1350" dirty="0"/>
          </a:p>
          <a:p>
            <a:r>
              <a:rPr lang="en-US" sz="1350" dirty="0">
                <a:solidFill>
                  <a:srgbClr val="12212B"/>
                </a:solidFill>
                <a:latin typeface="Aptos" pitchFamily="34" charset="0"/>
                <a:ea typeface="Aptos" pitchFamily="34" charset="-122"/>
                <a:cs typeface="Aptos" pitchFamily="34" charset="-120"/>
              </a:rPr>
              <a:t>Bài tập trung vào inference: âm thanh vào, transcript ra.</a:t>
            </a:r>
            <a:endParaRPr lang="en-US" sz="1350" dirty="0"/>
          </a:p>
        </p:txBody>
      </p:sp>
      <p:sp>
        <p:nvSpPr>
          <p:cNvPr id="13" name="Text 11"/>
          <p:cNvSpPr/>
          <p:nvPr/>
        </p:nvSpPr>
        <p:spPr>
          <a:xfrm>
            <a:off x="914400" y="5559552"/>
            <a:ext cx="10058400" cy="320040"/>
          </a:xfrm>
          <a:prstGeom prst="rect">
            <a:avLst/>
          </a:prstGeom>
          <a:noFill/>
          <a:ln/>
        </p:spPr>
        <p:txBody>
          <a:bodyPr wrap="square" lIns="762" tIns="762" rIns="762" bIns="762" rtlCol="0" anchor="ctr">
            <a:normAutofit/>
          </a:bodyPr>
          <a:lstStyle/>
          <a:p>
            <a:pPr algn="l" indent="0" marL="0">
              <a:buNone/>
            </a:pPr>
            <a:r>
              <a:rPr lang="en-US" sz="1150" i="1" dirty="0">
                <a:solidFill>
                  <a:srgbClr val="516271"/>
                </a:solidFill>
                <a:latin typeface="Aptos" pitchFamily="34" charset="0"/>
                <a:ea typeface="Aptos" pitchFamily="34" charset="-122"/>
                <a:cs typeface="Aptos" pitchFamily="34" charset="-120"/>
              </a:rPr>
              <a:t>Lưu ý: vì người dùng chưa thay placeholder checkpoint, deck này chọn PhoWhisper-large theo tài liệu Word trước đó và bối cảnh tiếng Việt.</a:t>
            </a:r>
            <a:endParaRPr lang="en-US" sz="1150" dirty="0"/>
          </a:p>
        </p:txBody>
      </p:sp>
      <p:sp>
        <p:nvSpPr>
          <p:cNvPr id="14" name="Shape 12"/>
          <p:cNvSpPr/>
          <p:nvPr/>
        </p:nvSpPr>
        <p:spPr>
          <a:xfrm>
            <a:off x="438912" y="6199632"/>
            <a:ext cx="2377440" cy="310896"/>
          </a:xfrm>
          <a:prstGeom prst="roundRect">
            <a:avLst>
              <a:gd name="adj" fmla="val 44118"/>
            </a:avLst>
          </a:prstGeom>
          <a:solidFill>
            <a:srgbClr val="E8F2F6"/>
          </a:solidFill>
          <a:ln w="12700">
            <a:solidFill>
              <a:srgbClr val="E8F2F6"/>
            </a:solidFill>
            <a:prstDash val="solid"/>
          </a:ln>
        </p:spPr>
      </p:sp>
      <p:sp>
        <p:nvSpPr>
          <p:cNvPr id="15" name="Text 13"/>
          <p:cNvSpPr/>
          <p:nvPr/>
        </p:nvSpPr>
        <p:spPr>
          <a:xfrm>
            <a:off x="512064" y="6259068"/>
            <a:ext cx="2231136" cy="201168"/>
          </a:xfrm>
          <a:prstGeom prst="rect">
            <a:avLst/>
          </a:prstGeom>
          <a:noFill/>
          <a:ln/>
        </p:spPr>
        <p:txBody>
          <a:bodyPr wrap="square" lIns="0" tIns="0" rIns="0" bIns="0" rtlCol="0" anchor="ctr">
            <a:normAutofit/>
          </a:bodyPr>
          <a:lstStyle/>
          <a:p>
            <a:pPr algn="ctr" indent="0" marL="0">
              <a:buNone/>
            </a:pPr>
            <a:r>
              <a:rPr lang="en-US" sz="950" b="1" dirty="0">
                <a:solidFill>
                  <a:srgbClr val="175D7C"/>
                </a:solidFill>
                <a:latin typeface="Aptos" pitchFamily="34" charset="0"/>
                <a:ea typeface="Aptos" pitchFamily="34" charset="-122"/>
                <a:cs typeface="Aptos" pitchFamily="34" charset="-120"/>
              </a:rPr>
              <a:t>Checkpoint</a:t>
            </a:r>
            <a:endParaRPr lang="en-US" sz="950" dirty="0"/>
          </a:p>
        </p:txBody>
      </p:sp>
      <p:sp>
        <p:nvSpPr>
          <p:cNvPr id="25" name="Slide Number Placeholder 0"/>
          <p:cNvSpPr>
            <a:spLocks noGrp="1"/>
          </p:cNvSpPr>
          <p:nvPr>
            <p:ph type="sldNum" sz="quarter" idx="4294967295"/>
          </p:nvPr>
        </p:nvSpPr>
        <p:spPr>
          <a:xfrm>
            <a:off x="11841480" y="6519672"/>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7C879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420624" y="256032"/>
            <a:ext cx="9875520" cy="384048"/>
          </a:xfrm>
          <a:prstGeom prst="rect">
            <a:avLst/>
          </a:prstGeom>
          <a:noFill/>
          <a:ln/>
        </p:spPr>
        <p:txBody>
          <a:bodyPr wrap="square" lIns="0" tIns="0" rIns="0" bIns="0" rtlCol="0" anchor="ctr"/>
          <a:lstStyle/>
          <a:p>
            <a:pPr indent="0" marL="0">
              <a:buNone/>
            </a:pPr>
            <a:r>
              <a:rPr lang="en-US" sz="2500" b="1" dirty="0">
                <a:solidFill>
                  <a:srgbClr val="12212B"/>
                </a:solidFill>
                <a:latin typeface="Aptos Display" pitchFamily="34" charset="0"/>
                <a:ea typeface="Aptos Display" pitchFamily="34" charset="-122"/>
                <a:cs typeface="Aptos Display" pitchFamily="34" charset="-120"/>
              </a:rPr>
              <a:t>Bức tranh tổng thể trong call center</a:t>
            </a:r>
            <a:endParaRPr lang="en-US" sz="2500" dirty="0"/>
          </a:p>
        </p:txBody>
      </p:sp>
      <p:sp>
        <p:nvSpPr>
          <p:cNvPr id="3" name="Text 1"/>
          <p:cNvSpPr/>
          <p:nvPr/>
        </p:nvSpPr>
        <p:spPr>
          <a:xfrm>
            <a:off x="438912" y="694944"/>
            <a:ext cx="9875520" cy="256032"/>
          </a:xfrm>
          <a:prstGeom prst="rect">
            <a:avLst/>
          </a:prstGeom>
          <a:noFill/>
          <a:ln/>
        </p:spPr>
        <p:txBody>
          <a:bodyPr wrap="square" lIns="0" tIns="0" rIns="0" bIns="0" rtlCol="0" anchor="ctr"/>
          <a:lstStyle/>
          <a:p>
            <a:pPr indent="0" marL="0">
              <a:buNone/>
            </a:pPr>
            <a:r>
              <a:rPr lang="en-US" sz="1050" dirty="0">
                <a:solidFill>
                  <a:srgbClr val="516271"/>
                </a:solidFill>
              </a:rPr>
              <a:t>Mô hình chỉ là lõi ASR; hệ thống thật có nhiều bước xung quanh</a:t>
            </a:r>
            <a:endParaRPr lang="en-US" sz="1050" dirty="0"/>
          </a:p>
        </p:txBody>
      </p:sp>
      <p:sp>
        <p:nvSpPr>
          <p:cNvPr id="4" name="Shape 2"/>
          <p:cNvSpPr/>
          <p:nvPr/>
        </p:nvSpPr>
        <p:spPr>
          <a:xfrm>
            <a:off x="685800" y="1920240"/>
            <a:ext cx="1188720" cy="621792"/>
          </a:xfrm>
          <a:prstGeom prst="roundRect">
            <a:avLst>
              <a:gd name="adj" fmla="val 17647"/>
            </a:avLst>
          </a:prstGeom>
          <a:solidFill>
            <a:srgbClr val="FFFFFF"/>
          </a:solidFill>
          <a:ln w="12700">
            <a:solidFill>
              <a:srgbClr val="175D7C"/>
            </a:solidFill>
            <a:prstDash val="solid"/>
          </a:ln>
        </p:spPr>
      </p:sp>
      <p:sp>
        <p:nvSpPr>
          <p:cNvPr id="5" name="Text 3"/>
          <p:cNvSpPr/>
          <p:nvPr/>
        </p:nvSpPr>
        <p:spPr>
          <a:xfrm>
            <a:off x="749808" y="1965960"/>
            <a:ext cx="1060704" cy="530352"/>
          </a:xfrm>
          <a:prstGeom prst="rect">
            <a:avLst/>
          </a:prstGeom>
          <a:noFill/>
          <a:ln/>
        </p:spPr>
        <p:txBody>
          <a:bodyPr wrap="square" lIns="762" tIns="762" rIns="762" bIns="762" rtlCol="0" anchor="ctr">
            <a:normAutofit/>
          </a:bodyPr>
          <a:lstStyle/>
          <a:p>
            <a:pPr algn="ctr" indent="0" marL="0">
              <a:buNone/>
            </a:pPr>
            <a:r>
              <a:rPr lang="en-US" sz="1400" b="1" dirty="0">
                <a:solidFill>
                  <a:srgbClr val="12212B"/>
                </a:solidFill>
                <a:latin typeface="Aptos" pitchFamily="34" charset="0"/>
                <a:ea typeface="Aptos" pitchFamily="34" charset="-122"/>
                <a:cs typeface="Aptos" pitchFamily="34" charset="-120"/>
              </a:rPr>
              <a:t>Cuộc gọi</a:t>
            </a:r>
            <a:endParaRPr lang="en-US" sz="1400" dirty="0"/>
          </a:p>
        </p:txBody>
      </p:sp>
      <p:sp>
        <p:nvSpPr>
          <p:cNvPr id="6" name="Shape 4"/>
          <p:cNvSpPr/>
          <p:nvPr/>
        </p:nvSpPr>
        <p:spPr>
          <a:xfrm>
            <a:off x="1965960" y="2231136"/>
            <a:ext cx="457200" cy="0"/>
          </a:xfrm>
          <a:prstGeom prst="line">
            <a:avLst/>
          </a:prstGeom>
          <a:noFill/>
          <a:ln w="17780">
            <a:solidFill>
              <a:srgbClr val="AAB7C3"/>
            </a:solidFill>
            <a:prstDash val="solid"/>
            <a:headEnd type="none"/>
            <a:tailEnd type="triangle"/>
          </a:ln>
        </p:spPr>
      </p:sp>
      <p:sp>
        <p:nvSpPr>
          <p:cNvPr id="7" name="Shape 5"/>
          <p:cNvSpPr/>
          <p:nvPr/>
        </p:nvSpPr>
        <p:spPr>
          <a:xfrm>
            <a:off x="2514600" y="1920240"/>
            <a:ext cx="1691640" cy="621792"/>
          </a:xfrm>
          <a:prstGeom prst="roundRect">
            <a:avLst>
              <a:gd name="adj" fmla="val 17647"/>
            </a:avLst>
          </a:prstGeom>
          <a:solidFill>
            <a:srgbClr val="FFFFFF"/>
          </a:solidFill>
          <a:ln w="12700">
            <a:solidFill>
              <a:srgbClr val="2A67B1"/>
            </a:solidFill>
            <a:prstDash val="solid"/>
          </a:ln>
        </p:spPr>
      </p:sp>
      <p:sp>
        <p:nvSpPr>
          <p:cNvPr id="8" name="Text 6"/>
          <p:cNvSpPr/>
          <p:nvPr/>
        </p:nvSpPr>
        <p:spPr>
          <a:xfrm>
            <a:off x="2578608" y="1965960"/>
            <a:ext cx="1563624" cy="530352"/>
          </a:xfrm>
          <a:prstGeom prst="rect">
            <a:avLst/>
          </a:prstGeom>
          <a:noFill/>
          <a:ln/>
        </p:spPr>
        <p:txBody>
          <a:bodyPr wrap="square" lIns="762" tIns="762" rIns="762" bIns="762" rtlCol="0" anchor="ctr">
            <a:normAutofit/>
          </a:bodyPr>
          <a:lstStyle/>
          <a:p>
            <a:pPr algn="ctr" indent="0" marL="0">
              <a:buNone/>
            </a:pPr>
            <a:r>
              <a:rPr lang="en-US" sz="1300" b="1" dirty="0">
                <a:solidFill>
                  <a:srgbClr val="12212B"/>
                </a:solidFill>
                <a:latin typeface="Aptos" pitchFamily="34" charset="0"/>
                <a:ea typeface="Aptos" pitchFamily="34" charset="-122"/>
                <a:cs typeface="Aptos" pitchFamily="34" charset="-120"/>
              </a:rPr>
              <a:t>Chuẩn hóa audio</a:t>
            </a:r>
            <a:endParaRPr lang="en-US" sz="1300" dirty="0"/>
          </a:p>
        </p:txBody>
      </p:sp>
      <p:sp>
        <p:nvSpPr>
          <p:cNvPr id="9" name="Shape 7"/>
          <p:cNvSpPr/>
          <p:nvPr/>
        </p:nvSpPr>
        <p:spPr>
          <a:xfrm>
            <a:off x="4315968" y="2231136"/>
            <a:ext cx="457200" cy="0"/>
          </a:xfrm>
          <a:prstGeom prst="line">
            <a:avLst/>
          </a:prstGeom>
          <a:noFill/>
          <a:ln w="17780">
            <a:solidFill>
              <a:srgbClr val="AAB7C3"/>
            </a:solidFill>
            <a:prstDash val="solid"/>
            <a:headEnd type="none"/>
            <a:tailEnd type="triangle"/>
          </a:ln>
        </p:spPr>
      </p:sp>
      <p:sp>
        <p:nvSpPr>
          <p:cNvPr id="10" name="Shape 8"/>
          <p:cNvSpPr/>
          <p:nvPr/>
        </p:nvSpPr>
        <p:spPr>
          <a:xfrm>
            <a:off x="4873752" y="1920240"/>
            <a:ext cx="1234440" cy="621792"/>
          </a:xfrm>
          <a:prstGeom prst="roundRect">
            <a:avLst>
              <a:gd name="adj" fmla="val 17647"/>
            </a:avLst>
          </a:prstGeom>
          <a:solidFill>
            <a:srgbClr val="FFFFFF"/>
          </a:solidFill>
          <a:ln w="12700">
            <a:solidFill>
              <a:srgbClr val="E26D5A"/>
            </a:solidFill>
            <a:prstDash val="solid"/>
          </a:ln>
        </p:spPr>
      </p:sp>
      <p:sp>
        <p:nvSpPr>
          <p:cNvPr id="11" name="Text 9"/>
          <p:cNvSpPr/>
          <p:nvPr/>
        </p:nvSpPr>
        <p:spPr>
          <a:xfrm>
            <a:off x="4937760" y="1965960"/>
            <a:ext cx="1106424" cy="530352"/>
          </a:xfrm>
          <a:prstGeom prst="rect">
            <a:avLst/>
          </a:prstGeom>
          <a:noFill/>
          <a:ln/>
        </p:spPr>
        <p:txBody>
          <a:bodyPr wrap="square" lIns="762" tIns="762" rIns="762" bIns="762" rtlCol="0" anchor="ctr">
            <a:normAutofit/>
          </a:bodyPr>
          <a:lstStyle/>
          <a:p>
            <a:pPr algn="ctr" indent="0" marL="0">
              <a:buNone/>
            </a:pPr>
            <a:r>
              <a:rPr lang="en-US" sz="1300" b="1" dirty="0">
                <a:solidFill>
                  <a:srgbClr val="12212B"/>
                </a:solidFill>
                <a:latin typeface="Aptos" pitchFamily="34" charset="0"/>
                <a:ea typeface="Aptos" pitchFamily="34" charset="-122"/>
                <a:cs typeface="Aptos" pitchFamily="34" charset="-120"/>
              </a:rPr>
              <a:t>Log-Mel</a:t>
            </a:r>
            <a:endParaRPr lang="en-US" sz="1300" dirty="0"/>
          </a:p>
        </p:txBody>
      </p:sp>
      <p:sp>
        <p:nvSpPr>
          <p:cNvPr id="12" name="Shape 10"/>
          <p:cNvSpPr/>
          <p:nvPr/>
        </p:nvSpPr>
        <p:spPr>
          <a:xfrm>
            <a:off x="6217920" y="2231136"/>
            <a:ext cx="457200" cy="0"/>
          </a:xfrm>
          <a:prstGeom prst="line">
            <a:avLst/>
          </a:prstGeom>
          <a:noFill/>
          <a:ln w="17780">
            <a:solidFill>
              <a:srgbClr val="AAB7C3"/>
            </a:solidFill>
            <a:prstDash val="solid"/>
            <a:headEnd type="none"/>
            <a:tailEnd type="triangle"/>
          </a:ln>
        </p:spPr>
      </p:sp>
      <p:sp>
        <p:nvSpPr>
          <p:cNvPr id="13" name="Shape 11"/>
          <p:cNvSpPr/>
          <p:nvPr/>
        </p:nvSpPr>
        <p:spPr>
          <a:xfrm>
            <a:off x="6784848" y="1920240"/>
            <a:ext cx="1234440" cy="621792"/>
          </a:xfrm>
          <a:prstGeom prst="roundRect">
            <a:avLst>
              <a:gd name="adj" fmla="val 17647"/>
            </a:avLst>
          </a:prstGeom>
          <a:solidFill>
            <a:srgbClr val="FFFFFF"/>
          </a:solidFill>
          <a:ln w="12700">
            <a:solidFill>
              <a:srgbClr val="2F9E74"/>
            </a:solidFill>
            <a:prstDash val="solid"/>
          </a:ln>
        </p:spPr>
      </p:sp>
      <p:sp>
        <p:nvSpPr>
          <p:cNvPr id="14" name="Text 12"/>
          <p:cNvSpPr/>
          <p:nvPr/>
        </p:nvSpPr>
        <p:spPr>
          <a:xfrm>
            <a:off x="6848856" y="1965960"/>
            <a:ext cx="1106424" cy="530352"/>
          </a:xfrm>
          <a:prstGeom prst="rect">
            <a:avLst/>
          </a:prstGeom>
          <a:noFill/>
          <a:ln/>
        </p:spPr>
        <p:txBody>
          <a:bodyPr wrap="square" lIns="762" tIns="762" rIns="762" bIns="762" rtlCol="0" anchor="ctr">
            <a:normAutofit/>
          </a:bodyPr>
          <a:lstStyle/>
          <a:p>
            <a:pPr algn="ctr" indent="0" marL="0">
              <a:buNone/>
            </a:pPr>
            <a:r>
              <a:rPr lang="en-US" sz="1300" b="1" dirty="0">
                <a:solidFill>
                  <a:srgbClr val="12212B"/>
                </a:solidFill>
                <a:latin typeface="Aptos" pitchFamily="34" charset="0"/>
                <a:ea typeface="Aptos" pitchFamily="34" charset="-122"/>
                <a:cs typeface="Aptos" pitchFamily="34" charset="-120"/>
              </a:rPr>
              <a:t>Encoder</a:t>
            </a:r>
            <a:endParaRPr lang="en-US" sz="1300" dirty="0"/>
          </a:p>
        </p:txBody>
      </p:sp>
      <p:sp>
        <p:nvSpPr>
          <p:cNvPr id="15" name="Shape 13"/>
          <p:cNvSpPr/>
          <p:nvPr/>
        </p:nvSpPr>
        <p:spPr>
          <a:xfrm>
            <a:off x="8138160" y="2231136"/>
            <a:ext cx="457200" cy="0"/>
          </a:xfrm>
          <a:prstGeom prst="line">
            <a:avLst/>
          </a:prstGeom>
          <a:noFill/>
          <a:ln w="17780">
            <a:solidFill>
              <a:srgbClr val="AAB7C3"/>
            </a:solidFill>
            <a:prstDash val="solid"/>
            <a:headEnd type="none"/>
            <a:tailEnd type="triangle"/>
          </a:ln>
        </p:spPr>
      </p:sp>
      <p:sp>
        <p:nvSpPr>
          <p:cNvPr id="16" name="Shape 14"/>
          <p:cNvSpPr/>
          <p:nvPr/>
        </p:nvSpPr>
        <p:spPr>
          <a:xfrm>
            <a:off x="8705088" y="1920240"/>
            <a:ext cx="1234440" cy="621792"/>
          </a:xfrm>
          <a:prstGeom prst="roundRect">
            <a:avLst>
              <a:gd name="adj" fmla="val 17647"/>
            </a:avLst>
          </a:prstGeom>
          <a:solidFill>
            <a:srgbClr val="FFFFFF"/>
          </a:solidFill>
          <a:ln w="12700">
            <a:solidFill>
              <a:srgbClr val="6D5BD0"/>
            </a:solidFill>
            <a:prstDash val="solid"/>
          </a:ln>
        </p:spPr>
      </p:sp>
      <p:sp>
        <p:nvSpPr>
          <p:cNvPr id="17" name="Text 15"/>
          <p:cNvSpPr/>
          <p:nvPr/>
        </p:nvSpPr>
        <p:spPr>
          <a:xfrm>
            <a:off x="8769096" y="1965960"/>
            <a:ext cx="1106424" cy="530352"/>
          </a:xfrm>
          <a:prstGeom prst="rect">
            <a:avLst/>
          </a:prstGeom>
          <a:noFill/>
          <a:ln/>
        </p:spPr>
        <p:txBody>
          <a:bodyPr wrap="square" lIns="762" tIns="762" rIns="762" bIns="762" rtlCol="0" anchor="ctr">
            <a:normAutofit/>
          </a:bodyPr>
          <a:lstStyle/>
          <a:p>
            <a:pPr algn="ctr" indent="0" marL="0">
              <a:buNone/>
            </a:pPr>
            <a:r>
              <a:rPr lang="en-US" sz="1300" b="1" dirty="0">
                <a:solidFill>
                  <a:srgbClr val="12212B"/>
                </a:solidFill>
                <a:latin typeface="Aptos" pitchFamily="34" charset="0"/>
                <a:ea typeface="Aptos" pitchFamily="34" charset="-122"/>
                <a:cs typeface="Aptos" pitchFamily="34" charset="-120"/>
              </a:rPr>
              <a:t>Decoder</a:t>
            </a:r>
            <a:endParaRPr lang="en-US" sz="1300" dirty="0"/>
          </a:p>
        </p:txBody>
      </p:sp>
      <p:sp>
        <p:nvSpPr>
          <p:cNvPr id="18" name="Shape 16"/>
          <p:cNvSpPr/>
          <p:nvPr/>
        </p:nvSpPr>
        <p:spPr>
          <a:xfrm>
            <a:off x="10058400" y="2231136"/>
            <a:ext cx="457200" cy="0"/>
          </a:xfrm>
          <a:prstGeom prst="line">
            <a:avLst/>
          </a:prstGeom>
          <a:noFill/>
          <a:ln w="17780">
            <a:solidFill>
              <a:srgbClr val="AAB7C3"/>
            </a:solidFill>
            <a:prstDash val="solid"/>
            <a:headEnd type="none"/>
            <a:tailEnd type="triangle"/>
          </a:ln>
        </p:spPr>
      </p:sp>
      <p:sp>
        <p:nvSpPr>
          <p:cNvPr id="19" name="Shape 17"/>
          <p:cNvSpPr/>
          <p:nvPr/>
        </p:nvSpPr>
        <p:spPr>
          <a:xfrm>
            <a:off x="10607040" y="1920240"/>
            <a:ext cx="1143000" cy="621792"/>
          </a:xfrm>
          <a:prstGeom prst="roundRect">
            <a:avLst>
              <a:gd name="adj" fmla="val 17647"/>
            </a:avLst>
          </a:prstGeom>
          <a:solidFill>
            <a:srgbClr val="FFFFFF"/>
          </a:solidFill>
          <a:ln w="12700">
            <a:solidFill>
              <a:srgbClr val="175D7C"/>
            </a:solidFill>
            <a:prstDash val="solid"/>
          </a:ln>
        </p:spPr>
      </p:sp>
      <p:sp>
        <p:nvSpPr>
          <p:cNvPr id="20" name="Text 18"/>
          <p:cNvSpPr/>
          <p:nvPr/>
        </p:nvSpPr>
        <p:spPr>
          <a:xfrm>
            <a:off x="10671048" y="1965960"/>
            <a:ext cx="1014984" cy="530352"/>
          </a:xfrm>
          <a:prstGeom prst="rect">
            <a:avLst/>
          </a:prstGeom>
          <a:noFill/>
          <a:ln/>
        </p:spPr>
        <p:txBody>
          <a:bodyPr wrap="square" lIns="762" tIns="762" rIns="762" bIns="762" rtlCol="0" anchor="ctr">
            <a:normAutofit/>
          </a:bodyPr>
          <a:lstStyle/>
          <a:p>
            <a:pPr algn="ctr" indent="0" marL="0">
              <a:buNone/>
            </a:pPr>
            <a:r>
              <a:rPr lang="en-US" sz="1300" b="1" dirty="0">
                <a:solidFill>
                  <a:srgbClr val="12212B"/>
                </a:solidFill>
                <a:latin typeface="Aptos" pitchFamily="34" charset="0"/>
                <a:ea typeface="Aptos" pitchFamily="34" charset="-122"/>
                <a:cs typeface="Aptos" pitchFamily="34" charset="-120"/>
              </a:rPr>
              <a:t>Transcript</a:t>
            </a:r>
            <a:endParaRPr lang="en-US" sz="1300" dirty="0"/>
          </a:p>
        </p:txBody>
      </p:sp>
      <p:sp>
        <p:nvSpPr>
          <p:cNvPr id="21" name="Text 19"/>
          <p:cNvSpPr/>
          <p:nvPr/>
        </p:nvSpPr>
        <p:spPr>
          <a:xfrm>
            <a:off x="822960" y="2834640"/>
            <a:ext cx="822960" cy="228600"/>
          </a:xfrm>
          <a:prstGeom prst="rect">
            <a:avLst/>
          </a:prstGeom>
          <a:noFill/>
          <a:ln/>
        </p:spPr>
        <p:txBody>
          <a:bodyPr wrap="square" lIns="762" tIns="762" rIns="762" bIns="762" rtlCol="0" anchor="ctr">
            <a:normAutofit/>
          </a:bodyPr>
          <a:lstStyle/>
          <a:p>
            <a:pPr algn="l" indent="0" marL="0">
              <a:buNone/>
            </a:pPr>
            <a:r>
              <a:rPr lang="en-US" sz="1200" b="1" dirty="0">
                <a:solidFill>
                  <a:srgbClr val="516271"/>
                </a:solidFill>
                <a:latin typeface="Aptos" pitchFamily="34" charset="0"/>
                <a:ea typeface="Aptos" pitchFamily="34" charset="-122"/>
                <a:cs typeface="Aptos" pitchFamily="34" charset="-120"/>
              </a:rPr>
              <a:t>Ví dụ:</a:t>
            </a:r>
            <a:endParaRPr lang="en-US" sz="1200" dirty="0"/>
          </a:p>
        </p:txBody>
      </p:sp>
      <p:sp>
        <p:nvSpPr>
          <p:cNvPr id="22" name="Shape 20"/>
          <p:cNvSpPr/>
          <p:nvPr/>
        </p:nvSpPr>
        <p:spPr>
          <a:xfrm>
            <a:off x="1783080" y="2999232"/>
            <a:ext cx="3840480" cy="640080"/>
          </a:xfrm>
          <a:prstGeom prst="roundRect">
            <a:avLst>
              <a:gd name="adj" fmla="val 17143"/>
            </a:avLst>
          </a:prstGeom>
          <a:solidFill>
            <a:srgbClr val="FFFFFF"/>
          </a:solidFill>
          <a:ln w="12700">
            <a:solidFill>
              <a:srgbClr val="175D7C"/>
            </a:solidFill>
            <a:prstDash val="solid"/>
          </a:ln>
        </p:spPr>
      </p:sp>
      <p:sp>
        <p:nvSpPr>
          <p:cNvPr id="23" name="Text 21"/>
          <p:cNvSpPr/>
          <p:nvPr/>
        </p:nvSpPr>
        <p:spPr>
          <a:xfrm>
            <a:off x="1847088" y="3044952"/>
            <a:ext cx="3712464" cy="548640"/>
          </a:xfrm>
          <a:prstGeom prst="rect">
            <a:avLst/>
          </a:prstGeom>
          <a:noFill/>
          <a:ln/>
        </p:spPr>
        <p:txBody>
          <a:bodyPr wrap="square" lIns="762" tIns="762" rIns="762" bIns="762" rtlCol="0" anchor="ctr">
            <a:normAutofit/>
          </a:bodyPr>
          <a:lstStyle/>
          <a:p>
            <a:pPr algn="ctr" indent="0" marL="0">
              <a:buNone/>
            </a:pPr>
            <a:r>
              <a:rPr lang="en-US" sz="1800" b="1" dirty="0">
                <a:solidFill>
                  <a:srgbClr val="175D7C"/>
                </a:solidFill>
                <a:latin typeface="Aptos" pitchFamily="34" charset="0"/>
                <a:ea typeface="Aptos" pitchFamily="34" charset="-122"/>
                <a:cs typeface="Aptos" pitchFamily="34" charset="-120"/>
              </a:rPr>
              <a:t>“tôi muốn kiểm tra hợp đồng”</a:t>
            </a:r>
            <a:endParaRPr lang="en-US" sz="1800" dirty="0"/>
          </a:p>
        </p:txBody>
      </p:sp>
      <p:sp>
        <p:nvSpPr>
          <p:cNvPr id="24" name="Text 22"/>
          <p:cNvSpPr/>
          <p:nvPr/>
        </p:nvSpPr>
        <p:spPr>
          <a:xfrm>
            <a:off x="6446520" y="2907792"/>
            <a:ext cx="4754880" cy="1645920"/>
          </a:xfrm>
          <a:prstGeom prst="rect">
            <a:avLst/>
          </a:prstGeom>
          <a:noFill/>
          <a:ln/>
        </p:spPr>
        <p:txBody>
          <a:bodyPr wrap="square" lIns="1016" tIns="1016" rIns="1016" bIns="1016" rtlCol="0" anchor="ctr">
            <a:normAutofit/>
          </a:bodyPr>
          <a:lstStyle/>
          <a:p>
            <a:r>
              <a:rPr lang="en-US" sz="1300" dirty="0">
                <a:solidFill>
                  <a:srgbClr val="12212B"/>
                </a:solidFill>
                <a:latin typeface="Aptos" pitchFamily="34" charset="0"/>
                <a:ea typeface="Aptos" pitchFamily="34" charset="-122"/>
                <a:cs typeface="Aptos" pitchFamily="34" charset="-120"/>
              </a:rPr>
              <a:t>Diarization: tách ai nói — thường là thành phần ngoài mô hình ASR.</a:t>
            </a:r>
            <a:endParaRPr lang="en-US" sz="1300" dirty="0"/>
          </a:p>
          <a:p>
            <a:r>
              <a:rPr lang="en-US" sz="1300" dirty="0">
                <a:solidFill>
                  <a:srgbClr val="12212B"/>
                </a:solidFill>
                <a:latin typeface="Aptos" pitchFamily="34" charset="0"/>
                <a:ea typeface="Aptos" pitchFamily="34" charset="-122"/>
                <a:cs typeface="Aptos" pitchFamily="34" charset="-120"/>
              </a:rPr>
              <a:t>Punctuation/casing: có thể do model sinh hoặc do hậu xử lý, cần kiểm chứng checkpoint.</a:t>
            </a:r>
            <a:endParaRPr lang="en-US" sz="1300" dirty="0"/>
          </a:p>
          <a:p>
            <a:r>
              <a:rPr lang="en-US" sz="1300" dirty="0">
                <a:solidFill>
                  <a:srgbClr val="12212B"/>
                </a:solidFill>
                <a:latin typeface="Aptos" pitchFamily="34" charset="0"/>
                <a:ea typeface="Aptos" pitchFamily="34" charset="-122"/>
                <a:cs typeface="Aptos" pitchFamily="34" charset="-120"/>
              </a:rPr>
              <a:t>Streaming thời gian thực: thường là thiết kế pipeline, không phải mặc định của Whisper gốc.</a:t>
            </a:r>
            <a:endParaRPr lang="en-US" sz="1300" dirty="0"/>
          </a:p>
        </p:txBody>
      </p:sp>
      <p:sp>
        <p:nvSpPr>
          <p:cNvPr id="25" name="Shape 23"/>
          <p:cNvSpPr/>
          <p:nvPr/>
        </p:nvSpPr>
        <p:spPr>
          <a:xfrm>
            <a:off x="438912" y="6199632"/>
            <a:ext cx="2377440" cy="310896"/>
          </a:xfrm>
          <a:prstGeom prst="roundRect">
            <a:avLst>
              <a:gd name="adj" fmla="val 44118"/>
            </a:avLst>
          </a:prstGeom>
          <a:solidFill>
            <a:srgbClr val="E8F2F6"/>
          </a:solidFill>
          <a:ln w="12700">
            <a:solidFill>
              <a:srgbClr val="E8F2F6"/>
            </a:solidFill>
            <a:prstDash val="solid"/>
          </a:ln>
        </p:spPr>
      </p:sp>
      <p:sp>
        <p:nvSpPr>
          <p:cNvPr id="26" name="Text 24"/>
          <p:cNvSpPr/>
          <p:nvPr/>
        </p:nvSpPr>
        <p:spPr>
          <a:xfrm>
            <a:off x="512064" y="6259068"/>
            <a:ext cx="2231136" cy="201168"/>
          </a:xfrm>
          <a:prstGeom prst="rect">
            <a:avLst/>
          </a:prstGeom>
          <a:noFill/>
          <a:ln/>
        </p:spPr>
        <p:txBody>
          <a:bodyPr wrap="square" lIns="0" tIns="0" rIns="0" bIns="0" rtlCol="0" anchor="ctr">
            <a:normAutofit/>
          </a:bodyPr>
          <a:lstStyle/>
          <a:p>
            <a:pPr algn="ctr" indent="0" marL="0">
              <a:buNone/>
            </a:pPr>
            <a:r>
              <a:rPr lang="en-US" sz="950" b="1" dirty="0">
                <a:solidFill>
                  <a:srgbClr val="175D7C"/>
                </a:solidFill>
                <a:latin typeface="Aptos" pitchFamily="34" charset="0"/>
                <a:ea typeface="Aptos" pitchFamily="34" charset="-122"/>
                <a:cs typeface="Aptos" pitchFamily="34" charset="-120"/>
              </a:rPr>
              <a:t>ASR pipeline</a:t>
            </a:r>
            <a:endParaRPr lang="en-US" sz="950" dirty="0"/>
          </a:p>
        </p:txBody>
      </p:sp>
      <p:sp>
        <p:nvSpPr>
          <p:cNvPr id="25" name="Slide Number Placeholder 0"/>
          <p:cNvSpPr>
            <a:spLocks noGrp="1"/>
          </p:cNvSpPr>
          <p:nvPr>
            <p:ph type="sldNum" sz="quarter" idx="4294967295"/>
          </p:nvPr>
        </p:nvSpPr>
        <p:spPr>
          <a:xfrm>
            <a:off x="11841480" y="6519672"/>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7C879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420624" y="256032"/>
            <a:ext cx="9875520" cy="384048"/>
          </a:xfrm>
          <a:prstGeom prst="rect">
            <a:avLst/>
          </a:prstGeom>
          <a:noFill/>
          <a:ln/>
        </p:spPr>
        <p:txBody>
          <a:bodyPr wrap="square" lIns="0" tIns="0" rIns="0" bIns="0" rtlCol="0" anchor="ctr"/>
          <a:lstStyle/>
          <a:p>
            <a:pPr indent="0" marL="0">
              <a:buNone/>
            </a:pPr>
            <a:r>
              <a:rPr lang="en-US" sz="2500" b="1" dirty="0">
                <a:solidFill>
                  <a:srgbClr val="12212B"/>
                </a:solidFill>
                <a:latin typeface="Aptos Display" pitchFamily="34" charset="0"/>
                <a:ea typeface="Aptos Display" pitchFamily="34" charset="-122"/>
                <a:cs typeface="Aptos Display" pitchFamily="34" charset="-120"/>
              </a:rPr>
              <a:t>Đầu vào âm thanh: waveform là gì?</a:t>
            </a:r>
            <a:endParaRPr lang="en-US" sz="2500" dirty="0"/>
          </a:p>
        </p:txBody>
      </p:sp>
      <p:sp>
        <p:nvSpPr>
          <p:cNvPr id="3" name="Text 1"/>
          <p:cNvSpPr/>
          <p:nvPr/>
        </p:nvSpPr>
        <p:spPr>
          <a:xfrm>
            <a:off x="438912" y="694944"/>
            <a:ext cx="9875520" cy="256032"/>
          </a:xfrm>
          <a:prstGeom prst="rect">
            <a:avLst/>
          </a:prstGeom>
          <a:noFill/>
          <a:ln/>
        </p:spPr>
        <p:txBody>
          <a:bodyPr wrap="square" lIns="0" tIns="0" rIns="0" bIns="0" rtlCol="0" anchor="ctr"/>
          <a:lstStyle/>
          <a:p>
            <a:pPr indent="0" marL="0">
              <a:buNone/>
            </a:pPr>
            <a:r>
              <a:rPr lang="en-US" sz="1050" dirty="0">
                <a:solidFill>
                  <a:srgbClr val="516271"/>
                </a:solidFill>
              </a:rPr>
              <a:t>Âm thanh số là một dãy số đo biên độ theo thời gian</a:t>
            </a:r>
            <a:endParaRPr lang="en-US" sz="1050" dirty="0"/>
          </a:p>
        </p:txBody>
      </p:sp>
      <p:sp>
        <p:nvSpPr>
          <p:cNvPr id="4" name="Shape 2"/>
          <p:cNvSpPr/>
          <p:nvPr/>
        </p:nvSpPr>
        <p:spPr>
          <a:xfrm>
            <a:off x="868680" y="1988820"/>
            <a:ext cx="228600" cy="385042"/>
          </a:xfrm>
          <a:prstGeom prst="line">
            <a:avLst/>
          </a:prstGeom>
          <a:noFill/>
          <a:ln w="17780">
            <a:solidFill>
              <a:srgbClr val="175D7C"/>
            </a:solidFill>
            <a:prstDash val="solid"/>
          </a:ln>
        </p:spPr>
      </p:sp>
      <p:sp>
        <p:nvSpPr>
          <p:cNvPr id="5" name="Shape 3"/>
          <p:cNvSpPr/>
          <p:nvPr/>
        </p:nvSpPr>
        <p:spPr>
          <a:xfrm>
            <a:off x="1097280" y="2373862"/>
            <a:ext cx="228600" cy="-226413"/>
          </a:xfrm>
          <a:prstGeom prst="line">
            <a:avLst/>
          </a:prstGeom>
          <a:noFill/>
          <a:ln w="17780">
            <a:solidFill>
              <a:srgbClr val="175D7C"/>
            </a:solidFill>
            <a:prstDash val="solid"/>
          </a:ln>
        </p:spPr>
      </p:sp>
      <p:sp>
        <p:nvSpPr>
          <p:cNvPr id="6" name="Shape 4"/>
          <p:cNvSpPr/>
          <p:nvPr/>
        </p:nvSpPr>
        <p:spPr>
          <a:xfrm>
            <a:off x="1325880" y="2147449"/>
            <a:ext cx="228600" cy="-139598"/>
          </a:xfrm>
          <a:prstGeom prst="line">
            <a:avLst/>
          </a:prstGeom>
          <a:noFill/>
          <a:ln w="17780">
            <a:solidFill>
              <a:srgbClr val="175D7C"/>
            </a:solidFill>
            <a:prstDash val="solid"/>
          </a:ln>
        </p:spPr>
      </p:sp>
      <p:sp>
        <p:nvSpPr>
          <p:cNvPr id="7" name="Shape 5"/>
          <p:cNvSpPr/>
          <p:nvPr/>
        </p:nvSpPr>
        <p:spPr>
          <a:xfrm>
            <a:off x="1554480" y="2007851"/>
            <a:ext cx="228600" cy="327397"/>
          </a:xfrm>
          <a:prstGeom prst="line">
            <a:avLst/>
          </a:prstGeom>
          <a:noFill/>
          <a:ln w="17780">
            <a:solidFill>
              <a:srgbClr val="175D7C"/>
            </a:solidFill>
            <a:prstDash val="solid"/>
          </a:ln>
        </p:spPr>
      </p:sp>
      <p:sp>
        <p:nvSpPr>
          <p:cNvPr id="8" name="Shape 6"/>
          <p:cNvSpPr/>
          <p:nvPr/>
        </p:nvSpPr>
        <p:spPr>
          <a:xfrm>
            <a:off x="1783080" y="2335249"/>
            <a:ext cx="228600" cy="-19683"/>
          </a:xfrm>
          <a:prstGeom prst="line">
            <a:avLst/>
          </a:prstGeom>
          <a:noFill/>
          <a:ln w="17780">
            <a:solidFill>
              <a:srgbClr val="175D7C"/>
            </a:solidFill>
            <a:prstDash val="solid"/>
          </a:ln>
        </p:spPr>
      </p:sp>
      <p:sp>
        <p:nvSpPr>
          <p:cNvPr id="9" name="Shape 7"/>
          <p:cNvSpPr/>
          <p:nvPr/>
        </p:nvSpPr>
        <p:spPr>
          <a:xfrm>
            <a:off x="2011680" y="2315565"/>
            <a:ext cx="228600" cy="-516611"/>
          </a:xfrm>
          <a:prstGeom prst="line">
            <a:avLst/>
          </a:prstGeom>
          <a:noFill/>
          <a:ln w="17780">
            <a:solidFill>
              <a:srgbClr val="175D7C"/>
            </a:solidFill>
            <a:prstDash val="solid"/>
          </a:ln>
        </p:spPr>
      </p:sp>
      <p:sp>
        <p:nvSpPr>
          <p:cNvPr id="10" name="Shape 8"/>
          <p:cNvSpPr/>
          <p:nvPr/>
        </p:nvSpPr>
        <p:spPr>
          <a:xfrm>
            <a:off x="2240280" y="1798955"/>
            <a:ext cx="228600" cy="-107539"/>
          </a:xfrm>
          <a:prstGeom prst="line">
            <a:avLst/>
          </a:prstGeom>
          <a:noFill/>
          <a:ln w="17780">
            <a:solidFill>
              <a:srgbClr val="175D7C"/>
            </a:solidFill>
            <a:prstDash val="solid"/>
          </a:ln>
        </p:spPr>
      </p:sp>
      <p:sp>
        <p:nvSpPr>
          <p:cNvPr id="11" name="Shape 9"/>
          <p:cNvSpPr/>
          <p:nvPr/>
        </p:nvSpPr>
        <p:spPr>
          <a:xfrm>
            <a:off x="2468880" y="1691416"/>
            <a:ext cx="228600" cy="289349"/>
          </a:xfrm>
          <a:prstGeom prst="line">
            <a:avLst/>
          </a:prstGeom>
          <a:noFill/>
          <a:ln w="17780">
            <a:solidFill>
              <a:srgbClr val="175D7C"/>
            </a:solidFill>
            <a:prstDash val="solid"/>
          </a:ln>
        </p:spPr>
      </p:sp>
      <p:sp>
        <p:nvSpPr>
          <p:cNvPr id="12" name="Shape 10"/>
          <p:cNvSpPr/>
          <p:nvPr/>
        </p:nvSpPr>
        <p:spPr>
          <a:xfrm>
            <a:off x="2697480" y="1980765"/>
            <a:ext cx="228600" cy="-146661"/>
          </a:xfrm>
          <a:prstGeom prst="line">
            <a:avLst/>
          </a:prstGeom>
          <a:noFill/>
          <a:ln w="17780">
            <a:solidFill>
              <a:srgbClr val="175D7C"/>
            </a:solidFill>
            <a:prstDash val="solid"/>
          </a:ln>
        </p:spPr>
      </p:sp>
      <p:sp>
        <p:nvSpPr>
          <p:cNvPr id="13" name="Shape 11"/>
          <p:cNvSpPr/>
          <p:nvPr/>
        </p:nvSpPr>
        <p:spPr>
          <a:xfrm>
            <a:off x="2926080" y="1834103"/>
            <a:ext cx="228600" cy="-306569"/>
          </a:xfrm>
          <a:prstGeom prst="line">
            <a:avLst/>
          </a:prstGeom>
          <a:noFill/>
          <a:ln w="17780">
            <a:solidFill>
              <a:srgbClr val="175D7C"/>
            </a:solidFill>
            <a:prstDash val="solid"/>
          </a:ln>
        </p:spPr>
      </p:sp>
      <p:sp>
        <p:nvSpPr>
          <p:cNvPr id="14" name="Shape 12"/>
          <p:cNvSpPr/>
          <p:nvPr/>
        </p:nvSpPr>
        <p:spPr>
          <a:xfrm>
            <a:off x="3154680" y="1527534"/>
            <a:ext cx="228600" cy="310368"/>
          </a:xfrm>
          <a:prstGeom prst="line">
            <a:avLst/>
          </a:prstGeom>
          <a:noFill/>
          <a:ln w="17780">
            <a:solidFill>
              <a:srgbClr val="175D7C"/>
            </a:solidFill>
            <a:prstDash val="solid"/>
          </a:ln>
        </p:spPr>
      </p:sp>
      <p:sp>
        <p:nvSpPr>
          <p:cNvPr id="15" name="Shape 13"/>
          <p:cNvSpPr/>
          <p:nvPr/>
        </p:nvSpPr>
        <p:spPr>
          <a:xfrm>
            <a:off x="3383280" y="1837902"/>
            <a:ext cx="228600" cy="427775"/>
          </a:xfrm>
          <a:prstGeom prst="line">
            <a:avLst/>
          </a:prstGeom>
          <a:noFill/>
          <a:ln w="17780">
            <a:solidFill>
              <a:srgbClr val="175D7C"/>
            </a:solidFill>
            <a:prstDash val="solid"/>
          </a:ln>
        </p:spPr>
      </p:sp>
      <p:sp>
        <p:nvSpPr>
          <p:cNvPr id="16" name="Shape 14"/>
          <p:cNvSpPr/>
          <p:nvPr/>
        </p:nvSpPr>
        <p:spPr>
          <a:xfrm>
            <a:off x="3611880" y="2265677"/>
            <a:ext cx="228600" cy="-158141"/>
          </a:xfrm>
          <a:prstGeom prst="line">
            <a:avLst/>
          </a:prstGeom>
          <a:noFill/>
          <a:ln w="17780">
            <a:solidFill>
              <a:srgbClr val="175D7C"/>
            </a:solidFill>
            <a:prstDash val="solid"/>
          </a:ln>
        </p:spPr>
      </p:sp>
      <p:sp>
        <p:nvSpPr>
          <p:cNvPr id="17" name="Shape 15"/>
          <p:cNvSpPr/>
          <p:nvPr/>
        </p:nvSpPr>
        <p:spPr>
          <a:xfrm>
            <a:off x="3840480" y="2107536"/>
            <a:ext cx="228600" cy="-135304"/>
          </a:xfrm>
          <a:prstGeom prst="line">
            <a:avLst/>
          </a:prstGeom>
          <a:noFill/>
          <a:ln w="17780">
            <a:solidFill>
              <a:srgbClr val="175D7C"/>
            </a:solidFill>
            <a:prstDash val="solid"/>
          </a:ln>
        </p:spPr>
      </p:sp>
      <p:sp>
        <p:nvSpPr>
          <p:cNvPr id="18" name="Shape 16"/>
          <p:cNvSpPr/>
          <p:nvPr/>
        </p:nvSpPr>
        <p:spPr>
          <a:xfrm>
            <a:off x="4069080" y="1972232"/>
            <a:ext cx="228600" cy="364919"/>
          </a:xfrm>
          <a:prstGeom prst="line">
            <a:avLst/>
          </a:prstGeom>
          <a:noFill/>
          <a:ln w="17780">
            <a:solidFill>
              <a:srgbClr val="175D7C"/>
            </a:solidFill>
            <a:prstDash val="solid"/>
          </a:ln>
        </p:spPr>
      </p:sp>
      <p:sp>
        <p:nvSpPr>
          <p:cNvPr id="19" name="Shape 17"/>
          <p:cNvSpPr/>
          <p:nvPr/>
        </p:nvSpPr>
        <p:spPr>
          <a:xfrm>
            <a:off x="4297680" y="2337151"/>
            <a:ext cx="228600" cy="86202"/>
          </a:xfrm>
          <a:prstGeom prst="line">
            <a:avLst/>
          </a:prstGeom>
          <a:noFill/>
          <a:ln w="17780">
            <a:solidFill>
              <a:srgbClr val="175D7C"/>
            </a:solidFill>
            <a:prstDash val="solid"/>
          </a:ln>
        </p:spPr>
      </p:sp>
      <p:sp>
        <p:nvSpPr>
          <p:cNvPr id="20" name="Shape 18"/>
          <p:cNvSpPr/>
          <p:nvPr/>
        </p:nvSpPr>
        <p:spPr>
          <a:xfrm>
            <a:off x="4526280" y="2423353"/>
            <a:ext cx="228600" cy="-481506"/>
          </a:xfrm>
          <a:prstGeom prst="line">
            <a:avLst/>
          </a:prstGeom>
          <a:noFill/>
          <a:ln w="17780">
            <a:solidFill>
              <a:srgbClr val="175D7C"/>
            </a:solidFill>
            <a:prstDash val="solid"/>
          </a:ln>
        </p:spPr>
      </p:sp>
      <p:sp>
        <p:nvSpPr>
          <p:cNvPr id="21" name="Shape 19"/>
          <p:cNvSpPr/>
          <p:nvPr/>
        </p:nvSpPr>
        <p:spPr>
          <a:xfrm>
            <a:off x="4754880" y="1941847"/>
            <a:ext cx="228600" cy="-169910"/>
          </a:xfrm>
          <a:prstGeom prst="line">
            <a:avLst/>
          </a:prstGeom>
          <a:noFill/>
          <a:ln w="17780">
            <a:solidFill>
              <a:srgbClr val="175D7C"/>
            </a:solidFill>
            <a:prstDash val="solid"/>
          </a:ln>
        </p:spPr>
      </p:sp>
      <p:sp>
        <p:nvSpPr>
          <p:cNvPr id="22" name="Shape 20"/>
          <p:cNvSpPr/>
          <p:nvPr/>
        </p:nvSpPr>
        <p:spPr>
          <a:xfrm>
            <a:off x="4983480" y="1771937"/>
            <a:ext cx="228600" cy="261105"/>
          </a:xfrm>
          <a:prstGeom prst="line">
            <a:avLst/>
          </a:prstGeom>
          <a:noFill/>
          <a:ln w="17780">
            <a:solidFill>
              <a:srgbClr val="175D7C"/>
            </a:solidFill>
            <a:prstDash val="solid"/>
          </a:ln>
        </p:spPr>
      </p:sp>
      <p:sp>
        <p:nvSpPr>
          <p:cNvPr id="23" name="Shape 21"/>
          <p:cNvSpPr/>
          <p:nvPr/>
        </p:nvSpPr>
        <p:spPr>
          <a:xfrm>
            <a:off x="5212080" y="2033042"/>
            <a:ext cx="228600" cy="-145470"/>
          </a:xfrm>
          <a:prstGeom prst="line">
            <a:avLst/>
          </a:prstGeom>
          <a:noFill/>
          <a:ln w="17780">
            <a:solidFill>
              <a:srgbClr val="175D7C"/>
            </a:solidFill>
            <a:prstDash val="solid"/>
          </a:ln>
        </p:spPr>
      </p:sp>
      <p:sp>
        <p:nvSpPr>
          <p:cNvPr id="24" name="Shape 22"/>
          <p:cNvSpPr/>
          <p:nvPr/>
        </p:nvSpPr>
        <p:spPr>
          <a:xfrm>
            <a:off x="5440680" y="1887572"/>
            <a:ext cx="228600" cy="-387550"/>
          </a:xfrm>
          <a:prstGeom prst="line">
            <a:avLst/>
          </a:prstGeom>
          <a:noFill/>
          <a:ln w="17780">
            <a:solidFill>
              <a:srgbClr val="175D7C"/>
            </a:solidFill>
            <a:prstDash val="solid"/>
          </a:ln>
        </p:spPr>
      </p:sp>
      <p:sp>
        <p:nvSpPr>
          <p:cNvPr id="25" name="Shape 23"/>
          <p:cNvSpPr/>
          <p:nvPr/>
        </p:nvSpPr>
        <p:spPr>
          <a:xfrm>
            <a:off x="868680" y="1993392"/>
            <a:ext cx="4800600" cy="0"/>
          </a:xfrm>
          <a:prstGeom prst="line">
            <a:avLst/>
          </a:prstGeom>
          <a:noFill/>
          <a:ln w="12700">
            <a:solidFill>
              <a:srgbClr val="AAB7C3"/>
            </a:solidFill>
            <a:prstDash val="solid"/>
          </a:ln>
        </p:spPr>
      </p:sp>
      <p:sp>
        <p:nvSpPr>
          <p:cNvPr id="26" name="Text 24"/>
          <p:cNvSpPr/>
          <p:nvPr/>
        </p:nvSpPr>
        <p:spPr>
          <a:xfrm>
            <a:off x="2377440" y="1152144"/>
            <a:ext cx="1645920" cy="256032"/>
          </a:xfrm>
          <a:prstGeom prst="rect">
            <a:avLst/>
          </a:prstGeom>
          <a:noFill/>
          <a:ln/>
        </p:spPr>
        <p:txBody>
          <a:bodyPr wrap="square" lIns="762" tIns="762" rIns="762" bIns="762" rtlCol="0" anchor="ctr">
            <a:normAutofit/>
          </a:bodyPr>
          <a:lstStyle/>
          <a:p>
            <a:pPr algn="ctr" indent="0" marL="0">
              <a:buNone/>
            </a:pPr>
            <a:r>
              <a:rPr lang="en-US" sz="1700" b="1" dirty="0">
                <a:solidFill>
                  <a:srgbClr val="175D7C"/>
                </a:solidFill>
                <a:latin typeface="Aptos" pitchFamily="34" charset="0"/>
                <a:ea typeface="Aptos" pitchFamily="34" charset="-122"/>
                <a:cs typeface="Aptos" pitchFamily="34" charset="-120"/>
              </a:rPr>
              <a:t>Waveform</a:t>
            </a:r>
            <a:endParaRPr lang="en-US" sz="1700" dirty="0"/>
          </a:p>
        </p:txBody>
      </p:sp>
      <p:sp>
        <p:nvSpPr>
          <p:cNvPr id="27" name="Shape 25"/>
          <p:cNvSpPr/>
          <p:nvPr/>
        </p:nvSpPr>
        <p:spPr>
          <a:xfrm>
            <a:off x="6492240" y="1143000"/>
            <a:ext cx="1645920" cy="731520"/>
          </a:xfrm>
          <a:prstGeom prst="roundRect">
            <a:avLst>
              <a:gd name="adj" fmla="val 15000"/>
            </a:avLst>
          </a:prstGeom>
          <a:solidFill>
            <a:srgbClr val="FFFFFF"/>
          </a:solidFill>
          <a:ln w="12700">
            <a:solidFill>
              <a:srgbClr val="2A67B1"/>
            </a:solidFill>
            <a:prstDash val="solid"/>
          </a:ln>
        </p:spPr>
      </p:sp>
      <p:sp>
        <p:nvSpPr>
          <p:cNvPr id="28" name="Text 26"/>
          <p:cNvSpPr/>
          <p:nvPr/>
        </p:nvSpPr>
        <p:spPr>
          <a:xfrm>
            <a:off x="6556248" y="1188720"/>
            <a:ext cx="1517904" cy="640080"/>
          </a:xfrm>
          <a:prstGeom prst="rect">
            <a:avLst/>
          </a:prstGeom>
          <a:noFill/>
          <a:ln/>
        </p:spPr>
        <p:txBody>
          <a:bodyPr wrap="square" lIns="762" tIns="762" rIns="762" bIns="762" rtlCol="0" anchor="ctr">
            <a:normAutofit/>
          </a:bodyPr>
          <a:lstStyle/>
          <a:p>
            <a:pPr algn="ctr" indent="0" marL="0">
              <a:buNone/>
            </a:pPr>
            <a:r>
              <a:rPr lang="en-US" sz="1500" b="1" dirty="0">
                <a:solidFill>
                  <a:srgbClr val="2A67B1"/>
                </a:solidFill>
                <a:latin typeface="Aptos" pitchFamily="34" charset="0"/>
                <a:ea typeface="Aptos" pitchFamily="34" charset="-122"/>
                <a:cs typeface="Aptos" pitchFamily="34" charset="-120"/>
              </a:rPr>
              <a:t>Sample rate</a:t>
            </a:r>
            <a:endParaRPr lang="en-US" sz="1500" dirty="0"/>
          </a:p>
          <a:p>
            <a:pPr algn="ctr" indent="0" marL="0">
              <a:buNone/>
            </a:pPr>
            <a:r>
              <a:rPr lang="en-US" sz="1500" b="1" dirty="0">
                <a:solidFill>
                  <a:srgbClr val="2A67B1"/>
                </a:solidFill>
                <a:latin typeface="Aptos" pitchFamily="34" charset="0"/>
                <a:ea typeface="Aptos" pitchFamily="34" charset="-122"/>
                <a:cs typeface="Aptos" pitchFamily="34" charset="-120"/>
              </a:rPr>
              <a:t>16 kHz</a:t>
            </a:r>
            <a:endParaRPr lang="en-US" sz="1500" dirty="0"/>
          </a:p>
        </p:txBody>
      </p:sp>
      <p:sp>
        <p:nvSpPr>
          <p:cNvPr id="29" name="Shape 27"/>
          <p:cNvSpPr/>
          <p:nvPr/>
        </p:nvSpPr>
        <p:spPr>
          <a:xfrm>
            <a:off x="8458200" y="1143000"/>
            <a:ext cx="1234440" cy="731520"/>
          </a:xfrm>
          <a:prstGeom prst="roundRect">
            <a:avLst>
              <a:gd name="adj" fmla="val 15000"/>
            </a:avLst>
          </a:prstGeom>
          <a:solidFill>
            <a:srgbClr val="FFFFFF"/>
          </a:solidFill>
          <a:ln w="12700">
            <a:solidFill>
              <a:srgbClr val="2F9E74"/>
            </a:solidFill>
            <a:prstDash val="solid"/>
          </a:ln>
        </p:spPr>
      </p:sp>
      <p:sp>
        <p:nvSpPr>
          <p:cNvPr id="30" name="Text 28"/>
          <p:cNvSpPr/>
          <p:nvPr/>
        </p:nvSpPr>
        <p:spPr>
          <a:xfrm>
            <a:off x="8522208" y="1188720"/>
            <a:ext cx="1106424" cy="640080"/>
          </a:xfrm>
          <a:prstGeom prst="rect">
            <a:avLst/>
          </a:prstGeom>
          <a:noFill/>
          <a:ln/>
        </p:spPr>
        <p:txBody>
          <a:bodyPr wrap="square" lIns="762" tIns="762" rIns="762" bIns="762" rtlCol="0" anchor="ctr">
            <a:normAutofit/>
          </a:bodyPr>
          <a:lstStyle/>
          <a:p>
            <a:pPr algn="ctr" indent="0" marL="0">
              <a:buNone/>
            </a:pPr>
            <a:r>
              <a:rPr lang="en-US" sz="1500" b="1" dirty="0">
                <a:solidFill>
                  <a:srgbClr val="2F9E74"/>
                </a:solidFill>
                <a:latin typeface="Aptos" pitchFamily="34" charset="0"/>
                <a:ea typeface="Aptos" pitchFamily="34" charset="-122"/>
                <a:cs typeface="Aptos" pitchFamily="34" charset="-120"/>
              </a:rPr>
              <a:t>Kênh</a:t>
            </a:r>
            <a:endParaRPr lang="en-US" sz="1500" dirty="0"/>
          </a:p>
          <a:p>
            <a:pPr algn="ctr" indent="0" marL="0">
              <a:buNone/>
            </a:pPr>
            <a:r>
              <a:rPr lang="en-US" sz="1500" b="1" dirty="0">
                <a:solidFill>
                  <a:srgbClr val="2F9E74"/>
                </a:solidFill>
                <a:latin typeface="Aptos" pitchFamily="34" charset="0"/>
                <a:ea typeface="Aptos" pitchFamily="34" charset="-122"/>
                <a:cs typeface="Aptos" pitchFamily="34" charset="-120"/>
              </a:rPr>
              <a:t>Mono</a:t>
            </a:r>
            <a:endParaRPr lang="en-US" sz="1500" dirty="0"/>
          </a:p>
        </p:txBody>
      </p:sp>
      <p:sp>
        <p:nvSpPr>
          <p:cNvPr id="31" name="Shape 29"/>
          <p:cNvSpPr/>
          <p:nvPr/>
        </p:nvSpPr>
        <p:spPr>
          <a:xfrm>
            <a:off x="10012680" y="1143000"/>
            <a:ext cx="1417320" cy="731520"/>
          </a:xfrm>
          <a:prstGeom prst="roundRect">
            <a:avLst>
              <a:gd name="adj" fmla="val 15000"/>
            </a:avLst>
          </a:prstGeom>
          <a:solidFill>
            <a:srgbClr val="FFFFFF"/>
          </a:solidFill>
          <a:ln w="12700">
            <a:solidFill>
              <a:srgbClr val="E26D5A"/>
            </a:solidFill>
            <a:prstDash val="solid"/>
          </a:ln>
        </p:spPr>
      </p:sp>
      <p:sp>
        <p:nvSpPr>
          <p:cNvPr id="32" name="Text 30"/>
          <p:cNvSpPr/>
          <p:nvPr/>
        </p:nvSpPr>
        <p:spPr>
          <a:xfrm>
            <a:off x="10076688" y="1188720"/>
            <a:ext cx="1289304" cy="640080"/>
          </a:xfrm>
          <a:prstGeom prst="rect">
            <a:avLst/>
          </a:prstGeom>
          <a:noFill/>
          <a:ln/>
        </p:spPr>
        <p:txBody>
          <a:bodyPr wrap="square" lIns="762" tIns="762" rIns="762" bIns="762" rtlCol="0" anchor="ctr">
            <a:normAutofit/>
          </a:bodyPr>
          <a:lstStyle/>
          <a:p>
            <a:pPr algn="ctr" indent="0" marL="0">
              <a:buNone/>
            </a:pPr>
            <a:r>
              <a:rPr lang="en-US" sz="1500" b="1" dirty="0">
                <a:solidFill>
                  <a:srgbClr val="E26D5A"/>
                </a:solidFill>
                <a:latin typeface="Aptos" pitchFamily="34" charset="0"/>
                <a:ea typeface="Aptos" pitchFamily="34" charset="-122"/>
                <a:cs typeface="Aptos" pitchFamily="34" charset="-120"/>
              </a:rPr>
              <a:t>Cửa sổ</a:t>
            </a:r>
            <a:endParaRPr lang="en-US" sz="1500" dirty="0"/>
          </a:p>
          <a:p>
            <a:pPr algn="ctr" indent="0" marL="0">
              <a:buNone/>
            </a:pPr>
            <a:r>
              <a:rPr lang="en-US" sz="1500" b="1" dirty="0">
                <a:solidFill>
                  <a:srgbClr val="E26D5A"/>
                </a:solidFill>
                <a:latin typeface="Aptos" pitchFamily="34" charset="0"/>
                <a:ea typeface="Aptos" pitchFamily="34" charset="-122"/>
                <a:cs typeface="Aptos" pitchFamily="34" charset="-120"/>
              </a:rPr>
              <a:t>30 giây</a:t>
            </a:r>
            <a:endParaRPr lang="en-US" sz="1500" dirty="0"/>
          </a:p>
        </p:txBody>
      </p:sp>
      <p:sp>
        <p:nvSpPr>
          <p:cNvPr id="33" name="Text 31"/>
          <p:cNvSpPr/>
          <p:nvPr/>
        </p:nvSpPr>
        <p:spPr>
          <a:xfrm>
            <a:off x="868680" y="3246120"/>
            <a:ext cx="5303520" cy="292608"/>
          </a:xfrm>
          <a:prstGeom prst="rect">
            <a:avLst/>
          </a:prstGeom>
          <a:noFill/>
          <a:ln/>
        </p:spPr>
        <p:txBody>
          <a:bodyPr wrap="square" lIns="762" tIns="762" rIns="762" bIns="762" rtlCol="0" anchor="ctr">
            <a:normAutofit/>
          </a:bodyPr>
          <a:lstStyle/>
          <a:p>
            <a:pPr algn="l" indent="0" marL="0">
              <a:buNone/>
            </a:pPr>
            <a:r>
              <a:rPr lang="en-US" sz="1500" b="1" dirty="0">
                <a:solidFill>
                  <a:srgbClr val="12212B"/>
                </a:solidFill>
                <a:latin typeface="Aptos" pitchFamily="34" charset="0"/>
                <a:ea typeface="Aptos" pitchFamily="34" charset="-122"/>
                <a:cs typeface="Aptos" pitchFamily="34" charset="-120"/>
              </a:rPr>
              <a:t>Ví dụ giả định: câu “tôi muốn kiểm tra hợp đồng” dài ~2 giây</a:t>
            </a:r>
            <a:endParaRPr lang="en-US" sz="1500" dirty="0"/>
          </a:p>
        </p:txBody>
      </p:sp>
      <p:sp>
        <p:nvSpPr>
          <p:cNvPr id="34" name="Shape 32"/>
          <p:cNvSpPr/>
          <p:nvPr/>
        </p:nvSpPr>
        <p:spPr>
          <a:xfrm>
            <a:off x="868680" y="3703320"/>
            <a:ext cx="5212080" cy="685800"/>
          </a:xfrm>
          <a:prstGeom prst="roundRect">
            <a:avLst>
              <a:gd name="adj" fmla="val 16000"/>
            </a:avLst>
          </a:prstGeom>
          <a:solidFill>
            <a:srgbClr val="FFFFFF"/>
          </a:solidFill>
          <a:ln w="12700">
            <a:solidFill>
              <a:srgbClr val="175D7C"/>
            </a:solidFill>
            <a:prstDash val="solid"/>
          </a:ln>
        </p:spPr>
      </p:sp>
      <p:sp>
        <p:nvSpPr>
          <p:cNvPr id="35" name="Text 33"/>
          <p:cNvSpPr/>
          <p:nvPr/>
        </p:nvSpPr>
        <p:spPr>
          <a:xfrm>
            <a:off x="932688" y="3749040"/>
            <a:ext cx="5084064" cy="594360"/>
          </a:xfrm>
          <a:prstGeom prst="rect">
            <a:avLst/>
          </a:prstGeom>
          <a:noFill/>
          <a:ln/>
        </p:spPr>
        <p:txBody>
          <a:bodyPr wrap="square" lIns="762" tIns="762" rIns="762" bIns="762" rtlCol="0" anchor="ctr">
            <a:normAutofit/>
          </a:bodyPr>
          <a:lstStyle/>
          <a:p>
            <a:pPr algn="ctr" indent="0" marL="0">
              <a:buNone/>
            </a:pPr>
            <a:r>
              <a:rPr lang="en-US" sz="1600" b="1" dirty="0">
                <a:solidFill>
                  <a:srgbClr val="175D7C"/>
                </a:solidFill>
                <a:latin typeface="Aptos" pitchFamily="34" charset="0"/>
                <a:ea typeface="Aptos" pitchFamily="34" charset="-122"/>
                <a:cs typeface="Aptos" pitchFamily="34" charset="-120"/>
              </a:rPr>
              <a:t>2 giây × 16.000 mẫu/giây = ~32.000 mẫu âm thanh</a:t>
            </a:r>
            <a:endParaRPr lang="en-US" sz="1600" dirty="0"/>
          </a:p>
        </p:txBody>
      </p:sp>
      <p:sp>
        <p:nvSpPr>
          <p:cNvPr id="36" name="Text 34"/>
          <p:cNvSpPr/>
          <p:nvPr/>
        </p:nvSpPr>
        <p:spPr>
          <a:xfrm>
            <a:off x="6537960" y="3017520"/>
            <a:ext cx="4480560" cy="1554480"/>
          </a:xfrm>
          <a:prstGeom prst="rect">
            <a:avLst/>
          </a:prstGeom>
          <a:noFill/>
          <a:ln/>
        </p:spPr>
        <p:txBody>
          <a:bodyPr wrap="square" lIns="1016" tIns="1016" rIns="1016" bIns="1016" rtlCol="0" anchor="ctr">
            <a:normAutofit/>
          </a:bodyPr>
          <a:lstStyle/>
          <a:p>
            <a:r>
              <a:rPr lang="en-US" sz="1350" dirty="0">
                <a:solidFill>
                  <a:srgbClr val="12212B"/>
                </a:solidFill>
                <a:latin typeface="Aptos" pitchFamily="34" charset="0"/>
                <a:ea typeface="Aptos" pitchFamily="34" charset="-122"/>
                <a:cs typeface="Aptos" pitchFamily="34" charset="-120"/>
              </a:rPr>
              <a:t>Mẫu âm thanh ≠ token chữ.</a:t>
            </a:r>
            <a:endParaRPr lang="en-US" sz="1350" dirty="0"/>
          </a:p>
          <a:p>
            <a:r>
              <a:rPr lang="en-US" sz="1350" dirty="0">
                <a:solidFill>
                  <a:srgbClr val="12212B"/>
                </a:solidFill>
                <a:latin typeface="Aptos" pitchFamily="34" charset="0"/>
                <a:ea typeface="Aptos" pitchFamily="34" charset="-122"/>
                <a:cs typeface="Aptos" pitchFamily="34" charset="-120"/>
              </a:rPr>
              <a:t>Frame đặc trưng ≠ từ.</a:t>
            </a:r>
            <a:endParaRPr lang="en-US" sz="1350" dirty="0"/>
          </a:p>
          <a:p>
            <a:r>
              <a:rPr lang="en-US" sz="1350" dirty="0">
                <a:solidFill>
                  <a:srgbClr val="12212B"/>
                </a:solidFill>
                <a:latin typeface="Aptos" pitchFamily="34" charset="0"/>
                <a:ea typeface="Aptos" pitchFamily="34" charset="-122"/>
                <a:cs typeface="Aptos" pitchFamily="34" charset="-120"/>
              </a:rPr>
              <a:t>Một câu ngắn vẫn được đặt vào cửa sổ xử lý cố định/padded khi cần.</a:t>
            </a:r>
            <a:endParaRPr lang="en-US" sz="1350" dirty="0"/>
          </a:p>
        </p:txBody>
      </p:sp>
      <p:sp>
        <p:nvSpPr>
          <p:cNvPr id="37" name="Shape 35"/>
          <p:cNvSpPr/>
          <p:nvPr/>
        </p:nvSpPr>
        <p:spPr>
          <a:xfrm>
            <a:off x="438912" y="6199632"/>
            <a:ext cx="2377440" cy="310896"/>
          </a:xfrm>
          <a:prstGeom prst="roundRect">
            <a:avLst>
              <a:gd name="adj" fmla="val 44118"/>
            </a:avLst>
          </a:prstGeom>
          <a:solidFill>
            <a:srgbClr val="E8F2F6"/>
          </a:solidFill>
          <a:ln w="12700">
            <a:solidFill>
              <a:srgbClr val="E8F2F6"/>
            </a:solidFill>
            <a:prstDash val="solid"/>
          </a:ln>
        </p:spPr>
      </p:sp>
      <p:sp>
        <p:nvSpPr>
          <p:cNvPr id="38" name="Text 36"/>
          <p:cNvSpPr/>
          <p:nvPr/>
        </p:nvSpPr>
        <p:spPr>
          <a:xfrm>
            <a:off x="512064" y="6259068"/>
            <a:ext cx="2231136" cy="201168"/>
          </a:xfrm>
          <a:prstGeom prst="rect">
            <a:avLst/>
          </a:prstGeom>
          <a:noFill/>
          <a:ln/>
        </p:spPr>
        <p:txBody>
          <a:bodyPr wrap="square" lIns="0" tIns="0" rIns="0" bIns="0" rtlCol="0" anchor="ctr">
            <a:normAutofit/>
          </a:bodyPr>
          <a:lstStyle/>
          <a:p>
            <a:pPr algn="ctr" indent="0" marL="0">
              <a:buNone/>
            </a:pPr>
            <a:r>
              <a:rPr lang="en-US" sz="950" b="1" dirty="0">
                <a:solidFill>
                  <a:srgbClr val="175D7C"/>
                </a:solidFill>
                <a:latin typeface="Aptos" pitchFamily="34" charset="0"/>
                <a:ea typeface="Aptos" pitchFamily="34" charset="-122"/>
                <a:cs typeface="Aptos" pitchFamily="34" charset="-120"/>
              </a:rPr>
              <a:t>Audio input</a:t>
            </a:r>
            <a:endParaRPr lang="en-US" sz="950" dirty="0"/>
          </a:p>
        </p:txBody>
      </p:sp>
      <p:sp>
        <p:nvSpPr>
          <p:cNvPr id="25" name="Slide Number Placeholder 0"/>
          <p:cNvSpPr>
            <a:spLocks noGrp="1"/>
          </p:cNvSpPr>
          <p:nvPr>
            <p:ph type="sldNum" sz="quarter" idx="4294967295"/>
          </p:nvPr>
        </p:nvSpPr>
        <p:spPr>
          <a:xfrm>
            <a:off x="11841480" y="6519672"/>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7C879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420624" y="256032"/>
            <a:ext cx="9875520" cy="384048"/>
          </a:xfrm>
          <a:prstGeom prst="rect">
            <a:avLst/>
          </a:prstGeom>
          <a:noFill/>
          <a:ln/>
        </p:spPr>
        <p:txBody>
          <a:bodyPr wrap="square" lIns="0" tIns="0" rIns="0" bIns="0" rtlCol="0" anchor="ctr"/>
          <a:lstStyle/>
          <a:p>
            <a:pPr indent="0" marL="0">
              <a:buNone/>
            </a:pPr>
            <a:r>
              <a:rPr lang="en-US" sz="2500" b="1" dirty="0">
                <a:solidFill>
                  <a:srgbClr val="12212B"/>
                </a:solidFill>
                <a:latin typeface="Aptos Display" pitchFamily="34" charset="0"/>
                <a:ea typeface="Aptos Display" pitchFamily="34" charset="-122"/>
                <a:cs typeface="Aptos Display" pitchFamily="34" charset="-120"/>
              </a:rPr>
              <a:t>Từ waveform sang frame âm thanh</a:t>
            </a:r>
            <a:endParaRPr lang="en-US" sz="2500" dirty="0"/>
          </a:p>
        </p:txBody>
      </p:sp>
      <p:sp>
        <p:nvSpPr>
          <p:cNvPr id="3" name="Text 1"/>
          <p:cNvSpPr/>
          <p:nvPr/>
        </p:nvSpPr>
        <p:spPr>
          <a:xfrm>
            <a:off x="438912" y="694944"/>
            <a:ext cx="9875520" cy="256032"/>
          </a:xfrm>
          <a:prstGeom prst="rect">
            <a:avLst/>
          </a:prstGeom>
          <a:noFill/>
          <a:ln/>
        </p:spPr>
        <p:txBody>
          <a:bodyPr wrap="square" lIns="0" tIns="0" rIns="0" bIns="0" rtlCol="0" anchor="ctr"/>
          <a:lstStyle/>
          <a:p>
            <a:pPr indent="0" marL="0">
              <a:buNone/>
            </a:pPr>
            <a:r>
              <a:rPr lang="en-US" sz="1050" dirty="0">
                <a:solidFill>
                  <a:srgbClr val="516271"/>
                </a:solidFill>
              </a:rPr>
              <a:t>Mô hình cần nhìn âm thanh theo từng lát thời gian ngắn</a:t>
            </a:r>
            <a:endParaRPr lang="en-US" sz="1050" dirty="0"/>
          </a:p>
        </p:txBody>
      </p:sp>
      <p:sp>
        <p:nvSpPr>
          <p:cNvPr id="4" name="Shape 2"/>
          <p:cNvSpPr/>
          <p:nvPr/>
        </p:nvSpPr>
        <p:spPr>
          <a:xfrm>
            <a:off x="731520" y="1577340"/>
            <a:ext cx="235131" cy="292632"/>
          </a:xfrm>
          <a:prstGeom prst="line">
            <a:avLst/>
          </a:prstGeom>
          <a:noFill/>
          <a:ln w="17780">
            <a:solidFill>
              <a:srgbClr val="175D7C"/>
            </a:solidFill>
            <a:prstDash val="solid"/>
          </a:ln>
        </p:spPr>
      </p:sp>
      <p:sp>
        <p:nvSpPr>
          <p:cNvPr id="5" name="Shape 3"/>
          <p:cNvSpPr/>
          <p:nvPr/>
        </p:nvSpPr>
        <p:spPr>
          <a:xfrm>
            <a:off x="966651" y="1869972"/>
            <a:ext cx="235131" cy="-172074"/>
          </a:xfrm>
          <a:prstGeom prst="line">
            <a:avLst/>
          </a:prstGeom>
          <a:noFill/>
          <a:ln w="17780">
            <a:solidFill>
              <a:srgbClr val="175D7C"/>
            </a:solidFill>
            <a:prstDash val="solid"/>
          </a:ln>
        </p:spPr>
      </p:sp>
      <p:sp>
        <p:nvSpPr>
          <p:cNvPr id="6" name="Shape 4"/>
          <p:cNvSpPr/>
          <p:nvPr/>
        </p:nvSpPr>
        <p:spPr>
          <a:xfrm>
            <a:off x="1201783" y="1697898"/>
            <a:ext cx="235131" cy="-106095"/>
          </a:xfrm>
          <a:prstGeom prst="line">
            <a:avLst/>
          </a:prstGeom>
          <a:noFill/>
          <a:ln w="17780">
            <a:solidFill>
              <a:srgbClr val="175D7C"/>
            </a:solidFill>
            <a:prstDash val="solid"/>
          </a:ln>
        </p:spPr>
      </p:sp>
      <p:sp>
        <p:nvSpPr>
          <p:cNvPr id="7" name="Shape 5"/>
          <p:cNvSpPr/>
          <p:nvPr/>
        </p:nvSpPr>
        <p:spPr>
          <a:xfrm>
            <a:off x="1436914" y="1591804"/>
            <a:ext cx="235131" cy="248822"/>
          </a:xfrm>
          <a:prstGeom prst="line">
            <a:avLst/>
          </a:prstGeom>
          <a:noFill/>
          <a:ln w="17780">
            <a:solidFill>
              <a:srgbClr val="175D7C"/>
            </a:solidFill>
            <a:prstDash val="solid"/>
          </a:ln>
        </p:spPr>
      </p:sp>
      <p:sp>
        <p:nvSpPr>
          <p:cNvPr id="8" name="Shape 6"/>
          <p:cNvSpPr/>
          <p:nvPr/>
        </p:nvSpPr>
        <p:spPr>
          <a:xfrm>
            <a:off x="1672046" y="1840626"/>
            <a:ext cx="235131" cy="-14959"/>
          </a:xfrm>
          <a:prstGeom prst="line">
            <a:avLst/>
          </a:prstGeom>
          <a:noFill/>
          <a:ln w="17780">
            <a:solidFill>
              <a:srgbClr val="175D7C"/>
            </a:solidFill>
            <a:prstDash val="solid"/>
          </a:ln>
        </p:spPr>
      </p:sp>
      <p:sp>
        <p:nvSpPr>
          <p:cNvPr id="9" name="Shape 7"/>
          <p:cNvSpPr/>
          <p:nvPr/>
        </p:nvSpPr>
        <p:spPr>
          <a:xfrm>
            <a:off x="1907177" y="1825666"/>
            <a:ext cx="235131" cy="-392624"/>
          </a:xfrm>
          <a:prstGeom prst="line">
            <a:avLst/>
          </a:prstGeom>
          <a:noFill/>
          <a:ln w="17780">
            <a:solidFill>
              <a:srgbClr val="175D7C"/>
            </a:solidFill>
            <a:prstDash val="solid"/>
          </a:ln>
        </p:spPr>
      </p:sp>
      <p:sp>
        <p:nvSpPr>
          <p:cNvPr id="10" name="Shape 8"/>
          <p:cNvSpPr/>
          <p:nvPr/>
        </p:nvSpPr>
        <p:spPr>
          <a:xfrm>
            <a:off x="2142309" y="1433042"/>
            <a:ext cx="235131" cy="-81730"/>
          </a:xfrm>
          <a:prstGeom prst="line">
            <a:avLst/>
          </a:prstGeom>
          <a:noFill/>
          <a:ln w="17780">
            <a:solidFill>
              <a:srgbClr val="175D7C"/>
            </a:solidFill>
            <a:prstDash val="solid"/>
          </a:ln>
        </p:spPr>
      </p:sp>
      <p:sp>
        <p:nvSpPr>
          <p:cNvPr id="11" name="Shape 9"/>
          <p:cNvSpPr/>
          <p:nvPr/>
        </p:nvSpPr>
        <p:spPr>
          <a:xfrm>
            <a:off x="2377440" y="1351313"/>
            <a:ext cx="235131" cy="219905"/>
          </a:xfrm>
          <a:prstGeom prst="line">
            <a:avLst/>
          </a:prstGeom>
          <a:noFill/>
          <a:ln w="17780">
            <a:solidFill>
              <a:srgbClr val="175D7C"/>
            </a:solidFill>
            <a:prstDash val="solid"/>
          </a:ln>
        </p:spPr>
      </p:sp>
      <p:sp>
        <p:nvSpPr>
          <p:cNvPr id="12" name="Shape 10"/>
          <p:cNvSpPr/>
          <p:nvPr/>
        </p:nvSpPr>
        <p:spPr>
          <a:xfrm>
            <a:off x="2612571" y="1571218"/>
            <a:ext cx="235131" cy="-111463"/>
          </a:xfrm>
          <a:prstGeom prst="line">
            <a:avLst/>
          </a:prstGeom>
          <a:noFill/>
          <a:ln w="17780">
            <a:solidFill>
              <a:srgbClr val="175D7C"/>
            </a:solidFill>
            <a:prstDash val="solid"/>
          </a:ln>
        </p:spPr>
      </p:sp>
      <p:sp>
        <p:nvSpPr>
          <p:cNvPr id="13" name="Shape 11"/>
          <p:cNvSpPr/>
          <p:nvPr/>
        </p:nvSpPr>
        <p:spPr>
          <a:xfrm>
            <a:off x="2847703" y="1459755"/>
            <a:ext cx="235131" cy="-232993"/>
          </a:xfrm>
          <a:prstGeom prst="line">
            <a:avLst/>
          </a:prstGeom>
          <a:noFill/>
          <a:ln w="17780">
            <a:solidFill>
              <a:srgbClr val="175D7C"/>
            </a:solidFill>
            <a:prstDash val="solid"/>
          </a:ln>
        </p:spPr>
      </p:sp>
      <p:sp>
        <p:nvSpPr>
          <p:cNvPr id="14" name="Shape 12"/>
          <p:cNvSpPr/>
          <p:nvPr/>
        </p:nvSpPr>
        <p:spPr>
          <a:xfrm>
            <a:off x="3082834" y="1226763"/>
            <a:ext cx="235131" cy="235879"/>
          </a:xfrm>
          <a:prstGeom prst="line">
            <a:avLst/>
          </a:prstGeom>
          <a:noFill/>
          <a:ln w="17780">
            <a:solidFill>
              <a:srgbClr val="175D7C"/>
            </a:solidFill>
            <a:prstDash val="solid"/>
          </a:ln>
        </p:spPr>
      </p:sp>
      <p:sp>
        <p:nvSpPr>
          <p:cNvPr id="15" name="Shape 13"/>
          <p:cNvSpPr/>
          <p:nvPr/>
        </p:nvSpPr>
        <p:spPr>
          <a:xfrm>
            <a:off x="3317966" y="1462642"/>
            <a:ext cx="235131" cy="325109"/>
          </a:xfrm>
          <a:prstGeom prst="line">
            <a:avLst/>
          </a:prstGeom>
          <a:noFill/>
          <a:ln w="17780">
            <a:solidFill>
              <a:srgbClr val="175D7C"/>
            </a:solidFill>
            <a:prstDash val="solid"/>
          </a:ln>
        </p:spPr>
      </p:sp>
      <p:sp>
        <p:nvSpPr>
          <p:cNvPr id="16" name="Shape 14"/>
          <p:cNvSpPr/>
          <p:nvPr/>
        </p:nvSpPr>
        <p:spPr>
          <a:xfrm>
            <a:off x="3553097" y="1787751"/>
            <a:ext cx="235131" cy="-120187"/>
          </a:xfrm>
          <a:prstGeom prst="line">
            <a:avLst/>
          </a:prstGeom>
          <a:noFill/>
          <a:ln w="17780">
            <a:solidFill>
              <a:srgbClr val="175D7C"/>
            </a:solidFill>
            <a:prstDash val="solid"/>
          </a:ln>
        </p:spPr>
      </p:sp>
      <p:sp>
        <p:nvSpPr>
          <p:cNvPr id="17" name="Shape 15"/>
          <p:cNvSpPr/>
          <p:nvPr/>
        </p:nvSpPr>
        <p:spPr>
          <a:xfrm>
            <a:off x="3788229" y="1667564"/>
            <a:ext cx="235131" cy="-102831"/>
          </a:xfrm>
          <a:prstGeom prst="line">
            <a:avLst/>
          </a:prstGeom>
          <a:noFill/>
          <a:ln w="17780">
            <a:solidFill>
              <a:srgbClr val="175D7C"/>
            </a:solidFill>
            <a:prstDash val="solid"/>
          </a:ln>
        </p:spPr>
      </p:sp>
      <p:sp>
        <p:nvSpPr>
          <p:cNvPr id="18" name="Shape 16"/>
          <p:cNvSpPr/>
          <p:nvPr/>
        </p:nvSpPr>
        <p:spPr>
          <a:xfrm>
            <a:off x="4023360" y="1564733"/>
            <a:ext cx="235131" cy="277338"/>
          </a:xfrm>
          <a:prstGeom prst="line">
            <a:avLst/>
          </a:prstGeom>
          <a:noFill/>
          <a:ln w="17780">
            <a:solidFill>
              <a:srgbClr val="175D7C"/>
            </a:solidFill>
            <a:prstDash val="solid"/>
          </a:ln>
        </p:spPr>
      </p:sp>
      <p:sp>
        <p:nvSpPr>
          <p:cNvPr id="19" name="Shape 17"/>
          <p:cNvSpPr/>
          <p:nvPr/>
        </p:nvSpPr>
        <p:spPr>
          <a:xfrm>
            <a:off x="4258491" y="1842072"/>
            <a:ext cx="235131" cy="65513"/>
          </a:xfrm>
          <a:prstGeom prst="line">
            <a:avLst/>
          </a:prstGeom>
          <a:noFill/>
          <a:ln w="17780">
            <a:solidFill>
              <a:srgbClr val="175D7C"/>
            </a:solidFill>
            <a:prstDash val="solid"/>
          </a:ln>
        </p:spPr>
      </p:sp>
      <p:sp>
        <p:nvSpPr>
          <p:cNvPr id="20" name="Shape 18"/>
          <p:cNvSpPr/>
          <p:nvPr/>
        </p:nvSpPr>
        <p:spPr>
          <a:xfrm>
            <a:off x="4493623" y="1907585"/>
            <a:ext cx="235131" cy="-365945"/>
          </a:xfrm>
          <a:prstGeom prst="line">
            <a:avLst/>
          </a:prstGeom>
          <a:noFill/>
          <a:ln w="17780">
            <a:solidFill>
              <a:srgbClr val="175D7C"/>
            </a:solidFill>
            <a:prstDash val="solid"/>
          </a:ln>
        </p:spPr>
      </p:sp>
      <p:sp>
        <p:nvSpPr>
          <p:cNvPr id="21" name="Shape 19"/>
          <p:cNvSpPr/>
          <p:nvPr/>
        </p:nvSpPr>
        <p:spPr>
          <a:xfrm>
            <a:off x="4728754" y="1541640"/>
            <a:ext cx="235131" cy="-129131"/>
          </a:xfrm>
          <a:prstGeom prst="line">
            <a:avLst/>
          </a:prstGeom>
          <a:noFill/>
          <a:ln w="17780">
            <a:solidFill>
              <a:srgbClr val="175D7C"/>
            </a:solidFill>
            <a:prstDash val="solid"/>
          </a:ln>
        </p:spPr>
      </p:sp>
      <p:sp>
        <p:nvSpPr>
          <p:cNvPr id="22" name="Shape 20"/>
          <p:cNvSpPr/>
          <p:nvPr/>
        </p:nvSpPr>
        <p:spPr>
          <a:xfrm>
            <a:off x="4963886" y="1412509"/>
            <a:ext cx="235131" cy="198440"/>
          </a:xfrm>
          <a:prstGeom prst="line">
            <a:avLst/>
          </a:prstGeom>
          <a:noFill/>
          <a:ln w="17780">
            <a:solidFill>
              <a:srgbClr val="175D7C"/>
            </a:solidFill>
            <a:prstDash val="solid"/>
          </a:ln>
        </p:spPr>
      </p:sp>
      <p:sp>
        <p:nvSpPr>
          <p:cNvPr id="23" name="Shape 21"/>
          <p:cNvSpPr/>
          <p:nvPr/>
        </p:nvSpPr>
        <p:spPr>
          <a:xfrm>
            <a:off x="5199017" y="1610949"/>
            <a:ext cx="235131" cy="-110557"/>
          </a:xfrm>
          <a:prstGeom prst="line">
            <a:avLst/>
          </a:prstGeom>
          <a:noFill/>
          <a:ln w="17780">
            <a:solidFill>
              <a:srgbClr val="175D7C"/>
            </a:solidFill>
            <a:prstDash val="solid"/>
          </a:ln>
        </p:spPr>
      </p:sp>
      <p:sp>
        <p:nvSpPr>
          <p:cNvPr id="24" name="Shape 22"/>
          <p:cNvSpPr/>
          <p:nvPr/>
        </p:nvSpPr>
        <p:spPr>
          <a:xfrm>
            <a:off x="5434149" y="1500392"/>
            <a:ext cx="235131" cy="-294538"/>
          </a:xfrm>
          <a:prstGeom prst="line">
            <a:avLst/>
          </a:prstGeom>
          <a:noFill/>
          <a:ln w="17780">
            <a:solidFill>
              <a:srgbClr val="175D7C"/>
            </a:solidFill>
            <a:prstDash val="solid"/>
          </a:ln>
        </p:spPr>
      </p:sp>
      <p:sp>
        <p:nvSpPr>
          <p:cNvPr id="25" name="Shape 23"/>
          <p:cNvSpPr/>
          <p:nvPr/>
        </p:nvSpPr>
        <p:spPr>
          <a:xfrm>
            <a:off x="914400" y="2148840"/>
            <a:ext cx="329184" cy="292608"/>
          </a:xfrm>
          <a:prstGeom prst="rect">
            <a:avLst/>
          </a:prstGeom>
          <a:solidFill>
            <a:srgbClr val="FFF5E3"/>
          </a:solidFill>
          <a:ln w="12700">
            <a:solidFill>
              <a:srgbClr val="E26D5A"/>
            </a:solidFill>
            <a:prstDash val="solid"/>
          </a:ln>
        </p:spPr>
      </p:sp>
      <p:sp>
        <p:nvSpPr>
          <p:cNvPr id="26" name="Shape 24"/>
          <p:cNvSpPr/>
          <p:nvPr/>
        </p:nvSpPr>
        <p:spPr>
          <a:xfrm>
            <a:off x="1417320" y="2148840"/>
            <a:ext cx="329184" cy="292608"/>
          </a:xfrm>
          <a:prstGeom prst="rect">
            <a:avLst/>
          </a:prstGeom>
          <a:solidFill>
            <a:srgbClr val="FFF5E3"/>
          </a:solidFill>
          <a:ln w="12700">
            <a:solidFill>
              <a:srgbClr val="E26D5A"/>
            </a:solidFill>
            <a:prstDash val="solid"/>
          </a:ln>
        </p:spPr>
      </p:sp>
      <p:sp>
        <p:nvSpPr>
          <p:cNvPr id="27" name="Shape 25"/>
          <p:cNvSpPr/>
          <p:nvPr/>
        </p:nvSpPr>
        <p:spPr>
          <a:xfrm>
            <a:off x="1920240" y="2148840"/>
            <a:ext cx="329184" cy="292608"/>
          </a:xfrm>
          <a:prstGeom prst="rect">
            <a:avLst/>
          </a:prstGeom>
          <a:solidFill>
            <a:srgbClr val="FFF5E3"/>
          </a:solidFill>
          <a:ln w="12700">
            <a:solidFill>
              <a:srgbClr val="E26D5A"/>
            </a:solidFill>
            <a:prstDash val="solid"/>
          </a:ln>
        </p:spPr>
      </p:sp>
      <p:sp>
        <p:nvSpPr>
          <p:cNvPr id="28" name="Shape 26"/>
          <p:cNvSpPr/>
          <p:nvPr/>
        </p:nvSpPr>
        <p:spPr>
          <a:xfrm>
            <a:off x="2423160" y="2148840"/>
            <a:ext cx="329184" cy="292608"/>
          </a:xfrm>
          <a:prstGeom prst="rect">
            <a:avLst/>
          </a:prstGeom>
          <a:solidFill>
            <a:srgbClr val="FFF5E3"/>
          </a:solidFill>
          <a:ln w="12700">
            <a:solidFill>
              <a:srgbClr val="E26D5A"/>
            </a:solidFill>
            <a:prstDash val="solid"/>
          </a:ln>
        </p:spPr>
      </p:sp>
      <p:sp>
        <p:nvSpPr>
          <p:cNvPr id="29" name="Shape 27"/>
          <p:cNvSpPr/>
          <p:nvPr/>
        </p:nvSpPr>
        <p:spPr>
          <a:xfrm>
            <a:off x="2926080" y="2148840"/>
            <a:ext cx="329184" cy="292608"/>
          </a:xfrm>
          <a:prstGeom prst="rect">
            <a:avLst/>
          </a:prstGeom>
          <a:solidFill>
            <a:srgbClr val="FFF5E3"/>
          </a:solidFill>
          <a:ln w="12700">
            <a:solidFill>
              <a:srgbClr val="E26D5A"/>
            </a:solidFill>
            <a:prstDash val="solid"/>
          </a:ln>
        </p:spPr>
      </p:sp>
      <p:sp>
        <p:nvSpPr>
          <p:cNvPr id="30" name="Shape 28"/>
          <p:cNvSpPr/>
          <p:nvPr/>
        </p:nvSpPr>
        <p:spPr>
          <a:xfrm>
            <a:off x="3429000" y="2148840"/>
            <a:ext cx="329184" cy="292608"/>
          </a:xfrm>
          <a:prstGeom prst="rect">
            <a:avLst/>
          </a:prstGeom>
          <a:solidFill>
            <a:srgbClr val="FFF5E3"/>
          </a:solidFill>
          <a:ln w="12700">
            <a:solidFill>
              <a:srgbClr val="E26D5A"/>
            </a:solidFill>
            <a:prstDash val="solid"/>
          </a:ln>
        </p:spPr>
      </p:sp>
      <p:sp>
        <p:nvSpPr>
          <p:cNvPr id="31" name="Shape 29"/>
          <p:cNvSpPr/>
          <p:nvPr/>
        </p:nvSpPr>
        <p:spPr>
          <a:xfrm>
            <a:off x="3931920" y="2148840"/>
            <a:ext cx="329184" cy="292608"/>
          </a:xfrm>
          <a:prstGeom prst="rect">
            <a:avLst/>
          </a:prstGeom>
          <a:solidFill>
            <a:srgbClr val="FFF5E3"/>
          </a:solidFill>
          <a:ln w="12700">
            <a:solidFill>
              <a:srgbClr val="E26D5A"/>
            </a:solidFill>
            <a:prstDash val="solid"/>
          </a:ln>
        </p:spPr>
      </p:sp>
      <p:sp>
        <p:nvSpPr>
          <p:cNvPr id="32" name="Shape 30"/>
          <p:cNvSpPr/>
          <p:nvPr/>
        </p:nvSpPr>
        <p:spPr>
          <a:xfrm>
            <a:off x="4434840" y="2148840"/>
            <a:ext cx="329184" cy="292608"/>
          </a:xfrm>
          <a:prstGeom prst="rect">
            <a:avLst/>
          </a:prstGeom>
          <a:solidFill>
            <a:srgbClr val="FFF5E3"/>
          </a:solidFill>
          <a:ln w="12700">
            <a:solidFill>
              <a:srgbClr val="E26D5A"/>
            </a:solidFill>
            <a:prstDash val="solid"/>
          </a:ln>
        </p:spPr>
      </p:sp>
      <p:sp>
        <p:nvSpPr>
          <p:cNvPr id="33" name="Text 31"/>
          <p:cNvSpPr/>
          <p:nvPr/>
        </p:nvSpPr>
        <p:spPr>
          <a:xfrm>
            <a:off x="804672" y="2651760"/>
            <a:ext cx="4846320" cy="256032"/>
          </a:xfrm>
          <a:prstGeom prst="rect">
            <a:avLst/>
          </a:prstGeom>
          <a:noFill/>
          <a:ln/>
        </p:spPr>
        <p:txBody>
          <a:bodyPr wrap="square" lIns="762" tIns="762" rIns="762" bIns="762" rtlCol="0" anchor="ctr">
            <a:normAutofit/>
          </a:bodyPr>
          <a:lstStyle/>
          <a:p>
            <a:pPr algn="ctr" indent="0" marL="0">
              <a:buNone/>
            </a:pPr>
            <a:r>
              <a:rPr lang="en-US" sz="1300" dirty="0">
                <a:solidFill>
                  <a:srgbClr val="516271"/>
                </a:solidFill>
                <a:latin typeface="Aptos" pitchFamily="34" charset="0"/>
                <a:ea typeface="Aptos" pitchFamily="34" charset="-122"/>
                <a:cs typeface="Aptos" pitchFamily="34" charset="-120"/>
              </a:rPr>
              <a:t>Mỗi frame giữ một đoạn âm thanh rất ngắn</a:t>
            </a:r>
            <a:endParaRPr lang="en-US" sz="1300" dirty="0"/>
          </a:p>
        </p:txBody>
      </p:sp>
      <p:sp>
        <p:nvSpPr>
          <p:cNvPr id="34" name="Shape 32"/>
          <p:cNvSpPr/>
          <p:nvPr/>
        </p:nvSpPr>
        <p:spPr>
          <a:xfrm>
            <a:off x="5870448" y="1581912"/>
            <a:ext cx="676656" cy="0"/>
          </a:xfrm>
          <a:prstGeom prst="line">
            <a:avLst/>
          </a:prstGeom>
          <a:noFill/>
          <a:ln w="19050">
            <a:solidFill>
              <a:srgbClr val="AAB7C3"/>
            </a:solidFill>
            <a:prstDash val="solid"/>
            <a:headEnd type="none"/>
            <a:tailEnd type="triangle"/>
          </a:ln>
        </p:spPr>
      </p:sp>
      <p:sp>
        <p:nvSpPr>
          <p:cNvPr id="35" name="Shape 33"/>
          <p:cNvSpPr/>
          <p:nvPr/>
        </p:nvSpPr>
        <p:spPr>
          <a:xfrm>
            <a:off x="6751930" y="1082650"/>
            <a:ext cx="239065" cy="198425"/>
          </a:xfrm>
          <a:prstGeom prst="rect">
            <a:avLst/>
          </a:prstGeom>
          <a:solidFill>
            <a:srgbClr val="F8EFE2">
              <a:alpha val="92000"/>
            </a:srgbClr>
          </a:solidFill>
          <a:ln w="12700">
            <a:solidFill>
              <a:srgbClr val="F8EFE2">
                <a:alpha val="0"/>
              </a:srgbClr>
            </a:solidFill>
            <a:prstDash val="solid"/>
          </a:ln>
        </p:spPr>
      </p:sp>
      <p:sp>
        <p:nvSpPr>
          <p:cNvPr id="36" name="Shape 34"/>
          <p:cNvSpPr/>
          <p:nvPr/>
        </p:nvSpPr>
        <p:spPr>
          <a:xfrm>
            <a:off x="6751930" y="1288390"/>
            <a:ext cx="239065" cy="198425"/>
          </a:xfrm>
          <a:prstGeom prst="rect">
            <a:avLst/>
          </a:prstGeom>
          <a:solidFill>
            <a:srgbClr val="E9A15F">
              <a:alpha val="92000"/>
            </a:srgbClr>
          </a:solidFill>
          <a:ln w="12700">
            <a:solidFill>
              <a:srgbClr val="E9A15F">
                <a:alpha val="0"/>
              </a:srgbClr>
            </a:solidFill>
            <a:prstDash val="solid"/>
          </a:ln>
        </p:spPr>
      </p:sp>
      <p:sp>
        <p:nvSpPr>
          <p:cNvPr id="37" name="Shape 35"/>
          <p:cNvSpPr/>
          <p:nvPr/>
        </p:nvSpPr>
        <p:spPr>
          <a:xfrm>
            <a:off x="6751930" y="1494130"/>
            <a:ext cx="239065" cy="198425"/>
          </a:xfrm>
          <a:prstGeom prst="rect">
            <a:avLst/>
          </a:prstGeom>
          <a:solidFill>
            <a:srgbClr val="6D5BD0">
              <a:alpha val="92000"/>
            </a:srgbClr>
          </a:solidFill>
          <a:ln w="12700">
            <a:solidFill>
              <a:srgbClr val="6D5BD0">
                <a:alpha val="0"/>
              </a:srgbClr>
            </a:solidFill>
            <a:prstDash val="solid"/>
          </a:ln>
        </p:spPr>
      </p:sp>
      <p:sp>
        <p:nvSpPr>
          <p:cNvPr id="38" name="Shape 36"/>
          <p:cNvSpPr/>
          <p:nvPr/>
        </p:nvSpPr>
        <p:spPr>
          <a:xfrm>
            <a:off x="6751930" y="1699870"/>
            <a:ext cx="239065" cy="198425"/>
          </a:xfrm>
          <a:prstGeom prst="rect">
            <a:avLst/>
          </a:prstGeom>
          <a:solidFill>
            <a:srgbClr val="6D5BD0">
              <a:alpha val="92000"/>
            </a:srgbClr>
          </a:solidFill>
          <a:ln w="12700">
            <a:solidFill>
              <a:srgbClr val="6D5BD0">
                <a:alpha val="0"/>
              </a:srgbClr>
            </a:solidFill>
            <a:prstDash val="solid"/>
          </a:ln>
        </p:spPr>
      </p:sp>
      <p:sp>
        <p:nvSpPr>
          <p:cNvPr id="39" name="Shape 37"/>
          <p:cNvSpPr/>
          <p:nvPr/>
        </p:nvSpPr>
        <p:spPr>
          <a:xfrm>
            <a:off x="6751930" y="1905610"/>
            <a:ext cx="239065" cy="198425"/>
          </a:xfrm>
          <a:prstGeom prst="rect">
            <a:avLst/>
          </a:prstGeom>
          <a:solidFill>
            <a:srgbClr val="B6545A">
              <a:alpha val="92000"/>
            </a:srgbClr>
          </a:solidFill>
          <a:ln w="12700">
            <a:solidFill>
              <a:srgbClr val="B6545A">
                <a:alpha val="0"/>
              </a:srgbClr>
            </a:solidFill>
            <a:prstDash val="solid"/>
          </a:ln>
        </p:spPr>
      </p:sp>
      <p:sp>
        <p:nvSpPr>
          <p:cNvPr id="40" name="Shape 38"/>
          <p:cNvSpPr/>
          <p:nvPr/>
        </p:nvSpPr>
        <p:spPr>
          <a:xfrm>
            <a:off x="6751930" y="2111350"/>
            <a:ext cx="239065" cy="198425"/>
          </a:xfrm>
          <a:prstGeom prst="rect">
            <a:avLst/>
          </a:prstGeom>
          <a:solidFill>
            <a:srgbClr val="EFC97F">
              <a:alpha val="92000"/>
            </a:srgbClr>
          </a:solidFill>
          <a:ln w="12700">
            <a:solidFill>
              <a:srgbClr val="EFC97F">
                <a:alpha val="0"/>
              </a:srgbClr>
            </a:solidFill>
            <a:prstDash val="solid"/>
          </a:ln>
        </p:spPr>
      </p:sp>
      <p:sp>
        <p:nvSpPr>
          <p:cNvPr id="41" name="Shape 39"/>
          <p:cNvSpPr/>
          <p:nvPr/>
        </p:nvSpPr>
        <p:spPr>
          <a:xfrm>
            <a:off x="6751930" y="2317090"/>
            <a:ext cx="239065" cy="198425"/>
          </a:xfrm>
          <a:prstGeom prst="rect">
            <a:avLst/>
          </a:prstGeom>
          <a:solidFill>
            <a:srgbClr val="F4DDB7">
              <a:alpha val="92000"/>
            </a:srgbClr>
          </a:solidFill>
          <a:ln w="12700">
            <a:solidFill>
              <a:srgbClr val="F4DDB7">
                <a:alpha val="0"/>
              </a:srgbClr>
            </a:solidFill>
            <a:prstDash val="solid"/>
          </a:ln>
        </p:spPr>
      </p:sp>
      <p:sp>
        <p:nvSpPr>
          <p:cNvPr id="42" name="Shape 40"/>
          <p:cNvSpPr/>
          <p:nvPr/>
        </p:nvSpPr>
        <p:spPr>
          <a:xfrm>
            <a:off x="6751930" y="2522830"/>
            <a:ext cx="239065" cy="198425"/>
          </a:xfrm>
          <a:prstGeom prst="rect">
            <a:avLst/>
          </a:prstGeom>
          <a:solidFill>
            <a:srgbClr val="DC7B52">
              <a:alpha val="92000"/>
            </a:srgbClr>
          </a:solidFill>
          <a:ln w="12700">
            <a:solidFill>
              <a:srgbClr val="DC7B52">
                <a:alpha val="0"/>
              </a:srgbClr>
            </a:solidFill>
            <a:prstDash val="solid"/>
          </a:ln>
        </p:spPr>
      </p:sp>
      <p:sp>
        <p:nvSpPr>
          <p:cNvPr id="43" name="Shape 41"/>
          <p:cNvSpPr/>
          <p:nvPr/>
        </p:nvSpPr>
        <p:spPr>
          <a:xfrm>
            <a:off x="6998310" y="1082650"/>
            <a:ext cx="239065" cy="198425"/>
          </a:xfrm>
          <a:prstGeom prst="rect">
            <a:avLst/>
          </a:prstGeom>
          <a:solidFill>
            <a:srgbClr val="DC7B52">
              <a:alpha val="92000"/>
            </a:srgbClr>
          </a:solidFill>
          <a:ln w="12700">
            <a:solidFill>
              <a:srgbClr val="DC7B52">
                <a:alpha val="0"/>
              </a:srgbClr>
            </a:solidFill>
            <a:prstDash val="solid"/>
          </a:ln>
        </p:spPr>
      </p:sp>
      <p:sp>
        <p:nvSpPr>
          <p:cNvPr id="44" name="Shape 42"/>
          <p:cNvSpPr/>
          <p:nvPr/>
        </p:nvSpPr>
        <p:spPr>
          <a:xfrm>
            <a:off x="6998310" y="1288390"/>
            <a:ext cx="239065" cy="198425"/>
          </a:xfrm>
          <a:prstGeom prst="rect">
            <a:avLst/>
          </a:prstGeom>
          <a:solidFill>
            <a:srgbClr val="6D5BD0">
              <a:alpha val="92000"/>
            </a:srgbClr>
          </a:solidFill>
          <a:ln w="12700">
            <a:solidFill>
              <a:srgbClr val="6D5BD0">
                <a:alpha val="0"/>
              </a:srgbClr>
            </a:solidFill>
            <a:prstDash val="solid"/>
          </a:ln>
        </p:spPr>
      </p:sp>
      <p:sp>
        <p:nvSpPr>
          <p:cNvPr id="45" name="Shape 43"/>
          <p:cNvSpPr/>
          <p:nvPr/>
        </p:nvSpPr>
        <p:spPr>
          <a:xfrm>
            <a:off x="6998310" y="1494130"/>
            <a:ext cx="239065" cy="198425"/>
          </a:xfrm>
          <a:prstGeom prst="rect">
            <a:avLst/>
          </a:prstGeom>
          <a:solidFill>
            <a:srgbClr val="6D5BD0">
              <a:alpha val="92000"/>
            </a:srgbClr>
          </a:solidFill>
          <a:ln w="12700">
            <a:solidFill>
              <a:srgbClr val="6D5BD0">
                <a:alpha val="0"/>
              </a:srgbClr>
            </a:solidFill>
            <a:prstDash val="solid"/>
          </a:ln>
        </p:spPr>
      </p:sp>
      <p:sp>
        <p:nvSpPr>
          <p:cNvPr id="46" name="Shape 44"/>
          <p:cNvSpPr/>
          <p:nvPr/>
        </p:nvSpPr>
        <p:spPr>
          <a:xfrm>
            <a:off x="6998310" y="1699870"/>
            <a:ext cx="239065" cy="198425"/>
          </a:xfrm>
          <a:prstGeom prst="rect">
            <a:avLst/>
          </a:prstGeom>
          <a:solidFill>
            <a:srgbClr val="DC7B52">
              <a:alpha val="92000"/>
            </a:srgbClr>
          </a:solidFill>
          <a:ln w="12700">
            <a:solidFill>
              <a:srgbClr val="DC7B52">
                <a:alpha val="0"/>
              </a:srgbClr>
            </a:solidFill>
            <a:prstDash val="solid"/>
          </a:ln>
        </p:spPr>
      </p:sp>
      <p:sp>
        <p:nvSpPr>
          <p:cNvPr id="47" name="Shape 45"/>
          <p:cNvSpPr/>
          <p:nvPr/>
        </p:nvSpPr>
        <p:spPr>
          <a:xfrm>
            <a:off x="6998310" y="1905610"/>
            <a:ext cx="239065" cy="198425"/>
          </a:xfrm>
          <a:prstGeom prst="rect">
            <a:avLst/>
          </a:prstGeom>
          <a:solidFill>
            <a:srgbClr val="F4DDB7">
              <a:alpha val="92000"/>
            </a:srgbClr>
          </a:solidFill>
          <a:ln w="12700">
            <a:solidFill>
              <a:srgbClr val="F4DDB7">
                <a:alpha val="0"/>
              </a:srgbClr>
            </a:solidFill>
            <a:prstDash val="solid"/>
          </a:ln>
        </p:spPr>
      </p:sp>
      <p:sp>
        <p:nvSpPr>
          <p:cNvPr id="48" name="Shape 46"/>
          <p:cNvSpPr/>
          <p:nvPr/>
        </p:nvSpPr>
        <p:spPr>
          <a:xfrm>
            <a:off x="6998310" y="2111350"/>
            <a:ext cx="239065" cy="198425"/>
          </a:xfrm>
          <a:prstGeom prst="rect">
            <a:avLst/>
          </a:prstGeom>
          <a:solidFill>
            <a:srgbClr val="EFC97F">
              <a:alpha val="92000"/>
            </a:srgbClr>
          </a:solidFill>
          <a:ln w="12700">
            <a:solidFill>
              <a:srgbClr val="EFC97F">
                <a:alpha val="0"/>
              </a:srgbClr>
            </a:solidFill>
            <a:prstDash val="solid"/>
          </a:ln>
        </p:spPr>
      </p:sp>
      <p:sp>
        <p:nvSpPr>
          <p:cNvPr id="49" name="Shape 47"/>
          <p:cNvSpPr/>
          <p:nvPr/>
        </p:nvSpPr>
        <p:spPr>
          <a:xfrm>
            <a:off x="6998310" y="2317090"/>
            <a:ext cx="239065" cy="198425"/>
          </a:xfrm>
          <a:prstGeom prst="rect">
            <a:avLst/>
          </a:prstGeom>
          <a:solidFill>
            <a:srgbClr val="B6545A">
              <a:alpha val="92000"/>
            </a:srgbClr>
          </a:solidFill>
          <a:ln w="12700">
            <a:solidFill>
              <a:srgbClr val="B6545A">
                <a:alpha val="0"/>
              </a:srgbClr>
            </a:solidFill>
            <a:prstDash val="solid"/>
          </a:ln>
        </p:spPr>
      </p:sp>
      <p:sp>
        <p:nvSpPr>
          <p:cNvPr id="50" name="Shape 48"/>
          <p:cNvSpPr/>
          <p:nvPr/>
        </p:nvSpPr>
        <p:spPr>
          <a:xfrm>
            <a:off x="6998310" y="2522830"/>
            <a:ext cx="239065" cy="198425"/>
          </a:xfrm>
          <a:prstGeom prst="rect">
            <a:avLst/>
          </a:prstGeom>
          <a:solidFill>
            <a:srgbClr val="6D5BD0">
              <a:alpha val="92000"/>
            </a:srgbClr>
          </a:solidFill>
          <a:ln w="12700">
            <a:solidFill>
              <a:srgbClr val="6D5BD0">
                <a:alpha val="0"/>
              </a:srgbClr>
            </a:solidFill>
            <a:prstDash val="solid"/>
          </a:ln>
        </p:spPr>
      </p:sp>
      <p:sp>
        <p:nvSpPr>
          <p:cNvPr id="51" name="Shape 49"/>
          <p:cNvSpPr/>
          <p:nvPr/>
        </p:nvSpPr>
        <p:spPr>
          <a:xfrm>
            <a:off x="7244690" y="1082650"/>
            <a:ext cx="239065" cy="198425"/>
          </a:xfrm>
          <a:prstGeom prst="rect">
            <a:avLst/>
          </a:prstGeom>
          <a:solidFill>
            <a:srgbClr val="6D5BD0">
              <a:alpha val="92000"/>
            </a:srgbClr>
          </a:solidFill>
          <a:ln w="12700">
            <a:solidFill>
              <a:srgbClr val="6D5BD0">
                <a:alpha val="0"/>
              </a:srgbClr>
            </a:solidFill>
            <a:prstDash val="solid"/>
          </a:ln>
        </p:spPr>
      </p:sp>
      <p:sp>
        <p:nvSpPr>
          <p:cNvPr id="52" name="Shape 50"/>
          <p:cNvSpPr/>
          <p:nvPr/>
        </p:nvSpPr>
        <p:spPr>
          <a:xfrm>
            <a:off x="7244690" y="1288390"/>
            <a:ext cx="239065" cy="198425"/>
          </a:xfrm>
          <a:prstGeom prst="rect">
            <a:avLst/>
          </a:prstGeom>
          <a:solidFill>
            <a:srgbClr val="6D5BD0">
              <a:alpha val="92000"/>
            </a:srgbClr>
          </a:solidFill>
          <a:ln w="12700">
            <a:solidFill>
              <a:srgbClr val="6D5BD0">
                <a:alpha val="0"/>
              </a:srgbClr>
            </a:solidFill>
            <a:prstDash val="solid"/>
          </a:ln>
        </p:spPr>
      </p:sp>
      <p:sp>
        <p:nvSpPr>
          <p:cNvPr id="53" name="Shape 51"/>
          <p:cNvSpPr/>
          <p:nvPr/>
        </p:nvSpPr>
        <p:spPr>
          <a:xfrm>
            <a:off x="7244690" y="1494130"/>
            <a:ext cx="239065" cy="198425"/>
          </a:xfrm>
          <a:prstGeom prst="rect">
            <a:avLst/>
          </a:prstGeom>
          <a:solidFill>
            <a:srgbClr val="DC7B52">
              <a:alpha val="92000"/>
            </a:srgbClr>
          </a:solidFill>
          <a:ln w="12700">
            <a:solidFill>
              <a:srgbClr val="DC7B52">
                <a:alpha val="0"/>
              </a:srgbClr>
            </a:solidFill>
            <a:prstDash val="solid"/>
          </a:ln>
        </p:spPr>
      </p:sp>
      <p:sp>
        <p:nvSpPr>
          <p:cNvPr id="54" name="Shape 52"/>
          <p:cNvSpPr/>
          <p:nvPr/>
        </p:nvSpPr>
        <p:spPr>
          <a:xfrm>
            <a:off x="7244690" y="1699870"/>
            <a:ext cx="239065" cy="198425"/>
          </a:xfrm>
          <a:prstGeom prst="rect">
            <a:avLst/>
          </a:prstGeom>
          <a:solidFill>
            <a:srgbClr val="F8EFE2">
              <a:alpha val="92000"/>
            </a:srgbClr>
          </a:solidFill>
          <a:ln w="12700">
            <a:solidFill>
              <a:srgbClr val="F8EFE2">
                <a:alpha val="0"/>
              </a:srgbClr>
            </a:solidFill>
            <a:prstDash val="solid"/>
          </a:ln>
        </p:spPr>
      </p:sp>
      <p:sp>
        <p:nvSpPr>
          <p:cNvPr id="55" name="Shape 53"/>
          <p:cNvSpPr/>
          <p:nvPr/>
        </p:nvSpPr>
        <p:spPr>
          <a:xfrm>
            <a:off x="7244690" y="1905610"/>
            <a:ext cx="239065" cy="198425"/>
          </a:xfrm>
          <a:prstGeom prst="rect">
            <a:avLst/>
          </a:prstGeom>
          <a:solidFill>
            <a:srgbClr val="E9A15F">
              <a:alpha val="92000"/>
            </a:srgbClr>
          </a:solidFill>
          <a:ln w="12700">
            <a:solidFill>
              <a:srgbClr val="E9A15F">
                <a:alpha val="0"/>
              </a:srgbClr>
            </a:solidFill>
            <a:prstDash val="solid"/>
          </a:ln>
        </p:spPr>
      </p:sp>
      <p:sp>
        <p:nvSpPr>
          <p:cNvPr id="56" name="Shape 54"/>
          <p:cNvSpPr/>
          <p:nvPr/>
        </p:nvSpPr>
        <p:spPr>
          <a:xfrm>
            <a:off x="7244690" y="2111350"/>
            <a:ext cx="239065" cy="198425"/>
          </a:xfrm>
          <a:prstGeom prst="rect">
            <a:avLst/>
          </a:prstGeom>
          <a:solidFill>
            <a:srgbClr val="B6545A">
              <a:alpha val="92000"/>
            </a:srgbClr>
          </a:solidFill>
          <a:ln w="12700">
            <a:solidFill>
              <a:srgbClr val="B6545A">
                <a:alpha val="0"/>
              </a:srgbClr>
            </a:solidFill>
            <a:prstDash val="solid"/>
          </a:ln>
        </p:spPr>
      </p:sp>
      <p:sp>
        <p:nvSpPr>
          <p:cNvPr id="57" name="Shape 55"/>
          <p:cNvSpPr/>
          <p:nvPr/>
        </p:nvSpPr>
        <p:spPr>
          <a:xfrm>
            <a:off x="7244690" y="2317090"/>
            <a:ext cx="239065" cy="198425"/>
          </a:xfrm>
          <a:prstGeom prst="rect">
            <a:avLst/>
          </a:prstGeom>
          <a:solidFill>
            <a:srgbClr val="6D5BD0">
              <a:alpha val="92000"/>
            </a:srgbClr>
          </a:solidFill>
          <a:ln w="12700">
            <a:solidFill>
              <a:srgbClr val="6D5BD0">
                <a:alpha val="0"/>
              </a:srgbClr>
            </a:solidFill>
            <a:prstDash val="solid"/>
          </a:ln>
        </p:spPr>
      </p:sp>
      <p:sp>
        <p:nvSpPr>
          <p:cNvPr id="58" name="Shape 56"/>
          <p:cNvSpPr/>
          <p:nvPr/>
        </p:nvSpPr>
        <p:spPr>
          <a:xfrm>
            <a:off x="7244690" y="2522830"/>
            <a:ext cx="239065" cy="198425"/>
          </a:xfrm>
          <a:prstGeom prst="rect">
            <a:avLst/>
          </a:prstGeom>
          <a:solidFill>
            <a:srgbClr val="6D5BD0">
              <a:alpha val="92000"/>
            </a:srgbClr>
          </a:solidFill>
          <a:ln w="12700">
            <a:solidFill>
              <a:srgbClr val="6D5BD0">
                <a:alpha val="0"/>
              </a:srgbClr>
            </a:solidFill>
            <a:prstDash val="solid"/>
          </a:ln>
        </p:spPr>
      </p:sp>
      <p:sp>
        <p:nvSpPr>
          <p:cNvPr id="59" name="Shape 57"/>
          <p:cNvSpPr/>
          <p:nvPr/>
        </p:nvSpPr>
        <p:spPr>
          <a:xfrm>
            <a:off x="7491070" y="1082650"/>
            <a:ext cx="239065" cy="198425"/>
          </a:xfrm>
          <a:prstGeom prst="rect">
            <a:avLst/>
          </a:prstGeom>
          <a:solidFill>
            <a:srgbClr val="6D5BD0">
              <a:alpha val="92000"/>
            </a:srgbClr>
          </a:solidFill>
          <a:ln w="12700">
            <a:solidFill>
              <a:srgbClr val="6D5BD0">
                <a:alpha val="0"/>
              </a:srgbClr>
            </a:solidFill>
            <a:prstDash val="solid"/>
          </a:ln>
        </p:spPr>
      </p:sp>
      <p:sp>
        <p:nvSpPr>
          <p:cNvPr id="60" name="Shape 58"/>
          <p:cNvSpPr/>
          <p:nvPr/>
        </p:nvSpPr>
        <p:spPr>
          <a:xfrm>
            <a:off x="7491070" y="1288390"/>
            <a:ext cx="239065" cy="198425"/>
          </a:xfrm>
          <a:prstGeom prst="rect">
            <a:avLst/>
          </a:prstGeom>
          <a:solidFill>
            <a:srgbClr val="E9A15F">
              <a:alpha val="92000"/>
            </a:srgbClr>
          </a:solidFill>
          <a:ln w="12700">
            <a:solidFill>
              <a:srgbClr val="E9A15F">
                <a:alpha val="0"/>
              </a:srgbClr>
            </a:solidFill>
            <a:prstDash val="solid"/>
          </a:ln>
        </p:spPr>
      </p:sp>
      <p:sp>
        <p:nvSpPr>
          <p:cNvPr id="61" name="Shape 59"/>
          <p:cNvSpPr/>
          <p:nvPr/>
        </p:nvSpPr>
        <p:spPr>
          <a:xfrm>
            <a:off x="7491070" y="1494130"/>
            <a:ext cx="239065" cy="198425"/>
          </a:xfrm>
          <a:prstGeom prst="rect">
            <a:avLst/>
          </a:prstGeom>
          <a:solidFill>
            <a:srgbClr val="F8EFE2">
              <a:alpha val="92000"/>
            </a:srgbClr>
          </a:solidFill>
          <a:ln w="12700">
            <a:solidFill>
              <a:srgbClr val="F8EFE2">
                <a:alpha val="0"/>
              </a:srgbClr>
            </a:solidFill>
            <a:prstDash val="solid"/>
          </a:ln>
        </p:spPr>
      </p:sp>
      <p:sp>
        <p:nvSpPr>
          <p:cNvPr id="62" name="Shape 60"/>
          <p:cNvSpPr/>
          <p:nvPr/>
        </p:nvSpPr>
        <p:spPr>
          <a:xfrm>
            <a:off x="7491070" y="1699870"/>
            <a:ext cx="239065" cy="198425"/>
          </a:xfrm>
          <a:prstGeom prst="rect">
            <a:avLst/>
          </a:prstGeom>
          <a:solidFill>
            <a:srgbClr val="DC7B52">
              <a:alpha val="92000"/>
            </a:srgbClr>
          </a:solidFill>
          <a:ln w="12700">
            <a:solidFill>
              <a:srgbClr val="DC7B52">
                <a:alpha val="0"/>
              </a:srgbClr>
            </a:solidFill>
            <a:prstDash val="solid"/>
          </a:ln>
        </p:spPr>
      </p:sp>
      <p:sp>
        <p:nvSpPr>
          <p:cNvPr id="63" name="Shape 61"/>
          <p:cNvSpPr/>
          <p:nvPr/>
        </p:nvSpPr>
        <p:spPr>
          <a:xfrm>
            <a:off x="7491070" y="1905610"/>
            <a:ext cx="239065" cy="198425"/>
          </a:xfrm>
          <a:prstGeom prst="rect">
            <a:avLst/>
          </a:prstGeom>
          <a:solidFill>
            <a:srgbClr val="6D5BD0">
              <a:alpha val="92000"/>
            </a:srgbClr>
          </a:solidFill>
          <a:ln w="12700">
            <a:solidFill>
              <a:srgbClr val="6D5BD0">
                <a:alpha val="0"/>
              </a:srgbClr>
            </a:solidFill>
            <a:prstDash val="solid"/>
          </a:ln>
        </p:spPr>
      </p:sp>
      <p:sp>
        <p:nvSpPr>
          <p:cNvPr id="64" name="Shape 62"/>
          <p:cNvSpPr/>
          <p:nvPr/>
        </p:nvSpPr>
        <p:spPr>
          <a:xfrm>
            <a:off x="7491070" y="2111350"/>
            <a:ext cx="239065" cy="198425"/>
          </a:xfrm>
          <a:prstGeom prst="rect">
            <a:avLst/>
          </a:prstGeom>
          <a:solidFill>
            <a:srgbClr val="6D5BD0">
              <a:alpha val="92000"/>
            </a:srgbClr>
          </a:solidFill>
          <a:ln w="12700">
            <a:solidFill>
              <a:srgbClr val="6D5BD0">
                <a:alpha val="0"/>
              </a:srgbClr>
            </a:solidFill>
            <a:prstDash val="solid"/>
          </a:ln>
        </p:spPr>
      </p:sp>
      <p:sp>
        <p:nvSpPr>
          <p:cNvPr id="65" name="Shape 63"/>
          <p:cNvSpPr/>
          <p:nvPr/>
        </p:nvSpPr>
        <p:spPr>
          <a:xfrm>
            <a:off x="7491070" y="2317090"/>
            <a:ext cx="239065" cy="198425"/>
          </a:xfrm>
          <a:prstGeom prst="rect">
            <a:avLst/>
          </a:prstGeom>
          <a:solidFill>
            <a:srgbClr val="B6545A">
              <a:alpha val="92000"/>
            </a:srgbClr>
          </a:solidFill>
          <a:ln w="12700">
            <a:solidFill>
              <a:srgbClr val="B6545A">
                <a:alpha val="0"/>
              </a:srgbClr>
            </a:solidFill>
            <a:prstDash val="solid"/>
          </a:ln>
        </p:spPr>
      </p:sp>
      <p:sp>
        <p:nvSpPr>
          <p:cNvPr id="66" name="Shape 64"/>
          <p:cNvSpPr/>
          <p:nvPr/>
        </p:nvSpPr>
        <p:spPr>
          <a:xfrm>
            <a:off x="7491070" y="2522830"/>
            <a:ext cx="239065" cy="198425"/>
          </a:xfrm>
          <a:prstGeom prst="rect">
            <a:avLst/>
          </a:prstGeom>
          <a:solidFill>
            <a:srgbClr val="EFC97F">
              <a:alpha val="92000"/>
            </a:srgbClr>
          </a:solidFill>
          <a:ln w="12700">
            <a:solidFill>
              <a:srgbClr val="EFC97F">
                <a:alpha val="0"/>
              </a:srgbClr>
            </a:solidFill>
            <a:prstDash val="solid"/>
          </a:ln>
        </p:spPr>
      </p:sp>
      <p:sp>
        <p:nvSpPr>
          <p:cNvPr id="67" name="Shape 65"/>
          <p:cNvSpPr/>
          <p:nvPr/>
        </p:nvSpPr>
        <p:spPr>
          <a:xfrm>
            <a:off x="7737450" y="1082650"/>
            <a:ext cx="239065" cy="198425"/>
          </a:xfrm>
          <a:prstGeom prst="rect">
            <a:avLst/>
          </a:prstGeom>
          <a:solidFill>
            <a:srgbClr val="EFC97F">
              <a:alpha val="92000"/>
            </a:srgbClr>
          </a:solidFill>
          <a:ln w="12700">
            <a:solidFill>
              <a:srgbClr val="EFC97F">
                <a:alpha val="0"/>
              </a:srgbClr>
            </a:solidFill>
            <a:prstDash val="solid"/>
          </a:ln>
        </p:spPr>
      </p:sp>
      <p:sp>
        <p:nvSpPr>
          <p:cNvPr id="68" name="Shape 66"/>
          <p:cNvSpPr/>
          <p:nvPr/>
        </p:nvSpPr>
        <p:spPr>
          <a:xfrm>
            <a:off x="7737450" y="1288390"/>
            <a:ext cx="239065" cy="198425"/>
          </a:xfrm>
          <a:prstGeom prst="rect">
            <a:avLst/>
          </a:prstGeom>
          <a:solidFill>
            <a:srgbClr val="F4DDB7">
              <a:alpha val="92000"/>
            </a:srgbClr>
          </a:solidFill>
          <a:ln w="12700">
            <a:solidFill>
              <a:srgbClr val="F4DDB7">
                <a:alpha val="0"/>
              </a:srgbClr>
            </a:solidFill>
            <a:prstDash val="solid"/>
          </a:ln>
        </p:spPr>
      </p:sp>
      <p:sp>
        <p:nvSpPr>
          <p:cNvPr id="69" name="Shape 67"/>
          <p:cNvSpPr/>
          <p:nvPr/>
        </p:nvSpPr>
        <p:spPr>
          <a:xfrm>
            <a:off x="7737450" y="1494130"/>
            <a:ext cx="239065" cy="198425"/>
          </a:xfrm>
          <a:prstGeom prst="rect">
            <a:avLst/>
          </a:prstGeom>
          <a:solidFill>
            <a:srgbClr val="DC7B52">
              <a:alpha val="92000"/>
            </a:srgbClr>
          </a:solidFill>
          <a:ln w="12700">
            <a:solidFill>
              <a:srgbClr val="DC7B52">
                <a:alpha val="0"/>
              </a:srgbClr>
            </a:solidFill>
            <a:prstDash val="solid"/>
          </a:ln>
        </p:spPr>
      </p:sp>
      <p:sp>
        <p:nvSpPr>
          <p:cNvPr id="70" name="Shape 68"/>
          <p:cNvSpPr/>
          <p:nvPr/>
        </p:nvSpPr>
        <p:spPr>
          <a:xfrm>
            <a:off x="7737450" y="1699870"/>
            <a:ext cx="239065" cy="198425"/>
          </a:xfrm>
          <a:prstGeom prst="rect">
            <a:avLst/>
          </a:prstGeom>
          <a:solidFill>
            <a:srgbClr val="6D5BD0">
              <a:alpha val="92000"/>
            </a:srgbClr>
          </a:solidFill>
          <a:ln w="12700">
            <a:solidFill>
              <a:srgbClr val="6D5BD0">
                <a:alpha val="0"/>
              </a:srgbClr>
            </a:solidFill>
            <a:prstDash val="solid"/>
          </a:ln>
        </p:spPr>
      </p:sp>
      <p:sp>
        <p:nvSpPr>
          <p:cNvPr id="71" name="Shape 69"/>
          <p:cNvSpPr/>
          <p:nvPr/>
        </p:nvSpPr>
        <p:spPr>
          <a:xfrm>
            <a:off x="7737450" y="1905610"/>
            <a:ext cx="239065" cy="198425"/>
          </a:xfrm>
          <a:prstGeom prst="rect">
            <a:avLst/>
          </a:prstGeom>
          <a:solidFill>
            <a:srgbClr val="6D5BD0">
              <a:alpha val="92000"/>
            </a:srgbClr>
          </a:solidFill>
          <a:ln w="12700">
            <a:solidFill>
              <a:srgbClr val="6D5BD0">
                <a:alpha val="0"/>
              </a:srgbClr>
            </a:solidFill>
            <a:prstDash val="solid"/>
          </a:ln>
        </p:spPr>
      </p:sp>
      <p:sp>
        <p:nvSpPr>
          <p:cNvPr id="72" name="Shape 70"/>
          <p:cNvSpPr/>
          <p:nvPr/>
        </p:nvSpPr>
        <p:spPr>
          <a:xfrm>
            <a:off x="7737450" y="2111350"/>
            <a:ext cx="239065" cy="198425"/>
          </a:xfrm>
          <a:prstGeom prst="rect">
            <a:avLst/>
          </a:prstGeom>
          <a:solidFill>
            <a:srgbClr val="DC7B52">
              <a:alpha val="92000"/>
            </a:srgbClr>
          </a:solidFill>
          <a:ln w="12700">
            <a:solidFill>
              <a:srgbClr val="DC7B52">
                <a:alpha val="0"/>
              </a:srgbClr>
            </a:solidFill>
            <a:prstDash val="solid"/>
          </a:ln>
        </p:spPr>
      </p:sp>
      <p:sp>
        <p:nvSpPr>
          <p:cNvPr id="73" name="Shape 71"/>
          <p:cNvSpPr/>
          <p:nvPr/>
        </p:nvSpPr>
        <p:spPr>
          <a:xfrm>
            <a:off x="7737450" y="2317090"/>
            <a:ext cx="239065" cy="198425"/>
          </a:xfrm>
          <a:prstGeom prst="rect">
            <a:avLst/>
          </a:prstGeom>
          <a:solidFill>
            <a:srgbClr val="F4DDB7">
              <a:alpha val="92000"/>
            </a:srgbClr>
          </a:solidFill>
          <a:ln w="12700">
            <a:solidFill>
              <a:srgbClr val="F4DDB7">
                <a:alpha val="0"/>
              </a:srgbClr>
            </a:solidFill>
            <a:prstDash val="solid"/>
          </a:ln>
        </p:spPr>
      </p:sp>
      <p:sp>
        <p:nvSpPr>
          <p:cNvPr id="74" name="Shape 72"/>
          <p:cNvSpPr/>
          <p:nvPr/>
        </p:nvSpPr>
        <p:spPr>
          <a:xfrm>
            <a:off x="7737450" y="2522830"/>
            <a:ext cx="239065" cy="198425"/>
          </a:xfrm>
          <a:prstGeom prst="rect">
            <a:avLst/>
          </a:prstGeom>
          <a:solidFill>
            <a:srgbClr val="EFC97F">
              <a:alpha val="92000"/>
            </a:srgbClr>
          </a:solidFill>
          <a:ln w="12700">
            <a:solidFill>
              <a:srgbClr val="EFC97F">
                <a:alpha val="0"/>
              </a:srgbClr>
            </a:solidFill>
            <a:prstDash val="solid"/>
          </a:ln>
        </p:spPr>
      </p:sp>
      <p:sp>
        <p:nvSpPr>
          <p:cNvPr id="75" name="Shape 73"/>
          <p:cNvSpPr/>
          <p:nvPr/>
        </p:nvSpPr>
        <p:spPr>
          <a:xfrm>
            <a:off x="7983830" y="1082650"/>
            <a:ext cx="239065" cy="198425"/>
          </a:xfrm>
          <a:prstGeom prst="rect">
            <a:avLst/>
          </a:prstGeom>
          <a:solidFill>
            <a:srgbClr val="EFC97F">
              <a:alpha val="92000"/>
            </a:srgbClr>
          </a:solidFill>
          <a:ln w="12700">
            <a:solidFill>
              <a:srgbClr val="EFC97F">
                <a:alpha val="0"/>
              </a:srgbClr>
            </a:solidFill>
            <a:prstDash val="solid"/>
          </a:ln>
        </p:spPr>
      </p:sp>
      <p:sp>
        <p:nvSpPr>
          <p:cNvPr id="76" name="Shape 74"/>
          <p:cNvSpPr/>
          <p:nvPr/>
        </p:nvSpPr>
        <p:spPr>
          <a:xfrm>
            <a:off x="7983830" y="1288390"/>
            <a:ext cx="239065" cy="198425"/>
          </a:xfrm>
          <a:prstGeom prst="rect">
            <a:avLst/>
          </a:prstGeom>
          <a:solidFill>
            <a:srgbClr val="B6545A">
              <a:alpha val="92000"/>
            </a:srgbClr>
          </a:solidFill>
          <a:ln w="12700">
            <a:solidFill>
              <a:srgbClr val="B6545A">
                <a:alpha val="0"/>
              </a:srgbClr>
            </a:solidFill>
            <a:prstDash val="solid"/>
          </a:ln>
        </p:spPr>
      </p:sp>
      <p:sp>
        <p:nvSpPr>
          <p:cNvPr id="77" name="Shape 75"/>
          <p:cNvSpPr/>
          <p:nvPr/>
        </p:nvSpPr>
        <p:spPr>
          <a:xfrm>
            <a:off x="7983830" y="1494130"/>
            <a:ext cx="239065" cy="198425"/>
          </a:xfrm>
          <a:prstGeom prst="rect">
            <a:avLst/>
          </a:prstGeom>
          <a:solidFill>
            <a:srgbClr val="6D5BD0">
              <a:alpha val="92000"/>
            </a:srgbClr>
          </a:solidFill>
          <a:ln w="12700">
            <a:solidFill>
              <a:srgbClr val="6D5BD0">
                <a:alpha val="0"/>
              </a:srgbClr>
            </a:solidFill>
            <a:prstDash val="solid"/>
          </a:ln>
        </p:spPr>
      </p:sp>
      <p:sp>
        <p:nvSpPr>
          <p:cNvPr id="78" name="Shape 76"/>
          <p:cNvSpPr/>
          <p:nvPr/>
        </p:nvSpPr>
        <p:spPr>
          <a:xfrm>
            <a:off x="7983830" y="1699870"/>
            <a:ext cx="239065" cy="198425"/>
          </a:xfrm>
          <a:prstGeom prst="rect">
            <a:avLst/>
          </a:prstGeom>
          <a:solidFill>
            <a:srgbClr val="6D5BD0">
              <a:alpha val="92000"/>
            </a:srgbClr>
          </a:solidFill>
          <a:ln w="12700">
            <a:solidFill>
              <a:srgbClr val="6D5BD0">
                <a:alpha val="0"/>
              </a:srgbClr>
            </a:solidFill>
            <a:prstDash val="solid"/>
          </a:ln>
        </p:spPr>
      </p:sp>
      <p:sp>
        <p:nvSpPr>
          <p:cNvPr id="79" name="Shape 77"/>
          <p:cNvSpPr/>
          <p:nvPr/>
        </p:nvSpPr>
        <p:spPr>
          <a:xfrm>
            <a:off x="7983830" y="1905610"/>
            <a:ext cx="239065" cy="198425"/>
          </a:xfrm>
          <a:prstGeom prst="rect">
            <a:avLst/>
          </a:prstGeom>
          <a:solidFill>
            <a:srgbClr val="E9A15F">
              <a:alpha val="92000"/>
            </a:srgbClr>
          </a:solidFill>
          <a:ln w="12700">
            <a:solidFill>
              <a:srgbClr val="E9A15F">
                <a:alpha val="0"/>
              </a:srgbClr>
            </a:solidFill>
            <a:prstDash val="solid"/>
          </a:ln>
        </p:spPr>
      </p:sp>
      <p:sp>
        <p:nvSpPr>
          <p:cNvPr id="80" name="Shape 78"/>
          <p:cNvSpPr/>
          <p:nvPr/>
        </p:nvSpPr>
        <p:spPr>
          <a:xfrm>
            <a:off x="7983830" y="2111350"/>
            <a:ext cx="239065" cy="198425"/>
          </a:xfrm>
          <a:prstGeom prst="rect">
            <a:avLst/>
          </a:prstGeom>
          <a:solidFill>
            <a:srgbClr val="F8EFE2">
              <a:alpha val="92000"/>
            </a:srgbClr>
          </a:solidFill>
          <a:ln w="12700">
            <a:solidFill>
              <a:srgbClr val="F8EFE2">
                <a:alpha val="0"/>
              </a:srgbClr>
            </a:solidFill>
            <a:prstDash val="solid"/>
          </a:ln>
        </p:spPr>
      </p:sp>
      <p:sp>
        <p:nvSpPr>
          <p:cNvPr id="81" name="Shape 79"/>
          <p:cNvSpPr/>
          <p:nvPr/>
        </p:nvSpPr>
        <p:spPr>
          <a:xfrm>
            <a:off x="7983830" y="2317090"/>
            <a:ext cx="239065" cy="198425"/>
          </a:xfrm>
          <a:prstGeom prst="rect">
            <a:avLst/>
          </a:prstGeom>
          <a:solidFill>
            <a:srgbClr val="E9A15F">
              <a:alpha val="92000"/>
            </a:srgbClr>
          </a:solidFill>
          <a:ln w="12700">
            <a:solidFill>
              <a:srgbClr val="E9A15F">
                <a:alpha val="0"/>
              </a:srgbClr>
            </a:solidFill>
            <a:prstDash val="solid"/>
          </a:ln>
        </p:spPr>
      </p:sp>
      <p:sp>
        <p:nvSpPr>
          <p:cNvPr id="82" name="Shape 80"/>
          <p:cNvSpPr/>
          <p:nvPr/>
        </p:nvSpPr>
        <p:spPr>
          <a:xfrm>
            <a:off x="7983830" y="2522830"/>
            <a:ext cx="239065" cy="198425"/>
          </a:xfrm>
          <a:prstGeom prst="rect">
            <a:avLst/>
          </a:prstGeom>
          <a:solidFill>
            <a:srgbClr val="6D5BD0">
              <a:alpha val="92000"/>
            </a:srgbClr>
          </a:solidFill>
          <a:ln w="12700">
            <a:solidFill>
              <a:srgbClr val="6D5BD0">
                <a:alpha val="0"/>
              </a:srgbClr>
            </a:solidFill>
            <a:prstDash val="solid"/>
          </a:ln>
        </p:spPr>
      </p:sp>
      <p:sp>
        <p:nvSpPr>
          <p:cNvPr id="83" name="Shape 81"/>
          <p:cNvSpPr/>
          <p:nvPr/>
        </p:nvSpPr>
        <p:spPr>
          <a:xfrm>
            <a:off x="8230210" y="1082650"/>
            <a:ext cx="239065" cy="198425"/>
          </a:xfrm>
          <a:prstGeom prst="rect">
            <a:avLst/>
          </a:prstGeom>
          <a:solidFill>
            <a:srgbClr val="6D5BD0">
              <a:alpha val="92000"/>
            </a:srgbClr>
          </a:solidFill>
          <a:ln w="12700">
            <a:solidFill>
              <a:srgbClr val="6D5BD0">
                <a:alpha val="0"/>
              </a:srgbClr>
            </a:solidFill>
            <a:prstDash val="solid"/>
          </a:ln>
        </p:spPr>
      </p:sp>
      <p:sp>
        <p:nvSpPr>
          <p:cNvPr id="84" name="Shape 82"/>
          <p:cNvSpPr/>
          <p:nvPr/>
        </p:nvSpPr>
        <p:spPr>
          <a:xfrm>
            <a:off x="8230210" y="1288390"/>
            <a:ext cx="239065" cy="198425"/>
          </a:xfrm>
          <a:prstGeom prst="rect">
            <a:avLst/>
          </a:prstGeom>
          <a:solidFill>
            <a:srgbClr val="6D5BD0">
              <a:alpha val="92000"/>
            </a:srgbClr>
          </a:solidFill>
          <a:ln w="12700">
            <a:solidFill>
              <a:srgbClr val="6D5BD0">
                <a:alpha val="0"/>
              </a:srgbClr>
            </a:solidFill>
            <a:prstDash val="solid"/>
          </a:ln>
        </p:spPr>
      </p:sp>
      <p:sp>
        <p:nvSpPr>
          <p:cNvPr id="85" name="Shape 83"/>
          <p:cNvSpPr/>
          <p:nvPr/>
        </p:nvSpPr>
        <p:spPr>
          <a:xfrm>
            <a:off x="8230210" y="1494130"/>
            <a:ext cx="239065" cy="198425"/>
          </a:xfrm>
          <a:prstGeom prst="rect">
            <a:avLst/>
          </a:prstGeom>
          <a:solidFill>
            <a:srgbClr val="B6545A">
              <a:alpha val="92000"/>
            </a:srgbClr>
          </a:solidFill>
          <a:ln w="12700">
            <a:solidFill>
              <a:srgbClr val="B6545A">
                <a:alpha val="0"/>
              </a:srgbClr>
            </a:solidFill>
            <a:prstDash val="solid"/>
          </a:ln>
        </p:spPr>
      </p:sp>
      <p:sp>
        <p:nvSpPr>
          <p:cNvPr id="86" name="Shape 84"/>
          <p:cNvSpPr/>
          <p:nvPr/>
        </p:nvSpPr>
        <p:spPr>
          <a:xfrm>
            <a:off x="8230210" y="1699870"/>
            <a:ext cx="239065" cy="198425"/>
          </a:xfrm>
          <a:prstGeom prst="rect">
            <a:avLst/>
          </a:prstGeom>
          <a:solidFill>
            <a:srgbClr val="EFC97F">
              <a:alpha val="92000"/>
            </a:srgbClr>
          </a:solidFill>
          <a:ln w="12700">
            <a:solidFill>
              <a:srgbClr val="EFC97F">
                <a:alpha val="0"/>
              </a:srgbClr>
            </a:solidFill>
            <a:prstDash val="solid"/>
          </a:ln>
        </p:spPr>
      </p:sp>
      <p:sp>
        <p:nvSpPr>
          <p:cNvPr id="87" name="Shape 85"/>
          <p:cNvSpPr/>
          <p:nvPr/>
        </p:nvSpPr>
        <p:spPr>
          <a:xfrm>
            <a:off x="8230210" y="1905610"/>
            <a:ext cx="239065" cy="198425"/>
          </a:xfrm>
          <a:prstGeom prst="rect">
            <a:avLst/>
          </a:prstGeom>
          <a:solidFill>
            <a:srgbClr val="F8EFE2">
              <a:alpha val="92000"/>
            </a:srgbClr>
          </a:solidFill>
          <a:ln w="12700">
            <a:solidFill>
              <a:srgbClr val="F8EFE2">
                <a:alpha val="0"/>
              </a:srgbClr>
            </a:solidFill>
            <a:prstDash val="solid"/>
          </a:ln>
        </p:spPr>
      </p:sp>
      <p:sp>
        <p:nvSpPr>
          <p:cNvPr id="88" name="Shape 86"/>
          <p:cNvSpPr/>
          <p:nvPr/>
        </p:nvSpPr>
        <p:spPr>
          <a:xfrm>
            <a:off x="8230210" y="2111350"/>
            <a:ext cx="239065" cy="198425"/>
          </a:xfrm>
          <a:prstGeom prst="rect">
            <a:avLst/>
          </a:prstGeom>
          <a:solidFill>
            <a:srgbClr val="DC7B52">
              <a:alpha val="92000"/>
            </a:srgbClr>
          </a:solidFill>
          <a:ln w="12700">
            <a:solidFill>
              <a:srgbClr val="DC7B52">
                <a:alpha val="0"/>
              </a:srgbClr>
            </a:solidFill>
            <a:prstDash val="solid"/>
          </a:ln>
        </p:spPr>
      </p:sp>
      <p:sp>
        <p:nvSpPr>
          <p:cNvPr id="89" name="Shape 87"/>
          <p:cNvSpPr/>
          <p:nvPr/>
        </p:nvSpPr>
        <p:spPr>
          <a:xfrm>
            <a:off x="8230210" y="2317090"/>
            <a:ext cx="239065" cy="198425"/>
          </a:xfrm>
          <a:prstGeom prst="rect">
            <a:avLst/>
          </a:prstGeom>
          <a:solidFill>
            <a:srgbClr val="6D5BD0">
              <a:alpha val="92000"/>
            </a:srgbClr>
          </a:solidFill>
          <a:ln w="12700">
            <a:solidFill>
              <a:srgbClr val="6D5BD0">
                <a:alpha val="0"/>
              </a:srgbClr>
            </a:solidFill>
            <a:prstDash val="solid"/>
          </a:ln>
        </p:spPr>
      </p:sp>
      <p:sp>
        <p:nvSpPr>
          <p:cNvPr id="90" name="Shape 88"/>
          <p:cNvSpPr/>
          <p:nvPr/>
        </p:nvSpPr>
        <p:spPr>
          <a:xfrm>
            <a:off x="8230210" y="2522830"/>
            <a:ext cx="239065" cy="198425"/>
          </a:xfrm>
          <a:prstGeom prst="rect">
            <a:avLst/>
          </a:prstGeom>
          <a:solidFill>
            <a:srgbClr val="6D5BD0">
              <a:alpha val="92000"/>
            </a:srgbClr>
          </a:solidFill>
          <a:ln w="12700">
            <a:solidFill>
              <a:srgbClr val="6D5BD0">
                <a:alpha val="0"/>
              </a:srgbClr>
            </a:solidFill>
            <a:prstDash val="solid"/>
          </a:ln>
        </p:spPr>
      </p:sp>
      <p:sp>
        <p:nvSpPr>
          <p:cNvPr id="91" name="Shape 89"/>
          <p:cNvSpPr/>
          <p:nvPr/>
        </p:nvSpPr>
        <p:spPr>
          <a:xfrm>
            <a:off x="8476590" y="1082650"/>
            <a:ext cx="239065" cy="198425"/>
          </a:xfrm>
          <a:prstGeom prst="rect">
            <a:avLst/>
          </a:prstGeom>
          <a:solidFill>
            <a:srgbClr val="6D5BD0">
              <a:alpha val="92000"/>
            </a:srgbClr>
          </a:solidFill>
          <a:ln w="12700">
            <a:solidFill>
              <a:srgbClr val="6D5BD0">
                <a:alpha val="0"/>
              </a:srgbClr>
            </a:solidFill>
            <a:prstDash val="solid"/>
          </a:ln>
        </p:spPr>
      </p:sp>
      <p:sp>
        <p:nvSpPr>
          <p:cNvPr id="92" name="Shape 90"/>
          <p:cNvSpPr/>
          <p:nvPr/>
        </p:nvSpPr>
        <p:spPr>
          <a:xfrm>
            <a:off x="8476590" y="1288390"/>
            <a:ext cx="239065" cy="198425"/>
          </a:xfrm>
          <a:prstGeom prst="rect">
            <a:avLst/>
          </a:prstGeom>
          <a:solidFill>
            <a:srgbClr val="B6545A">
              <a:alpha val="92000"/>
            </a:srgbClr>
          </a:solidFill>
          <a:ln w="12700">
            <a:solidFill>
              <a:srgbClr val="B6545A">
                <a:alpha val="0"/>
              </a:srgbClr>
            </a:solidFill>
            <a:prstDash val="solid"/>
          </a:ln>
        </p:spPr>
      </p:sp>
      <p:sp>
        <p:nvSpPr>
          <p:cNvPr id="93" name="Shape 91"/>
          <p:cNvSpPr/>
          <p:nvPr/>
        </p:nvSpPr>
        <p:spPr>
          <a:xfrm>
            <a:off x="8476590" y="1494130"/>
            <a:ext cx="239065" cy="198425"/>
          </a:xfrm>
          <a:prstGeom prst="rect">
            <a:avLst/>
          </a:prstGeom>
          <a:solidFill>
            <a:srgbClr val="F4DDB7">
              <a:alpha val="92000"/>
            </a:srgbClr>
          </a:solidFill>
          <a:ln w="12700">
            <a:solidFill>
              <a:srgbClr val="F4DDB7">
                <a:alpha val="0"/>
              </a:srgbClr>
            </a:solidFill>
            <a:prstDash val="solid"/>
          </a:ln>
        </p:spPr>
      </p:sp>
      <p:sp>
        <p:nvSpPr>
          <p:cNvPr id="94" name="Shape 92"/>
          <p:cNvSpPr/>
          <p:nvPr/>
        </p:nvSpPr>
        <p:spPr>
          <a:xfrm>
            <a:off x="8476590" y="1699870"/>
            <a:ext cx="239065" cy="198425"/>
          </a:xfrm>
          <a:prstGeom prst="rect">
            <a:avLst/>
          </a:prstGeom>
          <a:solidFill>
            <a:srgbClr val="F4DDB7">
              <a:alpha val="92000"/>
            </a:srgbClr>
          </a:solidFill>
          <a:ln w="12700">
            <a:solidFill>
              <a:srgbClr val="F4DDB7">
                <a:alpha val="0"/>
              </a:srgbClr>
            </a:solidFill>
            <a:prstDash val="solid"/>
          </a:ln>
        </p:spPr>
      </p:sp>
      <p:sp>
        <p:nvSpPr>
          <p:cNvPr id="95" name="Shape 93"/>
          <p:cNvSpPr/>
          <p:nvPr/>
        </p:nvSpPr>
        <p:spPr>
          <a:xfrm>
            <a:off x="8476590" y="1905610"/>
            <a:ext cx="239065" cy="198425"/>
          </a:xfrm>
          <a:prstGeom prst="rect">
            <a:avLst/>
          </a:prstGeom>
          <a:solidFill>
            <a:srgbClr val="B6545A">
              <a:alpha val="92000"/>
            </a:srgbClr>
          </a:solidFill>
          <a:ln w="12700">
            <a:solidFill>
              <a:srgbClr val="B6545A">
                <a:alpha val="0"/>
              </a:srgbClr>
            </a:solidFill>
            <a:prstDash val="solid"/>
          </a:ln>
        </p:spPr>
      </p:sp>
      <p:sp>
        <p:nvSpPr>
          <p:cNvPr id="96" name="Shape 94"/>
          <p:cNvSpPr/>
          <p:nvPr/>
        </p:nvSpPr>
        <p:spPr>
          <a:xfrm>
            <a:off x="8476590" y="2111350"/>
            <a:ext cx="239065" cy="198425"/>
          </a:xfrm>
          <a:prstGeom prst="rect">
            <a:avLst/>
          </a:prstGeom>
          <a:solidFill>
            <a:srgbClr val="6D5BD0">
              <a:alpha val="92000"/>
            </a:srgbClr>
          </a:solidFill>
          <a:ln w="12700">
            <a:solidFill>
              <a:srgbClr val="6D5BD0">
                <a:alpha val="0"/>
              </a:srgbClr>
            </a:solidFill>
            <a:prstDash val="solid"/>
          </a:ln>
        </p:spPr>
      </p:sp>
      <p:sp>
        <p:nvSpPr>
          <p:cNvPr id="97" name="Shape 95"/>
          <p:cNvSpPr/>
          <p:nvPr/>
        </p:nvSpPr>
        <p:spPr>
          <a:xfrm>
            <a:off x="8476590" y="2317090"/>
            <a:ext cx="239065" cy="198425"/>
          </a:xfrm>
          <a:prstGeom prst="rect">
            <a:avLst/>
          </a:prstGeom>
          <a:solidFill>
            <a:srgbClr val="6D5BD0">
              <a:alpha val="92000"/>
            </a:srgbClr>
          </a:solidFill>
          <a:ln w="12700">
            <a:solidFill>
              <a:srgbClr val="6D5BD0">
                <a:alpha val="0"/>
              </a:srgbClr>
            </a:solidFill>
            <a:prstDash val="solid"/>
          </a:ln>
        </p:spPr>
      </p:sp>
      <p:sp>
        <p:nvSpPr>
          <p:cNvPr id="98" name="Shape 96"/>
          <p:cNvSpPr/>
          <p:nvPr/>
        </p:nvSpPr>
        <p:spPr>
          <a:xfrm>
            <a:off x="8476590" y="2522830"/>
            <a:ext cx="239065" cy="198425"/>
          </a:xfrm>
          <a:prstGeom prst="rect">
            <a:avLst/>
          </a:prstGeom>
          <a:solidFill>
            <a:srgbClr val="DC7B52">
              <a:alpha val="92000"/>
            </a:srgbClr>
          </a:solidFill>
          <a:ln w="12700">
            <a:solidFill>
              <a:srgbClr val="DC7B52">
                <a:alpha val="0"/>
              </a:srgbClr>
            </a:solidFill>
            <a:prstDash val="solid"/>
          </a:ln>
        </p:spPr>
      </p:sp>
      <p:sp>
        <p:nvSpPr>
          <p:cNvPr id="99" name="Shape 97"/>
          <p:cNvSpPr/>
          <p:nvPr/>
        </p:nvSpPr>
        <p:spPr>
          <a:xfrm>
            <a:off x="8722970" y="1082650"/>
            <a:ext cx="239065" cy="198425"/>
          </a:xfrm>
          <a:prstGeom prst="rect">
            <a:avLst/>
          </a:prstGeom>
          <a:solidFill>
            <a:srgbClr val="DC7B52">
              <a:alpha val="92000"/>
            </a:srgbClr>
          </a:solidFill>
          <a:ln w="12700">
            <a:solidFill>
              <a:srgbClr val="DC7B52">
                <a:alpha val="0"/>
              </a:srgbClr>
            </a:solidFill>
            <a:prstDash val="solid"/>
          </a:ln>
        </p:spPr>
      </p:sp>
      <p:sp>
        <p:nvSpPr>
          <p:cNvPr id="100" name="Shape 98"/>
          <p:cNvSpPr/>
          <p:nvPr/>
        </p:nvSpPr>
        <p:spPr>
          <a:xfrm>
            <a:off x="8722970" y="1288390"/>
            <a:ext cx="239065" cy="198425"/>
          </a:xfrm>
          <a:prstGeom prst="rect">
            <a:avLst/>
          </a:prstGeom>
          <a:solidFill>
            <a:srgbClr val="F8EFE2">
              <a:alpha val="92000"/>
            </a:srgbClr>
          </a:solidFill>
          <a:ln w="12700">
            <a:solidFill>
              <a:srgbClr val="F8EFE2">
                <a:alpha val="0"/>
              </a:srgbClr>
            </a:solidFill>
            <a:prstDash val="solid"/>
          </a:ln>
        </p:spPr>
      </p:sp>
      <p:sp>
        <p:nvSpPr>
          <p:cNvPr id="101" name="Shape 99"/>
          <p:cNvSpPr/>
          <p:nvPr/>
        </p:nvSpPr>
        <p:spPr>
          <a:xfrm>
            <a:off x="8722970" y="1494130"/>
            <a:ext cx="239065" cy="198425"/>
          </a:xfrm>
          <a:prstGeom prst="rect">
            <a:avLst/>
          </a:prstGeom>
          <a:solidFill>
            <a:srgbClr val="EFC97F">
              <a:alpha val="92000"/>
            </a:srgbClr>
          </a:solidFill>
          <a:ln w="12700">
            <a:solidFill>
              <a:srgbClr val="EFC97F">
                <a:alpha val="0"/>
              </a:srgbClr>
            </a:solidFill>
            <a:prstDash val="solid"/>
          </a:ln>
        </p:spPr>
      </p:sp>
      <p:sp>
        <p:nvSpPr>
          <p:cNvPr id="102" name="Shape 100"/>
          <p:cNvSpPr/>
          <p:nvPr/>
        </p:nvSpPr>
        <p:spPr>
          <a:xfrm>
            <a:off x="8722970" y="1699870"/>
            <a:ext cx="239065" cy="198425"/>
          </a:xfrm>
          <a:prstGeom prst="rect">
            <a:avLst/>
          </a:prstGeom>
          <a:solidFill>
            <a:srgbClr val="B6545A">
              <a:alpha val="92000"/>
            </a:srgbClr>
          </a:solidFill>
          <a:ln w="12700">
            <a:solidFill>
              <a:srgbClr val="B6545A">
                <a:alpha val="0"/>
              </a:srgbClr>
            </a:solidFill>
            <a:prstDash val="solid"/>
          </a:ln>
        </p:spPr>
      </p:sp>
      <p:sp>
        <p:nvSpPr>
          <p:cNvPr id="103" name="Shape 101"/>
          <p:cNvSpPr/>
          <p:nvPr/>
        </p:nvSpPr>
        <p:spPr>
          <a:xfrm>
            <a:off x="8722970" y="1905610"/>
            <a:ext cx="239065" cy="198425"/>
          </a:xfrm>
          <a:prstGeom prst="rect">
            <a:avLst/>
          </a:prstGeom>
          <a:solidFill>
            <a:srgbClr val="6D5BD0">
              <a:alpha val="92000"/>
            </a:srgbClr>
          </a:solidFill>
          <a:ln w="12700">
            <a:solidFill>
              <a:srgbClr val="6D5BD0">
                <a:alpha val="0"/>
              </a:srgbClr>
            </a:solidFill>
            <a:prstDash val="solid"/>
          </a:ln>
        </p:spPr>
      </p:sp>
      <p:sp>
        <p:nvSpPr>
          <p:cNvPr id="104" name="Shape 102"/>
          <p:cNvSpPr/>
          <p:nvPr/>
        </p:nvSpPr>
        <p:spPr>
          <a:xfrm>
            <a:off x="8722970" y="2111350"/>
            <a:ext cx="239065" cy="198425"/>
          </a:xfrm>
          <a:prstGeom prst="rect">
            <a:avLst/>
          </a:prstGeom>
          <a:solidFill>
            <a:srgbClr val="6D5BD0">
              <a:alpha val="92000"/>
            </a:srgbClr>
          </a:solidFill>
          <a:ln w="12700">
            <a:solidFill>
              <a:srgbClr val="6D5BD0">
                <a:alpha val="0"/>
              </a:srgbClr>
            </a:solidFill>
            <a:prstDash val="solid"/>
          </a:ln>
        </p:spPr>
      </p:sp>
      <p:sp>
        <p:nvSpPr>
          <p:cNvPr id="105" name="Shape 103"/>
          <p:cNvSpPr/>
          <p:nvPr/>
        </p:nvSpPr>
        <p:spPr>
          <a:xfrm>
            <a:off x="8722970" y="2317090"/>
            <a:ext cx="239065" cy="198425"/>
          </a:xfrm>
          <a:prstGeom prst="rect">
            <a:avLst/>
          </a:prstGeom>
          <a:solidFill>
            <a:srgbClr val="E9A15F">
              <a:alpha val="92000"/>
            </a:srgbClr>
          </a:solidFill>
          <a:ln w="12700">
            <a:solidFill>
              <a:srgbClr val="E9A15F">
                <a:alpha val="0"/>
              </a:srgbClr>
            </a:solidFill>
            <a:prstDash val="solid"/>
          </a:ln>
        </p:spPr>
      </p:sp>
      <p:sp>
        <p:nvSpPr>
          <p:cNvPr id="106" name="Shape 104"/>
          <p:cNvSpPr/>
          <p:nvPr/>
        </p:nvSpPr>
        <p:spPr>
          <a:xfrm>
            <a:off x="8722970" y="2522830"/>
            <a:ext cx="239065" cy="198425"/>
          </a:xfrm>
          <a:prstGeom prst="rect">
            <a:avLst/>
          </a:prstGeom>
          <a:solidFill>
            <a:srgbClr val="F8EFE2">
              <a:alpha val="92000"/>
            </a:srgbClr>
          </a:solidFill>
          <a:ln w="12700">
            <a:solidFill>
              <a:srgbClr val="F8EFE2">
                <a:alpha val="0"/>
              </a:srgbClr>
            </a:solidFill>
            <a:prstDash val="solid"/>
          </a:ln>
        </p:spPr>
      </p:sp>
      <p:sp>
        <p:nvSpPr>
          <p:cNvPr id="107" name="Shape 105"/>
          <p:cNvSpPr/>
          <p:nvPr/>
        </p:nvSpPr>
        <p:spPr>
          <a:xfrm>
            <a:off x="8969350" y="1082650"/>
            <a:ext cx="239065" cy="198425"/>
          </a:xfrm>
          <a:prstGeom prst="rect">
            <a:avLst/>
          </a:prstGeom>
          <a:solidFill>
            <a:srgbClr val="F8EFE2">
              <a:alpha val="92000"/>
            </a:srgbClr>
          </a:solidFill>
          <a:ln w="12700">
            <a:solidFill>
              <a:srgbClr val="F8EFE2">
                <a:alpha val="0"/>
              </a:srgbClr>
            </a:solidFill>
            <a:prstDash val="solid"/>
          </a:ln>
        </p:spPr>
      </p:sp>
      <p:sp>
        <p:nvSpPr>
          <p:cNvPr id="108" name="Shape 106"/>
          <p:cNvSpPr/>
          <p:nvPr/>
        </p:nvSpPr>
        <p:spPr>
          <a:xfrm>
            <a:off x="8969350" y="1288390"/>
            <a:ext cx="239065" cy="198425"/>
          </a:xfrm>
          <a:prstGeom prst="rect">
            <a:avLst/>
          </a:prstGeom>
          <a:solidFill>
            <a:srgbClr val="E9A15F">
              <a:alpha val="92000"/>
            </a:srgbClr>
          </a:solidFill>
          <a:ln w="12700">
            <a:solidFill>
              <a:srgbClr val="E9A15F">
                <a:alpha val="0"/>
              </a:srgbClr>
            </a:solidFill>
            <a:prstDash val="solid"/>
          </a:ln>
        </p:spPr>
      </p:sp>
      <p:sp>
        <p:nvSpPr>
          <p:cNvPr id="109" name="Shape 107"/>
          <p:cNvSpPr/>
          <p:nvPr/>
        </p:nvSpPr>
        <p:spPr>
          <a:xfrm>
            <a:off x="8969350" y="1494130"/>
            <a:ext cx="239065" cy="198425"/>
          </a:xfrm>
          <a:prstGeom prst="rect">
            <a:avLst/>
          </a:prstGeom>
          <a:solidFill>
            <a:srgbClr val="6D5BD0">
              <a:alpha val="92000"/>
            </a:srgbClr>
          </a:solidFill>
          <a:ln w="12700">
            <a:solidFill>
              <a:srgbClr val="6D5BD0">
                <a:alpha val="0"/>
              </a:srgbClr>
            </a:solidFill>
            <a:prstDash val="solid"/>
          </a:ln>
        </p:spPr>
      </p:sp>
      <p:sp>
        <p:nvSpPr>
          <p:cNvPr id="110" name="Shape 108"/>
          <p:cNvSpPr/>
          <p:nvPr/>
        </p:nvSpPr>
        <p:spPr>
          <a:xfrm>
            <a:off x="8969350" y="1699870"/>
            <a:ext cx="239065" cy="198425"/>
          </a:xfrm>
          <a:prstGeom prst="rect">
            <a:avLst/>
          </a:prstGeom>
          <a:solidFill>
            <a:srgbClr val="6D5BD0">
              <a:alpha val="92000"/>
            </a:srgbClr>
          </a:solidFill>
          <a:ln w="12700">
            <a:solidFill>
              <a:srgbClr val="6D5BD0">
                <a:alpha val="0"/>
              </a:srgbClr>
            </a:solidFill>
            <a:prstDash val="solid"/>
          </a:ln>
        </p:spPr>
      </p:sp>
      <p:sp>
        <p:nvSpPr>
          <p:cNvPr id="111" name="Shape 109"/>
          <p:cNvSpPr/>
          <p:nvPr/>
        </p:nvSpPr>
        <p:spPr>
          <a:xfrm>
            <a:off x="8969350" y="1905610"/>
            <a:ext cx="239065" cy="198425"/>
          </a:xfrm>
          <a:prstGeom prst="rect">
            <a:avLst/>
          </a:prstGeom>
          <a:solidFill>
            <a:srgbClr val="B6545A">
              <a:alpha val="92000"/>
            </a:srgbClr>
          </a:solidFill>
          <a:ln w="12700">
            <a:solidFill>
              <a:srgbClr val="B6545A">
                <a:alpha val="0"/>
              </a:srgbClr>
            </a:solidFill>
            <a:prstDash val="solid"/>
          </a:ln>
        </p:spPr>
      </p:sp>
      <p:sp>
        <p:nvSpPr>
          <p:cNvPr id="112" name="Shape 110"/>
          <p:cNvSpPr/>
          <p:nvPr/>
        </p:nvSpPr>
        <p:spPr>
          <a:xfrm>
            <a:off x="8969350" y="2111350"/>
            <a:ext cx="239065" cy="198425"/>
          </a:xfrm>
          <a:prstGeom prst="rect">
            <a:avLst/>
          </a:prstGeom>
          <a:solidFill>
            <a:srgbClr val="EFC97F">
              <a:alpha val="92000"/>
            </a:srgbClr>
          </a:solidFill>
          <a:ln w="12700">
            <a:solidFill>
              <a:srgbClr val="EFC97F">
                <a:alpha val="0"/>
              </a:srgbClr>
            </a:solidFill>
            <a:prstDash val="solid"/>
          </a:ln>
        </p:spPr>
      </p:sp>
      <p:sp>
        <p:nvSpPr>
          <p:cNvPr id="113" name="Shape 111"/>
          <p:cNvSpPr/>
          <p:nvPr/>
        </p:nvSpPr>
        <p:spPr>
          <a:xfrm>
            <a:off x="8969350" y="2317090"/>
            <a:ext cx="239065" cy="198425"/>
          </a:xfrm>
          <a:prstGeom prst="rect">
            <a:avLst/>
          </a:prstGeom>
          <a:solidFill>
            <a:srgbClr val="F4DDB7">
              <a:alpha val="92000"/>
            </a:srgbClr>
          </a:solidFill>
          <a:ln w="12700">
            <a:solidFill>
              <a:srgbClr val="F4DDB7">
                <a:alpha val="0"/>
              </a:srgbClr>
            </a:solidFill>
            <a:prstDash val="solid"/>
          </a:ln>
        </p:spPr>
      </p:sp>
      <p:sp>
        <p:nvSpPr>
          <p:cNvPr id="114" name="Shape 112"/>
          <p:cNvSpPr/>
          <p:nvPr/>
        </p:nvSpPr>
        <p:spPr>
          <a:xfrm>
            <a:off x="8969350" y="2522830"/>
            <a:ext cx="239065" cy="198425"/>
          </a:xfrm>
          <a:prstGeom prst="rect">
            <a:avLst/>
          </a:prstGeom>
          <a:solidFill>
            <a:srgbClr val="DC7B52">
              <a:alpha val="92000"/>
            </a:srgbClr>
          </a:solidFill>
          <a:ln w="12700">
            <a:solidFill>
              <a:srgbClr val="DC7B52">
                <a:alpha val="0"/>
              </a:srgbClr>
            </a:solidFill>
            <a:prstDash val="solid"/>
          </a:ln>
        </p:spPr>
      </p:sp>
      <p:sp>
        <p:nvSpPr>
          <p:cNvPr id="115" name="Shape 113"/>
          <p:cNvSpPr/>
          <p:nvPr/>
        </p:nvSpPr>
        <p:spPr>
          <a:xfrm>
            <a:off x="9215730" y="1082650"/>
            <a:ext cx="239065" cy="198425"/>
          </a:xfrm>
          <a:prstGeom prst="rect">
            <a:avLst/>
          </a:prstGeom>
          <a:solidFill>
            <a:srgbClr val="DC7B52">
              <a:alpha val="92000"/>
            </a:srgbClr>
          </a:solidFill>
          <a:ln w="12700">
            <a:solidFill>
              <a:srgbClr val="DC7B52">
                <a:alpha val="0"/>
              </a:srgbClr>
            </a:solidFill>
            <a:prstDash val="solid"/>
          </a:ln>
        </p:spPr>
      </p:sp>
      <p:sp>
        <p:nvSpPr>
          <p:cNvPr id="116" name="Shape 114"/>
          <p:cNvSpPr/>
          <p:nvPr/>
        </p:nvSpPr>
        <p:spPr>
          <a:xfrm>
            <a:off x="9215730" y="1288390"/>
            <a:ext cx="239065" cy="198425"/>
          </a:xfrm>
          <a:prstGeom prst="rect">
            <a:avLst/>
          </a:prstGeom>
          <a:solidFill>
            <a:srgbClr val="6D5BD0">
              <a:alpha val="92000"/>
            </a:srgbClr>
          </a:solidFill>
          <a:ln w="12700">
            <a:solidFill>
              <a:srgbClr val="6D5BD0">
                <a:alpha val="0"/>
              </a:srgbClr>
            </a:solidFill>
            <a:prstDash val="solid"/>
          </a:ln>
        </p:spPr>
      </p:sp>
      <p:sp>
        <p:nvSpPr>
          <p:cNvPr id="117" name="Shape 115"/>
          <p:cNvSpPr/>
          <p:nvPr/>
        </p:nvSpPr>
        <p:spPr>
          <a:xfrm>
            <a:off x="9215730" y="1494130"/>
            <a:ext cx="239065" cy="198425"/>
          </a:xfrm>
          <a:prstGeom prst="rect">
            <a:avLst/>
          </a:prstGeom>
          <a:solidFill>
            <a:srgbClr val="6D5BD0">
              <a:alpha val="92000"/>
            </a:srgbClr>
          </a:solidFill>
          <a:ln w="12700">
            <a:solidFill>
              <a:srgbClr val="6D5BD0">
                <a:alpha val="0"/>
              </a:srgbClr>
            </a:solidFill>
            <a:prstDash val="solid"/>
          </a:ln>
        </p:spPr>
      </p:sp>
      <p:sp>
        <p:nvSpPr>
          <p:cNvPr id="118" name="Shape 116"/>
          <p:cNvSpPr/>
          <p:nvPr/>
        </p:nvSpPr>
        <p:spPr>
          <a:xfrm>
            <a:off x="9215730" y="1699870"/>
            <a:ext cx="239065" cy="198425"/>
          </a:xfrm>
          <a:prstGeom prst="rect">
            <a:avLst/>
          </a:prstGeom>
          <a:solidFill>
            <a:srgbClr val="DC7B52">
              <a:alpha val="92000"/>
            </a:srgbClr>
          </a:solidFill>
          <a:ln w="12700">
            <a:solidFill>
              <a:srgbClr val="DC7B52">
                <a:alpha val="0"/>
              </a:srgbClr>
            </a:solidFill>
            <a:prstDash val="solid"/>
          </a:ln>
        </p:spPr>
      </p:sp>
      <p:sp>
        <p:nvSpPr>
          <p:cNvPr id="119" name="Shape 117"/>
          <p:cNvSpPr/>
          <p:nvPr/>
        </p:nvSpPr>
        <p:spPr>
          <a:xfrm>
            <a:off x="9215730" y="1905610"/>
            <a:ext cx="239065" cy="198425"/>
          </a:xfrm>
          <a:prstGeom prst="rect">
            <a:avLst/>
          </a:prstGeom>
          <a:solidFill>
            <a:srgbClr val="F4DDB7">
              <a:alpha val="92000"/>
            </a:srgbClr>
          </a:solidFill>
          <a:ln w="12700">
            <a:solidFill>
              <a:srgbClr val="F4DDB7">
                <a:alpha val="0"/>
              </a:srgbClr>
            </a:solidFill>
            <a:prstDash val="solid"/>
          </a:ln>
        </p:spPr>
      </p:sp>
      <p:sp>
        <p:nvSpPr>
          <p:cNvPr id="120" name="Shape 118"/>
          <p:cNvSpPr/>
          <p:nvPr/>
        </p:nvSpPr>
        <p:spPr>
          <a:xfrm>
            <a:off x="9215730" y="2111350"/>
            <a:ext cx="239065" cy="198425"/>
          </a:xfrm>
          <a:prstGeom prst="rect">
            <a:avLst/>
          </a:prstGeom>
          <a:solidFill>
            <a:srgbClr val="EFC97F">
              <a:alpha val="92000"/>
            </a:srgbClr>
          </a:solidFill>
          <a:ln w="12700">
            <a:solidFill>
              <a:srgbClr val="EFC97F">
                <a:alpha val="0"/>
              </a:srgbClr>
            </a:solidFill>
            <a:prstDash val="solid"/>
          </a:ln>
        </p:spPr>
      </p:sp>
      <p:sp>
        <p:nvSpPr>
          <p:cNvPr id="121" name="Shape 119"/>
          <p:cNvSpPr/>
          <p:nvPr/>
        </p:nvSpPr>
        <p:spPr>
          <a:xfrm>
            <a:off x="9215730" y="2317090"/>
            <a:ext cx="239065" cy="198425"/>
          </a:xfrm>
          <a:prstGeom prst="rect">
            <a:avLst/>
          </a:prstGeom>
          <a:solidFill>
            <a:srgbClr val="B6545A">
              <a:alpha val="92000"/>
            </a:srgbClr>
          </a:solidFill>
          <a:ln w="12700">
            <a:solidFill>
              <a:srgbClr val="B6545A">
                <a:alpha val="0"/>
              </a:srgbClr>
            </a:solidFill>
            <a:prstDash val="solid"/>
          </a:ln>
        </p:spPr>
      </p:sp>
      <p:sp>
        <p:nvSpPr>
          <p:cNvPr id="122" name="Shape 120"/>
          <p:cNvSpPr/>
          <p:nvPr/>
        </p:nvSpPr>
        <p:spPr>
          <a:xfrm>
            <a:off x="9215730" y="2522830"/>
            <a:ext cx="239065" cy="198425"/>
          </a:xfrm>
          <a:prstGeom prst="rect">
            <a:avLst/>
          </a:prstGeom>
          <a:solidFill>
            <a:srgbClr val="6D5BD0">
              <a:alpha val="92000"/>
            </a:srgbClr>
          </a:solidFill>
          <a:ln w="12700">
            <a:solidFill>
              <a:srgbClr val="6D5BD0">
                <a:alpha val="0"/>
              </a:srgbClr>
            </a:solidFill>
            <a:prstDash val="solid"/>
          </a:ln>
        </p:spPr>
      </p:sp>
      <p:sp>
        <p:nvSpPr>
          <p:cNvPr id="123" name="Shape 121"/>
          <p:cNvSpPr/>
          <p:nvPr/>
        </p:nvSpPr>
        <p:spPr>
          <a:xfrm>
            <a:off x="9462110" y="1082650"/>
            <a:ext cx="239065" cy="198425"/>
          </a:xfrm>
          <a:prstGeom prst="rect">
            <a:avLst/>
          </a:prstGeom>
          <a:solidFill>
            <a:srgbClr val="6D5BD0">
              <a:alpha val="92000"/>
            </a:srgbClr>
          </a:solidFill>
          <a:ln w="12700">
            <a:solidFill>
              <a:srgbClr val="6D5BD0">
                <a:alpha val="0"/>
              </a:srgbClr>
            </a:solidFill>
            <a:prstDash val="solid"/>
          </a:ln>
        </p:spPr>
      </p:sp>
      <p:sp>
        <p:nvSpPr>
          <p:cNvPr id="124" name="Shape 122"/>
          <p:cNvSpPr/>
          <p:nvPr/>
        </p:nvSpPr>
        <p:spPr>
          <a:xfrm>
            <a:off x="9462110" y="1288390"/>
            <a:ext cx="239065" cy="198425"/>
          </a:xfrm>
          <a:prstGeom prst="rect">
            <a:avLst/>
          </a:prstGeom>
          <a:solidFill>
            <a:srgbClr val="6D5BD0">
              <a:alpha val="92000"/>
            </a:srgbClr>
          </a:solidFill>
          <a:ln w="12700">
            <a:solidFill>
              <a:srgbClr val="6D5BD0">
                <a:alpha val="0"/>
              </a:srgbClr>
            </a:solidFill>
            <a:prstDash val="solid"/>
          </a:ln>
        </p:spPr>
      </p:sp>
      <p:sp>
        <p:nvSpPr>
          <p:cNvPr id="125" name="Shape 123"/>
          <p:cNvSpPr/>
          <p:nvPr/>
        </p:nvSpPr>
        <p:spPr>
          <a:xfrm>
            <a:off x="9462110" y="1494130"/>
            <a:ext cx="239065" cy="198425"/>
          </a:xfrm>
          <a:prstGeom prst="rect">
            <a:avLst/>
          </a:prstGeom>
          <a:solidFill>
            <a:srgbClr val="DC7B52">
              <a:alpha val="92000"/>
            </a:srgbClr>
          </a:solidFill>
          <a:ln w="12700">
            <a:solidFill>
              <a:srgbClr val="DC7B52">
                <a:alpha val="0"/>
              </a:srgbClr>
            </a:solidFill>
            <a:prstDash val="solid"/>
          </a:ln>
        </p:spPr>
      </p:sp>
      <p:sp>
        <p:nvSpPr>
          <p:cNvPr id="126" name="Shape 124"/>
          <p:cNvSpPr/>
          <p:nvPr/>
        </p:nvSpPr>
        <p:spPr>
          <a:xfrm>
            <a:off x="9462110" y="1699870"/>
            <a:ext cx="239065" cy="198425"/>
          </a:xfrm>
          <a:prstGeom prst="rect">
            <a:avLst/>
          </a:prstGeom>
          <a:solidFill>
            <a:srgbClr val="F8EFE2">
              <a:alpha val="92000"/>
            </a:srgbClr>
          </a:solidFill>
          <a:ln w="12700">
            <a:solidFill>
              <a:srgbClr val="F8EFE2">
                <a:alpha val="0"/>
              </a:srgbClr>
            </a:solidFill>
            <a:prstDash val="solid"/>
          </a:ln>
        </p:spPr>
      </p:sp>
      <p:sp>
        <p:nvSpPr>
          <p:cNvPr id="127" name="Shape 125"/>
          <p:cNvSpPr/>
          <p:nvPr/>
        </p:nvSpPr>
        <p:spPr>
          <a:xfrm>
            <a:off x="9462110" y="1905610"/>
            <a:ext cx="239065" cy="198425"/>
          </a:xfrm>
          <a:prstGeom prst="rect">
            <a:avLst/>
          </a:prstGeom>
          <a:solidFill>
            <a:srgbClr val="E9A15F">
              <a:alpha val="92000"/>
            </a:srgbClr>
          </a:solidFill>
          <a:ln w="12700">
            <a:solidFill>
              <a:srgbClr val="E9A15F">
                <a:alpha val="0"/>
              </a:srgbClr>
            </a:solidFill>
            <a:prstDash val="solid"/>
          </a:ln>
        </p:spPr>
      </p:sp>
      <p:sp>
        <p:nvSpPr>
          <p:cNvPr id="128" name="Shape 126"/>
          <p:cNvSpPr/>
          <p:nvPr/>
        </p:nvSpPr>
        <p:spPr>
          <a:xfrm>
            <a:off x="9462110" y="2111350"/>
            <a:ext cx="239065" cy="198425"/>
          </a:xfrm>
          <a:prstGeom prst="rect">
            <a:avLst/>
          </a:prstGeom>
          <a:solidFill>
            <a:srgbClr val="B6545A">
              <a:alpha val="92000"/>
            </a:srgbClr>
          </a:solidFill>
          <a:ln w="12700">
            <a:solidFill>
              <a:srgbClr val="B6545A">
                <a:alpha val="0"/>
              </a:srgbClr>
            </a:solidFill>
            <a:prstDash val="solid"/>
          </a:ln>
        </p:spPr>
      </p:sp>
      <p:sp>
        <p:nvSpPr>
          <p:cNvPr id="129" name="Shape 127"/>
          <p:cNvSpPr/>
          <p:nvPr/>
        </p:nvSpPr>
        <p:spPr>
          <a:xfrm>
            <a:off x="9462110" y="2317090"/>
            <a:ext cx="239065" cy="198425"/>
          </a:xfrm>
          <a:prstGeom prst="rect">
            <a:avLst/>
          </a:prstGeom>
          <a:solidFill>
            <a:srgbClr val="6D5BD0">
              <a:alpha val="92000"/>
            </a:srgbClr>
          </a:solidFill>
          <a:ln w="12700">
            <a:solidFill>
              <a:srgbClr val="6D5BD0">
                <a:alpha val="0"/>
              </a:srgbClr>
            </a:solidFill>
            <a:prstDash val="solid"/>
          </a:ln>
        </p:spPr>
      </p:sp>
      <p:sp>
        <p:nvSpPr>
          <p:cNvPr id="130" name="Shape 128"/>
          <p:cNvSpPr/>
          <p:nvPr/>
        </p:nvSpPr>
        <p:spPr>
          <a:xfrm>
            <a:off x="9462110" y="2522830"/>
            <a:ext cx="239065" cy="198425"/>
          </a:xfrm>
          <a:prstGeom prst="rect">
            <a:avLst/>
          </a:prstGeom>
          <a:solidFill>
            <a:srgbClr val="B6545A">
              <a:alpha val="92000"/>
            </a:srgbClr>
          </a:solidFill>
          <a:ln w="12700">
            <a:solidFill>
              <a:srgbClr val="B6545A">
                <a:alpha val="0"/>
              </a:srgbClr>
            </a:solidFill>
            <a:prstDash val="solid"/>
          </a:ln>
        </p:spPr>
      </p:sp>
      <p:sp>
        <p:nvSpPr>
          <p:cNvPr id="131" name="Shape 129"/>
          <p:cNvSpPr/>
          <p:nvPr/>
        </p:nvSpPr>
        <p:spPr>
          <a:xfrm>
            <a:off x="9708490" y="1082650"/>
            <a:ext cx="239065" cy="198425"/>
          </a:xfrm>
          <a:prstGeom prst="rect">
            <a:avLst/>
          </a:prstGeom>
          <a:solidFill>
            <a:srgbClr val="B6545A">
              <a:alpha val="92000"/>
            </a:srgbClr>
          </a:solidFill>
          <a:ln w="12700">
            <a:solidFill>
              <a:srgbClr val="B6545A">
                <a:alpha val="0"/>
              </a:srgbClr>
            </a:solidFill>
            <a:prstDash val="solid"/>
          </a:ln>
        </p:spPr>
      </p:sp>
      <p:sp>
        <p:nvSpPr>
          <p:cNvPr id="132" name="Shape 130"/>
          <p:cNvSpPr/>
          <p:nvPr/>
        </p:nvSpPr>
        <p:spPr>
          <a:xfrm>
            <a:off x="9708490" y="1288390"/>
            <a:ext cx="239065" cy="198425"/>
          </a:xfrm>
          <a:prstGeom prst="rect">
            <a:avLst/>
          </a:prstGeom>
          <a:solidFill>
            <a:srgbClr val="E9A15F">
              <a:alpha val="92000"/>
            </a:srgbClr>
          </a:solidFill>
          <a:ln w="12700">
            <a:solidFill>
              <a:srgbClr val="E9A15F">
                <a:alpha val="0"/>
              </a:srgbClr>
            </a:solidFill>
            <a:prstDash val="solid"/>
          </a:ln>
        </p:spPr>
      </p:sp>
      <p:sp>
        <p:nvSpPr>
          <p:cNvPr id="133" name="Shape 131"/>
          <p:cNvSpPr/>
          <p:nvPr/>
        </p:nvSpPr>
        <p:spPr>
          <a:xfrm>
            <a:off x="9708490" y="1494130"/>
            <a:ext cx="239065" cy="198425"/>
          </a:xfrm>
          <a:prstGeom prst="rect">
            <a:avLst/>
          </a:prstGeom>
          <a:solidFill>
            <a:srgbClr val="F8EFE2">
              <a:alpha val="92000"/>
            </a:srgbClr>
          </a:solidFill>
          <a:ln w="12700">
            <a:solidFill>
              <a:srgbClr val="F8EFE2">
                <a:alpha val="0"/>
              </a:srgbClr>
            </a:solidFill>
            <a:prstDash val="solid"/>
          </a:ln>
        </p:spPr>
      </p:sp>
      <p:sp>
        <p:nvSpPr>
          <p:cNvPr id="134" name="Shape 132"/>
          <p:cNvSpPr/>
          <p:nvPr/>
        </p:nvSpPr>
        <p:spPr>
          <a:xfrm>
            <a:off x="9708490" y="1699870"/>
            <a:ext cx="239065" cy="198425"/>
          </a:xfrm>
          <a:prstGeom prst="rect">
            <a:avLst/>
          </a:prstGeom>
          <a:solidFill>
            <a:srgbClr val="DC7B52">
              <a:alpha val="92000"/>
            </a:srgbClr>
          </a:solidFill>
          <a:ln w="12700">
            <a:solidFill>
              <a:srgbClr val="DC7B52">
                <a:alpha val="0"/>
              </a:srgbClr>
            </a:solidFill>
            <a:prstDash val="solid"/>
          </a:ln>
        </p:spPr>
      </p:sp>
      <p:sp>
        <p:nvSpPr>
          <p:cNvPr id="135" name="Shape 133"/>
          <p:cNvSpPr/>
          <p:nvPr/>
        </p:nvSpPr>
        <p:spPr>
          <a:xfrm>
            <a:off x="9708490" y="1905610"/>
            <a:ext cx="239065" cy="198425"/>
          </a:xfrm>
          <a:prstGeom prst="rect">
            <a:avLst/>
          </a:prstGeom>
          <a:solidFill>
            <a:srgbClr val="6D5BD0">
              <a:alpha val="92000"/>
            </a:srgbClr>
          </a:solidFill>
          <a:ln w="12700">
            <a:solidFill>
              <a:srgbClr val="6D5BD0">
                <a:alpha val="0"/>
              </a:srgbClr>
            </a:solidFill>
            <a:prstDash val="solid"/>
          </a:ln>
        </p:spPr>
      </p:sp>
      <p:sp>
        <p:nvSpPr>
          <p:cNvPr id="136" name="Shape 134"/>
          <p:cNvSpPr/>
          <p:nvPr/>
        </p:nvSpPr>
        <p:spPr>
          <a:xfrm>
            <a:off x="9708490" y="2111350"/>
            <a:ext cx="239065" cy="198425"/>
          </a:xfrm>
          <a:prstGeom prst="rect">
            <a:avLst/>
          </a:prstGeom>
          <a:solidFill>
            <a:srgbClr val="6D5BD0">
              <a:alpha val="92000"/>
            </a:srgbClr>
          </a:solidFill>
          <a:ln w="12700">
            <a:solidFill>
              <a:srgbClr val="6D5BD0">
                <a:alpha val="0"/>
              </a:srgbClr>
            </a:solidFill>
            <a:prstDash val="solid"/>
          </a:ln>
        </p:spPr>
      </p:sp>
      <p:sp>
        <p:nvSpPr>
          <p:cNvPr id="137" name="Shape 135"/>
          <p:cNvSpPr/>
          <p:nvPr/>
        </p:nvSpPr>
        <p:spPr>
          <a:xfrm>
            <a:off x="9708490" y="2317090"/>
            <a:ext cx="239065" cy="198425"/>
          </a:xfrm>
          <a:prstGeom prst="rect">
            <a:avLst/>
          </a:prstGeom>
          <a:solidFill>
            <a:srgbClr val="B6545A">
              <a:alpha val="92000"/>
            </a:srgbClr>
          </a:solidFill>
          <a:ln w="12700">
            <a:solidFill>
              <a:srgbClr val="B6545A">
                <a:alpha val="0"/>
              </a:srgbClr>
            </a:solidFill>
            <a:prstDash val="solid"/>
          </a:ln>
        </p:spPr>
      </p:sp>
      <p:sp>
        <p:nvSpPr>
          <p:cNvPr id="138" name="Shape 136"/>
          <p:cNvSpPr/>
          <p:nvPr/>
        </p:nvSpPr>
        <p:spPr>
          <a:xfrm>
            <a:off x="9708490" y="2522830"/>
            <a:ext cx="239065" cy="198425"/>
          </a:xfrm>
          <a:prstGeom prst="rect">
            <a:avLst/>
          </a:prstGeom>
          <a:solidFill>
            <a:srgbClr val="EFC97F">
              <a:alpha val="92000"/>
            </a:srgbClr>
          </a:solidFill>
          <a:ln w="12700">
            <a:solidFill>
              <a:srgbClr val="EFC97F">
                <a:alpha val="0"/>
              </a:srgbClr>
            </a:solidFill>
            <a:prstDash val="solid"/>
          </a:ln>
        </p:spPr>
      </p:sp>
      <p:sp>
        <p:nvSpPr>
          <p:cNvPr id="139" name="Shape 137"/>
          <p:cNvSpPr/>
          <p:nvPr/>
        </p:nvSpPr>
        <p:spPr>
          <a:xfrm>
            <a:off x="9954870" y="1082650"/>
            <a:ext cx="239065" cy="198425"/>
          </a:xfrm>
          <a:prstGeom prst="rect">
            <a:avLst/>
          </a:prstGeom>
          <a:solidFill>
            <a:srgbClr val="EFC97F">
              <a:alpha val="92000"/>
            </a:srgbClr>
          </a:solidFill>
          <a:ln w="12700">
            <a:solidFill>
              <a:srgbClr val="EFC97F">
                <a:alpha val="0"/>
              </a:srgbClr>
            </a:solidFill>
            <a:prstDash val="solid"/>
          </a:ln>
        </p:spPr>
      </p:sp>
      <p:sp>
        <p:nvSpPr>
          <p:cNvPr id="140" name="Shape 138"/>
          <p:cNvSpPr/>
          <p:nvPr/>
        </p:nvSpPr>
        <p:spPr>
          <a:xfrm>
            <a:off x="9954870" y="1288390"/>
            <a:ext cx="239065" cy="198425"/>
          </a:xfrm>
          <a:prstGeom prst="rect">
            <a:avLst/>
          </a:prstGeom>
          <a:solidFill>
            <a:srgbClr val="F4DDB7">
              <a:alpha val="92000"/>
            </a:srgbClr>
          </a:solidFill>
          <a:ln w="12700">
            <a:solidFill>
              <a:srgbClr val="F4DDB7">
                <a:alpha val="0"/>
              </a:srgbClr>
            </a:solidFill>
            <a:prstDash val="solid"/>
          </a:ln>
        </p:spPr>
      </p:sp>
      <p:sp>
        <p:nvSpPr>
          <p:cNvPr id="141" name="Shape 139"/>
          <p:cNvSpPr/>
          <p:nvPr/>
        </p:nvSpPr>
        <p:spPr>
          <a:xfrm>
            <a:off x="9954870" y="1494130"/>
            <a:ext cx="239065" cy="198425"/>
          </a:xfrm>
          <a:prstGeom prst="rect">
            <a:avLst/>
          </a:prstGeom>
          <a:solidFill>
            <a:srgbClr val="DC7B52">
              <a:alpha val="92000"/>
            </a:srgbClr>
          </a:solidFill>
          <a:ln w="12700">
            <a:solidFill>
              <a:srgbClr val="DC7B52">
                <a:alpha val="0"/>
              </a:srgbClr>
            </a:solidFill>
            <a:prstDash val="solid"/>
          </a:ln>
        </p:spPr>
      </p:sp>
      <p:sp>
        <p:nvSpPr>
          <p:cNvPr id="142" name="Shape 140"/>
          <p:cNvSpPr/>
          <p:nvPr/>
        </p:nvSpPr>
        <p:spPr>
          <a:xfrm>
            <a:off x="9954870" y="1699870"/>
            <a:ext cx="239065" cy="198425"/>
          </a:xfrm>
          <a:prstGeom prst="rect">
            <a:avLst/>
          </a:prstGeom>
          <a:solidFill>
            <a:srgbClr val="6D5BD0">
              <a:alpha val="92000"/>
            </a:srgbClr>
          </a:solidFill>
          <a:ln w="12700">
            <a:solidFill>
              <a:srgbClr val="6D5BD0">
                <a:alpha val="0"/>
              </a:srgbClr>
            </a:solidFill>
            <a:prstDash val="solid"/>
          </a:ln>
        </p:spPr>
      </p:sp>
      <p:sp>
        <p:nvSpPr>
          <p:cNvPr id="143" name="Shape 141"/>
          <p:cNvSpPr/>
          <p:nvPr/>
        </p:nvSpPr>
        <p:spPr>
          <a:xfrm>
            <a:off x="9954870" y="1905610"/>
            <a:ext cx="239065" cy="198425"/>
          </a:xfrm>
          <a:prstGeom prst="rect">
            <a:avLst/>
          </a:prstGeom>
          <a:solidFill>
            <a:srgbClr val="6D5BD0">
              <a:alpha val="92000"/>
            </a:srgbClr>
          </a:solidFill>
          <a:ln w="12700">
            <a:solidFill>
              <a:srgbClr val="6D5BD0">
                <a:alpha val="0"/>
              </a:srgbClr>
            </a:solidFill>
            <a:prstDash val="solid"/>
          </a:ln>
        </p:spPr>
      </p:sp>
      <p:sp>
        <p:nvSpPr>
          <p:cNvPr id="144" name="Shape 142"/>
          <p:cNvSpPr/>
          <p:nvPr/>
        </p:nvSpPr>
        <p:spPr>
          <a:xfrm>
            <a:off x="9954870" y="2111350"/>
            <a:ext cx="239065" cy="198425"/>
          </a:xfrm>
          <a:prstGeom prst="rect">
            <a:avLst/>
          </a:prstGeom>
          <a:solidFill>
            <a:srgbClr val="DC7B52">
              <a:alpha val="92000"/>
            </a:srgbClr>
          </a:solidFill>
          <a:ln w="12700">
            <a:solidFill>
              <a:srgbClr val="DC7B52">
                <a:alpha val="0"/>
              </a:srgbClr>
            </a:solidFill>
            <a:prstDash val="solid"/>
          </a:ln>
        </p:spPr>
      </p:sp>
      <p:sp>
        <p:nvSpPr>
          <p:cNvPr id="145" name="Shape 143"/>
          <p:cNvSpPr/>
          <p:nvPr/>
        </p:nvSpPr>
        <p:spPr>
          <a:xfrm>
            <a:off x="9954870" y="2317090"/>
            <a:ext cx="239065" cy="198425"/>
          </a:xfrm>
          <a:prstGeom prst="rect">
            <a:avLst/>
          </a:prstGeom>
          <a:solidFill>
            <a:srgbClr val="F4DDB7">
              <a:alpha val="92000"/>
            </a:srgbClr>
          </a:solidFill>
          <a:ln w="12700">
            <a:solidFill>
              <a:srgbClr val="F4DDB7">
                <a:alpha val="0"/>
              </a:srgbClr>
            </a:solidFill>
            <a:prstDash val="solid"/>
          </a:ln>
        </p:spPr>
      </p:sp>
      <p:sp>
        <p:nvSpPr>
          <p:cNvPr id="146" name="Shape 144"/>
          <p:cNvSpPr/>
          <p:nvPr/>
        </p:nvSpPr>
        <p:spPr>
          <a:xfrm>
            <a:off x="9954870" y="2522830"/>
            <a:ext cx="239065" cy="198425"/>
          </a:xfrm>
          <a:prstGeom prst="rect">
            <a:avLst/>
          </a:prstGeom>
          <a:solidFill>
            <a:srgbClr val="EFC97F">
              <a:alpha val="92000"/>
            </a:srgbClr>
          </a:solidFill>
          <a:ln w="12700">
            <a:solidFill>
              <a:srgbClr val="EFC97F">
                <a:alpha val="0"/>
              </a:srgbClr>
            </a:solidFill>
            <a:prstDash val="solid"/>
          </a:ln>
        </p:spPr>
      </p:sp>
      <p:sp>
        <p:nvSpPr>
          <p:cNvPr id="147" name="Shape 145"/>
          <p:cNvSpPr/>
          <p:nvPr/>
        </p:nvSpPr>
        <p:spPr>
          <a:xfrm>
            <a:off x="10201250" y="1082650"/>
            <a:ext cx="239065" cy="198425"/>
          </a:xfrm>
          <a:prstGeom prst="rect">
            <a:avLst/>
          </a:prstGeom>
          <a:solidFill>
            <a:srgbClr val="EFC97F">
              <a:alpha val="92000"/>
            </a:srgbClr>
          </a:solidFill>
          <a:ln w="12700">
            <a:solidFill>
              <a:srgbClr val="EFC97F">
                <a:alpha val="0"/>
              </a:srgbClr>
            </a:solidFill>
            <a:prstDash val="solid"/>
          </a:ln>
        </p:spPr>
      </p:sp>
      <p:sp>
        <p:nvSpPr>
          <p:cNvPr id="148" name="Shape 146"/>
          <p:cNvSpPr/>
          <p:nvPr/>
        </p:nvSpPr>
        <p:spPr>
          <a:xfrm>
            <a:off x="10201250" y="1288390"/>
            <a:ext cx="239065" cy="198425"/>
          </a:xfrm>
          <a:prstGeom prst="rect">
            <a:avLst/>
          </a:prstGeom>
          <a:solidFill>
            <a:srgbClr val="B6545A">
              <a:alpha val="92000"/>
            </a:srgbClr>
          </a:solidFill>
          <a:ln w="12700">
            <a:solidFill>
              <a:srgbClr val="B6545A">
                <a:alpha val="0"/>
              </a:srgbClr>
            </a:solidFill>
            <a:prstDash val="solid"/>
          </a:ln>
        </p:spPr>
      </p:sp>
      <p:sp>
        <p:nvSpPr>
          <p:cNvPr id="149" name="Shape 147"/>
          <p:cNvSpPr/>
          <p:nvPr/>
        </p:nvSpPr>
        <p:spPr>
          <a:xfrm>
            <a:off x="10201250" y="1494130"/>
            <a:ext cx="239065" cy="198425"/>
          </a:xfrm>
          <a:prstGeom prst="rect">
            <a:avLst/>
          </a:prstGeom>
          <a:solidFill>
            <a:srgbClr val="6D5BD0">
              <a:alpha val="92000"/>
            </a:srgbClr>
          </a:solidFill>
          <a:ln w="12700">
            <a:solidFill>
              <a:srgbClr val="6D5BD0">
                <a:alpha val="0"/>
              </a:srgbClr>
            </a:solidFill>
            <a:prstDash val="solid"/>
          </a:ln>
        </p:spPr>
      </p:sp>
      <p:sp>
        <p:nvSpPr>
          <p:cNvPr id="150" name="Shape 148"/>
          <p:cNvSpPr/>
          <p:nvPr/>
        </p:nvSpPr>
        <p:spPr>
          <a:xfrm>
            <a:off x="10201250" y="1699870"/>
            <a:ext cx="239065" cy="198425"/>
          </a:xfrm>
          <a:prstGeom prst="rect">
            <a:avLst/>
          </a:prstGeom>
          <a:solidFill>
            <a:srgbClr val="6D5BD0">
              <a:alpha val="92000"/>
            </a:srgbClr>
          </a:solidFill>
          <a:ln w="12700">
            <a:solidFill>
              <a:srgbClr val="6D5BD0">
                <a:alpha val="0"/>
              </a:srgbClr>
            </a:solidFill>
            <a:prstDash val="solid"/>
          </a:ln>
        </p:spPr>
      </p:sp>
      <p:sp>
        <p:nvSpPr>
          <p:cNvPr id="151" name="Shape 149"/>
          <p:cNvSpPr/>
          <p:nvPr/>
        </p:nvSpPr>
        <p:spPr>
          <a:xfrm>
            <a:off x="10201250" y="1905610"/>
            <a:ext cx="239065" cy="198425"/>
          </a:xfrm>
          <a:prstGeom prst="rect">
            <a:avLst/>
          </a:prstGeom>
          <a:solidFill>
            <a:srgbClr val="E9A15F">
              <a:alpha val="92000"/>
            </a:srgbClr>
          </a:solidFill>
          <a:ln w="12700">
            <a:solidFill>
              <a:srgbClr val="E9A15F">
                <a:alpha val="0"/>
              </a:srgbClr>
            </a:solidFill>
            <a:prstDash val="solid"/>
          </a:ln>
        </p:spPr>
      </p:sp>
      <p:sp>
        <p:nvSpPr>
          <p:cNvPr id="152" name="Shape 150"/>
          <p:cNvSpPr/>
          <p:nvPr/>
        </p:nvSpPr>
        <p:spPr>
          <a:xfrm>
            <a:off x="10201250" y="2111350"/>
            <a:ext cx="239065" cy="198425"/>
          </a:xfrm>
          <a:prstGeom prst="rect">
            <a:avLst/>
          </a:prstGeom>
          <a:solidFill>
            <a:srgbClr val="F8EFE2">
              <a:alpha val="92000"/>
            </a:srgbClr>
          </a:solidFill>
          <a:ln w="12700">
            <a:solidFill>
              <a:srgbClr val="F8EFE2">
                <a:alpha val="0"/>
              </a:srgbClr>
            </a:solidFill>
            <a:prstDash val="solid"/>
          </a:ln>
        </p:spPr>
      </p:sp>
      <p:sp>
        <p:nvSpPr>
          <p:cNvPr id="153" name="Shape 151"/>
          <p:cNvSpPr/>
          <p:nvPr/>
        </p:nvSpPr>
        <p:spPr>
          <a:xfrm>
            <a:off x="10201250" y="2317090"/>
            <a:ext cx="239065" cy="198425"/>
          </a:xfrm>
          <a:prstGeom prst="rect">
            <a:avLst/>
          </a:prstGeom>
          <a:solidFill>
            <a:srgbClr val="E9A15F">
              <a:alpha val="92000"/>
            </a:srgbClr>
          </a:solidFill>
          <a:ln w="12700">
            <a:solidFill>
              <a:srgbClr val="E9A15F">
                <a:alpha val="0"/>
              </a:srgbClr>
            </a:solidFill>
            <a:prstDash val="solid"/>
          </a:ln>
        </p:spPr>
      </p:sp>
      <p:sp>
        <p:nvSpPr>
          <p:cNvPr id="154" name="Shape 152"/>
          <p:cNvSpPr/>
          <p:nvPr/>
        </p:nvSpPr>
        <p:spPr>
          <a:xfrm>
            <a:off x="10201250" y="2522830"/>
            <a:ext cx="239065" cy="198425"/>
          </a:xfrm>
          <a:prstGeom prst="rect">
            <a:avLst/>
          </a:prstGeom>
          <a:solidFill>
            <a:srgbClr val="6D5BD0">
              <a:alpha val="92000"/>
            </a:srgbClr>
          </a:solidFill>
          <a:ln w="12700">
            <a:solidFill>
              <a:srgbClr val="6D5BD0">
                <a:alpha val="0"/>
              </a:srgbClr>
            </a:solidFill>
            <a:prstDash val="solid"/>
          </a:ln>
        </p:spPr>
      </p:sp>
      <p:sp>
        <p:nvSpPr>
          <p:cNvPr id="155" name="Shape 153"/>
          <p:cNvSpPr/>
          <p:nvPr/>
        </p:nvSpPr>
        <p:spPr>
          <a:xfrm>
            <a:off x="10447630" y="1082650"/>
            <a:ext cx="239065" cy="198425"/>
          </a:xfrm>
          <a:prstGeom prst="rect">
            <a:avLst/>
          </a:prstGeom>
          <a:solidFill>
            <a:srgbClr val="6D5BD0">
              <a:alpha val="92000"/>
            </a:srgbClr>
          </a:solidFill>
          <a:ln w="12700">
            <a:solidFill>
              <a:srgbClr val="6D5BD0">
                <a:alpha val="0"/>
              </a:srgbClr>
            </a:solidFill>
            <a:prstDash val="solid"/>
          </a:ln>
        </p:spPr>
      </p:sp>
      <p:sp>
        <p:nvSpPr>
          <p:cNvPr id="156" name="Shape 154"/>
          <p:cNvSpPr/>
          <p:nvPr/>
        </p:nvSpPr>
        <p:spPr>
          <a:xfrm>
            <a:off x="10447630" y="1288390"/>
            <a:ext cx="239065" cy="198425"/>
          </a:xfrm>
          <a:prstGeom prst="rect">
            <a:avLst/>
          </a:prstGeom>
          <a:solidFill>
            <a:srgbClr val="6D5BD0">
              <a:alpha val="92000"/>
            </a:srgbClr>
          </a:solidFill>
          <a:ln w="12700">
            <a:solidFill>
              <a:srgbClr val="6D5BD0">
                <a:alpha val="0"/>
              </a:srgbClr>
            </a:solidFill>
            <a:prstDash val="solid"/>
          </a:ln>
        </p:spPr>
      </p:sp>
      <p:sp>
        <p:nvSpPr>
          <p:cNvPr id="157" name="Shape 155"/>
          <p:cNvSpPr/>
          <p:nvPr/>
        </p:nvSpPr>
        <p:spPr>
          <a:xfrm>
            <a:off x="10447630" y="1494130"/>
            <a:ext cx="239065" cy="198425"/>
          </a:xfrm>
          <a:prstGeom prst="rect">
            <a:avLst/>
          </a:prstGeom>
          <a:solidFill>
            <a:srgbClr val="B6545A">
              <a:alpha val="92000"/>
            </a:srgbClr>
          </a:solidFill>
          <a:ln w="12700">
            <a:solidFill>
              <a:srgbClr val="B6545A">
                <a:alpha val="0"/>
              </a:srgbClr>
            </a:solidFill>
            <a:prstDash val="solid"/>
          </a:ln>
        </p:spPr>
      </p:sp>
      <p:sp>
        <p:nvSpPr>
          <p:cNvPr id="158" name="Shape 156"/>
          <p:cNvSpPr/>
          <p:nvPr/>
        </p:nvSpPr>
        <p:spPr>
          <a:xfrm>
            <a:off x="10447630" y="1699870"/>
            <a:ext cx="239065" cy="198425"/>
          </a:xfrm>
          <a:prstGeom prst="rect">
            <a:avLst/>
          </a:prstGeom>
          <a:solidFill>
            <a:srgbClr val="EFC97F">
              <a:alpha val="92000"/>
            </a:srgbClr>
          </a:solidFill>
          <a:ln w="12700">
            <a:solidFill>
              <a:srgbClr val="EFC97F">
                <a:alpha val="0"/>
              </a:srgbClr>
            </a:solidFill>
            <a:prstDash val="solid"/>
          </a:ln>
        </p:spPr>
      </p:sp>
      <p:sp>
        <p:nvSpPr>
          <p:cNvPr id="159" name="Shape 157"/>
          <p:cNvSpPr/>
          <p:nvPr/>
        </p:nvSpPr>
        <p:spPr>
          <a:xfrm>
            <a:off x="10447630" y="1905610"/>
            <a:ext cx="239065" cy="198425"/>
          </a:xfrm>
          <a:prstGeom prst="rect">
            <a:avLst/>
          </a:prstGeom>
          <a:solidFill>
            <a:srgbClr val="F8EFE2">
              <a:alpha val="92000"/>
            </a:srgbClr>
          </a:solidFill>
          <a:ln w="12700">
            <a:solidFill>
              <a:srgbClr val="F8EFE2">
                <a:alpha val="0"/>
              </a:srgbClr>
            </a:solidFill>
            <a:prstDash val="solid"/>
          </a:ln>
        </p:spPr>
      </p:sp>
      <p:sp>
        <p:nvSpPr>
          <p:cNvPr id="160" name="Shape 158"/>
          <p:cNvSpPr/>
          <p:nvPr/>
        </p:nvSpPr>
        <p:spPr>
          <a:xfrm>
            <a:off x="10447630" y="2111350"/>
            <a:ext cx="239065" cy="198425"/>
          </a:xfrm>
          <a:prstGeom prst="rect">
            <a:avLst/>
          </a:prstGeom>
          <a:solidFill>
            <a:srgbClr val="DC7B52">
              <a:alpha val="92000"/>
            </a:srgbClr>
          </a:solidFill>
          <a:ln w="12700">
            <a:solidFill>
              <a:srgbClr val="DC7B52">
                <a:alpha val="0"/>
              </a:srgbClr>
            </a:solidFill>
            <a:prstDash val="solid"/>
          </a:ln>
        </p:spPr>
      </p:sp>
      <p:sp>
        <p:nvSpPr>
          <p:cNvPr id="161" name="Shape 159"/>
          <p:cNvSpPr/>
          <p:nvPr/>
        </p:nvSpPr>
        <p:spPr>
          <a:xfrm>
            <a:off x="10447630" y="2317090"/>
            <a:ext cx="239065" cy="198425"/>
          </a:xfrm>
          <a:prstGeom prst="rect">
            <a:avLst/>
          </a:prstGeom>
          <a:solidFill>
            <a:srgbClr val="6D5BD0">
              <a:alpha val="92000"/>
            </a:srgbClr>
          </a:solidFill>
          <a:ln w="12700">
            <a:solidFill>
              <a:srgbClr val="6D5BD0">
                <a:alpha val="0"/>
              </a:srgbClr>
            </a:solidFill>
            <a:prstDash val="solid"/>
          </a:ln>
        </p:spPr>
      </p:sp>
      <p:sp>
        <p:nvSpPr>
          <p:cNvPr id="162" name="Shape 160"/>
          <p:cNvSpPr/>
          <p:nvPr/>
        </p:nvSpPr>
        <p:spPr>
          <a:xfrm>
            <a:off x="10447630" y="2522830"/>
            <a:ext cx="239065" cy="198425"/>
          </a:xfrm>
          <a:prstGeom prst="rect">
            <a:avLst/>
          </a:prstGeom>
          <a:solidFill>
            <a:srgbClr val="6D5BD0">
              <a:alpha val="92000"/>
            </a:srgbClr>
          </a:solidFill>
          <a:ln w="12700">
            <a:solidFill>
              <a:srgbClr val="6D5BD0">
                <a:alpha val="0"/>
              </a:srgbClr>
            </a:solidFill>
            <a:prstDash val="solid"/>
          </a:ln>
        </p:spPr>
      </p:sp>
      <p:sp>
        <p:nvSpPr>
          <p:cNvPr id="163" name="Shape 161"/>
          <p:cNvSpPr/>
          <p:nvPr/>
        </p:nvSpPr>
        <p:spPr>
          <a:xfrm>
            <a:off x="10694010" y="1082650"/>
            <a:ext cx="239065" cy="198425"/>
          </a:xfrm>
          <a:prstGeom prst="rect">
            <a:avLst/>
          </a:prstGeom>
          <a:solidFill>
            <a:srgbClr val="6D5BD0">
              <a:alpha val="92000"/>
            </a:srgbClr>
          </a:solidFill>
          <a:ln w="12700">
            <a:solidFill>
              <a:srgbClr val="6D5BD0">
                <a:alpha val="0"/>
              </a:srgbClr>
            </a:solidFill>
            <a:prstDash val="solid"/>
          </a:ln>
        </p:spPr>
      </p:sp>
      <p:sp>
        <p:nvSpPr>
          <p:cNvPr id="164" name="Shape 162"/>
          <p:cNvSpPr/>
          <p:nvPr/>
        </p:nvSpPr>
        <p:spPr>
          <a:xfrm>
            <a:off x="10694010" y="1288390"/>
            <a:ext cx="239065" cy="198425"/>
          </a:xfrm>
          <a:prstGeom prst="rect">
            <a:avLst/>
          </a:prstGeom>
          <a:solidFill>
            <a:srgbClr val="B6545A">
              <a:alpha val="92000"/>
            </a:srgbClr>
          </a:solidFill>
          <a:ln w="12700">
            <a:solidFill>
              <a:srgbClr val="B6545A">
                <a:alpha val="0"/>
              </a:srgbClr>
            </a:solidFill>
            <a:prstDash val="solid"/>
          </a:ln>
        </p:spPr>
      </p:sp>
      <p:sp>
        <p:nvSpPr>
          <p:cNvPr id="165" name="Shape 163"/>
          <p:cNvSpPr/>
          <p:nvPr/>
        </p:nvSpPr>
        <p:spPr>
          <a:xfrm>
            <a:off x="10694010" y="1494130"/>
            <a:ext cx="239065" cy="198425"/>
          </a:xfrm>
          <a:prstGeom prst="rect">
            <a:avLst/>
          </a:prstGeom>
          <a:solidFill>
            <a:srgbClr val="F4DDB7">
              <a:alpha val="92000"/>
            </a:srgbClr>
          </a:solidFill>
          <a:ln w="12700">
            <a:solidFill>
              <a:srgbClr val="F4DDB7">
                <a:alpha val="0"/>
              </a:srgbClr>
            </a:solidFill>
            <a:prstDash val="solid"/>
          </a:ln>
        </p:spPr>
      </p:sp>
      <p:sp>
        <p:nvSpPr>
          <p:cNvPr id="166" name="Shape 164"/>
          <p:cNvSpPr/>
          <p:nvPr/>
        </p:nvSpPr>
        <p:spPr>
          <a:xfrm>
            <a:off x="10694010" y="1699870"/>
            <a:ext cx="239065" cy="198425"/>
          </a:xfrm>
          <a:prstGeom prst="rect">
            <a:avLst/>
          </a:prstGeom>
          <a:solidFill>
            <a:srgbClr val="F4DDB7">
              <a:alpha val="92000"/>
            </a:srgbClr>
          </a:solidFill>
          <a:ln w="12700">
            <a:solidFill>
              <a:srgbClr val="F4DDB7">
                <a:alpha val="0"/>
              </a:srgbClr>
            </a:solidFill>
            <a:prstDash val="solid"/>
          </a:ln>
        </p:spPr>
      </p:sp>
      <p:sp>
        <p:nvSpPr>
          <p:cNvPr id="167" name="Shape 165"/>
          <p:cNvSpPr/>
          <p:nvPr/>
        </p:nvSpPr>
        <p:spPr>
          <a:xfrm>
            <a:off x="10694010" y="1905610"/>
            <a:ext cx="239065" cy="198425"/>
          </a:xfrm>
          <a:prstGeom prst="rect">
            <a:avLst/>
          </a:prstGeom>
          <a:solidFill>
            <a:srgbClr val="B6545A">
              <a:alpha val="92000"/>
            </a:srgbClr>
          </a:solidFill>
          <a:ln w="12700">
            <a:solidFill>
              <a:srgbClr val="B6545A">
                <a:alpha val="0"/>
              </a:srgbClr>
            </a:solidFill>
            <a:prstDash val="solid"/>
          </a:ln>
        </p:spPr>
      </p:sp>
      <p:sp>
        <p:nvSpPr>
          <p:cNvPr id="168" name="Shape 166"/>
          <p:cNvSpPr/>
          <p:nvPr/>
        </p:nvSpPr>
        <p:spPr>
          <a:xfrm>
            <a:off x="10694010" y="2111350"/>
            <a:ext cx="239065" cy="198425"/>
          </a:xfrm>
          <a:prstGeom prst="rect">
            <a:avLst/>
          </a:prstGeom>
          <a:solidFill>
            <a:srgbClr val="6D5BD0">
              <a:alpha val="92000"/>
            </a:srgbClr>
          </a:solidFill>
          <a:ln w="12700">
            <a:solidFill>
              <a:srgbClr val="6D5BD0">
                <a:alpha val="0"/>
              </a:srgbClr>
            </a:solidFill>
            <a:prstDash val="solid"/>
          </a:ln>
        </p:spPr>
      </p:sp>
      <p:sp>
        <p:nvSpPr>
          <p:cNvPr id="169" name="Shape 167"/>
          <p:cNvSpPr/>
          <p:nvPr/>
        </p:nvSpPr>
        <p:spPr>
          <a:xfrm>
            <a:off x="10694010" y="2317090"/>
            <a:ext cx="239065" cy="198425"/>
          </a:xfrm>
          <a:prstGeom prst="rect">
            <a:avLst/>
          </a:prstGeom>
          <a:solidFill>
            <a:srgbClr val="6D5BD0">
              <a:alpha val="92000"/>
            </a:srgbClr>
          </a:solidFill>
          <a:ln w="12700">
            <a:solidFill>
              <a:srgbClr val="6D5BD0">
                <a:alpha val="0"/>
              </a:srgbClr>
            </a:solidFill>
            <a:prstDash val="solid"/>
          </a:ln>
        </p:spPr>
      </p:sp>
      <p:sp>
        <p:nvSpPr>
          <p:cNvPr id="170" name="Shape 168"/>
          <p:cNvSpPr/>
          <p:nvPr/>
        </p:nvSpPr>
        <p:spPr>
          <a:xfrm>
            <a:off x="10694010" y="2522830"/>
            <a:ext cx="239065" cy="198425"/>
          </a:xfrm>
          <a:prstGeom prst="rect">
            <a:avLst/>
          </a:prstGeom>
          <a:solidFill>
            <a:srgbClr val="DC7B52">
              <a:alpha val="92000"/>
            </a:srgbClr>
          </a:solidFill>
          <a:ln w="12700">
            <a:solidFill>
              <a:srgbClr val="DC7B52">
                <a:alpha val="0"/>
              </a:srgbClr>
            </a:solidFill>
            <a:prstDash val="solid"/>
          </a:ln>
        </p:spPr>
      </p:sp>
      <p:sp>
        <p:nvSpPr>
          <p:cNvPr id="171" name="Shape 169"/>
          <p:cNvSpPr/>
          <p:nvPr/>
        </p:nvSpPr>
        <p:spPr>
          <a:xfrm>
            <a:off x="10940390" y="1082650"/>
            <a:ext cx="239065" cy="198425"/>
          </a:xfrm>
          <a:prstGeom prst="rect">
            <a:avLst/>
          </a:prstGeom>
          <a:solidFill>
            <a:srgbClr val="DC7B52">
              <a:alpha val="92000"/>
            </a:srgbClr>
          </a:solidFill>
          <a:ln w="12700">
            <a:solidFill>
              <a:srgbClr val="DC7B52">
                <a:alpha val="0"/>
              </a:srgbClr>
            </a:solidFill>
            <a:prstDash val="solid"/>
          </a:ln>
        </p:spPr>
      </p:sp>
      <p:sp>
        <p:nvSpPr>
          <p:cNvPr id="172" name="Shape 170"/>
          <p:cNvSpPr/>
          <p:nvPr/>
        </p:nvSpPr>
        <p:spPr>
          <a:xfrm>
            <a:off x="10940390" y="1288390"/>
            <a:ext cx="239065" cy="198425"/>
          </a:xfrm>
          <a:prstGeom prst="rect">
            <a:avLst/>
          </a:prstGeom>
          <a:solidFill>
            <a:srgbClr val="F8EFE2">
              <a:alpha val="92000"/>
            </a:srgbClr>
          </a:solidFill>
          <a:ln w="12700">
            <a:solidFill>
              <a:srgbClr val="F8EFE2">
                <a:alpha val="0"/>
              </a:srgbClr>
            </a:solidFill>
            <a:prstDash val="solid"/>
          </a:ln>
        </p:spPr>
      </p:sp>
      <p:sp>
        <p:nvSpPr>
          <p:cNvPr id="173" name="Shape 171"/>
          <p:cNvSpPr/>
          <p:nvPr/>
        </p:nvSpPr>
        <p:spPr>
          <a:xfrm>
            <a:off x="10940390" y="1494130"/>
            <a:ext cx="239065" cy="198425"/>
          </a:xfrm>
          <a:prstGeom prst="rect">
            <a:avLst/>
          </a:prstGeom>
          <a:solidFill>
            <a:srgbClr val="EFC97F">
              <a:alpha val="92000"/>
            </a:srgbClr>
          </a:solidFill>
          <a:ln w="12700">
            <a:solidFill>
              <a:srgbClr val="EFC97F">
                <a:alpha val="0"/>
              </a:srgbClr>
            </a:solidFill>
            <a:prstDash val="solid"/>
          </a:ln>
        </p:spPr>
      </p:sp>
      <p:sp>
        <p:nvSpPr>
          <p:cNvPr id="174" name="Shape 172"/>
          <p:cNvSpPr/>
          <p:nvPr/>
        </p:nvSpPr>
        <p:spPr>
          <a:xfrm>
            <a:off x="10940390" y="1699870"/>
            <a:ext cx="239065" cy="198425"/>
          </a:xfrm>
          <a:prstGeom prst="rect">
            <a:avLst/>
          </a:prstGeom>
          <a:solidFill>
            <a:srgbClr val="B6545A">
              <a:alpha val="92000"/>
            </a:srgbClr>
          </a:solidFill>
          <a:ln w="12700">
            <a:solidFill>
              <a:srgbClr val="B6545A">
                <a:alpha val="0"/>
              </a:srgbClr>
            </a:solidFill>
            <a:prstDash val="solid"/>
          </a:ln>
        </p:spPr>
      </p:sp>
      <p:sp>
        <p:nvSpPr>
          <p:cNvPr id="175" name="Shape 173"/>
          <p:cNvSpPr/>
          <p:nvPr/>
        </p:nvSpPr>
        <p:spPr>
          <a:xfrm>
            <a:off x="10940390" y="1905610"/>
            <a:ext cx="239065" cy="198425"/>
          </a:xfrm>
          <a:prstGeom prst="rect">
            <a:avLst/>
          </a:prstGeom>
          <a:solidFill>
            <a:srgbClr val="6D5BD0">
              <a:alpha val="92000"/>
            </a:srgbClr>
          </a:solidFill>
          <a:ln w="12700">
            <a:solidFill>
              <a:srgbClr val="6D5BD0">
                <a:alpha val="0"/>
              </a:srgbClr>
            </a:solidFill>
            <a:prstDash val="solid"/>
          </a:ln>
        </p:spPr>
      </p:sp>
      <p:sp>
        <p:nvSpPr>
          <p:cNvPr id="176" name="Shape 174"/>
          <p:cNvSpPr/>
          <p:nvPr/>
        </p:nvSpPr>
        <p:spPr>
          <a:xfrm>
            <a:off x="10940390" y="2111350"/>
            <a:ext cx="239065" cy="198425"/>
          </a:xfrm>
          <a:prstGeom prst="rect">
            <a:avLst/>
          </a:prstGeom>
          <a:solidFill>
            <a:srgbClr val="6D5BD0">
              <a:alpha val="92000"/>
            </a:srgbClr>
          </a:solidFill>
          <a:ln w="12700">
            <a:solidFill>
              <a:srgbClr val="6D5BD0">
                <a:alpha val="0"/>
              </a:srgbClr>
            </a:solidFill>
            <a:prstDash val="solid"/>
          </a:ln>
        </p:spPr>
      </p:sp>
      <p:sp>
        <p:nvSpPr>
          <p:cNvPr id="177" name="Shape 175"/>
          <p:cNvSpPr/>
          <p:nvPr/>
        </p:nvSpPr>
        <p:spPr>
          <a:xfrm>
            <a:off x="10940390" y="2317090"/>
            <a:ext cx="239065" cy="198425"/>
          </a:xfrm>
          <a:prstGeom prst="rect">
            <a:avLst/>
          </a:prstGeom>
          <a:solidFill>
            <a:srgbClr val="E9A15F">
              <a:alpha val="92000"/>
            </a:srgbClr>
          </a:solidFill>
          <a:ln w="12700">
            <a:solidFill>
              <a:srgbClr val="E9A15F">
                <a:alpha val="0"/>
              </a:srgbClr>
            </a:solidFill>
            <a:prstDash val="solid"/>
          </a:ln>
        </p:spPr>
      </p:sp>
      <p:sp>
        <p:nvSpPr>
          <p:cNvPr id="178" name="Shape 176"/>
          <p:cNvSpPr/>
          <p:nvPr/>
        </p:nvSpPr>
        <p:spPr>
          <a:xfrm>
            <a:off x="10940390" y="2522830"/>
            <a:ext cx="239065" cy="198425"/>
          </a:xfrm>
          <a:prstGeom prst="rect">
            <a:avLst/>
          </a:prstGeom>
          <a:solidFill>
            <a:srgbClr val="F8EFE2">
              <a:alpha val="92000"/>
            </a:srgbClr>
          </a:solidFill>
          <a:ln w="12700">
            <a:solidFill>
              <a:srgbClr val="F8EFE2">
                <a:alpha val="0"/>
              </a:srgbClr>
            </a:solidFill>
            <a:prstDash val="solid"/>
          </a:ln>
        </p:spPr>
      </p:sp>
      <p:sp>
        <p:nvSpPr>
          <p:cNvPr id="179" name="Text 177"/>
          <p:cNvSpPr/>
          <p:nvPr/>
        </p:nvSpPr>
        <p:spPr>
          <a:xfrm>
            <a:off x="6748272" y="2852928"/>
            <a:ext cx="4434840" cy="201168"/>
          </a:xfrm>
          <a:prstGeom prst="rect">
            <a:avLst/>
          </a:prstGeom>
          <a:noFill/>
          <a:ln/>
        </p:spPr>
        <p:txBody>
          <a:bodyPr wrap="square" lIns="0" tIns="0" rIns="0" bIns="0" rtlCol="0" anchor="ctr">
            <a:normAutofit/>
          </a:bodyPr>
          <a:lstStyle/>
          <a:p>
            <a:pPr algn="ctr" indent="0" marL="0">
              <a:buNone/>
            </a:pPr>
            <a:r>
              <a:rPr lang="en-US" sz="850" dirty="0">
                <a:solidFill>
                  <a:srgbClr val="516271"/>
                </a:solidFill>
                <a:latin typeface="Aptos" pitchFamily="34" charset="0"/>
                <a:ea typeface="Aptos" pitchFamily="34" charset="-122"/>
                <a:cs typeface="Aptos" pitchFamily="34" charset="-120"/>
              </a:rPr>
              <a:t>Spectrogram: trục ngang = thời gian, trục dọc = tần số, màu = năng lượng</a:t>
            </a:r>
            <a:endParaRPr lang="en-US" sz="850" dirty="0"/>
          </a:p>
        </p:txBody>
      </p:sp>
      <p:sp>
        <p:nvSpPr>
          <p:cNvPr id="180" name="Text 178"/>
          <p:cNvSpPr/>
          <p:nvPr/>
        </p:nvSpPr>
        <p:spPr>
          <a:xfrm>
            <a:off x="960120" y="3749040"/>
            <a:ext cx="4937760" cy="1371600"/>
          </a:xfrm>
          <a:prstGeom prst="rect">
            <a:avLst/>
          </a:prstGeom>
          <a:noFill/>
          <a:ln/>
        </p:spPr>
        <p:txBody>
          <a:bodyPr wrap="square" lIns="1016" tIns="1016" rIns="1016" bIns="1016" rtlCol="0" anchor="ctr">
            <a:normAutofit/>
          </a:bodyPr>
          <a:lstStyle/>
          <a:p>
            <a:r>
              <a:rPr lang="en-US" sz="1350" dirty="0">
                <a:solidFill>
                  <a:srgbClr val="12212B"/>
                </a:solidFill>
                <a:latin typeface="Aptos" pitchFamily="34" charset="0"/>
                <a:ea typeface="Aptos" pitchFamily="34" charset="-122"/>
                <a:cs typeface="Aptos" pitchFamily="34" charset="-120"/>
              </a:rPr>
              <a:t>Frame giúp mô hình biết âm thanh thay đổi theo thời gian.</a:t>
            </a:r>
            <a:endParaRPr lang="en-US" sz="1350" dirty="0"/>
          </a:p>
          <a:p>
            <a:r>
              <a:rPr lang="en-US" sz="1350" dirty="0">
                <a:solidFill>
                  <a:srgbClr val="12212B"/>
                </a:solidFill>
                <a:latin typeface="Aptos" pitchFamily="34" charset="0"/>
                <a:ea typeface="Aptos" pitchFamily="34" charset="-122"/>
                <a:cs typeface="Aptos" pitchFamily="34" charset="-120"/>
              </a:rPr>
              <a:t>STFT/biến đổi phổ cho biết tại mỗi frame có tần số nào mạnh.</a:t>
            </a:r>
            <a:endParaRPr lang="en-US" sz="1350" dirty="0"/>
          </a:p>
          <a:p>
            <a:r>
              <a:rPr lang="en-US" sz="1350" dirty="0">
                <a:solidFill>
                  <a:srgbClr val="12212B"/>
                </a:solidFill>
                <a:latin typeface="Aptos" pitchFamily="34" charset="0"/>
                <a:ea typeface="Aptos" pitchFamily="34" charset="-122"/>
                <a:cs typeface="Aptos" pitchFamily="34" charset="-120"/>
              </a:rPr>
              <a:t>Bước này là tiền xử lý, không phải “học” bằng attention.</a:t>
            </a:r>
            <a:endParaRPr lang="en-US" sz="1350" dirty="0"/>
          </a:p>
        </p:txBody>
      </p:sp>
      <p:sp>
        <p:nvSpPr>
          <p:cNvPr id="181" name="Shape 179"/>
          <p:cNvSpPr/>
          <p:nvPr/>
        </p:nvSpPr>
        <p:spPr>
          <a:xfrm>
            <a:off x="6583680" y="3886200"/>
            <a:ext cx="4023360" cy="749808"/>
          </a:xfrm>
          <a:prstGeom prst="roundRect">
            <a:avLst>
              <a:gd name="adj" fmla="val 14634"/>
            </a:avLst>
          </a:prstGeom>
          <a:solidFill>
            <a:srgbClr val="FFFFFF"/>
          </a:solidFill>
          <a:ln w="12700">
            <a:solidFill>
              <a:srgbClr val="175D7C"/>
            </a:solidFill>
            <a:prstDash val="solid"/>
          </a:ln>
        </p:spPr>
      </p:sp>
      <p:sp>
        <p:nvSpPr>
          <p:cNvPr id="182" name="Text 180"/>
          <p:cNvSpPr/>
          <p:nvPr/>
        </p:nvSpPr>
        <p:spPr>
          <a:xfrm>
            <a:off x="6647688" y="3931920"/>
            <a:ext cx="3895344" cy="658368"/>
          </a:xfrm>
          <a:prstGeom prst="rect">
            <a:avLst/>
          </a:prstGeom>
          <a:noFill/>
          <a:ln/>
        </p:spPr>
        <p:txBody>
          <a:bodyPr wrap="square" lIns="762" tIns="762" rIns="762" bIns="762" rtlCol="0" anchor="ctr">
            <a:normAutofit/>
          </a:bodyPr>
          <a:lstStyle/>
          <a:p>
            <a:pPr algn="ctr" indent="0" marL="0">
              <a:buNone/>
            </a:pPr>
            <a:r>
              <a:rPr lang="en-US" sz="1800" b="1" dirty="0">
                <a:solidFill>
                  <a:srgbClr val="175D7C"/>
                </a:solidFill>
                <a:latin typeface="Aptos" pitchFamily="34" charset="0"/>
                <a:ea typeface="Aptos" pitchFamily="34" charset="-122"/>
                <a:cs typeface="Aptos" pitchFamily="34" charset="-120"/>
              </a:rPr>
              <a:t>Waveform dài → ma trận đặc trưng 2D</a:t>
            </a:r>
            <a:endParaRPr lang="en-US" sz="1800" dirty="0"/>
          </a:p>
        </p:txBody>
      </p:sp>
      <p:sp>
        <p:nvSpPr>
          <p:cNvPr id="183" name="Shape 181"/>
          <p:cNvSpPr/>
          <p:nvPr/>
        </p:nvSpPr>
        <p:spPr>
          <a:xfrm>
            <a:off x="438912" y="6199632"/>
            <a:ext cx="2377440" cy="310896"/>
          </a:xfrm>
          <a:prstGeom prst="roundRect">
            <a:avLst>
              <a:gd name="adj" fmla="val 44118"/>
            </a:avLst>
          </a:prstGeom>
          <a:solidFill>
            <a:srgbClr val="E8F2F6"/>
          </a:solidFill>
          <a:ln w="12700">
            <a:solidFill>
              <a:srgbClr val="E8F2F6"/>
            </a:solidFill>
            <a:prstDash val="solid"/>
          </a:ln>
        </p:spPr>
      </p:sp>
      <p:sp>
        <p:nvSpPr>
          <p:cNvPr id="184" name="Text 182"/>
          <p:cNvSpPr/>
          <p:nvPr/>
        </p:nvSpPr>
        <p:spPr>
          <a:xfrm>
            <a:off x="512064" y="6259068"/>
            <a:ext cx="2231136" cy="201168"/>
          </a:xfrm>
          <a:prstGeom prst="rect">
            <a:avLst/>
          </a:prstGeom>
          <a:noFill/>
          <a:ln/>
        </p:spPr>
        <p:txBody>
          <a:bodyPr wrap="square" lIns="0" tIns="0" rIns="0" bIns="0" rtlCol="0" anchor="ctr">
            <a:normAutofit/>
          </a:bodyPr>
          <a:lstStyle/>
          <a:p>
            <a:pPr algn="ctr" indent="0" marL="0">
              <a:buNone/>
            </a:pPr>
            <a:r>
              <a:rPr lang="en-US" sz="950" b="1" dirty="0">
                <a:solidFill>
                  <a:srgbClr val="175D7C"/>
                </a:solidFill>
                <a:latin typeface="Aptos" pitchFamily="34" charset="0"/>
                <a:ea typeface="Aptos" pitchFamily="34" charset="-122"/>
                <a:cs typeface="Aptos" pitchFamily="34" charset="-120"/>
              </a:rPr>
              <a:t>Frame &amp; phổ</a:t>
            </a:r>
            <a:endParaRPr lang="en-US" sz="950" dirty="0"/>
          </a:p>
        </p:txBody>
      </p:sp>
      <p:sp>
        <p:nvSpPr>
          <p:cNvPr id="25" name="Slide Number Placeholder 0"/>
          <p:cNvSpPr>
            <a:spLocks noGrp="1"/>
          </p:cNvSpPr>
          <p:nvPr>
            <p:ph type="sldNum" sz="quarter" idx="4294967295"/>
          </p:nvPr>
        </p:nvSpPr>
        <p:spPr>
          <a:xfrm>
            <a:off x="11841480" y="6519672"/>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7C879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420624" y="256032"/>
            <a:ext cx="9875520" cy="384048"/>
          </a:xfrm>
          <a:prstGeom prst="rect">
            <a:avLst/>
          </a:prstGeom>
          <a:noFill/>
          <a:ln/>
        </p:spPr>
        <p:txBody>
          <a:bodyPr wrap="square" lIns="0" tIns="0" rIns="0" bIns="0" rtlCol="0" anchor="ctr"/>
          <a:lstStyle/>
          <a:p>
            <a:pPr indent="0" marL="0">
              <a:buNone/>
            </a:pPr>
            <a:r>
              <a:rPr lang="en-US" sz="2500" b="1" dirty="0">
                <a:solidFill>
                  <a:srgbClr val="12212B"/>
                </a:solidFill>
                <a:latin typeface="Aptos Display" pitchFamily="34" charset="0"/>
                <a:ea typeface="Aptos Display" pitchFamily="34" charset="-122"/>
                <a:cs typeface="Aptos Display" pitchFamily="34" charset="-120"/>
              </a:rPr>
              <a:t>Log-Mel spectrogram: ảnh âm thanh cho mô hình</a:t>
            </a:r>
            <a:endParaRPr lang="en-US" sz="2500" dirty="0"/>
          </a:p>
        </p:txBody>
      </p:sp>
      <p:sp>
        <p:nvSpPr>
          <p:cNvPr id="3" name="Text 1"/>
          <p:cNvSpPr/>
          <p:nvPr/>
        </p:nvSpPr>
        <p:spPr>
          <a:xfrm>
            <a:off x="438912" y="694944"/>
            <a:ext cx="9875520" cy="256032"/>
          </a:xfrm>
          <a:prstGeom prst="rect">
            <a:avLst/>
          </a:prstGeom>
          <a:noFill/>
          <a:ln/>
        </p:spPr>
        <p:txBody>
          <a:bodyPr wrap="square" lIns="0" tIns="0" rIns="0" bIns="0" rtlCol="0" anchor="ctr"/>
          <a:lstStyle/>
          <a:p>
            <a:pPr indent="0" marL="0">
              <a:buNone/>
            </a:pPr>
            <a:r>
              <a:rPr lang="en-US" sz="1050" dirty="0">
                <a:solidFill>
                  <a:srgbClr val="516271"/>
                </a:solidFill>
              </a:rPr>
              <a:t>Đây là đầu vào thực tế của encoder Whisper/PhoWhisper</a:t>
            </a:r>
            <a:endParaRPr lang="en-US" sz="1050" dirty="0"/>
          </a:p>
        </p:txBody>
      </p:sp>
      <p:sp>
        <p:nvSpPr>
          <p:cNvPr id="4" name="Shape 2"/>
          <p:cNvSpPr/>
          <p:nvPr/>
        </p:nvSpPr>
        <p:spPr>
          <a:xfrm>
            <a:off x="826618" y="1055218"/>
            <a:ext cx="261925" cy="272720"/>
          </a:xfrm>
          <a:prstGeom prst="rect">
            <a:avLst/>
          </a:prstGeom>
          <a:solidFill>
            <a:srgbClr val="F8EFE2">
              <a:alpha val="92000"/>
            </a:srgbClr>
          </a:solidFill>
          <a:ln w="12700">
            <a:solidFill>
              <a:srgbClr val="F8EFE2">
                <a:alpha val="0"/>
              </a:srgbClr>
            </a:solidFill>
            <a:prstDash val="solid"/>
          </a:ln>
        </p:spPr>
      </p:sp>
      <p:sp>
        <p:nvSpPr>
          <p:cNvPr id="5" name="Shape 3"/>
          <p:cNvSpPr/>
          <p:nvPr/>
        </p:nvSpPr>
        <p:spPr>
          <a:xfrm>
            <a:off x="826618" y="1335253"/>
            <a:ext cx="261925" cy="272720"/>
          </a:xfrm>
          <a:prstGeom prst="rect">
            <a:avLst/>
          </a:prstGeom>
          <a:solidFill>
            <a:srgbClr val="E9A15F">
              <a:alpha val="92000"/>
            </a:srgbClr>
          </a:solidFill>
          <a:ln w="12700">
            <a:solidFill>
              <a:srgbClr val="E9A15F">
                <a:alpha val="0"/>
              </a:srgbClr>
            </a:solidFill>
            <a:prstDash val="solid"/>
          </a:ln>
        </p:spPr>
      </p:sp>
      <p:sp>
        <p:nvSpPr>
          <p:cNvPr id="6" name="Shape 4"/>
          <p:cNvSpPr/>
          <p:nvPr/>
        </p:nvSpPr>
        <p:spPr>
          <a:xfrm>
            <a:off x="826618" y="1615288"/>
            <a:ext cx="261925" cy="272720"/>
          </a:xfrm>
          <a:prstGeom prst="rect">
            <a:avLst/>
          </a:prstGeom>
          <a:solidFill>
            <a:srgbClr val="6D5BD0">
              <a:alpha val="92000"/>
            </a:srgbClr>
          </a:solidFill>
          <a:ln w="12700">
            <a:solidFill>
              <a:srgbClr val="6D5BD0">
                <a:alpha val="0"/>
              </a:srgbClr>
            </a:solidFill>
            <a:prstDash val="solid"/>
          </a:ln>
        </p:spPr>
      </p:sp>
      <p:sp>
        <p:nvSpPr>
          <p:cNvPr id="7" name="Shape 5"/>
          <p:cNvSpPr/>
          <p:nvPr/>
        </p:nvSpPr>
        <p:spPr>
          <a:xfrm>
            <a:off x="826618" y="1895323"/>
            <a:ext cx="261925" cy="272720"/>
          </a:xfrm>
          <a:prstGeom prst="rect">
            <a:avLst/>
          </a:prstGeom>
          <a:solidFill>
            <a:srgbClr val="6D5BD0">
              <a:alpha val="92000"/>
            </a:srgbClr>
          </a:solidFill>
          <a:ln w="12700">
            <a:solidFill>
              <a:srgbClr val="6D5BD0">
                <a:alpha val="0"/>
              </a:srgbClr>
            </a:solidFill>
            <a:prstDash val="solid"/>
          </a:ln>
        </p:spPr>
      </p:sp>
      <p:sp>
        <p:nvSpPr>
          <p:cNvPr id="8" name="Shape 6"/>
          <p:cNvSpPr/>
          <p:nvPr/>
        </p:nvSpPr>
        <p:spPr>
          <a:xfrm>
            <a:off x="826618" y="2175358"/>
            <a:ext cx="261925" cy="272720"/>
          </a:xfrm>
          <a:prstGeom prst="rect">
            <a:avLst/>
          </a:prstGeom>
          <a:solidFill>
            <a:srgbClr val="B6545A">
              <a:alpha val="92000"/>
            </a:srgbClr>
          </a:solidFill>
          <a:ln w="12700">
            <a:solidFill>
              <a:srgbClr val="B6545A">
                <a:alpha val="0"/>
              </a:srgbClr>
            </a:solidFill>
            <a:prstDash val="solid"/>
          </a:ln>
        </p:spPr>
      </p:sp>
      <p:sp>
        <p:nvSpPr>
          <p:cNvPr id="9" name="Shape 7"/>
          <p:cNvSpPr/>
          <p:nvPr/>
        </p:nvSpPr>
        <p:spPr>
          <a:xfrm>
            <a:off x="826618" y="2455393"/>
            <a:ext cx="261925" cy="272720"/>
          </a:xfrm>
          <a:prstGeom prst="rect">
            <a:avLst/>
          </a:prstGeom>
          <a:solidFill>
            <a:srgbClr val="EFC97F">
              <a:alpha val="92000"/>
            </a:srgbClr>
          </a:solidFill>
          <a:ln w="12700">
            <a:solidFill>
              <a:srgbClr val="EFC97F">
                <a:alpha val="0"/>
              </a:srgbClr>
            </a:solidFill>
            <a:prstDash val="solid"/>
          </a:ln>
        </p:spPr>
      </p:sp>
      <p:sp>
        <p:nvSpPr>
          <p:cNvPr id="10" name="Shape 8"/>
          <p:cNvSpPr/>
          <p:nvPr/>
        </p:nvSpPr>
        <p:spPr>
          <a:xfrm>
            <a:off x="826618" y="2735428"/>
            <a:ext cx="261925" cy="272720"/>
          </a:xfrm>
          <a:prstGeom prst="rect">
            <a:avLst/>
          </a:prstGeom>
          <a:solidFill>
            <a:srgbClr val="F4DDB7">
              <a:alpha val="92000"/>
            </a:srgbClr>
          </a:solidFill>
          <a:ln w="12700">
            <a:solidFill>
              <a:srgbClr val="F4DDB7">
                <a:alpha val="0"/>
              </a:srgbClr>
            </a:solidFill>
            <a:prstDash val="solid"/>
          </a:ln>
        </p:spPr>
      </p:sp>
      <p:sp>
        <p:nvSpPr>
          <p:cNvPr id="11" name="Shape 9"/>
          <p:cNvSpPr/>
          <p:nvPr/>
        </p:nvSpPr>
        <p:spPr>
          <a:xfrm>
            <a:off x="826618" y="3015463"/>
            <a:ext cx="261925" cy="272720"/>
          </a:xfrm>
          <a:prstGeom prst="rect">
            <a:avLst/>
          </a:prstGeom>
          <a:solidFill>
            <a:srgbClr val="DC7B52">
              <a:alpha val="92000"/>
            </a:srgbClr>
          </a:solidFill>
          <a:ln w="12700">
            <a:solidFill>
              <a:srgbClr val="DC7B52">
                <a:alpha val="0"/>
              </a:srgbClr>
            </a:solidFill>
            <a:prstDash val="solid"/>
          </a:ln>
        </p:spPr>
      </p:sp>
      <p:sp>
        <p:nvSpPr>
          <p:cNvPr id="12" name="Shape 10"/>
          <p:cNvSpPr/>
          <p:nvPr/>
        </p:nvSpPr>
        <p:spPr>
          <a:xfrm>
            <a:off x="1095858" y="1055218"/>
            <a:ext cx="261925" cy="272720"/>
          </a:xfrm>
          <a:prstGeom prst="rect">
            <a:avLst/>
          </a:prstGeom>
          <a:solidFill>
            <a:srgbClr val="DC7B52">
              <a:alpha val="92000"/>
            </a:srgbClr>
          </a:solidFill>
          <a:ln w="12700">
            <a:solidFill>
              <a:srgbClr val="DC7B52">
                <a:alpha val="0"/>
              </a:srgbClr>
            </a:solidFill>
            <a:prstDash val="solid"/>
          </a:ln>
        </p:spPr>
      </p:sp>
      <p:sp>
        <p:nvSpPr>
          <p:cNvPr id="13" name="Shape 11"/>
          <p:cNvSpPr/>
          <p:nvPr/>
        </p:nvSpPr>
        <p:spPr>
          <a:xfrm>
            <a:off x="1095858" y="1335253"/>
            <a:ext cx="261925" cy="272720"/>
          </a:xfrm>
          <a:prstGeom prst="rect">
            <a:avLst/>
          </a:prstGeom>
          <a:solidFill>
            <a:srgbClr val="6D5BD0">
              <a:alpha val="92000"/>
            </a:srgbClr>
          </a:solidFill>
          <a:ln w="12700">
            <a:solidFill>
              <a:srgbClr val="6D5BD0">
                <a:alpha val="0"/>
              </a:srgbClr>
            </a:solidFill>
            <a:prstDash val="solid"/>
          </a:ln>
        </p:spPr>
      </p:sp>
      <p:sp>
        <p:nvSpPr>
          <p:cNvPr id="14" name="Shape 12"/>
          <p:cNvSpPr/>
          <p:nvPr/>
        </p:nvSpPr>
        <p:spPr>
          <a:xfrm>
            <a:off x="1095858" y="1615288"/>
            <a:ext cx="261925" cy="272720"/>
          </a:xfrm>
          <a:prstGeom prst="rect">
            <a:avLst/>
          </a:prstGeom>
          <a:solidFill>
            <a:srgbClr val="6D5BD0">
              <a:alpha val="92000"/>
            </a:srgbClr>
          </a:solidFill>
          <a:ln w="12700">
            <a:solidFill>
              <a:srgbClr val="6D5BD0">
                <a:alpha val="0"/>
              </a:srgbClr>
            </a:solidFill>
            <a:prstDash val="solid"/>
          </a:ln>
        </p:spPr>
      </p:sp>
      <p:sp>
        <p:nvSpPr>
          <p:cNvPr id="15" name="Shape 13"/>
          <p:cNvSpPr/>
          <p:nvPr/>
        </p:nvSpPr>
        <p:spPr>
          <a:xfrm>
            <a:off x="1095858" y="1895323"/>
            <a:ext cx="261925" cy="272720"/>
          </a:xfrm>
          <a:prstGeom prst="rect">
            <a:avLst/>
          </a:prstGeom>
          <a:solidFill>
            <a:srgbClr val="DC7B52">
              <a:alpha val="92000"/>
            </a:srgbClr>
          </a:solidFill>
          <a:ln w="12700">
            <a:solidFill>
              <a:srgbClr val="DC7B52">
                <a:alpha val="0"/>
              </a:srgbClr>
            </a:solidFill>
            <a:prstDash val="solid"/>
          </a:ln>
        </p:spPr>
      </p:sp>
      <p:sp>
        <p:nvSpPr>
          <p:cNvPr id="16" name="Shape 14"/>
          <p:cNvSpPr/>
          <p:nvPr/>
        </p:nvSpPr>
        <p:spPr>
          <a:xfrm>
            <a:off x="1095858" y="2175358"/>
            <a:ext cx="261925" cy="272720"/>
          </a:xfrm>
          <a:prstGeom prst="rect">
            <a:avLst/>
          </a:prstGeom>
          <a:solidFill>
            <a:srgbClr val="F4DDB7">
              <a:alpha val="92000"/>
            </a:srgbClr>
          </a:solidFill>
          <a:ln w="12700">
            <a:solidFill>
              <a:srgbClr val="F4DDB7">
                <a:alpha val="0"/>
              </a:srgbClr>
            </a:solidFill>
            <a:prstDash val="solid"/>
          </a:ln>
        </p:spPr>
      </p:sp>
      <p:sp>
        <p:nvSpPr>
          <p:cNvPr id="17" name="Shape 15"/>
          <p:cNvSpPr/>
          <p:nvPr/>
        </p:nvSpPr>
        <p:spPr>
          <a:xfrm>
            <a:off x="1095858" y="2455393"/>
            <a:ext cx="261925" cy="272720"/>
          </a:xfrm>
          <a:prstGeom prst="rect">
            <a:avLst/>
          </a:prstGeom>
          <a:solidFill>
            <a:srgbClr val="EFC97F">
              <a:alpha val="92000"/>
            </a:srgbClr>
          </a:solidFill>
          <a:ln w="12700">
            <a:solidFill>
              <a:srgbClr val="EFC97F">
                <a:alpha val="0"/>
              </a:srgbClr>
            </a:solidFill>
            <a:prstDash val="solid"/>
          </a:ln>
        </p:spPr>
      </p:sp>
      <p:sp>
        <p:nvSpPr>
          <p:cNvPr id="18" name="Shape 16"/>
          <p:cNvSpPr/>
          <p:nvPr/>
        </p:nvSpPr>
        <p:spPr>
          <a:xfrm>
            <a:off x="1095858" y="2735428"/>
            <a:ext cx="261925" cy="272720"/>
          </a:xfrm>
          <a:prstGeom prst="rect">
            <a:avLst/>
          </a:prstGeom>
          <a:solidFill>
            <a:srgbClr val="B6545A">
              <a:alpha val="92000"/>
            </a:srgbClr>
          </a:solidFill>
          <a:ln w="12700">
            <a:solidFill>
              <a:srgbClr val="B6545A">
                <a:alpha val="0"/>
              </a:srgbClr>
            </a:solidFill>
            <a:prstDash val="solid"/>
          </a:ln>
        </p:spPr>
      </p:sp>
      <p:sp>
        <p:nvSpPr>
          <p:cNvPr id="19" name="Shape 17"/>
          <p:cNvSpPr/>
          <p:nvPr/>
        </p:nvSpPr>
        <p:spPr>
          <a:xfrm>
            <a:off x="1095858" y="3015463"/>
            <a:ext cx="261925" cy="272720"/>
          </a:xfrm>
          <a:prstGeom prst="rect">
            <a:avLst/>
          </a:prstGeom>
          <a:solidFill>
            <a:srgbClr val="6D5BD0">
              <a:alpha val="92000"/>
            </a:srgbClr>
          </a:solidFill>
          <a:ln w="12700">
            <a:solidFill>
              <a:srgbClr val="6D5BD0">
                <a:alpha val="0"/>
              </a:srgbClr>
            </a:solidFill>
            <a:prstDash val="solid"/>
          </a:ln>
        </p:spPr>
      </p:sp>
      <p:sp>
        <p:nvSpPr>
          <p:cNvPr id="20" name="Shape 18"/>
          <p:cNvSpPr/>
          <p:nvPr/>
        </p:nvSpPr>
        <p:spPr>
          <a:xfrm>
            <a:off x="1365098" y="1055218"/>
            <a:ext cx="261925" cy="272720"/>
          </a:xfrm>
          <a:prstGeom prst="rect">
            <a:avLst/>
          </a:prstGeom>
          <a:solidFill>
            <a:srgbClr val="6D5BD0">
              <a:alpha val="92000"/>
            </a:srgbClr>
          </a:solidFill>
          <a:ln w="12700">
            <a:solidFill>
              <a:srgbClr val="6D5BD0">
                <a:alpha val="0"/>
              </a:srgbClr>
            </a:solidFill>
            <a:prstDash val="solid"/>
          </a:ln>
        </p:spPr>
      </p:sp>
      <p:sp>
        <p:nvSpPr>
          <p:cNvPr id="21" name="Shape 19"/>
          <p:cNvSpPr/>
          <p:nvPr/>
        </p:nvSpPr>
        <p:spPr>
          <a:xfrm>
            <a:off x="1365098" y="1335253"/>
            <a:ext cx="261925" cy="272720"/>
          </a:xfrm>
          <a:prstGeom prst="rect">
            <a:avLst/>
          </a:prstGeom>
          <a:solidFill>
            <a:srgbClr val="6D5BD0">
              <a:alpha val="92000"/>
            </a:srgbClr>
          </a:solidFill>
          <a:ln w="12700">
            <a:solidFill>
              <a:srgbClr val="6D5BD0">
                <a:alpha val="0"/>
              </a:srgbClr>
            </a:solidFill>
            <a:prstDash val="solid"/>
          </a:ln>
        </p:spPr>
      </p:sp>
      <p:sp>
        <p:nvSpPr>
          <p:cNvPr id="22" name="Shape 20"/>
          <p:cNvSpPr/>
          <p:nvPr/>
        </p:nvSpPr>
        <p:spPr>
          <a:xfrm>
            <a:off x="1365098" y="1615288"/>
            <a:ext cx="261925" cy="272720"/>
          </a:xfrm>
          <a:prstGeom prst="rect">
            <a:avLst/>
          </a:prstGeom>
          <a:solidFill>
            <a:srgbClr val="DC7B52">
              <a:alpha val="92000"/>
            </a:srgbClr>
          </a:solidFill>
          <a:ln w="12700">
            <a:solidFill>
              <a:srgbClr val="DC7B52">
                <a:alpha val="0"/>
              </a:srgbClr>
            </a:solidFill>
            <a:prstDash val="solid"/>
          </a:ln>
        </p:spPr>
      </p:sp>
      <p:sp>
        <p:nvSpPr>
          <p:cNvPr id="23" name="Shape 21"/>
          <p:cNvSpPr/>
          <p:nvPr/>
        </p:nvSpPr>
        <p:spPr>
          <a:xfrm>
            <a:off x="1365098" y="1895323"/>
            <a:ext cx="261925" cy="272720"/>
          </a:xfrm>
          <a:prstGeom prst="rect">
            <a:avLst/>
          </a:prstGeom>
          <a:solidFill>
            <a:srgbClr val="F8EFE2">
              <a:alpha val="92000"/>
            </a:srgbClr>
          </a:solidFill>
          <a:ln w="12700">
            <a:solidFill>
              <a:srgbClr val="F8EFE2">
                <a:alpha val="0"/>
              </a:srgbClr>
            </a:solidFill>
            <a:prstDash val="solid"/>
          </a:ln>
        </p:spPr>
      </p:sp>
      <p:sp>
        <p:nvSpPr>
          <p:cNvPr id="24" name="Shape 22"/>
          <p:cNvSpPr/>
          <p:nvPr/>
        </p:nvSpPr>
        <p:spPr>
          <a:xfrm>
            <a:off x="1365098" y="2175358"/>
            <a:ext cx="261925" cy="272720"/>
          </a:xfrm>
          <a:prstGeom prst="rect">
            <a:avLst/>
          </a:prstGeom>
          <a:solidFill>
            <a:srgbClr val="E9A15F">
              <a:alpha val="92000"/>
            </a:srgbClr>
          </a:solidFill>
          <a:ln w="12700">
            <a:solidFill>
              <a:srgbClr val="E9A15F">
                <a:alpha val="0"/>
              </a:srgbClr>
            </a:solidFill>
            <a:prstDash val="solid"/>
          </a:ln>
        </p:spPr>
      </p:sp>
      <p:sp>
        <p:nvSpPr>
          <p:cNvPr id="25" name="Shape 23"/>
          <p:cNvSpPr/>
          <p:nvPr/>
        </p:nvSpPr>
        <p:spPr>
          <a:xfrm>
            <a:off x="1365098" y="2455393"/>
            <a:ext cx="261925" cy="272720"/>
          </a:xfrm>
          <a:prstGeom prst="rect">
            <a:avLst/>
          </a:prstGeom>
          <a:solidFill>
            <a:srgbClr val="B6545A">
              <a:alpha val="92000"/>
            </a:srgbClr>
          </a:solidFill>
          <a:ln w="12700">
            <a:solidFill>
              <a:srgbClr val="B6545A">
                <a:alpha val="0"/>
              </a:srgbClr>
            </a:solidFill>
            <a:prstDash val="solid"/>
          </a:ln>
        </p:spPr>
      </p:sp>
      <p:sp>
        <p:nvSpPr>
          <p:cNvPr id="26" name="Shape 24"/>
          <p:cNvSpPr/>
          <p:nvPr/>
        </p:nvSpPr>
        <p:spPr>
          <a:xfrm>
            <a:off x="1365098" y="2735428"/>
            <a:ext cx="261925" cy="272720"/>
          </a:xfrm>
          <a:prstGeom prst="rect">
            <a:avLst/>
          </a:prstGeom>
          <a:solidFill>
            <a:srgbClr val="6D5BD0">
              <a:alpha val="92000"/>
            </a:srgbClr>
          </a:solidFill>
          <a:ln w="12700">
            <a:solidFill>
              <a:srgbClr val="6D5BD0">
                <a:alpha val="0"/>
              </a:srgbClr>
            </a:solidFill>
            <a:prstDash val="solid"/>
          </a:ln>
        </p:spPr>
      </p:sp>
      <p:sp>
        <p:nvSpPr>
          <p:cNvPr id="27" name="Shape 25"/>
          <p:cNvSpPr/>
          <p:nvPr/>
        </p:nvSpPr>
        <p:spPr>
          <a:xfrm>
            <a:off x="1365098" y="3015463"/>
            <a:ext cx="261925" cy="272720"/>
          </a:xfrm>
          <a:prstGeom prst="rect">
            <a:avLst/>
          </a:prstGeom>
          <a:solidFill>
            <a:srgbClr val="6D5BD0">
              <a:alpha val="92000"/>
            </a:srgbClr>
          </a:solidFill>
          <a:ln w="12700">
            <a:solidFill>
              <a:srgbClr val="6D5BD0">
                <a:alpha val="0"/>
              </a:srgbClr>
            </a:solidFill>
            <a:prstDash val="solid"/>
          </a:ln>
        </p:spPr>
      </p:sp>
      <p:sp>
        <p:nvSpPr>
          <p:cNvPr id="28" name="Shape 26"/>
          <p:cNvSpPr/>
          <p:nvPr/>
        </p:nvSpPr>
        <p:spPr>
          <a:xfrm>
            <a:off x="1634338" y="1055218"/>
            <a:ext cx="261925" cy="272720"/>
          </a:xfrm>
          <a:prstGeom prst="rect">
            <a:avLst/>
          </a:prstGeom>
          <a:solidFill>
            <a:srgbClr val="6D5BD0">
              <a:alpha val="92000"/>
            </a:srgbClr>
          </a:solidFill>
          <a:ln w="12700">
            <a:solidFill>
              <a:srgbClr val="6D5BD0">
                <a:alpha val="0"/>
              </a:srgbClr>
            </a:solidFill>
            <a:prstDash val="solid"/>
          </a:ln>
        </p:spPr>
      </p:sp>
      <p:sp>
        <p:nvSpPr>
          <p:cNvPr id="29" name="Shape 27"/>
          <p:cNvSpPr/>
          <p:nvPr/>
        </p:nvSpPr>
        <p:spPr>
          <a:xfrm>
            <a:off x="1634338" y="1335253"/>
            <a:ext cx="261925" cy="272720"/>
          </a:xfrm>
          <a:prstGeom prst="rect">
            <a:avLst/>
          </a:prstGeom>
          <a:solidFill>
            <a:srgbClr val="E9A15F">
              <a:alpha val="92000"/>
            </a:srgbClr>
          </a:solidFill>
          <a:ln w="12700">
            <a:solidFill>
              <a:srgbClr val="E9A15F">
                <a:alpha val="0"/>
              </a:srgbClr>
            </a:solidFill>
            <a:prstDash val="solid"/>
          </a:ln>
        </p:spPr>
      </p:sp>
      <p:sp>
        <p:nvSpPr>
          <p:cNvPr id="30" name="Shape 28"/>
          <p:cNvSpPr/>
          <p:nvPr/>
        </p:nvSpPr>
        <p:spPr>
          <a:xfrm>
            <a:off x="1634338" y="1615288"/>
            <a:ext cx="261925" cy="272720"/>
          </a:xfrm>
          <a:prstGeom prst="rect">
            <a:avLst/>
          </a:prstGeom>
          <a:solidFill>
            <a:srgbClr val="F8EFE2">
              <a:alpha val="92000"/>
            </a:srgbClr>
          </a:solidFill>
          <a:ln w="12700">
            <a:solidFill>
              <a:srgbClr val="F8EFE2">
                <a:alpha val="0"/>
              </a:srgbClr>
            </a:solidFill>
            <a:prstDash val="solid"/>
          </a:ln>
        </p:spPr>
      </p:sp>
      <p:sp>
        <p:nvSpPr>
          <p:cNvPr id="31" name="Shape 29"/>
          <p:cNvSpPr/>
          <p:nvPr/>
        </p:nvSpPr>
        <p:spPr>
          <a:xfrm>
            <a:off x="1634338" y="1895323"/>
            <a:ext cx="261925" cy="272720"/>
          </a:xfrm>
          <a:prstGeom prst="rect">
            <a:avLst/>
          </a:prstGeom>
          <a:solidFill>
            <a:srgbClr val="DC7B52">
              <a:alpha val="92000"/>
            </a:srgbClr>
          </a:solidFill>
          <a:ln w="12700">
            <a:solidFill>
              <a:srgbClr val="DC7B52">
                <a:alpha val="0"/>
              </a:srgbClr>
            </a:solidFill>
            <a:prstDash val="solid"/>
          </a:ln>
        </p:spPr>
      </p:sp>
      <p:sp>
        <p:nvSpPr>
          <p:cNvPr id="32" name="Shape 30"/>
          <p:cNvSpPr/>
          <p:nvPr/>
        </p:nvSpPr>
        <p:spPr>
          <a:xfrm>
            <a:off x="1634338" y="2175358"/>
            <a:ext cx="261925" cy="272720"/>
          </a:xfrm>
          <a:prstGeom prst="rect">
            <a:avLst/>
          </a:prstGeom>
          <a:solidFill>
            <a:srgbClr val="6D5BD0">
              <a:alpha val="92000"/>
            </a:srgbClr>
          </a:solidFill>
          <a:ln w="12700">
            <a:solidFill>
              <a:srgbClr val="6D5BD0">
                <a:alpha val="0"/>
              </a:srgbClr>
            </a:solidFill>
            <a:prstDash val="solid"/>
          </a:ln>
        </p:spPr>
      </p:sp>
      <p:sp>
        <p:nvSpPr>
          <p:cNvPr id="33" name="Shape 31"/>
          <p:cNvSpPr/>
          <p:nvPr/>
        </p:nvSpPr>
        <p:spPr>
          <a:xfrm>
            <a:off x="1634338" y="2455393"/>
            <a:ext cx="261925" cy="272720"/>
          </a:xfrm>
          <a:prstGeom prst="rect">
            <a:avLst/>
          </a:prstGeom>
          <a:solidFill>
            <a:srgbClr val="6D5BD0">
              <a:alpha val="92000"/>
            </a:srgbClr>
          </a:solidFill>
          <a:ln w="12700">
            <a:solidFill>
              <a:srgbClr val="6D5BD0">
                <a:alpha val="0"/>
              </a:srgbClr>
            </a:solidFill>
            <a:prstDash val="solid"/>
          </a:ln>
        </p:spPr>
      </p:sp>
      <p:sp>
        <p:nvSpPr>
          <p:cNvPr id="34" name="Shape 32"/>
          <p:cNvSpPr/>
          <p:nvPr/>
        </p:nvSpPr>
        <p:spPr>
          <a:xfrm>
            <a:off x="1634338" y="2735428"/>
            <a:ext cx="261925" cy="272720"/>
          </a:xfrm>
          <a:prstGeom prst="rect">
            <a:avLst/>
          </a:prstGeom>
          <a:solidFill>
            <a:srgbClr val="B6545A">
              <a:alpha val="92000"/>
            </a:srgbClr>
          </a:solidFill>
          <a:ln w="12700">
            <a:solidFill>
              <a:srgbClr val="B6545A">
                <a:alpha val="0"/>
              </a:srgbClr>
            </a:solidFill>
            <a:prstDash val="solid"/>
          </a:ln>
        </p:spPr>
      </p:sp>
      <p:sp>
        <p:nvSpPr>
          <p:cNvPr id="35" name="Shape 33"/>
          <p:cNvSpPr/>
          <p:nvPr/>
        </p:nvSpPr>
        <p:spPr>
          <a:xfrm>
            <a:off x="1634338" y="3015463"/>
            <a:ext cx="261925" cy="272720"/>
          </a:xfrm>
          <a:prstGeom prst="rect">
            <a:avLst/>
          </a:prstGeom>
          <a:solidFill>
            <a:srgbClr val="EFC97F">
              <a:alpha val="92000"/>
            </a:srgbClr>
          </a:solidFill>
          <a:ln w="12700">
            <a:solidFill>
              <a:srgbClr val="EFC97F">
                <a:alpha val="0"/>
              </a:srgbClr>
            </a:solidFill>
            <a:prstDash val="solid"/>
          </a:ln>
        </p:spPr>
      </p:sp>
      <p:sp>
        <p:nvSpPr>
          <p:cNvPr id="36" name="Shape 34"/>
          <p:cNvSpPr/>
          <p:nvPr/>
        </p:nvSpPr>
        <p:spPr>
          <a:xfrm>
            <a:off x="1903578" y="1055218"/>
            <a:ext cx="261925" cy="272720"/>
          </a:xfrm>
          <a:prstGeom prst="rect">
            <a:avLst/>
          </a:prstGeom>
          <a:solidFill>
            <a:srgbClr val="EFC97F">
              <a:alpha val="92000"/>
            </a:srgbClr>
          </a:solidFill>
          <a:ln w="12700">
            <a:solidFill>
              <a:srgbClr val="EFC97F">
                <a:alpha val="0"/>
              </a:srgbClr>
            </a:solidFill>
            <a:prstDash val="solid"/>
          </a:ln>
        </p:spPr>
      </p:sp>
      <p:sp>
        <p:nvSpPr>
          <p:cNvPr id="37" name="Shape 35"/>
          <p:cNvSpPr/>
          <p:nvPr/>
        </p:nvSpPr>
        <p:spPr>
          <a:xfrm>
            <a:off x="1903578" y="1335253"/>
            <a:ext cx="261925" cy="272720"/>
          </a:xfrm>
          <a:prstGeom prst="rect">
            <a:avLst/>
          </a:prstGeom>
          <a:solidFill>
            <a:srgbClr val="F4DDB7">
              <a:alpha val="92000"/>
            </a:srgbClr>
          </a:solidFill>
          <a:ln w="12700">
            <a:solidFill>
              <a:srgbClr val="F4DDB7">
                <a:alpha val="0"/>
              </a:srgbClr>
            </a:solidFill>
            <a:prstDash val="solid"/>
          </a:ln>
        </p:spPr>
      </p:sp>
      <p:sp>
        <p:nvSpPr>
          <p:cNvPr id="38" name="Shape 36"/>
          <p:cNvSpPr/>
          <p:nvPr/>
        </p:nvSpPr>
        <p:spPr>
          <a:xfrm>
            <a:off x="1903578" y="1615288"/>
            <a:ext cx="261925" cy="272720"/>
          </a:xfrm>
          <a:prstGeom prst="rect">
            <a:avLst/>
          </a:prstGeom>
          <a:solidFill>
            <a:srgbClr val="DC7B52">
              <a:alpha val="92000"/>
            </a:srgbClr>
          </a:solidFill>
          <a:ln w="12700">
            <a:solidFill>
              <a:srgbClr val="DC7B52">
                <a:alpha val="0"/>
              </a:srgbClr>
            </a:solidFill>
            <a:prstDash val="solid"/>
          </a:ln>
        </p:spPr>
      </p:sp>
      <p:sp>
        <p:nvSpPr>
          <p:cNvPr id="39" name="Shape 37"/>
          <p:cNvSpPr/>
          <p:nvPr/>
        </p:nvSpPr>
        <p:spPr>
          <a:xfrm>
            <a:off x="1903578" y="1895323"/>
            <a:ext cx="261925" cy="272720"/>
          </a:xfrm>
          <a:prstGeom prst="rect">
            <a:avLst/>
          </a:prstGeom>
          <a:solidFill>
            <a:srgbClr val="6D5BD0">
              <a:alpha val="92000"/>
            </a:srgbClr>
          </a:solidFill>
          <a:ln w="12700">
            <a:solidFill>
              <a:srgbClr val="6D5BD0">
                <a:alpha val="0"/>
              </a:srgbClr>
            </a:solidFill>
            <a:prstDash val="solid"/>
          </a:ln>
        </p:spPr>
      </p:sp>
      <p:sp>
        <p:nvSpPr>
          <p:cNvPr id="40" name="Shape 38"/>
          <p:cNvSpPr/>
          <p:nvPr/>
        </p:nvSpPr>
        <p:spPr>
          <a:xfrm>
            <a:off x="1903578" y="2175358"/>
            <a:ext cx="261925" cy="272720"/>
          </a:xfrm>
          <a:prstGeom prst="rect">
            <a:avLst/>
          </a:prstGeom>
          <a:solidFill>
            <a:srgbClr val="6D5BD0">
              <a:alpha val="92000"/>
            </a:srgbClr>
          </a:solidFill>
          <a:ln w="12700">
            <a:solidFill>
              <a:srgbClr val="6D5BD0">
                <a:alpha val="0"/>
              </a:srgbClr>
            </a:solidFill>
            <a:prstDash val="solid"/>
          </a:ln>
        </p:spPr>
      </p:sp>
      <p:sp>
        <p:nvSpPr>
          <p:cNvPr id="41" name="Shape 39"/>
          <p:cNvSpPr/>
          <p:nvPr/>
        </p:nvSpPr>
        <p:spPr>
          <a:xfrm>
            <a:off x="1903578" y="2455393"/>
            <a:ext cx="261925" cy="272720"/>
          </a:xfrm>
          <a:prstGeom prst="rect">
            <a:avLst/>
          </a:prstGeom>
          <a:solidFill>
            <a:srgbClr val="DC7B52">
              <a:alpha val="92000"/>
            </a:srgbClr>
          </a:solidFill>
          <a:ln w="12700">
            <a:solidFill>
              <a:srgbClr val="DC7B52">
                <a:alpha val="0"/>
              </a:srgbClr>
            </a:solidFill>
            <a:prstDash val="solid"/>
          </a:ln>
        </p:spPr>
      </p:sp>
      <p:sp>
        <p:nvSpPr>
          <p:cNvPr id="42" name="Shape 40"/>
          <p:cNvSpPr/>
          <p:nvPr/>
        </p:nvSpPr>
        <p:spPr>
          <a:xfrm>
            <a:off x="1903578" y="2735428"/>
            <a:ext cx="261925" cy="272720"/>
          </a:xfrm>
          <a:prstGeom prst="rect">
            <a:avLst/>
          </a:prstGeom>
          <a:solidFill>
            <a:srgbClr val="F4DDB7">
              <a:alpha val="92000"/>
            </a:srgbClr>
          </a:solidFill>
          <a:ln w="12700">
            <a:solidFill>
              <a:srgbClr val="F4DDB7">
                <a:alpha val="0"/>
              </a:srgbClr>
            </a:solidFill>
            <a:prstDash val="solid"/>
          </a:ln>
        </p:spPr>
      </p:sp>
      <p:sp>
        <p:nvSpPr>
          <p:cNvPr id="43" name="Shape 41"/>
          <p:cNvSpPr/>
          <p:nvPr/>
        </p:nvSpPr>
        <p:spPr>
          <a:xfrm>
            <a:off x="1903578" y="3015463"/>
            <a:ext cx="261925" cy="272720"/>
          </a:xfrm>
          <a:prstGeom prst="rect">
            <a:avLst/>
          </a:prstGeom>
          <a:solidFill>
            <a:srgbClr val="EFC97F">
              <a:alpha val="92000"/>
            </a:srgbClr>
          </a:solidFill>
          <a:ln w="12700">
            <a:solidFill>
              <a:srgbClr val="EFC97F">
                <a:alpha val="0"/>
              </a:srgbClr>
            </a:solidFill>
            <a:prstDash val="solid"/>
          </a:ln>
        </p:spPr>
      </p:sp>
      <p:sp>
        <p:nvSpPr>
          <p:cNvPr id="44" name="Shape 42"/>
          <p:cNvSpPr/>
          <p:nvPr/>
        </p:nvSpPr>
        <p:spPr>
          <a:xfrm>
            <a:off x="2172818" y="1055218"/>
            <a:ext cx="261925" cy="272720"/>
          </a:xfrm>
          <a:prstGeom prst="rect">
            <a:avLst/>
          </a:prstGeom>
          <a:solidFill>
            <a:srgbClr val="EFC97F">
              <a:alpha val="92000"/>
            </a:srgbClr>
          </a:solidFill>
          <a:ln w="12700">
            <a:solidFill>
              <a:srgbClr val="EFC97F">
                <a:alpha val="0"/>
              </a:srgbClr>
            </a:solidFill>
            <a:prstDash val="solid"/>
          </a:ln>
        </p:spPr>
      </p:sp>
      <p:sp>
        <p:nvSpPr>
          <p:cNvPr id="45" name="Shape 43"/>
          <p:cNvSpPr/>
          <p:nvPr/>
        </p:nvSpPr>
        <p:spPr>
          <a:xfrm>
            <a:off x="2172818" y="1335253"/>
            <a:ext cx="261925" cy="272720"/>
          </a:xfrm>
          <a:prstGeom prst="rect">
            <a:avLst/>
          </a:prstGeom>
          <a:solidFill>
            <a:srgbClr val="B6545A">
              <a:alpha val="92000"/>
            </a:srgbClr>
          </a:solidFill>
          <a:ln w="12700">
            <a:solidFill>
              <a:srgbClr val="B6545A">
                <a:alpha val="0"/>
              </a:srgbClr>
            </a:solidFill>
            <a:prstDash val="solid"/>
          </a:ln>
        </p:spPr>
      </p:sp>
      <p:sp>
        <p:nvSpPr>
          <p:cNvPr id="46" name="Shape 44"/>
          <p:cNvSpPr/>
          <p:nvPr/>
        </p:nvSpPr>
        <p:spPr>
          <a:xfrm>
            <a:off x="2172818" y="1615288"/>
            <a:ext cx="261925" cy="272720"/>
          </a:xfrm>
          <a:prstGeom prst="rect">
            <a:avLst/>
          </a:prstGeom>
          <a:solidFill>
            <a:srgbClr val="6D5BD0">
              <a:alpha val="92000"/>
            </a:srgbClr>
          </a:solidFill>
          <a:ln w="12700">
            <a:solidFill>
              <a:srgbClr val="6D5BD0">
                <a:alpha val="0"/>
              </a:srgbClr>
            </a:solidFill>
            <a:prstDash val="solid"/>
          </a:ln>
        </p:spPr>
      </p:sp>
      <p:sp>
        <p:nvSpPr>
          <p:cNvPr id="47" name="Shape 45"/>
          <p:cNvSpPr/>
          <p:nvPr/>
        </p:nvSpPr>
        <p:spPr>
          <a:xfrm>
            <a:off x="2172818" y="1895323"/>
            <a:ext cx="261925" cy="272720"/>
          </a:xfrm>
          <a:prstGeom prst="rect">
            <a:avLst/>
          </a:prstGeom>
          <a:solidFill>
            <a:srgbClr val="6D5BD0">
              <a:alpha val="92000"/>
            </a:srgbClr>
          </a:solidFill>
          <a:ln w="12700">
            <a:solidFill>
              <a:srgbClr val="6D5BD0">
                <a:alpha val="0"/>
              </a:srgbClr>
            </a:solidFill>
            <a:prstDash val="solid"/>
          </a:ln>
        </p:spPr>
      </p:sp>
      <p:sp>
        <p:nvSpPr>
          <p:cNvPr id="48" name="Shape 46"/>
          <p:cNvSpPr/>
          <p:nvPr/>
        </p:nvSpPr>
        <p:spPr>
          <a:xfrm>
            <a:off x="2172818" y="2175358"/>
            <a:ext cx="261925" cy="272720"/>
          </a:xfrm>
          <a:prstGeom prst="rect">
            <a:avLst/>
          </a:prstGeom>
          <a:solidFill>
            <a:srgbClr val="E9A15F">
              <a:alpha val="92000"/>
            </a:srgbClr>
          </a:solidFill>
          <a:ln w="12700">
            <a:solidFill>
              <a:srgbClr val="E9A15F">
                <a:alpha val="0"/>
              </a:srgbClr>
            </a:solidFill>
            <a:prstDash val="solid"/>
          </a:ln>
        </p:spPr>
      </p:sp>
      <p:sp>
        <p:nvSpPr>
          <p:cNvPr id="49" name="Shape 47"/>
          <p:cNvSpPr/>
          <p:nvPr/>
        </p:nvSpPr>
        <p:spPr>
          <a:xfrm>
            <a:off x="2172818" y="2455393"/>
            <a:ext cx="261925" cy="272720"/>
          </a:xfrm>
          <a:prstGeom prst="rect">
            <a:avLst/>
          </a:prstGeom>
          <a:solidFill>
            <a:srgbClr val="F8EFE2">
              <a:alpha val="92000"/>
            </a:srgbClr>
          </a:solidFill>
          <a:ln w="12700">
            <a:solidFill>
              <a:srgbClr val="F8EFE2">
                <a:alpha val="0"/>
              </a:srgbClr>
            </a:solidFill>
            <a:prstDash val="solid"/>
          </a:ln>
        </p:spPr>
      </p:sp>
      <p:sp>
        <p:nvSpPr>
          <p:cNvPr id="50" name="Shape 48"/>
          <p:cNvSpPr/>
          <p:nvPr/>
        </p:nvSpPr>
        <p:spPr>
          <a:xfrm>
            <a:off x="2172818" y="2735428"/>
            <a:ext cx="261925" cy="272720"/>
          </a:xfrm>
          <a:prstGeom prst="rect">
            <a:avLst/>
          </a:prstGeom>
          <a:solidFill>
            <a:srgbClr val="E9A15F">
              <a:alpha val="92000"/>
            </a:srgbClr>
          </a:solidFill>
          <a:ln w="12700">
            <a:solidFill>
              <a:srgbClr val="E9A15F">
                <a:alpha val="0"/>
              </a:srgbClr>
            </a:solidFill>
            <a:prstDash val="solid"/>
          </a:ln>
        </p:spPr>
      </p:sp>
      <p:sp>
        <p:nvSpPr>
          <p:cNvPr id="51" name="Shape 49"/>
          <p:cNvSpPr/>
          <p:nvPr/>
        </p:nvSpPr>
        <p:spPr>
          <a:xfrm>
            <a:off x="2172818" y="3015463"/>
            <a:ext cx="261925" cy="272720"/>
          </a:xfrm>
          <a:prstGeom prst="rect">
            <a:avLst/>
          </a:prstGeom>
          <a:solidFill>
            <a:srgbClr val="6D5BD0">
              <a:alpha val="92000"/>
            </a:srgbClr>
          </a:solidFill>
          <a:ln w="12700">
            <a:solidFill>
              <a:srgbClr val="6D5BD0">
                <a:alpha val="0"/>
              </a:srgbClr>
            </a:solidFill>
            <a:prstDash val="solid"/>
          </a:ln>
        </p:spPr>
      </p:sp>
      <p:sp>
        <p:nvSpPr>
          <p:cNvPr id="52" name="Shape 50"/>
          <p:cNvSpPr/>
          <p:nvPr/>
        </p:nvSpPr>
        <p:spPr>
          <a:xfrm>
            <a:off x="2442058" y="1055218"/>
            <a:ext cx="261925" cy="272720"/>
          </a:xfrm>
          <a:prstGeom prst="rect">
            <a:avLst/>
          </a:prstGeom>
          <a:solidFill>
            <a:srgbClr val="6D5BD0">
              <a:alpha val="92000"/>
            </a:srgbClr>
          </a:solidFill>
          <a:ln w="12700">
            <a:solidFill>
              <a:srgbClr val="6D5BD0">
                <a:alpha val="0"/>
              </a:srgbClr>
            </a:solidFill>
            <a:prstDash val="solid"/>
          </a:ln>
        </p:spPr>
      </p:sp>
      <p:sp>
        <p:nvSpPr>
          <p:cNvPr id="53" name="Shape 51"/>
          <p:cNvSpPr/>
          <p:nvPr/>
        </p:nvSpPr>
        <p:spPr>
          <a:xfrm>
            <a:off x="2442058" y="1335253"/>
            <a:ext cx="261925" cy="272720"/>
          </a:xfrm>
          <a:prstGeom prst="rect">
            <a:avLst/>
          </a:prstGeom>
          <a:solidFill>
            <a:srgbClr val="6D5BD0">
              <a:alpha val="92000"/>
            </a:srgbClr>
          </a:solidFill>
          <a:ln w="12700">
            <a:solidFill>
              <a:srgbClr val="6D5BD0">
                <a:alpha val="0"/>
              </a:srgbClr>
            </a:solidFill>
            <a:prstDash val="solid"/>
          </a:ln>
        </p:spPr>
      </p:sp>
      <p:sp>
        <p:nvSpPr>
          <p:cNvPr id="54" name="Shape 52"/>
          <p:cNvSpPr/>
          <p:nvPr/>
        </p:nvSpPr>
        <p:spPr>
          <a:xfrm>
            <a:off x="2442058" y="1615288"/>
            <a:ext cx="261925" cy="272720"/>
          </a:xfrm>
          <a:prstGeom prst="rect">
            <a:avLst/>
          </a:prstGeom>
          <a:solidFill>
            <a:srgbClr val="B6545A">
              <a:alpha val="92000"/>
            </a:srgbClr>
          </a:solidFill>
          <a:ln w="12700">
            <a:solidFill>
              <a:srgbClr val="B6545A">
                <a:alpha val="0"/>
              </a:srgbClr>
            </a:solidFill>
            <a:prstDash val="solid"/>
          </a:ln>
        </p:spPr>
      </p:sp>
      <p:sp>
        <p:nvSpPr>
          <p:cNvPr id="55" name="Shape 53"/>
          <p:cNvSpPr/>
          <p:nvPr/>
        </p:nvSpPr>
        <p:spPr>
          <a:xfrm>
            <a:off x="2442058" y="1895323"/>
            <a:ext cx="261925" cy="272720"/>
          </a:xfrm>
          <a:prstGeom prst="rect">
            <a:avLst/>
          </a:prstGeom>
          <a:solidFill>
            <a:srgbClr val="EFC97F">
              <a:alpha val="92000"/>
            </a:srgbClr>
          </a:solidFill>
          <a:ln w="12700">
            <a:solidFill>
              <a:srgbClr val="EFC97F">
                <a:alpha val="0"/>
              </a:srgbClr>
            </a:solidFill>
            <a:prstDash val="solid"/>
          </a:ln>
        </p:spPr>
      </p:sp>
      <p:sp>
        <p:nvSpPr>
          <p:cNvPr id="56" name="Shape 54"/>
          <p:cNvSpPr/>
          <p:nvPr/>
        </p:nvSpPr>
        <p:spPr>
          <a:xfrm>
            <a:off x="2442058" y="2175358"/>
            <a:ext cx="261925" cy="272720"/>
          </a:xfrm>
          <a:prstGeom prst="rect">
            <a:avLst/>
          </a:prstGeom>
          <a:solidFill>
            <a:srgbClr val="F8EFE2">
              <a:alpha val="92000"/>
            </a:srgbClr>
          </a:solidFill>
          <a:ln w="12700">
            <a:solidFill>
              <a:srgbClr val="F8EFE2">
                <a:alpha val="0"/>
              </a:srgbClr>
            </a:solidFill>
            <a:prstDash val="solid"/>
          </a:ln>
        </p:spPr>
      </p:sp>
      <p:sp>
        <p:nvSpPr>
          <p:cNvPr id="57" name="Shape 55"/>
          <p:cNvSpPr/>
          <p:nvPr/>
        </p:nvSpPr>
        <p:spPr>
          <a:xfrm>
            <a:off x="2442058" y="2455393"/>
            <a:ext cx="261925" cy="272720"/>
          </a:xfrm>
          <a:prstGeom prst="rect">
            <a:avLst/>
          </a:prstGeom>
          <a:solidFill>
            <a:srgbClr val="DC7B52">
              <a:alpha val="92000"/>
            </a:srgbClr>
          </a:solidFill>
          <a:ln w="12700">
            <a:solidFill>
              <a:srgbClr val="DC7B52">
                <a:alpha val="0"/>
              </a:srgbClr>
            </a:solidFill>
            <a:prstDash val="solid"/>
          </a:ln>
        </p:spPr>
      </p:sp>
      <p:sp>
        <p:nvSpPr>
          <p:cNvPr id="58" name="Shape 56"/>
          <p:cNvSpPr/>
          <p:nvPr/>
        </p:nvSpPr>
        <p:spPr>
          <a:xfrm>
            <a:off x="2442058" y="2735428"/>
            <a:ext cx="261925" cy="272720"/>
          </a:xfrm>
          <a:prstGeom prst="rect">
            <a:avLst/>
          </a:prstGeom>
          <a:solidFill>
            <a:srgbClr val="6D5BD0">
              <a:alpha val="92000"/>
            </a:srgbClr>
          </a:solidFill>
          <a:ln w="12700">
            <a:solidFill>
              <a:srgbClr val="6D5BD0">
                <a:alpha val="0"/>
              </a:srgbClr>
            </a:solidFill>
            <a:prstDash val="solid"/>
          </a:ln>
        </p:spPr>
      </p:sp>
      <p:sp>
        <p:nvSpPr>
          <p:cNvPr id="59" name="Shape 57"/>
          <p:cNvSpPr/>
          <p:nvPr/>
        </p:nvSpPr>
        <p:spPr>
          <a:xfrm>
            <a:off x="2442058" y="3015463"/>
            <a:ext cx="261925" cy="272720"/>
          </a:xfrm>
          <a:prstGeom prst="rect">
            <a:avLst/>
          </a:prstGeom>
          <a:solidFill>
            <a:srgbClr val="6D5BD0">
              <a:alpha val="92000"/>
            </a:srgbClr>
          </a:solidFill>
          <a:ln w="12700">
            <a:solidFill>
              <a:srgbClr val="6D5BD0">
                <a:alpha val="0"/>
              </a:srgbClr>
            </a:solidFill>
            <a:prstDash val="solid"/>
          </a:ln>
        </p:spPr>
      </p:sp>
      <p:sp>
        <p:nvSpPr>
          <p:cNvPr id="60" name="Shape 58"/>
          <p:cNvSpPr/>
          <p:nvPr/>
        </p:nvSpPr>
        <p:spPr>
          <a:xfrm>
            <a:off x="2711298" y="1055218"/>
            <a:ext cx="261925" cy="272720"/>
          </a:xfrm>
          <a:prstGeom prst="rect">
            <a:avLst/>
          </a:prstGeom>
          <a:solidFill>
            <a:srgbClr val="6D5BD0">
              <a:alpha val="92000"/>
            </a:srgbClr>
          </a:solidFill>
          <a:ln w="12700">
            <a:solidFill>
              <a:srgbClr val="6D5BD0">
                <a:alpha val="0"/>
              </a:srgbClr>
            </a:solidFill>
            <a:prstDash val="solid"/>
          </a:ln>
        </p:spPr>
      </p:sp>
      <p:sp>
        <p:nvSpPr>
          <p:cNvPr id="61" name="Shape 59"/>
          <p:cNvSpPr/>
          <p:nvPr/>
        </p:nvSpPr>
        <p:spPr>
          <a:xfrm>
            <a:off x="2711298" y="1335253"/>
            <a:ext cx="261925" cy="272720"/>
          </a:xfrm>
          <a:prstGeom prst="rect">
            <a:avLst/>
          </a:prstGeom>
          <a:solidFill>
            <a:srgbClr val="B6545A">
              <a:alpha val="92000"/>
            </a:srgbClr>
          </a:solidFill>
          <a:ln w="12700">
            <a:solidFill>
              <a:srgbClr val="B6545A">
                <a:alpha val="0"/>
              </a:srgbClr>
            </a:solidFill>
            <a:prstDash val="solid"/>
          </a:ln>
        </p:spPr>
      </p:sp>
      <p:sp>
        <p:nvSpPr>
          <p:cNvPr id="62" name="Shape 60"/>
          <p:cNvSpPr/>
          <p:nvPr/>
        </p:nvSpPr>
        <p:spPr>
          <a:xfrm>
            <a:off x="2711298" y="1615288"/>
            <a:ext cx="261925" cy="272720"/>
          </a:xfrm>
          <a:prstGeom prst="rect">
            <a:avLst/>
          </a:prstGeom>
          <a:solidFill>
            <a:srgbClr val="F4DDB7">
              <a:alpha val="92000"/>
            </a:srgbClr>
          </a:solidFill>
          <a:ln w="12700">
            <a:solidFill>
              <a:srgbClr val="F4DDB7">
                <a:alpha val="0"/>
              </a:srgbClr>
            </a:solidFill>
            <a:prstDash val="solid"/>
          </a:ln>
        </p:spPr>
      </p:sp>
      <p:sp>
        <p:nvSpPr>
          <p:cNvPr id="63" name="Shape 61"/>
          <p:cNvSpPr/>
          <p:nvPr/>
        </p:nvSpPr>
        <p:spPr>
          <a:xfrm>
            <a:off x="2711298" y="1895323"/>
            <a:ext cx="261925" cy="272720"/>
          </a:xfrm>
          <a:prstGeom prst="rect">
            <a:avLst/>
          </a:prstGeom>
          <a:solidFill>
            <a:srgbClr val="F4DDB7">
              <a:alpha val="92000"/>
            </a:srgbClr>
          </a:solidFill>
          <a:ln w="12700">
            <a:solidFill>
              <a:srgbClr val="F4DDB7">
                <a:alpha val="0"/>
              </a:srgbClr>
            </a:solidFill>
            <a:prstDash val="solid"/>
          </a:ln>
        </p:spPr>
      </p:sp>
      <p:sp>
        <p:nvSpPr>
          <p:cNvPr id="64" name="Shape 62"/>
          <p:cNvSpPr/>
          <p:nvPr/>
        </p:nvSpPr>
        <p:spPr>
          <a:xfrm>
            <a:off x="2711298" y="2175358"/>
            <a:ext cx="261925" cy="272720"/>
          </a:xfrm>
          <a:prstGeom prst="rect">
            <a:avLst/>
          </a:prstGeom>
          <a:solidFill>
            <a:srgbClr val="B6545A">
              <a:alpha val="92000"/>
            </a:srgbClr>
          </a:solidFill>
          <a:ln w="12700">
            <a:solidFill>
              <a:srgbClr val="B6545A">
                <a:alpha val="0"/>
              </a:srgbClr>
            </a:solidFill>
            <a:prstDash val="solid"/>
          </a:ln>
        </p:spPr>
      </p:sp>
      <p:sp>
        <p:nvSpPr>
          <p:cNvPr id="65" name="Shape 63"/>
          <p:cNvSpPr/>
          <p:nvPr/>
        </p:nvSpPr>
        <p:spPr>
          <a:xfrm>
            <a:off x="2711298" y="2455393"/>
            <a:ext cx="261925" cy="272720"/>
          </a:xfrm>
          <a:prstGeom prst="rect">
            <a:avLst/>
          </a:prstGeom>
          <a:solidFill>
            <a:srgbClr val="6D5BD0">
              <a:alpha val="92000"/>
            </a:srgbClr>
          </a:solidFill>
          <a:ln w="12700">
            <a:solidFill>
              <a:srgbClr val="6D5BD0">
                <a:alpha val="0"/>
              </a:srgbClr>
            </a:solidFill>
            <a:prstDash val="solid"/>
          </a:ln>
        </p:spPr>
      </p:sp>
      <p:sp>
        <p:nvSpPr>
          <p:cNvPr id="66" name="Shape 64"/>
          <p:cNvSpPr/>
          <p:nvPr/>
        </p:nvSpPr>
        <p:spPr>
          <a:xfrm>
            <a:off x="2711298" y="2735428"/>
            <a:ext cx="261925" cy="272720"/>
          </a:xfrm>
          <a:prstGeom prst="rect">
            <a:avLst/>
          </a:prstGeom>
          <a:solidFill>
            <a:srgbClr val="6D5BD0">
              <a:alpha val="92000"/>
            </a:srgbClr>
          </a:solidFill>
          <a:ln w="12700">
            <a:solidFill>
              <a:srgbClr val="6D5BD0">
                <a:alpha val="0"/>
              </a:srgbClr>
            </a:solidFill>
            <a:prstDash val="solid"/>
          </a:ln>
        </p:spPr>
      </p:sp>
      <p:sp>
        <p:nvSpPr>
          <p:cNvPr id="67" name="Shape 65"/>
          <p:cNvSpPr/>
          <p:nvPr/>
        </p:nvSpPr>
        <p:spPr>
          <a:xfrm>
            <a:off x="2711298" y="3015463"/>
            <a:ext cx="261925" cy="272720"/>
          </a:xfrm>
          <a:prstGeom prst="rect">
            <a:avLst/>
          </a:prstGeom>
          <a:solidFill>
            <a:srgbClr val="DC7B52">
              <a:alpha val="92000"/>
            </a:srgbClr>
          </a:solidFill>
          <a:ln w="12700">
            <a:solidFill>
              <a:srgbClr val="DC7B52">
                <a:alpha val="0"/>
              </a:srgbClr>
            </a:solidFill>
            <a:prstDash val="solid"/>
          </a:ln>
        </p:spPr>
      </p:sp>
      <p:sp>
        <p:nvSpPr>
          <p:cNvPr id="68" name="Shape 66"/>
          <p:cNvSpPr/>
          <p:nvPr/>
        </p:nvSpPr>
        <p:spPr>
          <a:xfrm>
            <a:off x="2980538" y="1055218"/>
            <a:ext cx="261925" cy="272720"/>
          </a:xfrm>
          <a:prstGeom prst="rect">
            <a:avLst/>
          </a:prstGeom>
          <a:solidFill>
            <a:srgbClr val="DC7B52">
              <a:alpha val="92000"/>
            </a:srgbClr>
          </a:solidFill>
          <a:ln w="12700">
            <a:solidFill>
              <a:srgbClr val="DC7B52">
                <a:alpha val="0"/>
              </a:srgbClr>
            </a:solidFill>
            <a:prstDash val="solid"/>
          </a:ln>
        </p:spPr>
      </p:sp>
      <p:sp>
        <p:nvSpPr>
          <p:cNvPr id="69" name="Shape 67"/>
          <p:cNvSpPr/>
          <p:nvPr/>
        </p:nvSpPr>
        <p:spPr>
          <a:xfrm>
            <a:off x="2980538" y="1335253"/>
            <a:ext cx="261925" cy="272720"/>
          </a:xfrm>
          <a:prstGeom prst="rect">
            <a:avLst/>
          </a:prstGeom>
          <a:solidFill>
            <a:srgbClr val="F8EFE2">
              <a:alpha val="92000"/>
            </a:srgbClr>
          </a:solidFill>
          <a:ln w="12700">
            <a:solidFill>
              <a:srgbClr val="F8EFE2">
                <a:alpha val="0"/>
              </a:srgbClr>
            </a:solidFill>
            <a:prstDash val="solid"/>
          </a:ln>
        </p:spPr>
      </p:sp>
      <p:sp>
        <p:nvSpPr>
          <p:cNvPr id="70" name="Shape 68"/>
          <p:cNvSpPr/>
          <p:nvPr/>
        </p:nvSpPr>
        <p:spPr>
          <a:xfrm>
            <a:off x="2980538" y="1615288"/>
            <a:ext cx="261925" cy="272720"/>
          </a:xfrm>
          <a:prstGeom prst="rect">
            <a:avLst/>
          </a:prstGeom>
          <a:solidFill>
            <a:srgbClr val="EFC97F">
              <a:alpha val="92000"/>
            </a:srgbClr>
          </a:solidFill>
          <a:ln w="12700">
            <a:solidFill>
              <a:srgbClr val="EFC97F">
                <a:alpha val="0"/>
              </a:srgbClr>
            </a:solidFill>
            <a:prstDash val="solid"/>
          </a:ln>
        </p:spPr>
      </p:sp>
      <p:sp>
        <p:nvSpPr>
          <p:cNvPr id="71" name="Shape 69"/>
          <p:cNvSpPr/>
          <p:nvPr/>
        </p:nvSpPr>
        <p:spPr>
          <a:xfrm>
            <a:off x="2980538" y="1895323"/>
            <a:ext cx="261925" cy="272720"/>
          </a:xfrm>
          <a:prstGeom prst="rect">
            <a:avLst/>
          </a:prstGeom>
          <a:solidFill>
            <a:srgbClr val="B6545A">
              <a:alpha val="92000"/>
            </a:srgbClr>
          </a:solidFill>
          <a:ln w="12700">
            <a:solidFill>
              <a:srgbClr val="B6545A">
                <a:alpha val="0"/>
              </a:srgbClr>
            </a:solidFill>
            <a:prstDash val="solid"/>
          </a:ln>
        </p:spPr>
      </p:sp>
      <p:sp>
        <p:nvSpPr>
          <p:cNvPr id="72" name="Shape 70"/>
          <p:cNvSpPr/>
          <p:nvPr/>
        </p:nvSpPr>
        <p:spPr>
          <a:xfrm>
            <a:off x="2980538" y="2175358"/>
            <a:ext cx="261925" cy="272720"/>
          </a:xfrm>
          <a:prstGeom prst="rect">
            <a:avLst/>
          </a:prstGeom>
          <a:solidFill>
            <a:srgbClr val="6D5BD0">
              <a:alpha val="92000"/>
            </a:srgbClr>
          </a:solidFill>
          <a:ln w="12700">
            <a:solidFill>
              <a:srgbClr val="6D5BD0">
                <a:alpha val="0"/>
              </a:srgbClr>
            </a:solidFill>
            <a:prstDash val="solid"/>
          </a:ln>
        </p:spPr>
      </p:sp>
      <p:sp>
        <p:nvSpPr>
          <p:cNvPr id="73" name="Shape 71"/>
          <p:cNvSpPr/>
          <p:nvPr/>
        </p:nvSpPr>
        <p:spPr>
          <a:xfrm>
            <a:off x="2980538" y="2455393"/>
            <a:ext cx="261925" cy="272720"/>
          </a:xfrm>
          <a:prstGeom prst="rect">
            <a:avLst/>
          </a:prstGeom>
          <a:solidFill>
            <a:srgbClr val="6D5BD0">
              <a:alpha val="92000"/>
            </a:srgbClr>
          </a:solidFill>
          <a:ln w="12700">
            <a:solidFill>
              <a:srgbClr val="6D5BD0">
                <a:alpha val="0"/>
              </a:srgbClr>
            </a:solidFill>
            <a:prstDash val="solid"/>
          </a:ln>
        </p:spPr>
      </p:sp>
      <p:sp>
        <p:nvSpPr>
          <p:cNvPr id="74" name="Shape 72"/>
          <p:cNvSpPr/>
          <p:nvPr/>
        </p:nvSpPr>
        <p:spPr>
          <a:xfrm>
            <a:off x="2980538" y="2735428"/>
            <a:ext cx="261925" cy="272720"/>
          </a:xfrm>
          <a:prstGeom prst="rect">
            <a:avLst/>
          </a:prstGeom>
          <a:solidFill>
            <a:srgbClr val="E9A15F">
              <a:alpha val="92000"/>
            </a:srgbClr>
          </a:solidFill>
          <a:ln w="12700">
            <a:solidFill>
              <a:srgbClr val="E9A15F">
                <a:alpha val="0"/>
              </a:srgbClr>
            </a:solidFill>
            <a:prstDash val="solid"/>
          </a:ln>
        </p:spPr>
      </p:sp>
      <p:sp>
        <p:nvSpPr>
          <p:cNvPr id="75" name="Shape 73"/>
          <p:cNvSpPr/>
          <p:nvPr/>
        </p:nvSpPr>
        <p:spPr>
          <a:xfrm>
            <a:off x="2980538" y="3015463"/>
            <a:ext cx="261925" cy="272720"/>
          </a:xfrm>
          <a:prstGeom prst="rect">
            <a:avLst/>
          </a:prstGeom>
          <a:solidFill>
            <a:srgbClr val="F8EFE2">
              <a:alpha val="92000"/>
            </a:srgbClr>
          </a:solidFill>
          <a:ln w="12700">
            <a:solidFill>
              <a:srgbClr val="F8EFE2">
                <a:alpha val="0"/>
              </a:srgbClr>
            </a:solidFill>
            <a:prstDash val="solid"/>
          </a:ln>
        </p:spPr>
      </p:sp>
      <p:sp>
        <p:nvSpPr>
          <p:cNvPr id="76" name="Shape 74"/>
          <p:cNvSpPr/>
          <p:nvPr/>
        </p:nvSpPr>
        <p:spPr>
          <a:xfrm>
            <a:off x="3249778" y="1055218"/>
            <a:ext cx="261925" cy="272720"/>
          </a:xfrm>
          <a:prstGeom prst="rect">
            <a:avLst/>
          </a:prstGeom>
          <a:solidFill>
            <a:srgbClr val="F8EFE2">
              <a:alpha val="92000"/>
            </a:srgbClr>
          </a:solidFill>
          <a:ln w="12700">
            <a:solidFill>
              <a:srgbClr val="F8EFE2">
                <a:alpha val="0"/>
              </a:srgbClr>
            </a:solidFill>
            <a:prstDash val="solid"/>
          </a:ln>
        </p:spPr>
      </p:sp>
      <p:sp>
        <p:nvSpPr>
          <p:cNvPr id="77" name="Shape 75"/>
          <p:cNvSpPr/>
          <p:nvPr/>
        </p:nvSpPr>
        <p:spPr>
          <a:xfrm>
            <a:off x="3249778" y="1335253"/>
            <a:ext cx="261925" cy="272720"/>
          </a:xfrm>
          <a:prstGeom prst="rect">
            <a:avLst/>
          </a:prstGeom>
          <a:solidFill>
            <a:srgbClr val="E9A15F">
              <a:alpha val="92000"/>
            </a:srgbClr>
          </a:solidFill>
          <a:ln w="12700">
            <a:solidFill>
              <a:srgbClr val="E9A15F">
                <a:alpha val="0"/>
              </a:srgbClr>
            </a:solidFill>
            <a:prstDash val="solid"/>
          </a:ln>
        </p:spPr>
      </p:sp>
      <p:sp>
        <p:nvSpPr>
          <p:cNvPr id="78" name="Shape 76"/>
          <p:cNvSpPr/>
          <p:nvPr/>
        </p:nvSpPr>
        <p:spPr>
          <a:xfrm>
            <a:off x="3249778" y="1615288"/>
            <a:ext cx="261925" cy="272720"/>
          </a:xfrm>
          <a:prstGeom prst="rect">
            <a:avLst/>
          </a:prstGeom>
          <a:solidFill>
            <a:srgbClr val="6D5BD0">
              <a:alpha val="92000"/>
            </a:srgbClr>
          </a:solidFill>
          <a:ln w="12700">
            <a:solidFill>
              <a:srgbClr val="6D5BD0">
                <a:alpha val="0"/>
              </a:srgbClr>
            </a:solidFill>
            <a:prstDash val="solid"/>
          </a:ln>
        </p:spPr>
      </p:sp>
      <p:sp>
        <p:nvSpPr>
          <p:cNvPr id="79" name="Shape 77"/>
          <p:cNvSpPr/>
          <p:nvPr/>
        </p:nvSpPr>
        <p:spPr>
          <a:xfrm>
            <a:off x="3249778" y="1895323"/>
            <a:ext cx="261925" cy="272720"/>
          </a:xfrm>
          <a:prstGeom prst="rect">
            <a:avLst/>
          </a:prstGeom>
          <a:solidFill>
            <a:srgbClr val="6D5BD0">
              <a:alpha val="92000"/>
            </a:srgbClr>
          </a:solidFill>
          <a:ln w="12700">
            <a:solidFill>
              <a:srgbClr val="6D5BD0">
                <a:alpha val="0"/>
              </a:srgbClr>
            </a:solidFill>
            <a:prstDash val="solid"/>
          </a:ln>
        </p:spPr>
      </p:sp>
      <p:sp>
        <p:nvSpPr>
          <p:cNvPr id="80" name="Shape 78"/>
          <p:cNvSpPr/>
          <p:nvPr/>
        </p:nvSpPr>
        <p:spPr>
          <a:xfrm>
            <a:off x="3249778" y="2175358"/>
            <a:ext cx="261925" cy="272720"/>
          </a:xfrm>
          <a:prstGeom prst="rect">
            <a:avLst/>
          </a:prstGeom>
          <a:solidFill>
            <a:srgbClr val="B6545A">
              <a:alpha val="92000"/>
            </a:srgbClr>
          </a:solidFill>
          <a:ln w="12700">
            <a:solidFill>
              <a:srgbClr val="B6545A">
                <a:alpha val="0"/>
              </a:srgbClr>
            </a:solidFill>
            <a:prstDash val="solid"/>
          </a:ln>
        </p:spPr>
      </p:sp>
      <p:sp>
        <p:nvSpPr>
          <p:cNvPr id="81" name="Shape 79"/>
          <p:cNvSpPr/>
          <p:nvPr/>
        </p:nvSpPr>
        <p:spPr>
          <a:xfrm>
            <a:off x="3249778" y="2455393"/>
            <a:ext cx="261925" cy="272720"/>
          </a:xfrm>
          <a:prstGeom prst="rect">
            <a:avLst/>
          </a:prstGeom>
          <a:solidFill>
            <a:srgbClr val="EFC97F">
              <a:alpha val="92000"/>
            </a:srgbClr>
          </a:solidFill>
          <a:ln w="12700">
            <a:solidFill>
              <a:srgbClr val="EFC97F">
                <a:alpha val="0"/>
              </a:srgbClr>
            </a:solidFill>
            <a:prstDash val="solid"/>
          </a:ln>
        </p:spPr>
      </p:sp>
      <p:sp>
        <p:nvSpPr>
          <p:cNvPr id="82" name="Shape 80"/>
          <p:cNvSpPr/>
          <p:nvPr/>
        </p:nvSpPr>
        <p:spPr>
          <a:xfrm>
            <a:off x="3249778" y="2735428"/>
            <a:ext cx="261925" cy="272720"/>
          </a:xfrm>
          <a:prstGeom prst="rect">
            <a:avLst/>
          </a:prstGeom>
          <a:solidFill>
            <a:srgbClr val="F4DDB7">
              <a:alpha val="92000"/>
            </a:srgbClr>
          </a:solidFill>
          <a:ln w="12700">
            <a:solidFill>
              <a:srgbClr val="F4DDB7">
                <a:alpha val="0"/>
              </a:srgbClr>
            </a:solidFill>
            <a:prstDash val="solid"/>
          </a:ln>
        </p:spPr>
      </p:sp>
      <p:sp>
        <p:nvSpPr>
          <p:cNvPr id="83" name="Shape 81"/>
          <p:cNvSpPr/>
          <p:nvPr/>
        </p:nvSpPr>
        <p:spPr>
          <a:xfrm>
            <a:off x="3249778" y="3015463"/>
            <a:ext cx="261925" cy="272720"/>
          </a:xfrm>
          <a:prstGeom prst="rect">
            <a:avLst/>
          </a:prstGeom>
          <a:solidFill>
            <a:srgbClr val="DC7B52">
              <a:alpha val="92000"/>
            </a:srgbClr>
          </a:solidFill>
          <a:ln w="12700">
            <a:solidFill>
              <a:srgbClr val="DC7B52">
                <a:alpha val="0"/>
              </a:srgbClr>
            </a:solidFill>
            <a:prstDash val="solid"/>
          </a:ln>
        </p:spPr>
      </p:sp>
      <p:sp>
        <p:nvSpPr>
          <p:cNvPr id="84" name="Shape 82"/>
          <p:cNvSpPr/>
          <p:nvPr/>
        </p:nvSpPr>
        <p:spPr>
          <a:xfrm>
            <a:off x="3519018" y="1055218"/>
            <a:ext cx="261925" cy="272720"/>
          </a:xfrm>
          <a:prstGeom prst="rect">
            <a:avLst/>
          </a:prstGeom>
          <a:solidFill>
            <a:srgbClr val="DC7B52">
              <a:alpha val="92000"/>
            </a:srgbClr>
          </a:solidFill>
          <a:ln w="12700">
            <a:solidFill>
              <a:srgbClr val="DC7B52">
                <a:alpha val="0"/>
              </a:srgbClr>
            </a:solidFill>
            <a:prstDash val="solid"/>
          </a:ln>
        </p:spPr>
      </p:sp>
      <p:sp>
        <p:nvSpPr>
          <p:cNvPr id="85" name="Shape 83"/>
          <p:cNvSpPr/>
          <p:nvPr/>
        </p:nvSpPr>
        <p:spPr>
          <a:xfrm>
            <a:off x="3519018" y="1335253"/>
            <a:ext cx="261925" cy="272720"/>
          </a:xfrm>
          <a:prstGeom prst="rect">
            <a:avLst/>
          </a:prstGeom>
          <a:solidFill>
            <a:srgbClr val="6D5BD0">
              <a:alpha val="92000"/>
            </a:srgbClr>
          </a:solidFill>
          <a:ln w="12700">
            <a:solidFill>
              <a:srgbClr val="6D5BD0">
                <a:alpha val="0"/>
              </a:srgbClr>
            </a:solidFill>
            <a:prstDash val="solid"/>
          </a:ln>
        </p:spPr>
      </p:sp>
      <p:sp>
        <p:nvSpPr>
          <p:cNvPr id="86" name="Shape 84"/>
          <p:cNvSpPr/>
          <p:nvPr/>
        </p:nvSpPr>
        <p:spPr>
          <a:xfrm>
            <a:off x="3519018" y="1615288"/>
            <a:ext cx="261925" cy="272720"/>
          </a:xfrm>
          <a:prstGeom prst="rect">
            <a:avLst/>
          </a:prstGeom>
          <a:solidFill>
            <a:srgbClr val="6D5BD0">
              <a:alpha val="92000"/>
            </a:srgbClr>
          </a:solidFill>
          <a:ln w="12700">
            <a:solidFill>
              <a:srgbClr val="6D5BD0">
                <a:alpha val="0"/>
              </a:srgbClr>
            </a:solidFill>
            <a:prstDash val="solid"/>
          </a:ln>
        </p:spPr>
      </p:sp>
      <p:sp>
        <p:nvSpPr>
          <p:cNvPr id="87" name="Shape 85"/>
          <p:cNvSpPr/>
          <p:nvPr/>
        </p:nvSpPr>
        <p:spPr>
          <a:xfrm>
            <a:off x="3519018" y="1895323"/>
            <a:ext cx="261925" cy="272720"/>
          </a:xfrm>
          <a:prstGeom prst="rect">
            <a:avLst/>
          </a:prstGeom>
          <a:solidFill>
            <a:srgbClr val="DC7B52">
              <a:alpha val="92000"/>
            </a:srgbClr>
          </a:solidFill>
          <a:ln w="12700">
            <a:solidFill>
              <a:srgbClr val="DC7B52">
                <a:alpha val="0"/>
              </a:srgbClr>
            </a:solidFill>
            <a:prstDash val="solid"/>
          </a:ln>
        </p:spPr>
      </p:sp>
      <p:sp>
        <p:nvSpPr>
          <p:cNvPr id="88" name="Shape 86"/>
          <p:cNvSpPr/>
          <p:nvPr/>
        </p:nvSpPr>
        <p:spPr>
          <a:xfrm>
            <a:off x="3519018" y="2175358"/>
            <a:ext cx="261925" cy="272720"/>
          </a:xfrm>
          <a:prstGeom prst="rect">
            <a:avLst/>
          </a:prstGeom>
          <a:solidFill>
            <a:srgbClr val="F4DDB7">
              <a:alpha val="92000"/>
            </a:srgbClr>
          </a:solidFill>
          <a:ln w="12700">
            <a:solidFill>
              <a:srgbClr val="F4DDB7">
                <a:alpha val="0"/>
              </a:srgbClr>
            </a:solidFill>
            <a:prstDash val="solid"/>
          </a:ln>
        </p:spPr>
      </p:sp>
      <p:sp>
        <p:nvSpPr>
          <p:cNvPr id="89" name="Shape 87"/>
          <p:cNvSpPr/>
          <p:nvPr/>
        </p:nvSpPr>
        <p:spPr>
          <a:xfrm>
            <a:off x="3519018" y="2455393"/>
            <a:ext cx="261925" cy="272720"/>
          </a:xfrm>
          <a:prstGeom prst="rect">
            <a:avLst/>
          </a:prstGeom>
          <a:solidFill>
            <a:srgbClr val="EFC97F">
              <a:alpha val="92000"/>
            </a:srgbClr>
          </a:solidFill>
          <a:ln w="12700">
            <a:solidFill>
              <a:srgbClr val="EFC97F">
                <a:alpha val="0"/>
              </a:srgbClr>
            </a:solidFill>
            <a:prstDash val="solid"/>
          </a:ln>
        </p:spPr>
      </p:sp>
      <p:sp>
        <p:nvSpPr>
          <p:cNvPr id="90" name="Shape 88"/>
          <p:cNvSpPr/>
          <p:nvPr/>
        </p:nvSpPr>
        <p:spPr>
          <a:xfrm>
            <a:off x="3519018" y="2735428"/>
            <a:ext cx="261925" cy="272720"/>
          </a:xfrm>
          <a:prstGeom prst="rect">
            <a:avLst/>
          </a:prstGeom>
          <a:solidFill>
            <a:srgbClr val="B6545A">
              <a:alpha val="92000"/>
            </a:srgbClr>
          </a:solidFill>
          <a:ln w="12700">
            <a:solidFill>
              <a:srgbClr val="B6545A">
                <a:alpha val="0"/>
              </a:srgbClr>
            </a:solidFill>
            <a:prstDash val="solid"/>
          </a:ln>
        </p:spPr>
      </p:sp>
      <p:sp>
        <p:nvSpPr>
          <p:cNvPr id="91" name="Shape 89"/>
          <p:cNvSpPr/>
          <p:nvPr/>
        </p:nvSpPr>
        <p:spPr>
          <a:xfrm>
            <a:off x="3519018" y="3015463"/>
            <a:ext cx="261925" cy="272720"/>
          </a:xfrm>
          <a:prstGeom prst="rect">
            <a:avLst/>
          </a:prstGeom>
          <a:solidFill>
            <a:srgbClr val="6D5BD0">
              <a:alpha val="92000"/>
            </a:srgbClr>
          </a:solidFill>
          <a:ln w="12700">
            <a:solidFill>
              <a:srgbClr val="6D5BD0">
                <a:alpha val="0"/>
              </a:srgbClr>
            </a:solidFill>
            <a:prstDash val="solid"/>
          </a:ln>
        </p:spPr>
      </p:sp>
      <p:sp>
        <p:nvSpPr>
          <p:cNvPr id="92" name="Shape 90"/>
          <p:cNvSpPr/>
          <p:nvPr/>
        </p:nvSpPr>
        <p:spPr>
          <a:xfrm>
            <a:off x="3788258" y="1055218"/>
            <a:ext cx="261925" cy="272720"/>
          </a:xfrm>
          <a:prstGeom prst="rect">
            <a:avLst/>
          </a:prstGeom>
          <a:solidFill>
            <a:srgbClr val="6D5BD0">
              <a:alpha val="92000"/>
            </a:srgbClr>
          </a:solidFill>
          <a:ln w="12700">
            <a:solidFill>
              <a:srgbClr val="6D5BD0">
                <a:alpha val="0"/>
              </a:srgbClr>
            </a:solidFill>
            <a:prstDash val="solid"/>
          </a:ln>
        </p:spPr>
      </p:sp>
      <p:sp>
        <p:nvSpPr>
          <p:cNvPr id="93" name="Shape 91"/>
          <p:cNvSpPr/>
          <p:nvPr/>
        </p:nvSpPr>
        <p:spPr>
          <a:xfrm>
            <a:off x="3788258" y="1335253"/>
            <a:ext cx="261925" cy="272720"/>
          </a:xfrm>
          <a:prstGeom prst="rect">
            <a:avLst/>
          </a:prstGeom>
          <a:solidFill>
            <a:srgbClr val="6D5BD0">
              <a:alpha val="92000"/>
            </a:srgbClr>
          </a:solidFill>
          <a:ln w="12700">
            <a:solidFill>
              <a:srgbClr val="6D5BD0">
                <a:alpha val="0"/>
              </a:srgbClr>
            </a:solidFill>
            <a:prstDash val="solid"/>
          </a:ln>
        </p:spPr>
      </p:sp>
      <p:sp>
        <p:nvSpPr>
          <p:cNvPr id="94" name="Shape 92"/>
          <p:cNvSpPr/>
          <p:nvPr/>
        </p:nvSpPr>
        <p:spPr>
          <a:xfrm>
            <a:off x="3788258" y="1615288"/>
            <a:ext cx="261925" cy="272720"/>
          </a:xfrm>
          <a:prstGeom prst="rect">
            <a:avLst/>
          </a:prstGeom>
          <a:solidFill>
            <a:srgbClr val="DC7B52">
              <a:alpha val="92000"/>
            </a:srgbClr>
          </a:solidFill>
          <a:ln w="12700">
            <a:solidFill>
              <a:srgbClr val="DC7B52">
                <a:alpha val="0"/>
              </a:srgbClr>
            </a:solidFill>
            <a:prstDash val="solid"/>
          </a:ln>
        </p:spPr>
      </p:sp>
      <p:sp>
        <p:nvSpPr>
          <p:cNvPr id="95" name="Shape 93"/>
          <p:cNvSpPr/>
          <p:nvPr/>
        </p:nvSpPr>
        <p:spPr>
          <a:xfrm>
            <a:off x="3788258" y="1895323"/>
            <a:ext cx="261925" cy="272720"/>
          </a:xfrm>
          <a:prstGeom prst="rect">
            <a:avLst/>
          </a:prstGeom>
          <a:solidFill>
            <a:srgbClr val="F8EFE2">
              <a:alpha val="92000"/>
            </a:srgbClr>
          </a:solidFill>
          <a:ln w="12700">
            <a:solidFill>
              <a:srgbClr val="F8EFE2">
                <a:alpha val="0"/>
              </a:srgbClr>
            </a:solidFill>
            <a:prstDash val="solid"/>
          </a:ln>
        </p:spPr>
      </p:sp>
      <p:sp>
        <p:nvSpPr>
          <p:cNvPr id="96" name="Shape 94"/>
          <p:cNvSpPr/>
          <p:nvPr/>
        </p:nvSpPr>
        <p:spPr>
          <a:xfrm>
            <a:off x="3788258" y="2175358"/>
            <a:ext cx="261925" cy="272720"/>
          </a:xfrm>
          <a:prstGeom prst="rect">
            <a:avLst/>
          </a:prstGeom>
          <a:solidFill>
            <a:srgbClr val="E9A15F">
              <a:alpha val="92000"/>
            </a:srgbClr>
          </a:solidFill>
          <a:ln w="12700">
            <a:solidFill>
              <a:srgbClr val="E9A15F">
                <a:alpha val="0"/>
              </a:srgbClr>
            </a:solidFill>
            <a:prstDash val="solid"/>
          </a:ln>
        </p:spPr>
      </p:sp>
      <p:sp>
        <p:nvSpPr>
          <p:cNvPr id="97" name="Shape 95"/>
          <p:cNvSpPr/>
          <p:nvPr/>
        </p:nvSpPr>
        <p:spPr>
          <a:xfrm>
            <a:off x="3788258" y="2455393"/>
            <a:ext cx="261925" cy="272720"/>
          </a:xfrm>
          <a:prstGeom prst="rect">
            <a:avLst/>
          </a:prstGeom>
          <a:solidFill>
            <a:srgbClr val="B6545A">
              <a:alpha val="92000"/>
            </a:srgbClr>
          </a:solidFill>
          <a:ln w="12700">
            <a:solidFill>
              <a:srgbClr val="B6545A">
                <a:alpha val="0"/>
              </a:srgbClr>
            </a:solidFill>
            <a:prstDash val="solid"/>
          </a:ln>
        </p:spPr>
      </p:sp>
      <p:sp>
        <p:nvSpPr>
          <p:cNvPr id="98" name="Shape 96"/>
          <p:cNvSpPr/>
          <p:nvPr/>
        </p:nvSpPr>
        <p:spPr>
          <a:xfrm>
            <a:off x="3788258" y="2735428"/>
            <a:ext cx="261925" cy="272720"/>
          </a:xfrm>
          <a:prstGeom prst="rect">
            <a:avLst/>
          </a:prstGeom>
          <a:solidFill>
            <a:srgbClr val="6D5BD0">
              <a:alpha val="92000"/>
            </a:srgbClr>
          </a:solidFill>
          <a:ln w="12700">
            <a:solidFill>
              <a:srgbClr val="6D5BD0">
                <a:alpha val="0"/>
              </a:srgbClr>
            </a:solidFill>
            <a:prstDash val="solid"/>
          </a:ln>
        </p:spPr>
      </p:sp>
      <p:sp>
        <p:nvSpPr>
          <p:cNvPr id="99" name="Shape 97"/>
          <p:cNvSpPr/>
          <p:nvPr/>
        </p:nvSpPr>
        <p:spPr>
          <a:xfrm>
            <a:off x="3788258" y="3015463"/>
            <a:ext cx="261925" cy="272720"/>
          </a:xfrm>
          <a:prstGeom prst="rect">
            <a:avLst/>
          </a:prstGeom>
          <a:solidFill>
            <a:srgbClr val="B6545A">
              <a:alpha val="92000"/>
            </a:srgbClr>
          </a:solidFill>
          <a:ln w="12700">
            <a:solidFill>
              <a:srgbClr val="B6545A">
                <a:alpha val="0"/>
              </a:srgbClr>
            </a:solidFill>
            <a:prstDash val="solid"/>
          </a:ln>
        </p:spPr>
      </p:sp>
      <p:sp>
        <p:nvSpPr>
          <p:cNvPr id="100" name="Shape 98"/>
          <p:cNvSpPr/>
          <p:nvPr/>
        </p:nvSpPr>
        <p:spPr>
          <a:xfrm>
            <a:off x="4057498" y="1055218"/>
            <a:ext cx="261925" cy="272720"/>
          </a:xfrm>
          <a:prstGeom prst="rect">
            <a:avLst/>
          </a:prstGeom>
          <a:solidFill>
            <a:srgbClr val="B6545A">
              <a:alpha val="92000"/>
            </a:srgbClr>
          </a:solidFill>
          <a:ln w="12700">
            <a:solidFill>
              <a:srgbClr val="B6545A">
                <a:alpha val="0"/>
              </a:srgbClr>
            </a:solidFill>
            <a:prstDash val="solid"/>
          </a:ln>
        </p:spPr>
      </p:sp>
      <p:sp>
        <p:nvSpPr>
          <p:cNvPr id="101" name="Shape 99"/>
          <p:cNvSpPr/>
          <p:nvPr/>
        </p:nvSpPr>
        <p:spPr>
          <a:xfrm>
            <a:off x="4057498" y="1335253"/>
            <a:ext cx="261925" cy="272720"/>
          </a:xfrm>
          <a:prstGeom prst="rect">
            <a:avLst/>
          </a:prstGeom>
          <a:solidFill>
            <a:srgbClr val="E9A15F">
              <a:alpha val="92000"/>
            </a:srgbClr>
          </a:solidFill>
          <a:ln w="12700">
            <a:solidFill>
              <a:srgbClr val="E9A15F">
                <a:alpha val="0"/>
              </a:srgbClr>
            </a:solidFill>
            <a:prstDash val="solid"/>
          </a:ln>
        </p:spPr>
      </p:sp>
      <p:sp>
        <p:nvSpPr>
          <p:cNvPr id="102" name="Shape 100"/>
          <p:cNvSpPr/>
          <p:nvPr/>
        </p:nvSpPr>
        <p:spPr>
          <a:xfrm>
            <a:off x="4057498" y="1615288"/>
            <a:ext cx="261925" cy="272720"/>
          </a:xfrm>
          <a:prstGeom prst="rect">
            <a:avLst/>
          </a:prstGeom>
          <a:solidFill>
            <a:srgbClr val="F8EFE2">
              <a:alpha val="92000"/>
            </a:srgbClr>
          </a:solidFill>
          <a:ln w="12700">
            <a:solidFill>
              <a:srgbClr val="F8EFE2">
                <a:alpha val="0"/>
              </a:srgbClr>
            </a:solidFill>
            <a:prstDash val="solid"/>
          </a:ln>
        </p:spPr>
      </p:sp>
      <p:sp>
        <p:nvSpPr>
          <p:cNvPr id="103" name="Shape 101"/>
          <p:cNvSpPr/>
          <p:nvPr/>
        </p:nvSpPr>
        <p:spPr>
          <a:xfrm>
            <a:off x="4057498" y="1895323"/>
            <a:ext cx="261925" cy="272720"/>
          </a:xfrm>
          <a:prstGeom prst="rect">
            <a:avLst/>
          </a:prstGeom>
          <a:solidFill>
            <a:srgbClr val="DC7B52">
              <a:alpha val="92000"/>
            </a:srgbClr>
          </a:solidFill>
          <a:ln w="12700">
            <a:solidFill>
              <a:srgbClr val="DC7B52">
                <a:alpha val="0"/>
              </a:srgbClr>
            </a:solidFill>
            <a:prstDash val="solid"/>
          </a:ln>
        </p:spPr>
      </p:sp>
      <p:sp>
        <p:nvSpPr>
          <p:cNvPr id="104" name="Shape 102"/>
          <p:cNvSpPr/>
          <p:nvPr/>
        </p:nvSpPr>
        <p:spPr>
          <a:xfrm>
            <a:off x="4057498" y="2175358"/>
            <a:ext cx="261925" cy="272720"/>
          </a:xfrm>
          <a:prstGeom prst="rect">
            <a:avLst/>
          </a:prstGeom>
          <a:solidFill>
            <a:srgbClr val="6D5BD0">
              <a:alpha val="92000"/>
            </a:srgbClr>
          </a:solidFill>
          <a:ln w="12700">
            <a:solidFill>
              <a:srgbClr val="6D5BD0">
                <a:alpha val="0"/>
              </a:srgbClr>
            </a:solidFill>
            <a:prstDash val="solid"/>
          </a:ln>
        </p:spPr>
      </p:sp>
      <p:sp>
        <p:nvSpPr>
          <p:cNvPr id="105" name="Shape 103"/>
          <p:cNvSpPr/>
          <p:nvPr/>
        </p:nvSpPr>
        <p:spPr>
          <a:xfrm>
            <a:off x="4057498" y="2455393"/>
            <a:ext cx="261925" cy="272720"/>
          </a:xfrm>
          <a:prstGeom prst="rect">
            <a:avLst/>
          </a:prstGeom>
          <a:solidFill>
            <a:srgbClr val="6D5BD0">
              <a:alpha val="92000"/>
            </a:srgbClr>
          </a:solidFill>
          <a:ln w="12700">
            <a:solidFill>
              <a:srgbClr val="6D5BD0">
                <a:alpha val="0"/>
              </a:srgbClr>
            </a:solidFill>
            <a:prstDash val="solid"/>
          </a:ln>
        </p:spPr>
      </p:sp>
      <p:sp>
        <p:nvSpPr>
          <p:cNvPr id="106" name="Shape 104"/>
          <p:cNvSpPr/>
          <p:nvPr/>
        </p:nvSpPr>
        <p:spPr>
          <a:xfrm>
            <a:off x="4057498" y="2735428"/>
            <a:ext cx="261925" cy="272720"/>
          </a:xfrm>
          <a:prstGeom prst="rect">
            <a:avLst/>
          </a:prstGeom>
          <a:solidFill>
            <a:srgbClr val="B6545A">
              <a:alpha val="92000"/>
            </a:srgbClr>
          </a:solidFill>
          <a:ln w="12700">
            <a:solidFill>
              <a:srgbClr val="B6545A">
                <a:alpha val="0"/>
              </a:srgbClr>
            </a:solidFill>
            <a:prstDash val="solid"/>
          </a:ln>
        </p:spPr>
      </p:sp>
      <p:sp>
        <p:nvSpPr>
          <p:cNvPr id="107" name="Shape 105"/>
          <p:cNvSpPr/>
          <p:nvPr/>
        </p:nvSpPr>
        <p:spPr>
          <a:xfrm>
            <a:off x="4057498" y="3015463"/>
            <a:ext cx="261925" cy="272720"/>
          </a:xfrm>
          <a:prstGeom prst="rect">
            <a:avLst/>
          </a:prstGeom>
          <a:solidFill>
            <a:srgbClr val="EFC97F">
              <a:alpha val="92000"/>
            </a:srgbClr>
          </a:solidFill>
          <a:ln w="12700">
            <a:solidFill>
              <a:srgbClr val="EFC97F">
                <a:alpha val="0"/>
              </a:srgbClr>
            </a:solidFill>
            <a:prstDash val="solid"/>
          </a:ln>
        </p:spPr>
      </p:sp>
      <p:sp>
        <p:nvSpPr>
          <p:cNvPr id="108" name="Shape 106"/>
          <p:cNvSpPr/>
          <p:nvPr/>
        </p:nvSpPr>
        <p:spPr>
          <a:xfrm>
            <a:off x="4326738" y="1055218"/>
            <a:ext cx="261925" cy="272720"/>
          </a:xfrm>
          <a:prstGeom prst="rect">
            <a:avLst/>
          </a:prstGeom>
          <a:solidFill>
            <a:srgbClr val="EFC97F">
              <a:alpha val="92000"/>
            </a:srgbClr>
          </a:solidFill>
          <a:ln w="12700">
            <a:solidFill>
              <a:srgbClr val="EFC97F">
                <a:alpha val="0"/>
              </a:srgbClr>
            </a:solidFill>
            <a:prstDash val="solid"/>
          </a:ln>
        </p:spPr>
      </p:sp>
      <p:sp>
        <p:nvSpPr>
          <p:cNvPr id="109" name="Shape 107"/>
          <p:cNvSpPr/>
          <p:nvPr/>
        </p:nvSpPr>
        <p:spPr>
          <a:xfrm>
            <a:off x="4326738" y="1335253"/>
            <a:ext cx="261925" cy="272720"/>
          </a:xfrm>
          <a:prstGeom prst="rect">
            <a:avLst/>
          </a:prstGeom>
          <a:solidFill>
            <a:srgbClr val="F4DDB7">
              <a:alpha val="92000"/>
            </a:srgbClr>
          </a:solidFill>
          <a:ln w="12700">
            <a:solidFill>
              <a:srgbClr val="F4DDB7">
                <a:alpha val="0"/>
              </a:srgbClr>
            </a:solidFill>
            <a:prstDash val="solid"/>
          </a:ln>
        </p:spPr>
      </p:sp>
      <p:sp>
        <p:nvSpPr>
          <p:cNvPr id="110" name="Shape 108"/>
          <p:cNvSpPr/>
          <p:nvPr/>
        </p:nvSpPr>
        <p:spPr>
          <a:xfrm>
            <a:off x="4326738" y="1615288"/>
            <a:ext cx="261925" cy="272720"/>
          </a:xfrm>
          <a:prstGeom prst="rect">
            <a:avLst/>
          </a:prstGeom>
          <a:solidFill>
            <a:srgbClr val="DC7B52">
              <a:alpha val="92000"/>
            </a:srgbClr>
          </a:solidFill>
          <a:ln w="12700">
            <a:solidFill>
              <a:srgbClr val="DC7B52">
                <a:alpha val="0"/>
              </a:srgbClr>
            </a:solidFill>
            <a:prstDash val="solid"/>
          </a:ln>
        </p:spPr>
      </p:sp>
      <p:sp>
        <p:nvSpPr>
          <p:cNvPr id="111" name="Shape 109"/>
          <p:cNvSpPr/>
          <p:nvPr/>
        </p:nvSpPr>
        <p:spPr>
          <a:xfrm>
            <a:off x="4326738" y="1895323"/>
            <a:ext cx="261925" cy="272720"/>
          </a:xfrm>
          <a:prstGeom prst="rect">
            <a:avLst/>
          </a:prstGeom>
          <a:solidFill>
            <a:srgbClr val="6D5BD0">
              <a:alpha val="92000"/>
            </a:srgbClr>
          </a:solidFill>
          <a:ln w="12700">
            <a:solidFill>
              <a:srgbClr val="6D5BD0">
                <a:alpha val="0"/>
              </a:srgbClr>
            </a:solidFill>
            <a:prstDash val="solid"/>
          </a:ln>
        </p:spPr>
      </p:sp>
      <p:sp>
        <p:nvSpPr>
          <p:cNvPr id="112" name="Shape 110"/>
          <p:cNvSpPr/>
          <p:nvPr/>
        </p:nvSpPr>
        <p:spPr>
          <a:xfrm>
            <a:off x="4326738" y="2175358"/>
            <a:ext cx="261925" cy="272720"/>
          </a:xfrm>
          <a:prstGeom prst="rect">
            <a:avLst/>
          </a:prstGeom>
          <a:solidFill>
            <a:srgbClr val="6D5BD0">
              <a:alpha val="92000"/>
            </a:srgbClr>
          </a:solidFill>
          <a:ln w="12700">
            <a:solidFill>
              <a:srgbClr val="6D5BD0">
                <a:alpha val="0"/>
              </a:srgbClr>
            </a:solidFill>
            <a:prstDash val="solid"/>
          </a:ln>
        </p:spPr>
      </p:sp>
      <p:sp>
        <p:nvSpPr>
          <p:cNvPr id="113" name="Shape 111"/>
          <p:cNvSpPr/>
          <p:nvPr/>
        </p:nvSpPr>
        <p:spPr>
          <a:xfrm>
            <a:off x="4326738" y="2455393"/>
            <a:ext cx="261925" cy="272720"/>
          </a:xfrm>
          <a:prstGeom prst="rect">
            <a:avLst/>
          </a:prstGeom>
          <a:solidFill>
            <a:srgbClr val="DC7B52">
              <a:alpha val="92000"/>
            </a:srgbClr>
          </a:solidFill>
          <a:ln w="12700">
            <a:solidFill>
              <a:srgbClr val="DC7B52">
                <a:alpha val="0"/>
              </a:srgbClr>
            </a:solidFill>
            <a:prstDash val="solid"/>
          </a:ln>
        </p:spPr>
      </p:sp>
      <p:sp>
        <p:nvSpPr>
          <p:cNvPr id="114" name="Shape 112"/>
          <p:cNvSpPr/>
          <p:nvPr/>
        </p:nvSpPr>
        <p:spPr>
          <a:xfrm>
            <a:off x="4326738" y="2735428"/>
            <a:ext cx="261925" cy="272720"/>
          </a:xfrm>
          <a:prstGeom prst="rect">
            <a:avLst/>
          </a:prstGeom>
          <a:solidFill>
            <a:srgbClr val="F4DDB7">
              <a:alpha val="92000"/>
            </a:srgbClr>
          </a:solidFill>
          <a:ln w="12700">
            <a:solidFill>
              <a:srgbClr val="F4DDB7">
                <a:alpha val="0"/>
              </a:srgbClr>
            </a:solidFill>
            <a:prstDash val="solid"/>
          </a:ln>
        </p:spPr>
      </p:sp>
      <p:sp>
        <p:nvSpPr>
          <p:cNvPr id="115" name="Shape 113"/>
          <p:cNvSpPr/>
          <p:nvPr/>
        </p:nvSpPr>
        <p:spPr>
          <a:xfrm>
            <a:off x="4326738" y="3015463"/>
            <a:ext cx="261925" cy="272720"/>
          </a:xfrm>
          <a:prstGeom prst="rect">
            <a:avLst/>
          </a:prstGeom>
          <a:solidFill>
            <a:srgbClr val="EFC97F">
              <a:alpha val="92000"/>
            </a:srgbClr>
          </a:solidFill>
          <a:ln w="12700">
            <a:solidFill>
              <a:srgbClr val="EFC97F">
                <a:alpha val="0"/>
              </a:srgbClr>
            </a:solidFill>
            <a:prstDash val="solid"/>
          </a:ln>
        </p:spPr>
      </p:sp>
      <p:sp>
        <p:nvSpPr>
          <p:cNvPr id="116" name="Shape 114"/>
          <p:cNvSpPr/>
          <p:nvPr/>
        </p:nvSpPr>
        <p:spPr>
          <a:xfrm>
            <a:off x="4595978" y="1055218"/>
            <a:ext cx="261925" cy="272720"/>
          </a:xfrm>
          <a:prstGeom prst="rect">
            <a:avLst/>
          </a:prstGeom>
          <a:solidFill>
            <a:srgbClr val="EFC97F">
              <a:alpha val="92000"/>
            </a:srgbClr>
          </a:solidFill>
          <a:ln w="12700">
            <a:solidFill>
              <a:srgbClr val="EFC97F">
                <a:alpha val="0"/>
              </a:srgbClr>
            </a:solidFill>
            <a:prstDash val="solid"/>
          </a:ln>
        </p:spPr>
      </p:sp>
      <p:sp>
        <p:nvSpPr>
          <p:cNvPr id="117" name="Shape 115"/>
          <p:cNvSpPr/>
          <p:nvPr/>
        </p:nvSpPr>
        <p:spPr>
          <a:xfrm>
            <a:off x="4595978" y="1335253"/>
            <a:ext cx="261925" cy="272720"/>
          </a:xfrm>
          <a:prstGeom prst="rect">
            <a:avLst/>
          </a:prstGeom>
          <a:solidFill>
            <a:srgbClr val="B6545A">
              <a:alpha val="92000"/>
            </a:srgbClr>
          </a:solidFill>
          <a:ln w="12700">
            <a:solidFill>
              <a:srgbClr val="B6545A">
                <a:alpha val="0"/>
              </a:srgbClr>
            </a:solidFill>
            <a:prstDash val="solid"/>
          </a:ln>
        </p:spPr>
      </p:sp>
      <p:sp>
        <p:nvSpPr>
          <p:cNvPr id="118" name="Shape 116"/>
          <p:cNvSpPr/>
          <p:nvPr/>
        </p:nvSpPr>
        <p:spPr>
          <a:xfrm>
            <a:off x="4595978" y="1615288"/>
            <a:ext cx="261925" cy="272720"/>
          </a:xfrm>
          <a:prstGeom prst="rect">
            <a:avLst/>
          </a:prstGeom>
          <a:solidFill>
            <a:srgbClr val="6D5BD0">
              <a:alpha val="92000"/>
            </a:srgbClr>
          </a:solidFill>
          <a:ln w="12700">
            <a:solidFill>
              <a:srgbClr val="6D5BD0">
                <a:alpha val="0"/>
              </a:srgbClr>
            </a:solidFill>
            <a:prstDash val="solid"/>
          </a:ln>
        </p:spPr>
      </p:sp>
      <p:sp>
        <p:nvSpPr>
          <p:cNvPr id="119" name="Shape 117"/>
          <p:cNvSpPr/>
          <p:nvPr/>
        </p:nvSpPr>
        <p:spPr>
          <a:xfrm>
            <a:off x="4595978" y="1895323"/>
            <a:ext cx="261925" cy="272720"/>
          </a:xfrm>
          <a:prstGeom prst="rect">
            <a:avLst/>
          </a:prstGeom>
          <a:solidFill>
            <a:srgbClr val="6D5BD0">
              <a:alpha val="92000"/>
            </a:srgbClr>
          </a:solidFill>
          <a:ln w="12700">
            <a:solidFill>
              <a:srgbClr val="6D5BD0">
                <a:alpha val="0"/>
              </a:srgbClr>
            </a:solidFill>
            <a:prstDash val="solid"/>
          </a:ln>
        </p:spPr>
      </p:sp>
      <p:sp>
        <p:nvSpPr>
          <p:cNvPr id="120" name="Shape 118"/>
          <p:cNvSpPr/>
          <p:nvPr/>
        </p:nvSpPr>
        <p:spPr>
          <a:xfrm>
            <a:off x="4595978" y="2175358"/>
            <a:ext cx="261925" cy="272720"/>
          </a:xfrm>
          <a:prstGeom prst="rect">
            <a:avLst/>
          </a:prstGeom>
          <a:solidFill>
            <a:srgbClr val="E9A15F">
              <a:alpha val="92000"/>
            </a:srgbClr>
          </a:solidFill>
          <a:ln w="12700">
            <a:solidFill>
              <a:srgbClr val="E9A15F">
                <a:alpha val="0"/>
              </a:srgbClr>
            </a:solidFill>
            <a:prstDash val="solid"/>
          </a:ln>
        </p:spPr>
      </p:sp>
      <p:sp>
        <p:nvSpPr>
          <p:cNvPr id="121" name="Shape 119"/>
          <p:cNvSpPr/>
          <p:nvPr/>
        </p:nvSpPr>
        <p:spPr>
          <a:xfrm>
            <a:off x="4595978" y="2455393"/>
            <a:ext cx="261925" cy="272720"/>
          </a:xfrm>
          <a:prstGeom prst="rect">
            <a:avLst/>
          </a:prstGeom>
          <a:solidFill>
            <a:srgbClr val="F8EFE2">
              <a:alpha val="92000"/>
            </a:srgbClr>
          </a:solidFill>
          <a:ln w="12700">
            <a:solidFill>
              <a:srgbClr val="F8EFE2">
                <a:alpha val="0"/>
              </a:srgbClr>
            </a:solidFill>
            <a:prstDash val="solid"/>
          </a:ln>
        </p:spPr>
      </p:sp>
      <p:sp>
        <p:nvSpPr>
          <p:cNvPr id="122" name="Shape 120"/>
          <p:cNvSpPr/>
          <p:nvPr/>
        </p:nvSpPr>
        <p:spPr>
          <a:xfrm>
            <a:off x="4595978" y="2735428"/>
            <a:ext cx="261925" cy="272720"/>
          </a:xfrm>
          <a:prstGeom prst="rect">
            <a:avLst/>
          </a:prstGeom>
          <a:solidFill>
            <a:srgbClr val="E9A15F">
              <a:alpha val="92000"/>
            </a:srgbClr>
          </a:solidFill>
          <a:ln w="12700">
            <a:solidFill>
              <a:srgbClr val="E9A15F">
                <a:alpha val="0"/>
              </a:srgbClr>
            </a:solidFill>
            <a:prstDash val="solid"/>
          </a:ln>
        </p:spPr>
      </p:sp>
      <p:sp>
        <p:nvSpPr>
          <p:cNvPr id="123" name="Shape 121"/>
          <p:cNvSpPr/>
          <p:nvPr/>
        </p:nvSpPr>
        <p:spPr>
          <a:xfrm>
            <a:off x="4595978" y="3015463"/>
            <a:ext cx="261925" cy="272720"/>
          </a:xfrm>
          <a:prstGeom prst="rect">
            <a:avLst/>
          </a:prstGeom>
          <a:solidFill>
            <a:srgbClr val="6D5BD0">
              <a:alpha val="92000"/>
            </a:srgbClr>
          </a:solidFill>
          <a:ln w="12700">
            <a:solidFill>
              <a:srgbClr val="6D5BD0">
                <a:alpha val="0"/>
              </a:srgbClr>
            </a:solidFill>
            <a:prstDash val="solid"/>
          </a:ln>
        </p:spPr>
      </p:sp>
      <p:sp>
        <p:nvSpPr>
          <p:cNvPr id="124" name="Shape 122"/>
          <p:cNvSpPr/>
          <p:nvPr/>
        </p:nvSpPr>
        <p:spPr>
          <a:xfrm>
            <a:off x="4865218" y="1055218"/>
            <a:ext cx="261925" cy="272720"/>
          </a:xfrm>
          <a:prstGeom prst="rect">
            <a:avLst/>
          </a:prstGeom>
          <a:solidFill>
            <a:srgbClr val="6D5BD0">
              <a:alpha val="92000"/>
            </a:srgbClr>
          </a:solidFill>
          <a:ln w="12700">
            <a:solidFill>
              <a:srgbClr val="6D5BD0">
                <a:alpha val="0"/>
              </a:srgbClr>
            </a:solidFill>
            <a:prstDash val="solid"/>
          </a:ln>
        </p:spPr>
      </p:sp>
      <p:sp>
        <p:nvSpPr>
          <p:cNvPr id="125" name="Shape 123"/>
          <p:cNvSpPr/>
          <p:nvPr/>
        </p:nvSpPr>
        <p:spPr>
          <a:xfrm>
            <a:off x="4865218" y="1335253"/>
            <a:ext cx="261925" cy="272720"/>
          </a:xfrm>
          <a:prstGeom prst="rect">
            <a:avLst/>
          </a:prstGeom>
          <a:solidFill>
            <a:srgbClr val="6D5BD0">
              <a:alpha val="92000"/>
            </a:srgbClr>
          </a:solidFill>
          <a:ln w="12700">
            <a:solidFill>
              <a:srgbClr val="6D5BD0">
                <a:alpha val="0"/>
              </a:srgbClr>
            </a:solidFill>
            <a:prstDash val="solid"/>
          </a:ln>
        </p:spPr>
      </p:sp>
      <p:sp>
        <p:nvSpPr>
          <p:cNvPr id="126" name="Shape 124"/>
          <p:cNvSpPr/>
          <p:nvPr/>
        </p:nvSpPr>
        <p:spPr>
          <a:xfrm>
            <a:off x="4865218" y="1615288"/>
            <a:ext cx="261925" cy="272720"/>
          </a:xfrm>
          <a:prstGeom prst="rect">
            <a:avLst/>
          </a:prstGeom>
          <a:solidFill>
            <a:srgbClr val="B6545A">
              <a:alpha val="92000"/>
            </a:srgbClr>
          </a:solidFill>
          <a:ln w="12700">
            <a:solidFill>
              <a:srgbClr val="B6545A">
                <a:alpha val="0"/>
              </a:srgbClr>
            </a:solidFill>
            <a:prstDash val="solid"/>
          </a:ln>
        </p:spPr>
      </p:sp>
      <p:sp>
        <p:nvSpPr>
          <p:cNvPr id="127" name="Shape 125"/>
          <p:cNvSpPr/>
          <p:nvPr/>
        </p:nvSpPr>
        <p:spPr>
          <a:xfrm>
            <a:off x="4865218" y="1895323"/>
            <a:ext cx="261925" cy="272720"/>
          </a:xfrm>
          <a:prstGeom prst="rect">
            <a:avLst/>
          </a:prstGeom>
          <a:solidFill>
            <a:srgbClr val="EFC97F">
              <a:alpha val="92000"/>
            </a:srgbClr>
          </a:solidFill>
          <a:ln w="12700">
            <a:solidFill>
              <a:srgbClr val="EFC97F">
                <a:alpha val="0"/>
              </a:srgbClr>
            </a:solidFill>
            <a:prstDash val="solid"/>
          </a:ln>
        </p:spPr>
      </p:sp>
      <p:sp>
        <p:nvSpPr>
          <p:cNvPr id="128" name="Shape 126"/>
          <p:cNvSpPr/>
          <p:nvPr/>
        </p:nvSpPr>
        <p:spPr>
          <a:xfrm>
            <a:off x="4865218" y="2175358"/>
            <a:ext cx="261925" cy="272720"/>
          </a:xfrm>
          <a:prstGeom prst="rect">
            <a:avLst/>
          </a:prstGeom>
          <a:solidFill>
            <a:srgbClr val="F8EFE2">
              <a:alpha val="92000"/>
            </a:srgbClr>
          </a:solidFill>
          <a:ln w="12700">
            <a:solidFill>
              <a:srgbClr val="F8EFE2">
                <a:alpha val="0"/>
              </a:srgbClr>
            </a:solidFill>
            <a:prstDash val="solid"/>
          </a:ln>
        </p:spPr>
      </p:sp>
      <p:sp>
        <p:nvSpPr>
          <p:cNvPr id="129" name="Shape 127"/>
          <p:cNvSpPr/>
          <p:nvPr/>
        </p:nvSpPr>
        <p:spPr>
          <a:xfrm>
            <a:off x="4865218" y="2455393"/>
            <a:ext cx="261925" cy="272720"/>
          </a:xfrm>
          <a:prstGeom prst="rect">
            <a:avLst/>
          </a:prstGeom>
          <a:solidFill>
            <a:srgbClr val="DC7B52">
              <a:alpha val="92000"/>
            </a:srgbClr>
          </a:solidFill>
          <a:ln w="12700">
            <a:solidFill>
              <a:srgbClr val="DC7B52">
                <a:alpha val="0"/>
              </a:srgbClr>
            </a:solidFill>
            <a:prstDash val="solid"/>
          </a:ln>
        </p:spPr>
      </p:sp>
      <p:sp>
        <p:nvSpPr>
          <p:cNvPr id="130" name="Shape 128"/>
          <p:cNvSpPr/>
          <p:nvPr/>
        </p:nvSpPr>
        <p:spPr>
          <a:xfrm>
            <a:off x="4865218" y="2735428"/>
            <a:ext cx="261925" cy="272720"/>
          </a:xfrm>
          <a:prstGeom prst="rect">
            <a:avLst/>
          </a:prstGeom>
          <a:solidFill>
            <a:srgbClr val="6D5BD0">
              <a:alpha val="92000"/>
            </a:srgbClr>
          </a:solidFill>
          <a:ln w="12700">
            <a:solidFill>
              <a:srgbClr val="6D5BD0">
                <a:alpha val="0"/>
              </a:srgbClr>
            </a:solidFill>
            <a:prstDash val="solid"/>
          </a:ln>
        </p:spPr>
      </p:sp>
      <p:sp>
        <p:nvSpPr>
          <p:cNvPr id="131" name="Shape 129"/>
          <p:cNvSpPr/>
          <p:nvPr/>
        </p:nvSpPr>
        <p:spPr>
          <a:xfrm>
            <a:off x="4865218" y="3015463"/>
            <a:ext cx="261925" cy="272720"/>
          </a:xfrm>
          <a:prstGeom prst="rect">
            <a:avLst/>
          </a:prstGeom>
          <a:solidFill>
            <a:srgbClr val="6D5BD0">
              <a:alpha val="92000"/>
            </a:srgbClr>
          </a:solidFill>
          <a:ln w="12700">
            <a:solidFill>
              <a:srgbClr val="6D5BD0">
                <a:alpha val="0"/>
              </a:srgbClr>
            </a:solidFill>
            <a:prstDash val="solid"/>
          </a:ln>
        </p:spPr>
      </p:sp>
      <p:sp>
        <p:nvSpPr>
          <p:cNvPr id="132" name="Shape 130"/>
          <p:cNvSpPr/>
          <p:nvPr/>
        </p:nvSpPr>
        <p:spPr>
          <a:xfrm>
            <a:off x="5134458" y="1055218"/>
            <a:ext cx="261925" cy="272720"/>
          </a:xfrm>
          <a:prstGeom prst="rect">
            <a:avLst/>
          </a:prstGeom>
          <a:solidFill>
            <a:srgbClr val="6D5BD0">
              <a:alpha val="92000"/>
            </a:srgbClr>
          </a:solidFill>
          <a:ln w="12700">
            <a:solidFill>
              <a:srgbClr val="6D5BD0">
                <a:alpha val="0"/>
              </a:srgbClr>
            </a:solidFill>
            <a:prstDash val="solid"/>
          </a:ln>
        </p:spPr>
      </p:sp>
      <p:sp>
        <p:nvSpPr>
          <p:cNvPr id="133" name="Shape 131"/>
          <p:cNvSpPr/>
          <p:nvPr/>
        </p:nvSpPr>
        <p:spPr>
          <a:xfrm>
            <a:off x="5134458" y="1335253"/>
            <a:ext cx="261925" cy="272720"/>
          </a:xfrm>
          <a:prstGeom prst="rect">
            <a:avLst/>
          </a:prstGeom>
          <a:solidFill>
            <a:srgbClr val="B6545A">
              <a:alpha val="92000"/>
            </a:srgbClr>
          </a:solidFill>
          <a:ln w="12700">
            <a:solidFill>
              <a:srgbClr val="B6545A">
                <a:alpha val="0"/>
              </a:srgbClr>
            </a:solidFill>
            <a:prstDash val="solid"/>
          </a:ln>
        </p:spPr>
      </p:sp>
      <p:sp>
        <p:nvSpPr>
          <p:cNvPr id="134" name="Shape 132"/>
          <p:cNvSpPr/>
          <p:nvPr/>
        </p:nvSpPr>
        <p:spPr>
          <a:xfrm>
            <a:off x="5134458" y="1615288"/>
            <a:ext cx="261925" cy="272720"/>
          </a:xfrm>
          <a:prstGeom prst="rect">
            <a:avLst/>
          </a:prstGeom>
          <a:solidFill>
            <a:srgbClr val="F4DDB7">
              <a:alpha val="92000"/>
            </a:srgbClr>
          </a:solidFill>
          <a:ln w="12700">
            <a:solidFill>
              <a:srgbClr val="F4DDB7">
                <a:alpha val="0"/>
              </a:srgbClr>
            </a:solidFill>
            <a:prstDash val="solid"/>
          </a:ln>
        </p:spPr>
      </p:sp>
      <p:sp>
        <p:nvSpPr>
          <p:cNvPr id="135" name="Shape 133"/>
          <p:cNvSpPr/>
          <p:nvPr/>
        </p:nvSpPr>
        <p:spPr>
          <a:xfrm>
            <a:off x="5134458" y="1895323"/>
            <a:ext cx="261925" cy="272720"/>
          </a:xfrm>
          <a:prstGeom prst="rect">
            <a:avLst/>
          </a:prstGeom>
          <a:solidFill>
            <a:srgbClr val="F4DDB7">
              <a:alpha val="92000"/>
            </a:srgbClr>
          </a:solidFill>
          <a:ln w="12700">
            <a:solidFill>
              <a:srgbClr val="F4DDB7">
                <a:alpha val="0"/>
              </a:srgbClr>
            </a:solidFill>
            <a:prstDash val="solid"/>
          </a:ln>
        </p:spPr>
      </p:sp>
      <p:sp>
        <p:nvSpPr>
          <p:cNvPr id="136" name="Shape 134"/>
          <p:cNvSpPr/>
          <p:nvPr/>
        </p:nvSpPr>
        <p:spPr>
          <a:xfrm>
            <a:off x="5134458" y="2175358"/>
            <a:ext cx="261925" cy="272720"/>
          </a:xfrm>
          <a:prstGeom prst="rect">
            <a:avLst/>
          </a:prstGeom>
          <a:solidFill>
            <a:srgbClr val="B6545A">
              <a:alpha val="92000"/>
            </a:srgbClr>
          </a:solidFill>
          <a:ln w="12700">
            <a:solidFill>
              <a:srgbClr val="B6545A">
                <a:alpha val="0"/>
              </a:srgbClr>
            </a:solidFill>
            <a:prstDash val="solid"/>
          </a:ln>
        </p:spPr>
      </p:sp>
      <p:sp>
        <p:nvSpPr>
          <p:cNvPr id="137" name="Shape 135"/>
          <p:cNvSpPr/>
          <p:nvPr/>
        </p:nvSpPr>
        <p:spPr>
          <a:xfrm>
            <a:off x="5134458" y="2455393"/>
            <a:ext cx="261925" cy="272720"/>
          </a:xfrm>
          <a:prstGeom prst="rect">
            <a:avLst/>
          </a:prstGeom>
          <a:solidFill>
            <a:srgbClr val="6D5BD0">
              <a:alpha val="92000"/>
            </a:srgbClr>
          </a:solidFill>
          <a:ln w="12700">
            <a:solidFill>
              <a:srgbClr val="6D5BD0">
                <a:alpha val="0"/>
              </a:srgbClr>
            </a:solidFill>
            <a:prstDash val="solid"/>
          </a:ln>
        </p:spPr>
      </p:sp>
      <p:sp>
        <p:nvSpPr>
          <p:cNvPr id="138" name="Shape 136"/>
          <p:cNvSpPr/>
          <p:nvPr/>
        </p:nvSpPr>
        <p:spPr>
          <a:xfrm>
            <a:off x="5134458" y="2735428"/>
            <a:ext cx="261925" cy="272720"/>
          </a:xfrm>
          <a:prstGeom prst="rect">
            <a:avLst/>
          </a:prstGeom>
          <a:solidFill>
            <a:srgbClr val="6D5BD0">
              <a:alpha val="92000"/>
            </a:srgbClr>
          </a:solidFill>
          <a:ln w="12700">
            <a:solidFill>
              <a:srgbClr val="6D5BD0">
                <a:alpha val="0"/>
              </a:srgbClr>
            </a:solidFill>
            <a:prstDash val="solid"/>
          </a:ln>
        </p:spPr>
      </p:sp>
      <p:sp>
        <p:nvSpPr>
          <p:cNvPr id="139" name="Shape 137"/>
          <p:cNvSpPr/>
          <p:nvPr/>
        </p:nvSpPr>
        <p:spPr>
          <a:xfrm>
            <a:off x="5134458" y="3015463"/>
            <a:ext cx="261925" cy="272720"/>
          </a:xfrm>
          <a:prstGeom prst="rect">
            <a:avLst/>
          </a:prstGeom>
          <a:solidFill>
            <a:srgbClr val="DC7B52">
              <a:alpha val="92000"/>
            </a:srgbClr>
          </a:solidFill>
          <a:ln w="12700">
            <a:solidFill>
              <a:srgbClr val="DC7B52">
                <a:alpha val="0"/>
              </a:srgbClr>
            </a:solidFill>
            <a:prstDash val="solid"/>
          </a:ln>
        </p:spPr>
      </p:sp>
      <p:sp>
        <p:nvSpPr>
          <p:cNvPr id="140" name="Shape 138"/>
          <p:cNvSpPr/>
          <p:nvPr/>
        </p:nvSpPr>
        <p:spPr>
          <a:xfrm>
            <a:off x="5403698" y="1055218"/>
            <a:ext cx="261925" cy="272720"/>
          </a:xfrm>
          <a:prstGeom prst="rect">
            <a:avLst/>
          </a:prstGeom>
          <a:solidFill>
            <a:srgbClr val="DC7B52">
              <a:alpha val="92000"/>
            </a:srgbClr>
          </a:solidFill>
          <a:ln w="12700">
            <a:solidFill>
              <a:srgbClr val="DC7B52">
                <a:alpha val="0"/>
              </a:srgbClr>
            </a:solidFill>
            <a:prstDash val="solid"/>
          </a:ln>
        </p:spPr>
      </p:sp>
      <p:sp>
        <p:nvSpPr>
          <p:cNvPr id="141" name="Shape 139"/>
          <p:cNvSpPr/>
          <p:nvPr/>
        </p:nvSpPr>
        <p:spPr>
          <a:xfrm>
            <a:off x="5403698" y="1335253"/>
            <a:ext cx="261925" cy="272720"/>
          </a:xfrm>
          <a:prstGeom prst="rect">
            <a:avLst/>
          </a:prstGeom>
          <a:solidFill>
            <a:srgbClr val="F8EFE2">
              <a:alpha val="92000"/>
            </a:srgbClr>
          </a:solidFill>
          <a:ln w="12700">
            <a:solidFill>
              <a:srgbClr val="F8EFE2">
                <a:alpha val="0"/>
              </a:srgbClr>
            </a:solidFill>
            <a:prstDash val="solid"/>
          </a:ln>
        </p:spPr>
      </p:sp>
      <p:sp>
        <p:nvSpPr>
          <p:cNvPr id="142" name="Shape 140"/>
          <p:cNvSpPr/>
          <p:nvPr/>
        </p:nvSpPr>
        <p:spPr>
          <a:xfrm>
            <a:off x="5403698" y="1615288"/>
            <a:ext cx="261925" cy="272720"/>
          </a:xfrm>
          <a:prstGeom prst="rect">
            <a:avLst/>
          </a:prstGeom>
          <a:solidFill>
            <a:srgbClr val="EFC97F">
              <a:alpha val="92000"/>
            </a:srgbClr>
          </a:solidFill>
          <a:ln w="12700">
            <a:solidFill>
              <a:srgbClr val="EFC97F">
                <a:alpha val="0"/>
              </a:srgbClr>
            </a:solidFill>
            <a:prstDash val="solid"/>
          </a:ln>
        </p:spPr>
      </p:sp>
      <p:sp>
        <p:nvSpPr>
          <p:cNvPr id="143" name="Shape 141"/>
          <p:cNvSpPr/>
          <p:nvPr/>
        </p:nvSpPr>
        <p:spPr>
          <a:xfrm>
            <a:off x="5403698" y="1895323"/>
            <a:ext cx="261925" cy="272720"/>
          </a:xfrm>
          <a:prstGeom prst="rect">
            <a:avLst/>
          </a:prstGeom>
          <a:solidFill>
            <a:srgbClr val="B6545A">
              <a:alpha val="92000"/>
            </a:srgbClr>
          </a:solidFill>
          <a:ln w="12700">
            <a:solidFill>
              <a:srgbClr val="B6545A">
                <a:alpha val="0"/>
              </a:srgbClr>
            </a:solidFill>
            <a:prstDash val="solid"/>
          </a:ln>
        </p:spPr>
      </p:sp>
      <p:sp>
        <p:nvSpPr>
          <p:cNvPr id="144" name="Shape 142"/>
          <p:cNvSpPr/>
          <p:nvPr/>
        </p:nvSpPr>
        <p:spPr>
          <a:xfrm>
            <a:off x="5403698" y="2175358"/>
            <a:ext cx="261925" cy="272720"/>
          </a:xfrm>
          <a:prstGeom prst="rect">
            <a:avLst/>
          </a:prstGeom>
          <a:solidFill>
            <a:srgbClr val="6D5BD0">
              <a:alpha val="92000"/>
            </a:srgbClr>
          </a:solidFill>
          <a:ln w="12700">
            <a:solidFill>
              <a:srgbClr val="6D5BD0">
                <a:alpha val="0"/>
              </a:srgbClr>
            </a:solidFill>
            <a:prstDash val="solid"/>
          </a:ln>
        </p:spPr>
      </p:sp>
      <p:sp>
        <p:nvSpPr>
          <p:cNvPr id="145" name="Shape 143"/>
          <p:cNvSpPr/>
          <p:nvPr/>
        </p:nvSpPr>
        <p:spPr>
          <a:xfrm>
            <a:off x="5403698" y="2455393"/>
            <a:ext cx="261925" cy="272720"/>
          </a:xfrm>
          <a:prstGeom prst="rect">
            <a:avLst/>
          </a:prstGeom>
          <a:solidFill>
            <a:srgbClr val="6D5BD0">
              <a:alpha val="92000"/>
            </a:srgbClr>
          </a:solidFill>
          <a:ln w="12700">
            <a:solidFill>
              <a:srgbClr val="6D5BD0">
                <a:alpha val="0"/>
              </a:srgbClr>
            </a:solidFill>
            <a:prstDash val="solid"/>
          </a:ln>
        </p:spPr>
      </p:sp>
      <p:sp>
        <p:nvSpPr>
          <p:cNvPr id="146" name="Shape 144"/>
          <p:cNvSpPr/>
          <p:nvPr/>
        </p:nvSpPr>
        <p:spPr>
          <a:xfrm>
            <a:off x="5403698" y="2735428"/>
            <a:ext cx="261925" cy="272720"/>
          </a:xfrm>
          <a:prstGeom prst="rect">
            <a:avLst/>
          </a:prstGeom>
          <a:solidFill>
            <a:srgbClr val="E9A15F">
              <a:alpha val="92000"/>
            </a:srgbClr>
          </a:solidFill>
          <a:ln w="12700">
            <a:solidFill>
              <a:srgbClr val="E9A15F">
                <a:alpha val="0"/>
              </a:srgbClr>
            </a:solidFill>
            <a:prstDash val="solid"/>
          </a:ln>
        </p:spPr>
      </p:sp>
      <p:sp>
        <p:nvSpPr>
          <p:cNvPr id="147" name="Shape 145"/>
          <p:cNvSpPr/>
          <p:nvPr/>
        </p:nvSpPr>
        <p:spPr>
          <a:xfrm>
            <a:off x="5403698" y="3015463"/>
            <a:ext cx="261925" cy="272720"/>
          </a:xfrm>
          <a:prstGeom prst="rect">
            <a:avLst/>
          </a:prstGeom>
          <a:solidFill>
            <a:srgbClr val="F8EFE2">
              <a:alpha val="92000"/>
            </a:srgbClr>
          </a:solidFill>
          <a:ln w="12700">
            <a:solidFill>
              <a:srgbClr val="F8EFE2">
                <a:alpha val="0"/>
              </a:srgbClr>
            </a:solidFill>
            <a:prstDash val="solid"/>
          </a:ln>
        </p:spPr>
      </p:sp>
      <p:sp>
        <p:nvSpPr>
          <p:cNvPr id="148" name="Text 146"/>
          <p:cNvSpPr/>
          <p:nvPr/>
        </p:nvSpPr>
        <p:spPr>
          <a:xfrm>
            <a:off x="2240280" y="694944"/>
            <a:ext cx="2011680" cy="228600"/>
          </a:xfrm>
          <a:prstGeom prst="rect">
            <a:avLst/>
          </a:prstGeom>
          <a:noFill/>
          <a:ln/>
        </p:spPr>
        <p:txBody>
          <a:bodyPr wrap="square" lIns="762" tIns="762" rIns="762" bIns="762" rtlCol="0" anchor="ctr">
            <a:normAutofit/>
          </a:bodyPr>
          <a:lstStyle/>
          <a:p>
            <a:pPr algn="ctr" indent="0" marL="0">
              <a:buNone/>
            </a:pPr>
            <a:r>
              <a:rPr lang="en-US" sz="1500" b="1" dirty="0">
                <a:solidFill>
                  <a:srgbClr val="175D7C"/>
                </a:solidFill>
                <a:latin typeface="Aptos" pitchFamily="34" charset="0"/>
                <a:ea typeface="Aptos" pitchFamily="34" charset="-122"/>
                <a:cs typeface="Aptos" pitchFamily="34" charset="-120"/>
              </a:rPr>
              <a:t>Ma trận đặc trưng</a:t>
            </a:r>
            <a:endParaRPr lang="en-US" sz="1500" dirty="0"/>
          </a:p>
        </p:txBody>
      </p:sp>
      <p:sp>
        <p:nvSpPr>
          <p:cNvPr id="149" name="Shape 147"/>
          <p:cNvSpPr/>
          <p:nvPr/>
        </p:nvSpPr>
        <p:spPr>
          <a:xfrm>
            <a:off x="914400" y="3493008"/>
            <a:ext cx="4663440" cy="0"/>
          </a:xfrm>
          <a:prstGeom prst="line">
            <a:avLst/>
          </a:prstGeom>
          <a:noFill/>
          <a:ln w="12700">
            <a:solidFill>
              <a:srgbClr val="AAB7C3"/>
            </a:solidFill>
            <a:prstDash val="solid"/>
          </a:ln>
        </p:spPr>
      </p:sp>
      <p:sp>
        <p:nvSpPr>
          <p:cNvPr id="150" name="Text 148"/>
          <p:cNvSpPr/>
          <p:nvPr/>
        </p:nvSpPr>
        <p:spPr>
          <a:xfrm>
            <a:off x="2331720" y="3639312"/>
            <a:ext cx="1554480" cy="182880"/>
          </a:xfrm>
          <a:prstGeom prst="rect">
            <a:avLst/>
          </a:prstGeom>
          <a:noFill/>
          <a:ln/>
        </p:spPr>
        <p:txBody>
          <a:bodyPr wrap="square" lIns="762" tIns="762" rIns="762" bIns="762" rtlCol="0" anchor="ctr">
            <a:normAutofit/>
          </a:bodyPr>
          <a:lstStyle/>
          <a:p>
            <a:pPr algn="ctr" indent="0" marL="0">
              <a:buNone/>
            </a:pPr>
            <a:r>
              <a:rPr lang="en-US" sz="900" dirty="0">
                <a:solidFill>
                  <a:srgbClr val="516271"/>
                </a:solidFill>
                <a:latin typeface="Aptos" pitchFamily="34" charset="0"/>
                <a:ea typeface="Aptos" pitchFamily="34" charset="-122"/>
                <a:cs typeface="Aptos" pitchFamily="34" charset="-120"/>
              </a:rPr>
              <a:t>Thời gian / frame</a:t>
            </a:r>
            <a:endParaRPr lang="en-US" sz="900" dirty="0"/>
          </a:p>
        </p:txBody>
      </p:sp>
      <p:sp>
        <p:nvSpPr>
          <p:cNvPr id="151" name="Shape 149"/>
          <p:cNvSpPr/>
          <p:nvPr/>
        </p:nvSpPr>
        <p:spPr>
          <a:xfrm>
            <a:off x="594360" y="1143000"/>
            <a:ext cx="0" cy="2011680"/>
          </a:xfrm>
          <a:prstGeom prst="line">
            <a:avLst/>
          </a:prstGeom>
          <a:noFill/>
          <a:ln w="12700">
            <a:solidFill>
              <a:srgbClr val="AAB7C3"/>
            </a:solidFill>
            <a:prstDash val="solid"/>
          </a:ln>
        </p:spPr>
      </p:sp>
      <p:sp>
        <p:nvSpPr>
          <p:cNvPr id="152" name="Text 150"/>
          <p:cNvSpPr/>
          <p:nvPr/>
        </p:nvSpPr>
        <p:spPr>
          <a:xfrm rot="16200000">
            <a:off x="256032" y="2057400"/>
            <a:ext cx="502920" cy="182880"/>
          </a:xfrm>
          <a:prstGeom prst="rect">
            <a:avLst/>
          </a:prstGeom>
          <a:noFill/>
          <a:ln/>
        </p:spPr>
        <p:txBody>
          <a:bodyPr wrap="square" lIns="762" tIns="762" rIns="762" bIns="762" rtlCol="0" anchor="ctr">
            <a:normAutofit/>
          </a:bodyPr>
          <a:lstStyle/>
          <a:p>
            <a:pPr algn="ctr" indent="0" marL="0">
              <a:buNone/>
            </a:pPr>
            <a:r>
              <a:rPr lang="en-US" sz="900" dirty="0">
                <a:solidFill>
                  <a:srgbClr val="516271"/>
                </a:solidFill>
                <a:latin typeface="Aptos" pitchFamily="34" charset="0"/>
                <a:ea typeface="Aptos" pitchFamily="34" charset="-122"/>
                <a:cs typeface="Aptos" pitchFamily="34" charset="-120"/>
              </a:rPr>
              <a:t>Dải Mel</a:t>
            </a:r>
            <a:endParaRPr lang="en-US" sz="900" dirty="0"/>
          </a:p>
        </p:txBody>
      </p:sp>
      <p:sp>
        <p:nvSpPr>
          <p:cNvPr id="153" name="Shape 151"/>
          <p:cNvSpPr/>
          <p:nvPr/>
        </p:nvSpPr>
        <p:spPr>
          <a:xfrm>
            <a:off x="6446520" y="960120"/>
            <a:ext cx="1965960" cy="777240"/>
          </a:xfrm>
          <a:prstGeom prst="roundRect">
            <a:avLst>
              <a:gd name="adj" fmla="val 14118"/>
            </a:avLst>
          </a:prstGeom>
          <a:solidFill>
            <a:srgbClr val="FFFFFF"/>
          </a:solidFill>
          <a:ln w="12700">
            <a:solidFill>
              <a:srgbClr val="E26D5A"/>
            </a:solidFill>
            <a:prstDash val="solid"/>
          </a:ln>
        </p:spPr>
      </p:sp>
      <p:sp>
        <p:nvSpPr>
          <p:cNvPr id="154" name="Text 152"/>
          <p:cNvSpPr/>
          <p:nvPr/>
        </p:nvSpPr>
        <p:spPr>
          <a:xfrm>
            <a:off x="6510528" y="1005840"/>
            <a:ext cx="1837944" cy="685800"/>
          </a:xfrm>
          <a:prstGeom prst="rect">
            <a:avLst/>
          </a:prstGeom>
          <a:noFill/>
          <a:ln/>
        </p:spPr>
        <p:txBody>
          <a:bodyPr wrap="square" lIns="762" tIns="762" rIns="762" bIns="762" rtlCol="0" anchor="ctr">
            <a:normAutofit/>
          </a:bodyPr>
          <a:lstStyle/>
          <a:p>
            <a:pPr algn="ctr" indent="0" marL="0">
              <a:buNone/>
            </a:pPr>
            <a:r>
              <a:rPr lang="en-US" sz="1400" b="1" dirty="0">
                <a:solidFill>
                  <a:srgbClr val="E26D5A"/>
                </a:solidFill>
                <a:latin typeface="Aptos" pitchFamily="34" charset="0"/>
                <a:ea typeface="Aptos" pitchFamily="34" charset="-122"/>
                <a:cs typeface="Aptos" pitchFamily="34" charset="-120"/>
              </a:rPr>
              <a:t>80 hoặc 128 kênh Mel</a:t>
            </a:r>
            <a:endParaRPr lang="en-US" sz="1400" dirty="0"/>
          </a:p>
          <a:p>
            <a:pPr algn="ctr" indent="0" marL="0">
              <a:buNone/>
            </a:pPr>
            <a:r>
              <a:rPr lang="en-US" sz="1400" b="1" dirty="0">
                <a:solidFill>
                  <a:srgbClr val="E26D5A"/>
                </a:solidFill>
                <a:latin typeface="Aptos" pitchFamily="34" charset="0"/>
                <a:ea typeface="Aptos" pitchFamily="34" charset="-122"/>
                <a:cs typeface="Aptos" pitchFamily="34" charset="-120"/>
              </a:rPr>
              <a:t>(tùy model/config)</a:t>
            </a:r>
            <a:endParaRPr lang="en-US" sz="1400" dirty="0"/>
          </a:p>
        </p:txBody>
      </p:sp>
      <p:sp>
        <p:nvSpPr>
          <p:cNvPr id="155" name="Shape 153"/>
          <p:cNvSpPr/>
          <p:nvPr/>
        </p:nvSpPr>
        <p:spPr>
          <a:xfrm>
            <a:off x="8823960" y="960120"/>
            <a:ext cx="2240280" cy="777240"/>
          </a:xfrm>
          <a:prstGeom prst="roundRect">
            <a:avLst>
              <a:gd name="adj" fmla="val 14118"/>
            </a:avLst>
          </a:prstGeom>
          <a:solidFill>
            <a:srgbClr val="FFFFFF"/>
          </a:solidFill>
          <a:ln w="12700">
            <a:solidFill>
              <a:srgbClr val="2A67B1"/>
            </a:solidFill>
            <a:prstDash val="solid"/>
          </a:ln>
        </p:spPr>
      </p:sp>
      <p:sp>
        <p:nvSpPr>
          <p:cNvPr id="156" name="Text 154"/>
          <p:cNvSpPr/>
          <p:nvPr/>
        </p:nvSpPr>
        <p:spPr>
          <a:xfrm>
            <a:off x="8887968" y="1005840"/>
            <a:ext cx="2112264" cy="685800"/>
          </a:xfrm>
          <a:prstGeom prst="rect">
            <a:avLst/>
          </a:prstGeom>
          <a:noFill/>
          <a:ln/>
        </p:spPr>
        <p:txBody>
          <a:bodyPr wrap="square" lIns="762" tIns="762" rIns="762" bIns="762" rtlCol="0" anchor="ctr">
            <a:normAutofit/>
          </a:bodyPr>
          <a:lstStyle/>
          <a:p>
            <a:pPr algn="ctr" indent="0" marL="0">
              <a:buNone/>
            </a:pPr>
            <a:r>
              <a:rPr lang="en-US" sz="1250" b="1" dirty="0">
                <a:solidFill>
                  <a:srgbClr val="2A67B1"/>
                </a:solidFill>
                <a:latin typeface="Aptos" pitchFamily="34" charset="0"/>
                <a:ea typeface="Aptos" pitchFamily="34" charset="-122"/>
                <a:cs typeface="Aptos" pitchFamily="34" charset="-120"/>
              </a:rPr>
              <a:t>Nhiều frame thời gian</a:t>
            </a:r>
            <a:endParaRPr lang="en-US" sz="1250" dirty="0"/>
          </a:p>
          <a:p>
            <a:pPr algn="ctr" indent="0" marL="0">
              <a:buNone/>
            </a:pPr>
            <a:r>
              <a:rPr lang="en-US" sz="1250" b="1" dirty="0">
                <a:solidFill>
                  <a:srgbClr val="2A67B1"/>
                </a:solidFill>
                <a:latin typeface="Aptos" pitchFamily="34" charset="0"/>
                <a:ea typeface="Aptos" pitchFamily="34" charset="-122"/>
                <a:cs typeface="Aptos" pitchFamily="34" charset="-120"/>
              </a:rPr>
              <a:t>ví dụ 30s → ~3000 frame trước conv</a:t>
            </a:r>
            <a:endParaRPr lang="en-US" sz="1250" dirty="0"/>
          </a:p>
        </p:txBody>
      </p:sp>
      <p:sp>
        <p:nvSpPr>
          <p:cNvPr id="157" name="Text 155"/>
          <p:cNvSpPr/>
          <p:nvPr/>
        </p:nvSpPr>
        <p:spPr>
          <a:xfrm>
            <a:off x="6629400" y="2331720"/>
            <a:ext cx="4389120" cy="1554480"/>
          </a:xfrm>
          <a:prstGeom prst="rect">
            <a:avLst/>
          </a:prstGeom>
          <a:noFill/>
          <a:ln/>
        </p:spPr>
        <p:txBody>
          <a:bodyPr wrap="square" lIns="1016" tIns="1016" rIns="1016" bIns="1016" rtlCol="0" anchor="ctr">
            <a:normAutofit/>
          </a:bodyPr>
          <a:lstStyle/>
          <a:p>
            <a:r>
              <a:rPr lang="en-US" sz="1350" dirty="0">
                <a:solidFill>
                  <a:srgbClr val="12212B"/>
                </a:solidFill>
                <a:latin typeface="Aptos" pitchFamily="34" charset="0"/>
                <a:ea typeface="Aptos" pitchFamily="34" charset="-122"/>
                <a:cs typeface="Aptos" pitchFamily="34" charset="-120"/>
              </a:rPr>
              <a:t>Mel scale: gom tần số theo cách gần cảm nhận của tai người.</a:t>
            </a:r>
            <a:endParaRPr lang="en-US" sz="1350" dirty="0"/>
          </a:p>
          <a:p>
            <a:r>
              <a:rPr lang="en-US" sz="1350" dirty="0">
                <a:solidFill>
                  <a:srgbClr val="12212B"/>
                </a:solidFill>
                <a:latin typeface="Aptos" pitchFamily="34" charset="0"/>
                <a:ea typeface="Aptos" pitchFamily="34" charset="-122"/>
                <a:cs typeface="Aptos" pitchFamily="34" charset="-120"/>
              </a:rPr>
              <a:t>Log: nén biên độ để năng lượng lớn/nhỏ dễ học hơn.</a:t>
            </a:r>
            <a:endParaRPr lang="en-US" sz="1350" dirty="0"/>
          </a:p>
          <a:p>
            <a:r>
              <a:rPr lang="en-US" sz="1350" dirty="0">
                <a:solidFill>
                  <a:srgbClr val="12212B"/>
                </a:solidFill>
                <a:latin typeface="Aptos" pitchFamily="34" charset="0"/>
                <a:ea typeface="Aptos" pitchFamily="34" charset="-122"/>
                <a:cs typeface="Aptos" pitchFamily="34" charset="-120"/>
              </a:rPr>
              <a:t>Encoder không nghe âm thanh thô; encoder đọc ma trận log-Mel.</a:t>
            </a:r>
            <a:endParaRPr lang="en-US" sz="1350" dirty="0"/>
          </a:p>
        </p:txBody>
      </p:sp>
      <p:sp>
        <p:nvSpPr>
          <p:cNvPr id="158" name="Shape 156"/>
          <p:cNvSpPr/>
          <p:nvPr/>
        </p:nvSpPr>
        <p:spPr>
          <a:xfrm>
            <a:off x="914400" y="4892040"/>
            <a:ext cx="9692640" cy="548640"/>
          </a:xfrm>
          <a:prstGeom prst="roundRect">
            <a:avLst>
              <a:gd name="adj" fmla="val 20000"/>
            </a:avLst>
          </a:prstGeom>
          <a:solidFill>
            <a:srgbClr val="FFFFFF"/>
          </a:solidFill>
          <a:ln w="12700">
            <a:solidFill>
              <a:srgbClr val="175D7C"/>
            </a:solidFill>
            <a:prstDash val="solid"/>
          </a:ln>
        </p:spPr>
      </p:sp>
      <p:sp>
        <p:nvSpPr>
          <p:cNvPr id="159" name="Text 157"/>
          <p:cNvSpPr/>
          <p:nvPr/>
        </p:nvSpPr>
        <p:spPr>
          <a:xfrm>
            <a:off x="978408" y="4937760"/>
            <a:ext cx="9564624" cy="457200"/>
          </a:xfrm>
          <a:prstGeom prst="rect">
            <a:avLst/>
          </a:prstGeom>
          <a:noFill/>
          <a:ln/>
        </p:spPr>
        <p:txBody>
          <a:bodyPr wrap="square" lIns="762" tIns="762" rIns="762" bIns="762" rtlCol="0" anchor="ctr">
            <a:normAutofit/>
          </a:bodyPr>
          <a:lstStyle/>
          <a:p>
            <a:pPr algn="ctr" indent="0" marL="0">
              <a:buNone/>
            </a:pPr>
            <a:r>
              <a:rPr lang="en-US" sz="1600" b="1" dirty="0">
                <a:solidFill>
                  <a:srgbClr val="175D7C"/>
                </a:solidFill>
                <a:latin typeface="Aptos" pitchFamily="34" charset="0"/>
                <a:ea typeface="Aptos" pitchFamily="34" charset="-122"/>
                <a:cs typeface="Aptos" pitchFamily="34" charset="-120"/>
              </a:rPr>
              <a:t>Ví dụ minh họa: “tôi muốn kiểm tra hợp đồng” → nhiều vệt năng lượng liên tiếp</a:t>
            </a:r>
            <a:endParaRPr lang="en-US" sz="1600" dirty="0"/>
          </a:p>
        </p:txBody>
      </p:sp>
      <p:sp>
        <p:nvSpPr>
          <p:cNvPr id="160" name="Shape 158"/>
          <p:cNvSpPr/>
          <p:nvPr/>
        </p:nvSpPr>
        <p:spPr>
          <a:xfrm>
            <a:off x="438912" y="6199632"/>
            <a:ext cx="2377440" cy="310896"/>
          </a:xfrm>
          <a:prstGeom prst="roundRect">
            <a:avLst>
              <a:gd name="adj" fmla="val 44118"/>
            </a:avLst>
          </a:prstGeom>
          <a:solidFill>
            <a:srgbClr val="E8F2F6"/>
          </a:solidFill>
          <a:ln w="12700">
            <a:solidFill>
              <a:srgbClr val="E8F2F6"/>
            </a:solidFill>
            <a:prstDash val="solid"/>
          </a:ln>
        </p:spPr>
      </p:sp>
      <p:sp>
        <p:nvSpPr>
          <p:cNvPr id="161" name="Text 159"/>
          <p:cNvSpPr/>
          <p:nvPr/>
        </p:nvSpPr>
        <p:spPr>
          <a:xfrm>
            <a:off x="512064" y="6259068"/>
            <a:ext cx="2231136" cy="201168"/>
          </a:xfrm>
          <a:prstGeom prst="rect">
            <a:avLst/>
          </a:prstGeom>
          <a:noFill/>
          <a:ln/>
        </p:spPr>
        <p:txBody>
          <a:bodyPr wrap="square" lIns="0" tIns="0" rIns="0" bIns="0" rtlCol="0" anchor="ctr">
            <a:normAutofit/>
          </a:bodyPr>
          <a:lstStyle/>
          <a:p>
            <a:pPr algn="ctr" indent="0" marL="0">
              <a:buNone/>
            </a:pPr>
            <a:r>
              <a:rPr lang="en-US" sz="950" b="1" dirty="0">
                <a:solidFill>
                  <a:srgbClr val="175D7C"/>
                </a:solidFill>
                <a:latin typeface="Aptos" pitchFamily="34" charset="0"/>
                <a:ea typeface="Aptos" pitchFamily="34" charset="-122"/>
                <a:cs typeface="Aptos" pitchFamily="34" charset="-120"/>
              </a:rPr>
              <a:t>Log-Mel</a:t>
            </a:r>
            <a:endParaRPr lang="en-US" sz="950" dirty="0"/>
          </a:p>
        </p:txBody>
      </p:sp>
      <p:sp>
        <p:nvSpPr>
          <p:cNvPr id="25" name="Slide Number Placeholder 0"/>
          <p:cNvSpPr>
            <a:spLocks noGrp="1"/>
          </p:cNvSpPr>
          <p:nvPr>
            <p:ph type="sldNum" sz="quarter" idx="4294967295"/>
          </p:nvPr>
        </p:nvSpPr>
        <p:spPr>
          <a:xfrm>
            <a:off x="11841480" y="6519672"/>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7C879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420624" y="256032"/>
            <a:ext cx="9875520" cy="384048"/>
          </a:xfrm>
          <a:prstGeom prst="rect">
            <a:avLst/>
          </a:prstGeom>
          <a:noFill/>
          <a:ln/>
        </p:spPr>
        <p:txBody>
          <a:bodyPr wrap="square" lIns="0" tIns="0" rIns="0" bIns="0" rtlCol="0" anchor="ctr"/>
          <a:lstStyle/>
          <a:p>
            <a:pPr indent="0" marL="0">
              <a:buNone/>
            </a:pPr>
            <a:r>
              <a:rPr lang="en-US" sz="2500" b="1" dirty="0">
                <a:solidFill>
                  <a:srgbClr val="12212B"/>
                </a:solidFill>
                <a:latin typeface="Aptos Display" pitchFamily="34" charset="0"/>
                <a:ea typeface="Aptos Display" pitchFamily="34" charset="-122"/>
                <a:cs typeface="Aptos Display" pitchFamily="34" charset="-120"/>
              </a:rPr>
              <a:t>Kiến trúc tổng thể: Transformer Encoder–Decoder</a:t>
            </a:r>
            <a:endParaRPr lang="en-US" sz="2500" dirty="0"/>
          </a:p>
        </p:txBody>
      </p:sp>
      <p:sp>
        <p:nvSpPr>
          <p:cNvPr id="3" name="Text 1"/>
          <p:cNvSpPr/>
          <p:nvPr/>
        </p:nvSpPr>
        <p:spPr>
          <a:xfrm>
            <a:off x="438912" y="694944"/>
            <a:ext cx="9875520" cy="256032"/>
          </a:xfrm>
          <a:prstGeom prst="rect">
            <a:avLst/>
          </a:prstGeom>
          <a:noFill/>
          <a:ln/>
        </p:spPr>
        <p:txBody>
          <a:bodyPr wrap="square" lIns="0" tIns="0" rIns="0" bIns="0" rtlCol="0" anchor="ctr"/>
          <a:lstStyle/>
          <a:p>
            <a:pPr indent="0" marL="0">
              <a:buNone/>
            </a:pPr>
            <a:r>
              <a:rPr lang="en-US" sz="1050" dirty="0">
                <a:solidFill>
                  <a:srgbClr val="516271"/>
                </a:solidFill>
              </a:rPr>
              <a:t>Whisper/PhoWhisper chuyển audio thành văn bản bằng mô hình seq2seq</a:t>
            </a:r>
            <a:endParaRPr lang="en-US" sz="1050" dirty="0"/>
          </a:p>
        </p:txBody>
      </p:sp>
      <p:sp>
        <p:nvSpPr>
          <p:cNvPr id="4" name="Shape 2"/>
          <p:cNvSpPr/>
          <p:nvPr/>
        </p:nvSpPr>
        <p:spPr>
          <a:xfrm>
            <a:off x="777240" y="1828800"/>
            <a:ext cx="1508760" cy="822960"/>
          </a:xfrm>
          <a:prstGeom prst="roundRect">
            <a:avLst>
              <a:gd name="adj" fmla="val 13333"/>
            </a:avLst>
          </a:prstGeom>
          <a:solidFill>
            <a:srgbClr val="FFFFFF"/>
          </a:solidFill>
          <a:ln w="12700">
            <a:solidFill>
              <a:srgbClr val="E26D5A"/>
            </a:solidFill>
            <a:prstDash val="solid"/>
          </a:ln>
        </p:spPr>
      </p:sp>
      <p:sp>
        <p:nvSpPr>
          <p:cNvPr id="5" name="Text 3"/>
          <p:cNvSpPr/>
          <p:nvPr/>
        </p:nvSpPr>
        <p:spPr>
          <a:xfrm>
            <a:off x="841248" y="1874520"/>
            <a:ext cx="1380744" cy="731520"/>
          </a:xfrm>
          <a:prstGeom prst="rect">
            <a:avLst/>
          </a:prstGeom>
          <a:noFill/>
          <a:ln/>
        </p:spPr>
        <p:txBody>
          <a:bodyPr wrap="square" lIns="762" tIns="762" rIns="762" bIns="762" rtlCol="0" anchor="ctr">
            <a:normAutofit/>
          </a:bodyPr>
          <a:lstStyle/>
          <a:p>
            <a:pPr algn="ctr" indent="0" marL="0">
              <a:buNone/>
            </a:pPr>
            <a:r>
              <a:rPr lang="en-US" sz="1400" b="1" dirty="0">
                <a:solidFill>
                  <a:srgbClr val="E26D5A"/>
                </a:solidFill>
                <a:latin typeface="Aptos" pitchFamily="34" charset="0"/>
                <a:ea typeface="Aptos" pitchFamily="34" charset="-122"/>
                <a:cs typeface="Aptos" pitchFamily="34" charset="-120"/>
              </a:rPr>
              <a:t>Log-Mel</a:t>
            </a:r>
            <a:endParaRPr lang="en-US" sz="1400" dirty="0"/>
          </a:p>
          <a:p>
            <a:pPr algn="ctr" indent="0" marL="0">
              <a:buNone/>
            </a:pPr>
            <a:r>
              <a:rPr lang="en-US" sz="1400" b="1" dirty="0">
                <a:solidFill>
                  <a:srgbClr val="E26D5A"/>
                </a:solidFill>
                <a:latin typeface="Aptos" pitchFamily="34" charset="0"/>
                <a:ea typeface="Aptos" pitchFamily="34" charset="-122"/>
                <a:cs typeface="Aptos" pitchFamily="34" charset="-120"/>
              </a:rPr>
              <a:t>spectrogram</a:t>
            </a:r>
            <a:endParaRPr lang="en-US" sz="1400" dirty="0"/>
          </a:p>
        </p:txBody>
      </p:sp>
      <p:sp>
        <p:nvSpPr>
          <p:cNvPr id="6" name="Shape 4"/>
          <p:cNvSpPr/>
          <p:nvPr/>
        </p:nvSpPr>
        <p:spPr>
          <a:xfrm>
            <a:off x="2423160" y="2240280"/>
            <a:ext cx="594360" cy="0"/>
          </a:xfrm>
          <a:prstGeom prst="line">
            <a:avLst/>
          </a:prstGeom>
          <a:noFill/>
          <a:ln w="17780">
            <a:solidFill>
              <a:srgbClr val="AAB7C3"/>
            </a:solidFill>
            <a:prstDash val="solid"/>
            <a:headEnd type="none"/>
            <a:tailEnd type="triangle"/>
          </a:ln>
        </p:spPr>
      </p:sp>
      <p:sp>
        <p:nvSpPr>
          <p:cNvPr id="7" name="Shape 5"/>
          <p:cNvSpPr/>
          <p:nvPr/>
        </p:nvSpPr>
        <p:spPr>
          <a:xfrm>
            <a:off x="3154680" y="1536192"/>
            <a:ext cx="1920240" cy="1417320"/>
          </a:xfrm>
          <a:prstGeom prst="roundRect">
            <a:avLst>
              <a:gd name="adj" fmla="val 7742"/>
            </a:avLst>
          </a:prstGeom>
          <a:solidFill>
            <a:srgbClr val="FFFFFF"/>
          </a:solidFill>
          <a:ln w="12700">
            <a:solidFill>
              <a:srgbClr val="2F9E74"/>
            </a:solidFill>
            <a:prstDash val="solid"/>
          </a:ln>
        </p:spPr>
      </p:sp>
      <p:sp>
        <p:nvSpPr>
          <p:cNvPr id="8" name="Text 6"/>
          <p:cNvSpPr/>
          <p:nvPr/>
        </p:nvSpPr>
        <p:spPr>
          <a:xfrm>
            <a:off x="3218688" y="1581912"/>
            <a:ext cx="1792224" cy="1325880"/>
          </a:xfrm>
          <a:prstGeom prst="rect">
            <a:avLst/>
          </a:prstGeom>
          <a:noFill/>
          <a:ln/>
        </p:spPr>
        <p:txBody>
          <a:bodyPr wrap="square" lIns="762" tIns="762" rIns="762" bIns="762" rtlCol="0" anchor="ctr">
            <a:normAutofit/>
          </a:bodyPr>
          <a:lstStyle/>
          <a:p>
            <a:pPr algn="ctr" indent="0" marL="0">
              <a:buNone/>
            </a:pPr>
            <a:r>
              <a:rPr lang="en-US" sz="1700" b="1" dirty="0">
                <a:solidFill>
                  <a:srgbClr val="2F9E74"/>
                </a:solidFill>
                <a:latin typeface="Aptos" pitchFamily="34" charset="0"/>
                <a:ea typeface="Aptos" pitchFamily="34" charset="-122"/>
                <a:cs typeface="Aptos" pitchFamily="34" charset="-120"/>
              </a:rPr>
              <a:t>Audio Encoder</a:t>
            </a:r>
            <a:endParaRPr lang="en-US" sz="1700" dirty="0"/>
          </a:p>
          <a:p>
            <a:pPr algn="ctr" indent="0" marL="0">
              <a:buNone/>
            </a:pPr>
            <a:r>
              <a:rPr lang="en-US" sz="1700" b="1" dirty="0">
                <a:solidFill>
                  <a:srgbClr val="2F9E74"/>
                </a:solidFill>
                <a:latin typeface="Aptos" pitchFamily="34" charset="0"/>
                <a:ea typeface="Aptos" pitchFamily="34" charset="-122"/>
                <a:cs typeface="Aptos" pitchFamily="34" charset="-120"/>
              </a:rPr>
              <a:t>đọc toàn bộ âm thanh</a:t>
            </a:r>
            <a:endParaRPr lang="en-US" sz="1700" dirty="0"/>
          </a:p>
        </p:txBody>
      </p:sp>
      <p:sp>
        <p:nvSpPr>
          <p:cNvPr id="9" name="Shape 7"/>
          <p:cNvSpPr/>
          <p:nvPr/>
        </p:nvSpPr>
        <p:spPr>
          <a:xfrm>
            <a:off x="5230368" y="2240280"/>
            <a:ext cx="603504" cy="0"/>
          </a:xfrm>
          <a:prstGeom prst="line">
            <a:avLst/>
          </a:prstGeom>
          <a:noFill/>
          <a:ln w="17780">
            <a:solidFill>
              <a:srgbClr val="AAB7C3"/>
            </a:solidFill>
            <a:prstDash val="solid"/>
            <a:headEnd type="none"/>
            <a:tailEnd type="triangle"/>
          </a:ln>
        </p:spPr>
      </p:sp>
      <p:sp>
        <p:nvSpPr>
          <p:cNvPr id="10" name="Shape 8"/>
          <p:cNvSpPr/>
          <p:nvPr/>
        </p:nvSpPr>
        <p:spPr>
          <a:xfrm>
            <a:off x="5943600" y="1719072"/>
            <a:ext cx="1874520" cy="1051560"/>
          </a:xfrm>
          <a:prstGeom prst="roundRect">
            <a:avLst>
              <a:gd name="adj" fmla="val 10435"/>
            </a:avLst>
          </a:prstGeom>
          <a:solidFill>
            <a:srgbClr val="FFFFFF"/>
          </a:solidFill>
          <a:ln w="12700">
            <a:solidFill>
              <a:srgbClr val="175D7C"/>
            </a:solidFill>
            <a:prstDash val="solid"/>
          </a:ln>
        </p:spPr>
      </p:sp>
      <p:sp>
        <p:nvSpPr>
          <p:cNvPr id="11" name="Text 9"/>
          <p:cNvSpPr/>
          <p:nvPr/>
        </p:nvSpPr>
        <p:spPr>
          <a:xfrm>
            <a:off x="6007608" y="1764792"/>
            <a:ext cx="1746504" cy="960120"/>
          </a:xfrm>
          <a:prstGeom prst="rect">
            <a:avLst/>
          </a:prstGeom>
          <a:noFill/>
          <a:ln/>
        </p:spPr>
        <p:txBody>
          <a:bodyPr wrap="square" lIns="762" tIns="762" rIns="762" bIns="762" rtlCol="0" anchor="ctr">
            <a:normAutofit/>
          </a:bodyPr>
          <a:lstStyle/>
          <a:p>
            <a:pPr algn="ctr" indent="0" marL="0">
              <a:buNone/>
            </a:pPr>
            <a:r>
              <a:rPr lang="en-US" sz="1400" b="1" dirty="0">
                <a:solidFill>
                  <a:srgbClr val="175D7C"/>
                </a:solidFill>
                <a:latin typeface="Aptos" pitchFamily="34" charset="0"/>
                <a:ea typeface="Aptos" pitchFamily="34" charset="-122"/>
                <a:cs typeface="Aptos" pitchFamily="34" charset="-120"/>
              </a:rPr>
              <a:t>Biểu diễn âm thanh</a:t>
            </a:r>
            <a:endParaRPr lang="en-US" sz="1400" dirty="0"/>
          </a:p>
          <a:p>
            <a:pPr algn="ctr" indent="0" marL="0">
              <a:buNone/>
            </a:pPr>
            <a:r>
              <a:rPr lang="en-US" sz="1400" b="1" dirty="0">
                <a:solidFill>
                  <a:srgbClr val="175D7C"/>
                </a:solidFill>
                <a:latin typeface="Aptos" pitchFamily="34" charset="0"/>
                <a:ea typeface="Aptos" pitchFamily="34" charset="-122"/>
                <a:cs typeface="Aptos" pitchFamily="34" charset="-120"/>
              </a:rPr>
              <a:t>ẩn theo thời gian</a:t>
            </a:r>
            <a:endParaRPr lang="en-US" sz="1400" dirty="0"/>
          </a:p>
        </p:txBody>
      </p:sp>
      <p:sp>
        <p:nvSpPr>
          <p:cNvPr id="12" name="Shape 10"/>
          <p:cNvSpPr/>
          <p:nvPr/>
        </p:nvSpPr>
        <p:spPr>
          <a:xfrm>
            <a:off x="7955280" y="2240280"/>
            <a:ext cx="603504" cy="0"/>
          </a:xfrm>
          <a:prstGeom prst="line">
            <a:avLst/>
          </a:prstGeom>
          <a:noFill/>
          <a:ln w="17780">
            <a:solidFill>
              <a:srgbClr val="AAB7C3"/>
            </a:solidFill>
            <a:prstDash val="solid"/>
            <a:headEnd type="none"/>
            <a:tailEnd type="triangle"/>
          </a:ln>
        </p:spPr>
      </p:sp>
      <p:sp>
        <p:nvSpPr>
          <p:cNvPr id="13" name="Shape 11"/>
          <p:cNvSpPr/>
          <p:nvPr/>
        </p:nvSpPr>
        <p:spPr>
          <a:xfrm>
            <a:off x="8686800" y="1536192"/>
            <a:ext cx="1920240" cy="1417320"/>
          </a:xfrm>
          <a:prstGeom prst="roundRect">
            <a:avLst>
              <a:gd name="adj" fmla="val 7742"/>
            </a:avLst>
          </a:prstGeom>
          <a:solidFill>
            <a:srgbClr val="FFFFFF"/>
          </a:solidFill>
          <a:ln w="12700">
            <a:solidFill>
              <a:srgbClr val="6D5BD0"/>
            </a:solidFill>
            <a:prstDash val="solid"/>
          </a:ln>
        </p:spPr>
      </p:sp>
      <p:sp>
        <p:nvSpPr>
          <p:cNvPr id="14" name="Text 12"/>
          <p:cNvSpPr/>
          <p:nvPr/>
        </p:nvSpPr>
        <p:spPr>
          <a:xfrm>
            <a:off x="8750808" y="1581912"/>
            <a:ext cx="1792224" cy="1325880"/>
          </a:xfrm>
          <a:prstGeom prst="rect">
            <a:avLst/>
          </a:prstGeom>
          <a:noFill/>
          <a:ln/>
        </p:spPr>
        <p:txBody>
          <a:bodyPr wrap="square" lIns="762" tIns="762" rIns="762" bIns="762" rtlCol="0" anchor="ctr">
            <a:normAutofit/>
          </a:bodyPr>
          <a:lstStyle/>
          <a:p>
            <a:pPr algn="ctr" indent="0" marL="0">
              <a:buNone/>
            </a:pPr>
            <a:r>
              <a:rPr lang="en-US" sz="1700" b="1" dirty="0">
                <a:solidFill>
                  <a:srgbClr val="6D5BD0"/>
                </a:solidFill>
                <a:latin typeface="Aptos" pitchFamily="34" charset="0"/>
                <a:ea typeface="Aptos" pitchFamily="34" charset="-122"/>
                <a:cs typeface="Aptos" pitchFamily="34" charset="-120"/>
              </a:rPr>
              <a:t>Text Decoder</a:t>
            </a:r>
            <a:endParaRPr lang="en-US" sz="1700" dirty="0"/>
          </a:p>
          <a:p>
            <a:pPr algn="ctr" indent="0" marL="0">
              <a:buNone/>
            </a:pPr>
            <a:r>
              <a:rPr lang="en-US" sz="1700" b="1" dirty="0">
                <a:solidFill>
                  <a:srgbClr val="6D5BD0"/>
                </a:solidFill>
                <a:latin typeface="Aptos" pitchFamily="34" charset="0"/>
                <a:ea typeface="Aptos" pitchFamily="34" charset="-122"/>
                <a:cs typeface="Aptos" pitchFamily="34" charset="-120"/>
              </a:rPr>
              <a:t>sinh token</a:t>
            </a:r>
            <a:endParaRPr lang="en-US" sz="1700" dirty="0"/>
          </a:p>
        </p:txBody>
      </p:sp>
      <p:sp>
        <p:nvSpPr>
          <p:cNvPr id="15" name="Shape 13"/>
          <p:cNvSpPr/>
          <p:nvPr/>
        </p:nvSpPr>
        <p:spPr>
          <a:xfrm>
            <a:off x="10771632" y="2240280"/>
            <a:ext cx="475488" cy="0"/>
          </a:xfrm>
          <a:prstGeom prst="line">
            <a:avLst/>
          </a:prstGeom>
          <a:noFill/>
          <a:ln w="17780">
            <a:solidFill>
              <a:srgbClr val="AAB7C3"/>
            </a:solidFill>
            <a:prstDash val="solid"/>
            <a:headEnd type="none"/>
            <a:tailEnd type="triangle"/>
          </a:ln>
        </p:spPr>
      </p:sp>
      <p:sp>
        <p:nvSpPr>
          <p:cNvPr id="16" name="Shape 14"/>
          <p:cNvSpPr/>
          <p:nvPr/>
        </p:nvSpPr>
        <p:spPr>
          <a:xfrm>
            <a:off x="11311128" y="1828800"/>
            <a:ext cx="685800" cy="822960"/>
          </a:xfrm>
          <a:prstGeom prst="roundRect">
            <a:avLst>
              <a:gd name="adj" fmla="val 16000"/>
            </a:avLst>
          </a:prstGeom>
          <a:solidFill>
            <a:srgbClr val="FFFFFF"/>
          </a:solidFill>
          <a:ln w="12700">
            <a:solidFill>
              <a:srgbClr val="175D7C"/>
            </a:solidFill>
            <a:prstDash val="solid"/>
          </a:ln>
        </p:spPr>
      </p:sp>
      <p:sp>
        <p:nvSpPr>
          <p:cNvPr id="17" name="Text 15"/>
          <p:cNvSpPr/>
          <p:nvPr/>
        </p:nvSpPr>
        <p:spPr>
          <a:xfrm>
            <a:off x="11375136" y="1874520"/>
            <a:ext cx="557784" cy="731520"/>
          </a:xfrm>
          <a:prstGeom prst="rect">
            <a:avLst/>
          </a:prstGeom>
          <a:noFill/>
          <a:ln/>
        </p:spPr>
        <p:txBody>
          <a:bodyPr wrap="square" lIns="762" tIns="762" rIns="762" bIns="762" rtlCol="0" anchor="ctr">
            <a:normAutofit/>
          </a:bodyPr>
          <a:lstStyle/>
          <a:p>
            <a:pPr algn="ctr" indent="0" marL="0">
              <a:buNone/>
            </a:pPr>
            <a:r>
              <a:rPr lang="en-US" sz="1000" b="1" dirty="0">
                <a:solidFill>
                  <a:srgbClr val="175D7C"/>
                </a:solidFill>
                <a:latin typeface="Aptos" pitchFamily="34" charset="0"/>
                <a:ea typeface="Aptos" pitchFamily="34" charset="-122"/>
                <a:cs typeface="Aptos" pitchFamily="34" charset="-120"/>
              </a:rPr>
              <a:t>Transcript</a:t>
            </a:r>
            <a:endParaRPr lang="en-US" sz="1000" dirty="0"/>
          </a:p>
        </p:txBody>
      </p:sp>
      <p:sp>
        <p:nvSpPr>
          <p:cNvPr id="18" name="Text 16"/>
          <p:cNvSpPr/>
          <p:nvPr/>
        </p:nvSpPr>
        <p:spPr>
          <a:xfrm>
            <a:off x="914400" y="3886200"/>
            <a:ext cx="10424160" cy="411480"/>
          </a:xfrm>
          <a:prstGeom prst="rect">
            <a:avLst/>
          </a:prstGeom>
          <a:noFill/>
          <a:ln/>
        </p:spPr>
        <p:txBody>
          <a:bodyPr wrap="square" lIns="762" tIns="762" rIns="762" bIns="762" rtlCol="0" anchor="ctr">
            <a:normAutofit/>
          </a:bodyPr>
          <a:lstStyle/>
          <a:p>
            <a:pPr algn="ctr" indent="0" marL="0">
              <a:buNone/>
            </a:pPr>
            <a:r>
              <a:rPr lang="en-US" sz="1600" b="1" dirty="0">
                <a:solidFill>
                  <a:srgbClr val="12212B"/>
                </a:solidFill>
                <a:latin typeface="Aptos" pitchFamily="34" charset="0"/>
                <a:ea typeface="Aptos" pitchFamily="34" charset="-122"/>
                <a:cs typeface="Aptos" pitchFamily="34" charset="-120"/>
              </a:rPr>
              <a:t>Khác với mô hình CTC thuần: decoder ở đây sinh token từng bước và nhìn lại encoder bằng cross-attention.</a:t>
            </a:r>
            <a:endParaRPr lang="en-US" sz="1600" dirty="0"/>
          </a:p>
        </p:txBody>
      </p:sp>
      <p:sp>
        <p:nvSpPr>
          <p:cNvPr id="19" name="Text 17"/>
          <p:cNvSpPr/>
          <p:nvPr/>
        </p:nvSpPr>
        <p:spPr>
          <a:xfrm>
            <a:off x="1965960" y="4709160"/>
            <a:ext cx="8138160" cy="1005840"/>
          </a:xfrm>
          <a:prstGeom prst="rect">
            <a:avLst/>
          </a:prstGeom>
          <a:noFill/>
          <a:ln/>
        </p:spPr>
        <p:txBody>
          <a:bodyPr wrap="square" lIns="1016" tIns="1016" rIns="1016" bIns="1016" rtlCol="0" anchor="ctr">
            <a:normAutofit/>
          </a:bodyPr>
          <a:lstStyle/>
          <a:p>
            <a:r>
              <a:rPr lang="en-US" sz="1350" dirty="0">
                <a:solidFill>
                  <a:srgbClr val="12212B"/>
                </a:solidFill>
                <a:latin typeface="Aptos" pitchFamily="34" charset="0"/>
                <a:ea typeface="Aptos" pitchFamily="34" charset="-122"/>
                <a:cs typeface="Aptos" pitchFamily="34" charset="-120"/>
              </a:rPr>
              <a:t>Encoder: hiểu âm thanh theo ngữ cảnh.</a:t>
            </a:r>
            <a:endParaRPr lang="en-US" sz="1350" dirty="0"/>
          </a:p>
          <a:p>
            <a:r>
              <a:rPr lang="en-US" sz="1350" dirty="0">
                <a:solidFill>
                  <a:srgbClr val="12212B"/>
                </a:solidFill>
                <a:latin typeface="Aptos" pitchFamily="34" charset="0"/>
                <a:ea typeface="Aptos" pitchFamily="34" charset="-122"/>
                <a:cs typeface="Aptos" pitchFamily="34" charset="-120"/>
              </a:rPr>
              <a:t>Decoder: dự đoán token kế tiếp dựa trên token đã sinh và audio encoded.</a:t>
            </a:r>
            <a:endParaRPr lang="en-US" sz="1350" dirty="0"/>
          </a:p>
          <a:p>
            <a:r>
              <a:rPr lang="en-US" sz="1350" dirty="0">
                <a:solidFill>
                  <a:srgbClr val="12212B"/>
                </a:solidFill>
                <a:latin typeface="Aptos" pitchFamily="34" charset="0"/>
                <a:ea typeface="Aptos" pitchFamily="34" charset="-122"/>
                <a:cs typeface="Aptos" pitchFamily="34" charset="-120"/>
              </a:rPr>
              <a:t>Special tokens: chỉ định ngôn ngữ, tác vụ, timestamp hoặc no timestamp.</a:t>
            </a:r>
            <a:endParaRPr lang="en-US" sz="1350" dirty="0"/>
          </a:p>
        </p:txBody>
      </p:sp>
      <p:sp>
        <p:nvSpPr>
          <p:cNvPr id="20" name="Shape 18"/>
          <p:cNvSpPr/>
          <p:nvPr/>
        </p:nvSpPr>
        <p:spPr>
          <a:xfrm>
            <a:off x="438912" y="6199632"/>
            <a:ext cx="2377440" cy="310896"/>
          </a:xfrm>
          <a:prstGeom prst="roundRect">
            <a:avLst>
              <a:gd name="adj" fmla="val 44118"/>
            </a:avLst>
          </a:prstGeom>
          <a:solidFill>
            <a:srgbClr val="E8F2F6"/>
          </a:solidFill>
          <a:ln w="12700">
            <a:solidFill>
              <a:srgbClr val="E8F2F6"/>
            </a:solidFill>
            <a:prstDash val="solid"/>
          </a:ln>
        </p:spPr>
      </p:sp>
      <p:sp>
        <p:nvSpPr>
          <p:cNvPr id="21" name="Text 19"/>
          <p:cNvSpPr/>
          <p:nvPr/>
        </p:nvSpPr>
        <p:spPr>
          <a:xfrm>
            <a:off x="512064" y="6259068"/>
            <a:ext cx="2231136" cy="201168"/>
          </a:xfrm>
          <a:prstGeom prst="rect">
            <a:avLst/>
          </a:prstGeom>
          <a:noFill/>
          <a:ln/>
        </p:spPr>
        <p:txBody>
          <a:bodyPr wrap="square" lIns="0" tIns="0" rIns="0" bIns="0" rtlCol="0" anchor="ctr">
            <a:normAutofit/>
          </a:bodyPr>
          <a:lstStyle/>
          <a:p>
            <a:pPr algn="ctr" indent="0" marL="0">
              <a:buNone/>
            </a:pPr>
            <a:r>
              <a:rPr lang="en-US" sz="950" b="1" dirty="0">
                <a:solidFill>
                  <a:srgbClr val="175D7C"/>
                </a:solidFill>
                <a:latin typeface="Aptos" pitchFamily="34" charset="0"/>
                <a:ea typeface="Aptos" pitchFamily="34" charset="-122"/>
                <a:cs typeface="Aptos" pitchFamily="34" charset="-120"/>
              </a:rPr>
              <a:t>Architecture</a:t>
            </a:r>
            <a:endParaRPr lang="en-US" sz="950" dirty="0"/>
          </a:p>
        </p:txBody>
      </p:sp>
      <p:sp>
        <p:nvSpPr>
          <p:cNvPr id="25" name="Slide Number Placeholder 0"/>
          <p:cNvSpPr>
            <a:spLocks noGrp="1"/>
          </p:cNvSpPr>
          <p:nvPr>
            <p:ph type="sldNum" sz="quarter" idx="4294967295"/>
          </p:nvPr>
        </p:nvSpPr>
        <p:spPr>
          <a:xfrm>
            <a:off x="11841480" y="6519672"/>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7C879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420624" y="256032"/>
            <a:ext cx="9875520" cy="384048"/>
          </a:xfrm>
          <a:prstGeom prst="rect">
            <a:avLst/>
          </a:prstGeom>
          <a:noFill/>
          <a:ln/>
        </p:spPr>
        <p:txBody>
          <a:bodyPr wrap="square" lIns="0" tIns="0" rIns="0" bIns="0" rtlCol="0" anchor="ctr"/>
          <a:lstStyle/>
          <a:p>
            <a:pPr indent="0" marL="0">
              <a:buNone/>
            </a:pPr>
            <a:r>
              <a:rPr lang="en-US" sz="2500" b="1" dirty="0">
                <a:solidFill>
                  <a:srgbClr val="12212B"/>
                </a:solidFill>
                <a:latin typeface="Aptos Display" pitchFamily="34" charset="0"/>
                <a:ea typeface="Aptos Display" pitchFamily="34" charset="-122"/>
                <a:cs typeface="Aptos Display" pitchFamily="34" charset="-120"/>
              </a:rPr>
              <a:t>Audio Encoder phần 1: convolution trước Transformer</a:t>
            </a:r>
            <a:endParaRPr lang="en-US" sz="2500" dirty="0"/>
          </a:p>
        </p:txBody>
      </p:sp>
      <p:sp>
        <p:nvSpPr>
          <p:cNvPr id="3" name="Text 1"/>
          <p:cNvSpPr/>
          <p:nvPr/>
        </p:nvSpPr>
        <p:spPr>
          <a:xfrm>
            <a:off x="438912" y="694944"/>
            <a:ext cx="9875520" cy="256032"/>
          </a:xfrm>
          <a:prstGeom prst="rect">
            <a:avLst/>
          </a:prstGeom>
          <a:noFill/>
          <a:ln/>
        </p:spPr>
        <p:txBody>
          <a:bodyPr wrap="square" lIns="0" tIns="0" rIns="0" bIns="0" rtlCol="0" anchor="ctr"/>
          <a:lstStyle/>
          <a:p>
            <a:pPr indent="0" marL="0">
              <a:buNone/>
            </a:pPr>
            <a:r>
              <a:rPr lang="en-US" sz="1050" dirty="0">
                <a:solidFill>
                  <a:srgbClr val="516271"/>
                </a:solidFill>
              </a:rPr>
              <a:t>Convolution biến ma trận Mel thành chuỗi vector và giảm chiều thời gian</a:t>
            </a:r>
            <a:endParaRPr lang="en-US" sz="1050" dirty="0"/>
          </a:p>
        </p:txBody>
      </p:sp>
      <p:sp>
        <p:nvSpPr>
          <p:cNvPr id="4" name="Shape 2"/>
          <p:cNvSpPr/>
          <p:nvPr/>
        </p:nvSpPr>
        <p:spPr>
          <a:xfrm>
            <a:off x="735178" y="1238098"/>
            <a:ext cx="124765" cy="169850"/>
          </a:xfrm>
          <a:prstGeom prst="rect">
            <a:avLst/>
          </a:prstGeom>
          <a:solidFill>
            <a:srgbClr val="F8EFE2">
              <a:alpha val="92000"/>
            </a:srgbClr>
          </a:solidFill>
          <a:ln w="12700">
            <a:solidFill>
              <a:srgbClr val="F8EFE2">
                <a:alpha val="0"/>
              </a:srgbClr>
            </a:solidFill>
            <a:prstDash val="solid"/>
          </a:ln>
        </p:spPr>
      </p:sp>
      <p:sp>
        <p:nvSpPr>
          <p:cNvPr id="5" name="Shape 3"/>
          <p:cNvSpPr/>
          <p:nvPr/>
        </p:nvSpPr>
        <p:spPr>
          <a:xfrm>
            <a:off x="735178" y="1415263"/>
            <a:ext cx="124765" cy="169850"/>
          </a:xfrm>
          <a:prstGeom prst="rect">
            <a:avLst/>
          </a:prstGeom>
          <a:solidFill>
            <a:srgbClr val="E9A15F">
              <a:alpha val="92000"/>
            </a:srgbClr>
          </a:solidFill>
          <a:ln w="12700">
            <a:solidFill>
              <a:srgbClr val="E9A15F">
                <a:alpha val="0"/>
              </a:srgbClr>
            </a:solidFill>
            <a:prstDash val="solid"/>
          </a:ln>
        </p:spPr>
      </p:sp>
      <p:sp>
        <p:nvSpPr>
          <p:cNvPr id="6" name="Shape 4"/>
          <p:cNvSpPr/>
          <p:nvPr/>
        </p:nvSpPr>
        <p:spPr>
          <a:xfrm>
            <a:off x="735178" y="1592428"/>
            <a:ext cx="124765" cy="169850"/>
          </a:xfrm>
          <a:prstGeom prst="rect">
            <a:avLst/>
          </a:prstGeom>
          <a:solidFill>
            <a:srgbClr val="6D5BD0">
              <a:alpha val="92000"/>
            </a:srgbClr>
          </a:solidFill>
          <a:ln w="12700">
            <a:solidFill>
              <a:srgbClr val="6D5BD0">
                <a:alpha val="0"/>
              </a:srgbClr>
            </a:solidFill>
            <a:prstDash val="solid"/>
          </a:ln>
        </p:spPr>
      </p:sp>
      <p:sp>
        <p:nvSpPr>
          <p:cNvPr id="7" name="Shape 5"/>
          <p:cNvSpPr/>
          <p:nvPr/>
        </p:nvSpPr>
        <p:spPr>
          <a:xfrm>
            <a:off x="735178" y="1769593"/>
            <a:ext cx="124765" cy="169850"/>
          </a:xfrm>
          <a:prstGeom prst="rect">
            <a:avLst/>
          </a:prstGeom>
          <a:solidFill>
            <a:srgbClr val="6D5BD0">
              <a:alpha val="92000"/>
            </a:srgbClr>
          </a:solidFill>
          <a:ln w="12700">
            <a:solidFill>
              <a:srgbClr val="6D5BD0">
                <a:alpha val="0"/>
              </a:srgbClr>
            </a:solidFill>
            <a:prstDash val="solid"/>
          </a:ln>
        </p:spPr>
      </p:sp>
      <p:sp>
        <p:nvSpPr>
          <p:cNvPr id="8" name="Shape 6"/>
          <p:cNvSpPr/>
          <p:nvPr/>
        </p:nvSpPr>
        <p:spPr>
          <a:xfrm>
            <a:off x="735178" y="1946758"/>
            <a:ext cx="124765" cy="169850"/>
          </a:xfrm>
          <a:prstGeom prst="rect">
            <a:avLst/>
          </a:prstGeom>
          <a:solidFill>
            <a:srgbClr val="B6545A">
              <a:alpha val="92000"/>
            </a:srgbClr>
          </a:solidFill>
          <a:ln w="12700">
            <a:solidFill>
              <a:srgbClr val="B6545A">
                <a:alpha val="0"/>
              </a:srgbClr>
            </a:solidFill>
            <a:prstDash val="solid"/>
          </a:ln>
        </p:spPr>
      </p:sp>
      <p:sp>
        <p:nvSpPr>
          <p:cNvPr id="9" name="Shape 7"/>
          <p:cNvSpPr/>
          <p:nvPr/>
        </p:nvSpPr>
        <p:spPr>
          <a:xfrm>
            <a:off x="735178" y="2123923"/>
            <a:ext cx="124765" cy="169850"/>
          </a:xfrm>
          <a:prstGeom prst="rect">
            <a:avLst/>
          </a:prstGeom>
          <a:solidFill>
            <a:srgbClr val="EFC97F">
              <a:alpha val="92000"/>
            </a:srgbClr>
          </a:solidFill>
          <a:ln w="12700">
            <a:solidFill>
              <a:srgbClr val="EFC97F">
                <a:alpha val="0"/>
              </a:srgbClr>
            </a:solidFill>
            <a:prstDash val="solid"/>
          </a:ln>
        </p:spPr>
      </p:sp>
      <p:sp>
        <p:nvSpPr>
          <p:cNvPr id="10" name="Shape 8"/>
          <p:cNvSpPr/>
          <p:nvPr/>
        </p:nvSpPr>
        <p:spPr>
          <a:xfrm>
            <a:off x="735178" y="2301088"/>
            <a:ext cx="124765" cy="169850"/>
          </a:xfrm>
          <a:prstGeom prst="rect">
            <a:avLst/>
          </a:prstGeom>
          <a:solidFill>
            <a:srgbClr val="F4DDB7">
              <a:alpha val="92000"/>
            </a:srgbClr>
          </a:solidFill>
          <a:ln w="12700">
            <a:solidFill>
              <a:srgbClr val="F4DDB7">
                <a:alpha val="0"/>
              </a:srgbClr>
            </a:solidFill>
            <a:prstDash val="solid"/>
          </a:ln>
        </p:spPr>
      </p:sp>
      <p:sp>
        <p:nvSpPr>
          <p:cNvPr id="11" name="Shape 9"/>
          <p:cNvSpPr/>
          <p:nvPr/>
        </p:nvSpPr>
        <p:spPr>
          <a:xfrm>
            <a:off x="735178" y="2478253"/>
            <a:ext cx="124765" cy="169850"/>
          </a:xfrm>
          <a:prstGeom prst="rect">
            <a:avLst/>
          </a:prstGeom>
          <a:solidFill>
            <a:srgbClr val="DC7B52">
              <a:alpha val="92000"/>
            </a:srgbClr>
          </a:solidFill>
          <a:ln w="12700">
            <a:solidFill>
              <a:srgbClr val="DC7B52">
                <a:alpha val="0"/>
              </a:srgbClr>
            </a:solidFill>
            <a:prstDash val="solid"/>
          </a:ln>
        </p:spPr>
      </p:sp>
      <p:sp>
        <p:nvSpPr>
          <p:cNvPr id="12" name="Shape 10"/>
          <p:cNvSpPr/>
          <p:nvPr/>
        </p:nvSpPr>
        <p:spPr>
          <a:xfrm>
            <a:off x="867258" y="1238098"/>
            <a:ext cx="124765" cy="169850"/>
          </a:xfrm>
          <a:prstGeom prst="rect">
            <a:avLst/>
          </a:prstGeom>
          <a:solidFill>
            <a:srgbClr val="DC7B52">
              <a:alpha val="92000"/>
            </a:srgbClr>
          </a:solidFill>
          <a:ln w="12700">
            <a:solidFill>
              <a:srgbClr val="DC7B52">
                <a:alpha val="0"/>
              </a:srgbClr>
            </a:solidFill>
            <a:prstDash val="solid"/>
          </a:ln>
        </p:spPr>
      </p:sp>
      <p:sp>
        <p:nvSpPr>
          <p:cNvPr id="13" name="Shape 11"/>
          <p:cNvSpPr/>
          <p:nvPr/>
        </p:nvSpPr>
        <p:spPr>
          <a:xfrm>
            <a:off x="867258" y="1415263"/>
            <a:ext cx="124765" cy="169850"/>
          </a:xfrm>
          <a:prstGeom prst="rect">
            <a:avLst/>
          </a:prstGeom>
          <a:solidFill>
            <a:srgbClr val="6D5BD0">
              <a:alpha val="92000"/>
            </a:srgbClr>
          </a:solidFill>
          <a:ln w="12700">
            <a:solidFill>
              <a:srgbClr val="6D5BD0">
                <a:alpha val="0"/>
              </a:srgbClr>
            </a:solidFill>
            <a:prstDash val="solid"/>
          </a:ln>
        </p:spPr>
      </p:sp>
      <p:sp>
        <p:nvSpPr>
          <p:cNvPr id="14" name="Shape 12"/>
          <p:cNvSpPr/>
          <p:nvPr/>
        </p:nvSpPr>
        <p:spPr>
          <a:xfrm>
            <a:off x="867258" y="1592428"/>
            <a:ext cx="124765" cy="169850"/>
          </a:xfrm>
          <a:prstGeom prst="rect">
            <a:avLst/>
          </a:prstGeom>
          <a:solidFill>
            <a:srgbClr val="6D5BD0">
              <a:alpha val="92000"/>
            </a:srgbClr>
          </a:solidFill>
          <a:ln w="12700">
            <a:solidFill>
              <a:srgbClr val="6D5BD0">
                <a:alpha val="0"/>
              </a:srgbClr>
            </a:solidFill>
            <a:prstDash val="solid"/>
          </a:ln>
        </p:spPr>
      </p:sp>
      <p:sp>
        <p:nvSpPr>
          <p:cNvPr id="15" name="Shape 13"/>
          <p:cNvSpPr/>
          <p:nvPr/>
        </p:nvSpPr>
        <p:spPr>
          <a:xfrm>
            <a:off x="867258" y="1769593"/>
            <a:ext cx="124765" cy="169850"/>
          </a:xfrm>
          <a:prstGeom prst="rect">
            <a:avLst/>
          </a:prstGeom>
          <a:solidFill>
            <a:srgbClr val="DC7B52">
              <a:alpha val="92000"/>
            </a:srgbClr>
          </a:solidFill>
          <a:ln w="12700">
            <a:solidFill>
              <a:srgbClr val="DC7B52">
                <a:alpha val="0"/>
              </a:srgbClr>
            </a:solidFill>
            <a:prstDash val="solid"/>
          </a:ln>
        </p:spPr>
      </p:sp>
      <p:sp>
        <p:nvSpPr>
          <p:cNvPr id="16" name="Shape 14"/>
          <p:cNvSpPr/>
          <p:nvPr/>
        </p:nvSpPr>
        <p:spPr>
          <a:xfrm>
            <a:off x="867258" y="1946758"/>
            <a:ext cx="124765" cy="169850"/>
          </a:xfrm>
          <a:prstGeom prst="rect">
            <a:avLst/>
          </a:prstGeom>
          <a:solidFill>
            <a:srgbClr val="F4DDB7">
              <a:alpha val="92000"/>
            </a:srgbClr>
          </a:solidFill>
          <a:ln w="12700">
            <a:solidFill>
              <a:srgbClr val="F4DDB7">
                <a:alpha val="0"/>
              </a:srgbClr>
            </a:solidFill>
            <a:prstDash val="solid"/>
          </a:ln>
        </p:spPr>
      </p:sp>
      <p:sp>
        <p:nvSpPr>
          <p:cNvPr id="17" name="Shape 15"/>
          <p:cNvSpPr/>
          <p:nvPr/>
        </p:nvSpPr>
        <p:spPr>
          <a:xfrm>
            <a:off x="867258" y="2123923"/>
            <a:ext cx="124765" cy="169850"/>
          </a:xfrm>
          <a:prstGeom prst="rect">
            <a:avLst/>
          </a:prstGeom>
          <a:solidFill>
            <a:srgbClr val="EFC97F">
              <a:alpha val="92000"/>
            </a:srgbClr>
          </a:solidFill>
          <a:ln w="12700">
            <a:solidFill>
              <a:srgbClr val="EFC97F">
                <a:alpha val="0"/>
              </a:srgbClr>
            </a:solidFill>
            <a:prstDash val="solid"/>
          </a:ln>
        </p:spPr>
      </p:sp>
      <p:sp>
        <p:nvSpPr>
          <p:cNvPr id="18" name="Shape 16"/>
          <p:cNvSpPr/>
          <p:nvPr/>
        </p:nvSpPr>
        <p:spPr>
          <a:xfrm>
            <a:off x="867258" y="2301088"/>
            <a:ext cx="124765" cy="169850"/>
          </a:xfrm>
          <a:prstGeom prst="rect">
            <a:avLst/>
          </a:prstGeom>
          <a:solidFill>
            <a:srgbClr val="B6545A">
              <a:alpha val="92000"/>
            </a:srgbClr>
          </a:solidFill>
          <a:ln w="12700">
            <a:solidFill>
              <a:srgbClr val="B6545A">
                <a:alpha val="0"/>
              </a:srgbClr>
            </a:solidFill>
            <a:prstDash val="solid"/>
          </a:ln>
        </p:spPr>
      </p:sp>
      <p:sp>
        <p:nvSpPr>
          <p:cNvPr id="19" name="Shape 17"/>
          <p:cNvSpPr/>
          <p:nvPr/>
        </p:nvSpPr>
        <p:spPr>
          <a:xfrm>
            <a:off x="867258" y="2478253"/>
            <a:ext cx="124765" cy="169850"/>
          </a:xfrm>
          <a:prstGeom prst="rect">
            <a:avLst/>
          </a:prstGeom>
          <a:solidFill>
            <a:srgbClr val="6D5BD0">
              <a:alpha val="92000"/>
            </a:srgbClr>
          </a:solidFill>
          <a:ln w="12700">
            <a:solidFill>
              <a:srgbClr val="6D5BD0">
                <a:alpha val="0"/>
              </a:srgbClr>
            </a:solidFill>
            <a:prstDash val="solid"/>
          </a:ln>
        </p:spPr>
      </p:sp>
      <p:sp>
        <p:nvSpPr>
          <p:cNvPr id="20" name="Shape 18"/>
          <p:cNvSpPr/>
          <p:nvPr/>
        </p:nvSpPr>
        <p:spPr>
          <a:xfrm>
            <a:off x="999338" y="1238098"/>
            <a:ext cx="124765" cy="169850"/>
          </a:xfrm>
          <a:prstGeom prst="rect">
            <a:avLst/>
          </a:prstGeom>
          <a:solidFill>
            <a:srgbClr val="6D5BD0">
              <a:alpha val="92000"/>
            </a:srgbClr>
          </a:solidFill>
          <a:ln w="12700">
            <a:solidFill>
              <a:srgbClr val="6D5BD0">
                <a:alpha val="0"/>
              </a:srgbClr>
            </a:solidFill>
            <a:prstDash val="solid"/>
          </a:ln>
        </p:spPr>
      </p:sp>
      <p:sp>
        <p:nvSpPr>
          <p:cNvPr id="21" name="Shape 19"/>
          <p:cNvSpPr/>
          <p:nvPr/>
        </p:nvSpPr>
        <p:spPr>
          <a:xfrm>
            <a:off x="999338" y="1415263"/>
            <a:ext cx="124765" cy="169850"/>
          </a:xfrm>
          <a:prstGeom prst="rect">
            <a:avLst/>
          </a:prstGeom>
          <a:solidFill>
            <a:srgbClr val="6D5BD0">
              <a:alpha val="92000"/>
            </a:srgbClr>
          </a:solidFill>
          <a:ln w="12700">
            <a:solidFill>
              <a:srgbClr val="6D5BD0">
                <a:alpha val="0"/>
              </a:srgbClr>
            </a:solidFill>
            <a:prstDash val="solid"/>
          </a:ln>
        </p:spPr>
      </p:sp>
      <p:sp>
        <p:nvSpPr>
          <p:cNvPr id="22" name="Shape 20"/>
          <p:cNvSpPr/>
          <p:nvPr/>
        </p:nvSpPr>
        <p:spPr>
          <a:xfrm>
            <a:off x="999338" y="1592428"/>
            <a:ext cx="124765" cy="169850"/>
          </a:xfrm>
          <a:prstGeom prst="rect">
            <a:avLst/>
          </a:prstGeom>
          <a:solidFill>
            <a:srgbClr val="DC7B52">
              <a:alpha val="92000"/>
            </a:srgbClr>
          </a:solidFill>
          <a:ln w="12700">
            <a:solidFill>
              <a:srgbClr val="DC7B52">
                <a:alpha val="0"/>
              </a:srgbClr>
            </a:solidFill>
            <a:prstDash val="solid"/>
          </a:ln>
        </p:spPr>
      </p:sp>
      <p:sp>
        <p:nvSpPr>
          <p:cNvPr id="23" name="Shape 21"/>
          <p:cNvSpPr/>
          <p:nvPr/>
        </p:nvSpPr>
        <p:spPr>
          <a:xfrm>
            <a:off x="999338" y="1769593"/>
            <a:ext cx="124765" cy="169850"/>
          </a:xfrm>
          <a:prstGeom prst="rect">
            <a:avLst/>
          </a:prstGeom>
          <a:solidFill>
            <a:srgbClr val="F8EFE2">
              <a:alpha val="92000"/>
            </a:srgbClr>
          </a:solidFill>
          <a:ln w="12700">
            <a:solidFill>
              <a:srgbClr val="F8EFE2">
                <a:alpha val="0"/>
              </a:srgbClr>
            </a:solidFill>
            <a:prstDash val="solid"/>
          </a:ln>
        </p:spPr>
      </p:sp>
      <p:sp>
        <p:nvSpPr>
          <p:cNvPr id="24" name="Shape 22"/>
          <p:cNvSpPr/>
          <p:nvPr/>
        </p:nvSpPr>
        <p:spPr>
          <a:xfrm>
            <a:off x="999338" y="1946758"/>
            <a:ext cx="124765" cy="169850"/>
          </a:xfrm>
          <a:prstGeom prst="rect">
            <a:avLst/>
          </a:prstGeom>
          <a:solidFill>
            <a:srgbClr val="E9A15F">
              <a:alpha val="92000"/>
            </a:srgbClr>
          </a:solidFill>
          <a:ln w="12700">
            <a:solidFill>
              <a:srgbClr val="E9A15F">
                <a:alpha val="0"/>
              </a:srgbClr>
            </a:solidFill>
            <a:prstDash val="solid"/>
          </a:ln>
        </p:spPr>
      </p:sp>
      <p:sp>
        <p:nvSpPr>
          <p:cNvPr id="25" name="Shape 23"/>
          <p:cNvSpPr/>
          <p:nvPr/>
        </p:nvSpPr>
        <p:spPr>
          <a:xfrm>
            <a:off x="999338" y="2123923"/>
            <a:ext cx="124765" cy="169850"/>
          </a:xfrm>
          <a:prstGeom prst="rect">
            <a:avLst/>
          </a:prstGeom>
          <a:solidFill>
            <a:srgbClr val="B6545A">
              <a:alpha val="92000"/>
            </a:srgbClr>
          </a:solidFill>
          <a:ln w="12700">
            <a:solidFill>
              <a:srgbClr val="B6545A">
                <a:alpha val="0"/>
              </a:srgbClr>
            </a:solidFill>
            <a:prstDash val="solid"/>
          </a:ln>
        </p:spPr>
      </p:sp>
      <p:sp>
        <p:nvSpPr>
          <p:cNvPr id="26" name="Shape 24"/>
          <p:cNvSpPr/>
          <p:nvPr/>
        </p:nvSpPr>
        <p:spPr>
          <a:xfrm>
            <a:off x="999338" y="2301088"/>
            <a:ext cx="124765" cy="169850"/>
          </a:xfrm>
          <a:prstGeom prst="rect">
            <a:avLst/>
          </a:prstGeom>
          <a:solidFill>
            <a:srgbClr val="6D5BD0">
              <a:alpha val="92000"/>
            </a:srgbClr>
          </a:solidFill>
          <a:ln w="12700">
            <a:solidFill>
              <a:srgbClr val="6D5BD0">
                <a:alpha val="0"/>
              </a:srgbClr>
            </a:solidFill>
            <a:prstDash val="solid"/>
          </a:ln>
        </p:spPr>
      </p:sp>
      <p:sp>
        <p:nvSpPr>
          <p:cNvPr id="27" name="Shape 25"/>
          <p:cNvSpPr/>
          <p:nvPr/>
        </p:nvSpPr>
        <p:spPr>
          <a:xfrm>
            <a:off x="999338" y="2478253"/>
            <a:ext cx="124765" cy="169850"/>
          </a:xfrm>
          <a:prstGeom prst="rect">
            <a:avLst/>
          </a:prstGeom>
          <a:solidFill>
            <a:srgbClr val="6D5BD0">
              <a:alpha val="92000"/>
            </a:srgbClr>
          </a:solidFill>
          <a:ln w="12700">
            <a:solidFill>
              <a:srgbClr val="6D5BD0">
                <a:alpha val="0"/>
              </a:srgbClr>
            </a:solidFill>
            <a:prstDash val="solid"/>
          </a:ln>
        </p:spPr>
      </p:sp>
      <p:sp>
        <p:nvSpPr>
          <p:cNvPr id="28" name="Shape 26"/>
          <p:cNvSpPr/>
          <p:nvPr/>
        </p:nvSpPr>
        <p:spPr>
          <a:xfrm>
            <a:off x="1131418" y="1238098"/>
            <a:ext cx="124765" cy="169850"/>
          </a:xfrm>
          <a:prstGeom prst="rect">
            <a:avLst/>
          </a:prstGeom>
          <a:solidFill>
            <a:srgbClr val="6D5BD0">
              <a:alpha val="92000"/>
            </a:srgbClr>
          </a:solidFill>
          <a:ln w="12700">
            <a:solidFill>
              <a:srgbClr val="6D5BD0">
                <a:alpha val="0"/>
              </a:srgbClr>
            </a:solidFill>
            <a:prstDash val="solid"/>
          </a:ln>
        </p:spPr>
      </p:sp>
      <p:sp>
        <p:nvSpPr>
          <p:cNvPr id="29" name="Shape 27"/>
          <p:cNvSpPr/>
          <p:nvPr/>
        </p:nvSpPr>
        <p:spPr>
          <a:xfrm>
            <a:off x="1131418" y="1415263"/>
            <a:ext cx="124765" cy="169850"/>
          </a:xfrm>
          <a:prstGeom prst="rect">
            <a:avLst/>
          </a:prstGeom>
          <a:solidFill>
            <a:srgbClr val="E9A15F">
              <a:alpha val="92000"/>
            </a:srgbClr>
          </a:solidFill>
          <a:ln w="12700">
            <a:solidFill>
              <a:srgbClr val="E9A15F">
                <a:alpha val="0"/>
              </a:srgbClr>
            </a:solidFill>
            <a:prstDash val="solid"/>
          </a:ln>
        </p:spPr>
      </p:sp>
      <p:sp>
        <p:nvSpPr>
          <p:cNvPr id="30" name="Shape 28"/>
          <p:cNvSpPr/>
          <p:nvPr/>
        </p:nvSpPr>
        <p:spPr>
          <a:xfrm>
            <a:off x="1131418" y="1592428"/>
            <a:ext cx="124765" cy="169850"/>
          </a:xfrm>
          <a:prstGeom prst="rect">
            <a:avLst/>
          </a:prstGeom>
          <a:solidFill>
            <a:srgbClr val="F8EFE2">
              <a:alpha val="92000"/>
            </a:srgbClr>
          </a:solidFill>
          <a:ln w="12700">
            <a:solidFill>
              <a:srgbClr val="F8EFE2">
                <a:alpha val="0"/>
              </a:srgbClr>
            </a:solidFill>
            <a:prstDash val="solid"/>
          </a:ln>
        </p:spPr>
      </p:sp>
      <p:sp>
        <p:nvSpPr>
          <p:cNvPr id="31" name="Shape 29"/>
          <p:cNvSpPr/>
          <p:nvPr/>
        </p:nvSpPr>
        <p:spPr>
          <a:xfrm>
            <a:off x="1131418" y="1769593"/>
            <a:ext cx="124765" cy="169850"/>
          </a:xfrm>
          <a:prstGeom prst="rect">
            <a:avLst/>
          </a:prstGeom>
          <a:solidFill>
            <a:srgbClr val="DC7B52">
              <a:alpha val="92000"/>
            </a:srgbClr>
          </a:solidFill>
          <a:ln w="12700">
            <a:solidFill>
              <a:srgbClr val="DC7B52">
                <a:alpha val="0"/>
              </a:srgbClr>
            </a:solidFill>
            <a:prstDash val="solid"/>
          </a:ln>
        </p:spPr>
      </p:sp>
      <p:sp>
        <p:nvSpPr>
          <p:cNvPr id="32" name="Shape 30"/>
          <p:cNvSpPr/>
          <p:nvPr/>
        </p:nvSpPr>
        <p:spPr>
          <a:xfrm>
            <a:off x="1131418" y="1946758"/>
            <a:ext cx="124765" cy="169850"/>
          </a:xfrm>
          <a:prstGeom prst="rect">
            <a:avLst/>
          </a:prstGeom>
          <a:solidFill>
            <a:srgbClr val="6D5BD0">
              <a:alpha val="92000"/>
            </a:srgbClr>
          </a:solidFill>
          <a:ln w="12700">
            <a:solidFill>
              <a:srgbClr val="6D5BD0">
                <a:alpha val="0"/>
              </a:srgbClr>
            </a:solidFill>
            <a:prstDash val="solid"/>
          </a:ln>
        </p:spPr>
      </p:sp>
      <p:sp>
        <p:nvSpPr>
          <p:cNvPr id="33" name="Shape 31"/>
          <p:cNvSpPr/>
          <p:nvPr/>
        </p:nvSpPr>
        <p:spPr>
          <a:xfrm>
            <a:off x="1131418" y="2123923"/>
            <a:ext cx="124765" cy="169850"/>
          </a:xfrm>
          <a:prstGeom prst="rect">
            <a:avLst/>
          </a:prstGeom>
          <a:solidFill>
            <a:srgbClr val="6D5BD0">
              <a:alpha val="92000"/>
            </a:srgbClr>
          </a:solidFill>
          <a:ln w="12700">
            <a:solidFill>
              <a:srgbClr val="6D5BD0">
                <a:alpha val="0"/>
              </a:srgbClr>
            </a:solidFill>
            <a:prstDash val="solid"/>
          </a:ln>
        </p:spPr>
      </p:sp>
      <p:sp>
        <p:nvSpPr>
          <p:cNvPr id="34" name="Shape 32"/>
          <p:cNvSpPr/>
          <p:nvPr/>
        </p:nvSpPr>
        <p:spPr>
          <a:xfrm>
            <a:off x="1131418" y="2301088"/>
            <a:ext cx="124765" cy="169850"/>
          </a:xfrm>
          <a:prstGeom prst="rect">
            <a:avLst/>
          </a:prstGeom>
          <a:solidFill>
            <a:srgbClr val="B6545A">
              <a:alpha val="92000"/>
            </a:srgbClr>
          </a:solidFill>
          <a:ln w="12700">
            <a:solidFill>
              <a:srgbClr val="B6545A">
                <a:alpha val="0"/>
              </a:srgbClr>
            </a:solidFill>
            <a:prstDash val="solid"/>
          </a:ln>
        </p:spPr>
      </p:sp>
      <p:sp>
        <p:nvSpPr>
          <p:cNvPr id="35" name="Shape 33"/>
          <p:cNvSpPr/>
          <p:nvPr/>
        </p:nvSpPr>
        <p:spPr>
          <a:xfrm>
            <a:off x="1131418" y="2478253"/>
            <a:ext cx="124765" cy="169850"/>
          </a:xfrm>
          <a:prstGeom prst="rect">
            <a:avLst/>
          </a:prstGeom>
          <a:solidFill>
            <a:srgbClr val="EFC97F">
              <a:alpha val="92000"/>
            </a:srgbClr>
          </a:solidFill>
          <a:ln w="12700">
            <a:solidFill>
              <a:srgbClr val="EFC97F">
                <a:alpha val="0"/>
              </a:srgbClr>
            </a:solidFill>
            <a:prstDash val="solid"/>
          </a:ln>
        </p:spPr>
      </p:sp>
      <p:sp>
        <p:nvSpPr>
          <p:cNvPr id="36" name="Shape 34"/>
          <p:cNvSpPr/>
          <p:nvPr/>
        </p:nvSpPr>
        <p:spPr>
          <a:xfrm>
            <a:off x="1263498" y="1238098"/>
            <a:ext cx="124765" cy="169850"/>
          </a:xfrm>
          <a:prstGeom prst="rect">
            <a:avLst/>
          </a:prstGeom>
          <a:solidFill>
            <a:srgbClr val="EFC97F">
              <a:alpha val="92000"/>
            </a:srgbClr>
          </a:solidFill>
          <a:ln w="12700">
            <a:solidFill>
              <a:srgbClr val="EFC97F">
                <a:alpha val="0"/>
              </a:srgbClr>
            </a:solidFill>
            <a:prstDash val="solid"/>
          </a:ln>
        </p:spPr>
      </p:sp>
      <p:sp>
        <p:nvSpPr>
          <p:cNvPr id="37" name="Shape 35"/>
          <p:cNvSpPr/>
          <p:nvPr/>
        </p:nvSpPr>
        <p:spPr>
          <a:xfrm>
            <a:off x="1263498" y="1415263"/>
            <a:ext cx="124765" cy="169850"/>
          </a:xfrm>
          <a:prstGeom prst="rect">
            <a:avLst/>
          </a:prstGeom>
          <a:solidFill>
            <a:srgbClr val="F4DDB7">
              <a:alpha val="92000"/>
            </a:srgbClr>
          </a:solidFill>
          <a:ln w="12700">
            <a:solidFill>
              <a:srgbClr val="F4DDB7">
                <a:alpha val="0"/>
              </a:srgbClr>
            </a:solidFill>
            <a:prstDash val="solid"/>
          </a:ln>
        </p:spPr>
      </p:sp>
      <p:sp>
        <p:nvSpPr>
          <p:cNvPr id="38" name="Shape 36"/>
          <p:cNvSpPr/>
          <p:nvPr/>
        </p:nvSpPr>
        <p:spPr>
          <a:xfrm>
            <a:off x="1263498" y="1592428"/>
            <a:ext cx="124765" cy="169850"/>
          </a:xfrm>
          <a:prstGeom prst="rect">
            <a:avLst/>
          </a:prstGeom>
          <a:solidFill>
            <a:srgbClr val="DC7B52">
              <a:alpha val="92000"/>
            </a:srgbClr>
          </a:solidFill>
          <a:ln w="12700">
            <a:solidFill>
              <a:srgbClr val="DC7B52">
                <a:alpha val="0"/>
              </a:srgbClr>
            </a:solidFill>
            <a:prstDash val="solid"/>
          </a:ln>
        </p:spPr>
      </p:sp>
      <p:sp>
        <p:nvSpPr>
          <p:cNvPr id="39" name="Shape 37"/>
          <p:cNvSpPr/>
          <p:nvPr/>
        </p:nvSpPr>
        <p:spPr>
          <a:xfrm>
            <a:off x="1263498" y="1769593"/>
            <a:ext cx="124765" cy="169850"/>
          </a:xfrm>
          <a:prstGeom prst="rect">
            <a:avLst/>
          </a:prstGeom>
          <a:solidFill>
            <a:srgbClr val="6D5BD0">
              <a:alpha val="92000"/>
            </a:srgbClr>
          </a:solidFill>
          <a:ln w="12700">
            <a:solidFill>
              <a:srgbClr val="6D5BD0">
                <a:alpha val="0"/>
              </a:srgbClr>
            </a:solidFill>
            <a:prstDash val="solid"/>
          </a:ln>
        </p:spPr>
      </p:sp>
      <p:sp>
        <p:nvSpPr>
          <p:cNvPr id="40" name="Shape 38"/>
          <p:cNvSpPr/>
          <p:nvPr/>
        </p:nvSpPr>
        <p:spPr>
          <a:xfrm>
            <a:off x="1263498" y="1946758"/>
            <a:ext cx="124765" cy="169850"/>
          </a:xfrm>
          <a:prstGeom prst="rect">
            <a:avLst/>
          </a:prstGeom>
          <a:solidFill>
            <a:srgbClr val="6D5BD0">
              <a:alpha val="92000"/>
            </a:srgbClr>
          </a:solidFill>
          <a:ln w="12700">
            <a:solidFill>
              <a:srgbClr val="6D5BD0">
                <a:alpha val="0"/>
              </a:srgbClr>
            </a:solidFill>
            <a:prstDash val="solid"/>
          </a:ln>
        </p:spPr>
      </p:sp>
      <p:sp>
        <p:nvSpPr>
          <p:cNvPr id="41" name="Shape 39"/>
          <p:cNvSpPr/>
          <p:nvPr/>
        </p:nvSpPr>
        <p:spPr>
          <a:xfrm>
            <a:off x="1263498" y="2123923"/>
            <a:ext cx="124765" cy="169850"/>
          </a:xfrm>
          <a:prstGeom prst="rect">
            <a:avLst/>
          </a:prstGeom>
          <a:solidFill>
            <a:srgbClr val="DC7B52">
              <a:alpha val="92000"/>
            </a:srgbClr>
          </a:solidFill>
          <a:ln w="12700">
            <a:solidFill>
              <a:srgbClr val="DC7B52">
                <a:alpha val="0"/>
              </a:srgbClr>
            </a:solidFill>
            <a:prstDash val="solid"/>
          </a:ln>
        </p:spPr>
      </p:sp>
      <p:sp>
        <p:nvSpPr>
          <p:cNvPr id="42" name="Shape 40"/>
          <p:cNvSpPr/>
          <p:nvPr/>
        </p:nvSpPr>
        <p:spPr>
          <a:xfrm>
            <a:off x="1263498" y="2301088"/>
            <a:ext cx="124765" cy="169850"/>
          </a:xfrm>
          <a:prstGeom prst="rect">
            <a:avLst/>
          </a:prstGeom>
          <a:solidFill>
            <a:srgbClr val="F4DDB7">
              <a:alpha val="92000"/>
            </a:srgbClr>
          </a:solidFill>
          <a:ln w="12700">
            <a:solidFill>
              <a:srgbClr val="F4DDB7">
                <a:alpha val="0"/>
              </a:srgbClr>
            </a:solidFill>
            <a:prstDash val="solid"/>
          </a:ln>
        </p:spPr>
      </p:sp>
      <p:sp>
        <p:nvSpPr>
          <p:cNvPr id="43" name="Shape 41"/>
          <p:cNvSpPr/>
          <p:nvPr/>
        </p:nvSpPr>
        <p:spPr>
          <a:xfrm>
            <a:off x="1263498" y="2478253"/>
            <a:ext cx="124765" cy="169850"/>
          </a:xfrm>
          <a:prstGeom prst="rect">
            <a:avLst/>
          </a:prstGeom>
          <a:solidFill>
            <a:srgbClr val="EFC97F">
              <a:alpha val="92000"/>
            </a:srgbClr>
          </a:solidFill>
          <a:ln w="12700">
            <a:solidFill>
              <a:srgbClr val="EFC97F">
                <a:alpha val="0"/>
              </a:srgbClr>
            </a:solidFill>
            <a:prstDash val="solid"/>
          </a:ln>
        </p:spPr>
      </p:sp>
      <p:sp>
        <p:nvSpPr>
          <p:cNvPr id="44" name="Shape 42"/>
          <p:cNvSpPr/>
          <p:nvPr/>
        </p:nvSpPr>
        <p:spPr>
          <a:xfrm>
            <a:off x="1395578" y="1238098"/>
            <a:ext cx="124765" cy="169850"/>
          </a:xfrm>
          <a:prstGeom prst="rect">
            <a:avLst/>
          </a:prstGeom>
          <a:solidFill>
            <a:srgbClr val="EFC97F">
              <a:alpha val="92000"/>
            </a:srgbClr>
          </a:solidFill>
          <a:ln w="12700">
            <a:solidFill>
              <a:srgbClr val="EFC97F">
                <a:alpha val="0"/>
              </a:srgbClr>
            </a:solidFill>
            <a:prstDash val="solid"/>
          </a:ln>
        </p:spPr>
      </p:sp>
      <p:sp>
        <p:nvSpPr>
          <p:cNvPr id="45" name="Shape 43"/>
          <p:cNvSpPr/>
          <p:nvPr/>
        </p:nvSpPr>
        <p:spPr>
          <a:xfrm>
            <a:off x="1395578" y="1415263"/>
            <a:ext cx="124765" cy="169850"/>
          </a:xfrm>
          <a:prstGeom prst="rect">
            <a:avLst/>
          </a:prstGeom>
          <a:solidFill>
            <a:srgbClr val="B6545A">
              <a:alpha val="92000"/>
            </a:srgbClr>
          </a:solidFill>
          <a:ln w="12700">
            <a:solidFill>
              <a:srgbClr val="B6545A">
                <a:alpha val="0"/>
              </a:srgbClr>
            </a:solidFill>
            <a:prstDash val="solid"/>
          </a:ln>
        </p:spPr>
      </p:sp>
      <p:sp>
        <p:nvSpPr>
          <p:cNvPr id="46" name="Shape 44"/>
          <p:cNvSpPr/>
          <p:nvPr/>
        </p:nvSpPr>
        <p:spPr>
          <a:xfrm>
            <a:off x="1395578" y="1592428"/>
            <a:ext cx="124765" cy="169850"/>
          </a:xfrm>
          <a:prstGeom prst="rect">
            <a:avLst/>
          </a:prstGeom>
          <a:solidFill>
            <a:srgbClr val="6D5BD0">
              <a:alpha val="92000"/>
            </a:srgbClr>
          </a:solidFill>
          <a:ln w="12700">
            <a:solidFill>
              <a:srgbClr val="6D5BD0">
                <a:alpha val="0"/>
              </a:srgbClr>
            </a:solidFill>
            <a:prstDash val="solid"/>
          </a:ln>
        </p:spPr>
      </p:sp>
      <p:sp>
        <p:nvSpPr>
          <p:cNvPr id="47" name="Shape 45"/>
          <p:cNvSpPr/>
          <p:nvPr/>
        </p:nvSpPr>
        <p:spPr>
          <a:xfrm>
            <a:off x="1395578" y="1769593"/>
            <a:ext cx="124765" cy="169850"/>
          </a:xfrm>
          <a:prstGeom prst="rect">
            <a:avLst/>
          </a:prstGeom>
          <a:solidFill>
            <a:srgbClr val="6D5BD0">
              <a:alpha val="92000"/>
            </a:srgbClr>
          </a:solidFill>
          <a:ln w="12700">
            <a:solidFill>
              <a:srgbClr val="6D5BD0">
                <a:alpha val="0"/>
              </a:srgbClr>
            </a:solidFill>
            <a:prstDash val="solid"/>
          </a:ln>
        </p:spPr>
      </p:sp>
      <p:sp>
        <p:nvSpPr>
          <p:cNvPr id="48" name="Shape 46"/>
          <p:cNvSpPr/>
          <p:nvPr/>
        </p:nvSpPr>
        <p:spPr>
          <a:xfrm>
            <a:off x="1395578" y="1946758"/>
            <a:ext cx="124765" cy="169850"/>
          </a:xfrm>
          <a:prstGeom prst="rect">
            <a:avLst/>
          </a:prstGeom>
          <a:solidFill>
            <a:srgbClr val="E9A15F">
              <a:alpha val="92000"/>
            </a:srgbClr>
          </a:solidFill>
          <a:ln w="12700">
            <a:solidFill>
              <a:srgbClr val="E9A15F">
                <a:alpha val="0"/>
              </a:srgbClr>
            </a:solidFill>
            <a:prstDash val="solid"/>
          </a:ln>
        </p:spPr>
      </p:sp>
      <p:sp>
        <p:nvSpPr>
          <p:cNvPr id="49" name="Shape 47"/>
          <p:cNvSpPr/>
          <p:nvPr/>
        </p:nvSpPr>
        <p:spPr>
          <a:xfrm>
            <a:off x="1395578" y="2123923"/>
            <a:ext cx="124765" cy="169850"/>
          </a:xfrm>
          <a:prstGeom prst="rect">
            <a:avLst/>
          </a:prstGeom>
          <a:solidFill>
            <a:srgbClr val="F8EFE2">
              <a:alpha val="92000"/>
            </a:srgbClr>
          </a:solidFill>
          <a:ln w="12700">
            <a:solidFill>
              <a:srgbClr val="F8EFE2">
                <a:alpha val="0"/>
              </a:srgbClr>
            </a:solidFill>
            <a:prstDash val="solid"/>
          </a:ln>
        </p:spPr>
      </p:sp>
      <p:sp>
        <p:nvSpPr>
          <p:cNvPr id="50" name="Shape 48"/>
          <p:cNvSpPr/>
          <p:nvPr/>
        </p:nvSpPr>
        <p:spPr>
          <a:xfrm>
            <a:off x="1395578" y="2301088"/>
            <a:ext cx="124765" cy="169850"/>
          </a:xfrm>
          <a:prstGeom prst="rect">
            <a:avLst/>
          </a:prstGeom>
          <a:solidFill>
            <a:srgbClr val="E9A15F">
              <a:alpha val="92000"/>
            </a:srgbClr>
          </a:solidFill>
          <a:ln w="12700">
            <a:solidFill>
              <a:srgbClr val="E9A15F">
                <a:alpha val="0"/>
              </a:srgbClr>
            </a:solidFill>
            <a:prstDash val="solid"/>
          </a:ln>
        </p:spPr>
      </p:sp>
      <p:sp>
        <p:nvSpPr>
          <p:cNvPr id="51" name="Shape 49"/>
          <p:cNvSpPr/>
          <p:nvPr/>
        </p:nvSpPr>
        <p:spPr>
          <a:xfrm>
            <a:off x="1395578" y="2478253"/>
            <a:ext cx="124765" cy="169850"/>
          </a:xfrm>
          <a:prstGeom prst="rect">
            <a:avLst/>
          </a:prstGeom>
          <a:solidFill>
            <a:srgbClr val="6D5BD0">
              <a:alpha val="92000"/>
            </a:srgbClr>
          </a:solidFill>
          <a:ln w="12700">
            <a:solidFill>
              <a:srgbClr val="6D5BD0">
                <a:alpha val="0"/>
              </a:srgbClr>
            </a:solidFill>
            <a:prstDash val="solid"/>
          </a:ln>
        </p:spPr>
      </p:sp>
      <p:sp>
        <p:nvSpPr>
          <p:cNvPr id="52" name="Shape 50"/>
          <p:cNvSpPr/>
          <p:nvPr/>
        </p:nvSpPr>
        <p:spPr>
          <a:xfrm>
            <a:off x="1527658" y="1238098"/>
            <a:ext cx="124765" cy="169850"/>
          </a:xfrm>
          <a:prstGeom prst="rect">
            <a:avLst/>
          </a:prstGeom>
          <a:solidFill>
            <a:srgbClr val="6D5BD0">
              <a:alpha val="92000"/>
            </a:srgbClr>
          </a:solidFill>
          <a:ln w="12700">
            <a:solidFill>
              <a:srgbClr val="6D5BD0">
                <a:alpha val="0"/>
              </a:srgbClr>
            </a:solidFill>
            <a:prstDash val="solid"/>
          </a:ln>
        </p:spPr>
      </p:sp>
      <p:sp>
        <p:nvSpPr>
          <p:cNvPr id="53" name="Shape 51"/>
          <p:cNvSpPr/>
          <p:nvPr/>
        </p:nvSpPr>
        <p:spPr>
          <a:xfrm>
            <a:off x="1527658" y="1415263"/>
            <a:ext cx="124765" cy="169850"/>
          </a:xfrm>
          <a:prstGeom prst="rect">
            <a:avLst/>
          </a:prstGeom>
          <a:solidFill>
            <a:srgbClr val="6D5BD0">
              <a:alpha val="92000"/>
            </a:srgbClr>
          </a:solidFill>
          <a:ln w="12700">
            <a:solidFill>
              <a:srgbClr val="6D5BD0">
                <a:alpha val="0"/>
              </a:srgbClr>
            </a:solidFill>
            <a:prstDash val="solid"/>
          </a:ln>
        </p:spPr>
      </p:sp>
      <p:sp>
        <p:nvSpPr>
          <p:cNvPr id="54" name="Shape 52"/>
          <p:cNvSpPr/>
          <p:nvPr/>
        </p:nvSpPr>
        <p:spPr>
          <a:xfrm>
            <a:off x="1527658" y="1592428"/>
            <a:ext cx="124765" cy="169850"/>
          </a:xfrm>
          <a:prstGeom prst="rect">
            <a:avLst/>
          </a:prstGeom>
          <a:solidFill>
            <a:srgbClr val="B6545A">
              <a:alpha val="92000"/>
            </a:srgbClr>
          </a:solidFill>
          <a:ln w="12700">
            <a:solidFill>
              <a:srgbClr val="B6545A">
                <a:alpha val="0"/>
              </a:srgbClr>
            </a:solidFill>
            <a:prstDash val="solid"/>
          </a:ln>
        </p:spPr>
      </p:sp>
      <p:sp>
        <p:nvSpPr>
          <p:cNvPr id="55" name="Shape 53"/>
          <p:cNvSpPr/>
          <p:nvPr/>
        </p:nvSpPr>
        <p:spPr>
          <a:xfrm>
            <a:off x="1527658" y="1769593"/>
            <a:ext cx="124765" cy="169850"/>
          </a:xfrm>
          <a:prstGeom prst="rect">
            <a:avLst/>
          </a:prstGeom>
          <a:solidFill>
            <a:srgbClr val="EFC97F">
              <a:alpha val="92000"/>
            </a:srgbClr>
          </a:solidFill>
          <a:ln w="12700">
            <a:solidFill>
              <a:srgbClr val="EFC97F">
                <a:alpha val="0"/>
              </a:srgbClr>
            </a:solidFill>
            <a:prstDash val="solid"/>
          </a:ln>
        </p:spPr>
      </p:sp>
      <p:sp>
        <p:nvSpPr>
          <p:cNvPr id="56" name="Shape 54"/>
          <p:cNvSpPr/>
          <p:nvPr/>
        </p:nvSpPr>
        <p:spPr>
          <a:xfrm>
            <a:off x="1527658" y="1946758"/>
            <a:ext cx="124765" cy="169850"/>
          </a:xfrm>
          <a:prstGeom prst="rect">
            <a:avLst/>
          </a:prstGeom>
          <a:solidFill>
            <a:srgbClr val="F8EFE2">
              <a:alpha val="92000"/>
            </a:srgbClr>
          </a:solidFill>
          <a:ln w="12700">
            <a:solidFill>
              <a:srgbClr val="F8EFE2">
                <a:alpha val="0"/>
              </a:srgbClr>
            </a:solidFill>
            <a:prstDash val="solid"/>
          </a:ln>
        </p:spPr>
      </p:sp>
      <p:sp>
        <p:nvSpPr>
          <p:cNvPr id="57" name="Shape 55"/>
          <p:cNvSpPr/>
          <p:nvPr/>
        </p:nvSpPr>
        <p:spPr>
          <a:xfrm>
            <a:off x="1527658" y="2123923"/>
            <a:ext cx="124765" cy="169850"/>
          </a:xfrm>
          <a:prstGeom prst="rect">
            <a:avLst/>
          </a:prstGeom>
          <a:solidFill>
            <a:srgbClr val="DC7B52">
              <a:alpha val="92000"/>
            </a:srgbClr>
          </a:solidFill>
          <a:ln w="12700">
            <a:solidFill>
              <a:srgbClr val="DC7B52">
                <a:alpha val="0"/>
              </a:srgbClr>
            </a:solidFill>
            <a:prstDash val="solid"/>
          </a:ln>
        </p:spPr>
      </p:sp>
      <p:sp>
        <p:nvSpPr>
          <p:cNvPr id="58" name="Shape 56"/>
          <p:cNvSpPr/>
          <p:nvPr/>
        </p:nvSpPr>
        <p:spPr>
          <a:xfrm>
            <a:off x="1527658" y="2301088"/>
            <a:ext cx="124765" cy="169850"/>
          </a:xfrm>
          <a:prstGeom prst="rect">
            <a:avLst/>
          </a:prstGeom>
          <a:solidFill>
            <a:srgbClr val="6D5BD0">
              <a:alpha val="92000"/>
            </a:srgbClr>
          </a:solidFill>
          <a:ln w="12700">
            <a:solidFill>
              <a:srgbClr val="6D5BD0">
                <a:alpha val="0"/>
              </a:srgbClr>
            </a:solidFill>
            <a:prstDash val="solid"/>
          </a:ln>
        </p:spPr>
      </p:sp>
      <p:sp>
        <p:nvSpPr>
          <p:cNvPr id="59" name="Shape 57"/>
          <p:cNvSpPr/>
          <p:nvPr/>
        </p:nvSpPr>
        <p:spPr>
          <a:xfrm>
            <a:off x="1527658" y="2478253"/>
            <a:ext cx="124765" cy="169850"/>
          </a:xfrm>
          <a:prstGeom prst="rect">
            <a:avLst/>
          </a:prstGeom>
          <a:solidFill>
            <a:srgbClr val="6D5BD0">
              <a:alpha val="92000"/>
            </a:srgbClr>
          </a:solidFill>
          <a:ln w="12700">
            <a:solidFill>
              <a:srgbClr val="6D5BD0">
                <a:alpha val="0"/>
              </a:srgbClr>
            </a:solidFill>
            <a:prstDash val="solid"/>
          </a:ln>
        </p:spPr>
      </p:sp>
      <p:sp>
        <p:nvSpPr>
          <p:cNvPr id="60" name="Shape 58"/>
          <p:cNvSpPr/>
          <p:nvPr/>
        </p:nvSpPr>
        <p:spPr>
          <a:xfrm>
            <a:off x="1659738" y="1238098"/>
            <a:ext cx="124765" cy="169850"/>
          </a:xfrm>
          <a:prstGeom prst="rect">
            <a:avLst/>
          </a:prstGeom>
          <a:solidFill>
            <a:srgbClr val="6D5BD0">
              <a:alpha val="92000"/>
            </a:srgbClr>
          </a:solidFill>
          <a:ln w="12700">
            <a:solidFill>
              <a:srgbClr val="6D5BD0">
                <a:alpha val="0"/>
              </a:srgbClr>
            </a:solidFill>
            <a:prstDash val="solid"/>
          </a:ln>
        </p:spPr>
      </p:sp>
      <p:sp>
        <p:nvSpPr>
          <p:cNvPr id="61" name="Shape 59"/>
          <p:cNvSpPr/>
          <p:nvPr/>
        </p:nvSpPr>
        <p:spPr>
          <a:xfrm>
            <a:off x="1659738" y="1415263"/>
            <a:ext cx="124765" cy="169850"/>
          </a:xfrm>
          <a:prstGeom prst="rect">
            <a:avLst/>
          </a:prstGeom>
          <a:solidFill>
            <a:srgbClr val="B6545A">
              <a:alpha val="92000"/>
            </a:srgbClr>
          </a:solidFill>
          <a:ln w="12700">
            <a:solidFill>
              <a:srgbClr val="B6545A">
                <a:alpha val="0"/>
              </a:srgbClr>
            </a:solidFill>
            <a:prstDash val="solid"/>
          </a:ln>
        </p:spPr>
      </p:sp>
      <p:sp>
        <p:nvSpPr>
          <p:cNvPr id="62" name="Shape 60"/>
          <p:cNvSpPr/>
          <p:nvPr/>
        </p:nvSpPr>
        <p:spPr>
          <a:xfrm>
            <a:off x="1659738" y="1592428"/>
            <a:ext cx="124765" cy="169850"/>
          </a:xfrm>
          <a:prstGeom prst="rect">
            <a:avLst/>
          </a:prstGeom>
          <a:solidFill>
            <a:srgbClr val="F4DDB7">
              <a:alpha val="92000"/>
            </a:srgbClr>
          </a:solidFill>
          <a:ln w="12700">
            <a:solidFill>
              <a:srgbClr val="F4DDB7">
                <a:alpha val="0"/>
              </a:srgbClr>
            </a:solidFill>
            <a:prstDash val="solid"/>
          </a:ln>
        </p:spPr>
      </p:sp>
      <p:sp>
        <p:nvSpPr>
          <p:cNvPr id="63" name="Shape 61"/>
          <p:cNvSpPr/>
          <p:nvPr/>
        </p:nvSpPr>
        <p:spPr>
          <a:xfrm>
            <a:off x="1659738" y="1769593"/>
            <a:ext cx="124765" cy="169850"/>
          </a:xfrm>
          <a:prstGeom prst="rect">
            <a:avLst/>
          </a:prstGeom>
          <a:solidFill>
            <a:srgbClr val="F4DDB7">
              <a:alpha val="92000"/>
            </a:srgbClr>
          </a:solidFill>
          <a:ln w="12700">
            <a:solidFill>
              <a:srgbClr val="F4DDB7">
                <a:alpha val="0"/>
              </a:srgbClr>
            </a:solidFill>
            <a:prstDash val="solid"/>
          </a:ln>
        </p:spPr>
      </p:sp>
      <p:sp>
        <p:nvSpPr>
          <p:cNvPr id="64" name="Shape 62"/>
          <p:cNvSpPr/>
          <p:nvPr/>
        </p:nvSpPr>
        <p:spPr>
          <a:xfrm>
            <a:off x="1659738" y="1946758"/>
            <a:ext cx="124765" cy="169850"/>
          </a:xfrm>
          <a:prstGeom prst="rect">
            <a:avLst/>
          </a:prstGeom>
          <a:solidFill>
            <a:srgbClr val="B6545A">
              <a:alpha val="92000"/>
            </a:srgbClr>
          </a:solidFill>
          <a:ln w="12700">
            <a:solidFill>
              <a:srgbClr val="B6545A">
                <a:alpha val="0"/>
              </a:srgbClr>
            </a:solidFill>
            <a:prstDash val="solid"/>
          </a:ln>
        </p:spPr>
      </p:sp>
      <p:sp>
        <p:nvSpPr>
          <p:cNvPr id="65" name="Shape 63"/>
          <p:cNvSpPr/>
          <p:nvPr/>
        </p:nvSpPr>
        <p:spPr>
          <a:xfrm>
            <a:off x="1659738" y="2123923"/>
            <a:ext cx="124765" cy="169850"/>
          </a:xfrm>
          <a:prstGeom prst="rect">
            <a:avLst/>
          </a:prstGeom>
          <a:solidFill>
            <a:srgbClr val="6D5BD0">
              <a:alpha val="92000"/>
            </a:srgbClr>
          </a:solidFill>
          <a:ln w="12700">
            <a:solidFill>
              <a:srgbClr val="6D5BD0">
                <a:alpha val="0"/>
              </a:srgbClr>
            </a:solidFill>
            <a:prstDash val="solid"/>
          </a:ln>
        </p:spPr>
      </p:sp>
      <p:sp>
        <p:nvSpPr>
          <p:cNvPr id="66" name="Shape 64"/>
          <p:cNvSpPr/>
          <p:nvPr/>
        </p:nvSpPr>
        <p:spPr>
          <a:xfrm>
            <a:off x="1659738" y="2301088"/>
            <a:ext cx="124765" cy="169850"/>
          </a:xfrm>
          <a:prstGeom prst="rect">
            <a:avLst/>
          </a:prstGeom>
          <a:solidFill>
            <a:srgbClr val="6D5BD0">
              <a:alpha val="92000"/>
            </a:srgbClr>
          </a:solidFill>
          <a:ln w="12700">
            <a:solidFill>
              <a:srgbClr val="6D5BD0">
                <a:alpha val="0"/>
              </a:srgbClr>
            </a:solidFill>
            <a:prstDash val="solid"/>
          </a:ln>
        </p:spPr>
      </p:sp>
      <p:sp>
        <p:nvSpPr>
          <p:cNvPr id="67" name="Shape 65"/>
          <p:cNvSpPr/>
          <p:nvPr/>
        </p:nvSpPr>
        <p:spPr>
          <a:xfrm>
            <a:off x="1659738" y="2478253"/>
            <a:ext cx="124765" cy="169850"/>
          </a:xfrm>
          <a:prstGeom prst="rect">
            <a:avLst/>
          </a:prstGeom>
          <a:solidFill>
            <a:srgbClr val="DC7B52">
              <a:alpha val="92000"/>
            </a:srgbClr>
          </a:solidFill>
          <a:ln w="12700">
            <a:solidFill>
              <a:srgbClr val="DC7B52">
                <a:alpha val="0"/>
              </a:srgbClr>
            </a:solidFill>
            <a:prstDash val="solid"/>
          </a:ln>
        </p:spPr>
      </p:sp>
      <p:sp>
        <p:nvSpPr>
          <p:cNvPr id="68" name="Shape 66"/>
          <p:cNvSpPr/>
          <p:nvPr/>
        </p:nvSpPr>
        <p:spPr>
          <a:xfrm>
            <a:off x="1791818" y="1238098"/>
            <a:ext cx="124765" cy="169850"/>
          </a:xfrm>
          <a:prstGeom prst="rect">
            <a:avLst/>
          </a:prstGeom>
          <a:solidFill>
            <a:srgbClr val="DC7B52">
              <a:alpha val="92000"/>
            </a:srgbClr>
          </a:solidFill>
          <a:ln w="12700">
            <a:solidFill>
              <a:srgbClr val="DC7B52">
                <a:alpha val="0"/>
              </a:srgbClr>
            </a:solidFill>
            <a:prstDash val="solid"/>
          </a:ln>
        </p:spPr>
      </p:sp>
      <p:sp>
        <p:nvSpPr>
          <p:cNvPr id="69" name="Shape 67"/>
          <p:cNvSpPr/>
          <p:nvPr/>
        </p:nvSpPr>
        <p:spPr>
          <a:xfrm>
            <a:off x="1791818" y="1415263"/>
            <a:ext cx="124765" cy="169850"/>
          </a:xfrm>
          <a:prstGeom prst="rect">
            <a:avLst/>
          </a:prstGeom>
          <a:solidFill>
            <a:srgbClr val="F8EFE2">
              <a:alpha val="92000"/>
            </a:srgbClr>
          </a:solidFill>
          <a:ln w="12700">
            <a:solidFill>
              <a:srgbClr val="F8EFE2">
                <a:alpha val="0"/>
              </a:srgbClr>
            </a:solidFill>
            <a:prstDash val="solid"/>
          </a:ln>
        </p:spPr>
      </p:sp>
      <p:sp>
        <p:nvSpPr>
          <p:cNvPr id="70" name="Shape 68"/>
          <p:cNvSpPr/>
          <p:nvPr/>
        </p:nvSpPr>
        <p:spPr>
          <a:xfrm>
            <a:off x="1791818" y="1592428"/>
            <a:ext cx="124765" cy="169850"/>
          </a:xfrm>
          <a:prstGeom prst="rect">
            <a:avLst/>
          </a:prstGeom>
          <a:solidFill>
            <a:srgbClr val="EFC97F">
              <a:alpha val="92000"/>
            </a:srgbClr>
          </a:solidFill>
          <a:ln w="12700">
            <a:solidFill>
              <a:srgbClr val="EFC97F">
                <a:alpha val="0"/>
              </a:srgbClr>
            </a:solidFill>
            <a:prstDash val="solid"/>
          </a:ln>
        </p:spPr>
      </p:sp>
      <p:sp>
        <p:nvSpPr>
          <p:cNvPr id="71" name="Shape 69"/>
          <p:cNvSpPr/>
          <p:nvPr/>
        </p:nvSpPr>
        <p:spPr>
          <a:xfrm>
            <a:off x="1791818" y="1769593"/>
            <a:ext cx="124765" cy="169850"/>
          </a:xfrm>
          <a:prstGeom prst="rect">
            <a:avLst/>
          </a:prstGeom>
          <a:solidFill>
            <a:srgbClr val="B6545A">
              <a:alpha val="92000"/>
            </a:srgbClr>
          </a:solidFill>
          <a:ln w="12700">
            <a:solidFill>
              <a:srgbClr val="B6545A">
                <a:alpha val="0"/>
              </a:srgbClr>
            </a:solidFill>
            <a:prstDash val="solid"/>
          </a:ln>
        </p:spPr>
      </p:sp>
      <p:sp>
        <p:nvSpPr>
          <p:cNvPr id="72" name="Shape 70"/>
          <p:cNvSpPr/>
          <p:nvPr/>
        </p:nvSpPr>
        <p:spPr>
          <a:xfrm>
            <a:off x="1791818" y="1946758"/>
            <a:ext cx="124765" cy="169850"/>
          </a:xfrm>
          <a:prstGeom prst="rect">
            <a:avLst/>
          </a:prstGeom>
          <a:solidFill>
            <a:srgbClr val="6D5BD0">
              <a:alpha val="92000"/>
            </a:srgbClr>
          </a:solidFill>
          <a:ln w="12700">
            <a:solidFill>
              <a:srgbClr val="6D5BD0">
                <a:alpha val="0"/>
              </a:srgbClr>
            </a:solidFill>
            <a:prstDash val="solid"/>
          </a:ln>
        </p:spPr>
      </p:sp>
      <p:sp>
        <p:nvSpPr>
          <p:cNvPr id="73" name="Shape 71"/>
          <p:cNvSpPr/>
          <p:nvPr/>
        </p:nvSpPr>
        <p:spPr>
          <a:xfrm>
            <a:off x="1791818" y="2123923"/>
            <a:ext cx="124765" cy="169850"/>
          </a:xfrm>
          <a:prstGeom prst="rect">
            <a:avLst/>
          </a:prstGeom>
          <a:solidFill>
            <a:srgbClr val="6D5BD0">
              <a:alpha val="92000"/>
            </a:srgbClr>
          </a:solidFill>
          <a:ln w="12700">
            <a:solidFill>
              <a:srgbClr val="6D5BD0">
                <a:alpha val="0"/>
              </a:srgbClr>
            </a:solidFill>
            <a:prstDash val="solid"/>
          </a:ln>
        </p:spPr>
      </p:sp>
      <p:sp>
        <p:nvSpPr>
          <p:cNvPr id="74" name="Shape 72"/>
          <p:cNvSpPr/>
          <p:nvPr/>
        </p:nvSpPr>
        <p:spPr>
          <a:xfrm>
            <a:off x="1791818" y="2301088"/>
            <a:ext cx="124765" cy="169850"/>
          </a:xfrm>
          <a:prstGeom prst="rect">
            <a:avLst/>
          </a:prstGeom>
          <a:solidFill>
            <a:srgbClr val="E9A15F">
              <a:alpha val="92000"/>
            </a:srgbClr>
          </a:solidFill>
          <a:ln w="12700">
            <a:solidFill>
              <a:srgbClr val="E9A15F">
                <a:alpha val="0"/>
              </a:srgbClr>
            </a:solidFill>
            <a:prstDash val="solid"/>
          </a:ln>
        </p:spPr>
      </p:sp>
      <p:sp>
        <p:nvSpPr>
          <p:cNvPr id="75" name="Shape 73"/>
          <p:cNvSpPr/>
          <p:nvPr/>
        </p:nvSpPr>
        <p:spPr>
          <a:xfrm>
            <a:off x="1791818" y="2478253"/>
            <a:ext cx="124765" cy="169850"/>
          </a:xfrm>
          <a:prstGeom prst="rect">
            <a:avLst/>
          </a:prstGeom>
          <a:solidFill>
            <a:srgbClr val="F8EFE2">
              <a:alpha val="92000"/>
            </a:srgbClr>
          </a:solidFill>
          <a:ln w="12700">
            <a:solidFill>
              <a:srgbClr val="F8EFE2">
                <a:alpha val="0"/>
              </a:srgbClr>
            </a:solidFill>
            <a:prstDash val="solid"/>
          </a:ln>
        </p:spPr>
      </p:sp>
      <p:sp>
        <p:nvSpPr>
          <p:cNvPr id="76" name="Shape 74"/>
          <p:cNvSpPr/>
          <p:nvPr/>
        </p:nvSpPr>
        <p:spPr>
          <a:xfrm>
            <a:off x="1923898" y="1238098"/>
            <a:ext cx="124765" cy="169850"/>
          </a:xfrm>
          <a:prstGeom prst="rect">
            <a:avLst/>
          </a:prstGeom>
          <a:solidFill>
            <a:srgbClr val="F8EFE2">
              <a:alpha val="92000"/>
            </a:srgbClr>
          </a:solidFill>
          <a:ln w="12700">
            <a:solidFill>
              <a:srgbClr val="F8EFE2">
                <a:alpha val="0"/>
              </a:srgbClr>
            </a:solidFill>
            <a:prstDash val="solid"/>
          </a:ln>
        </p:spPr>
      </p:sp>
      <p:sp>
        <p:nvSpPr>
          <p:cNvPr id="77" name="Shape 75"/>
          <p:cNvSpPr/>
          <p:nvPr/>
        </p:nvSpPr>
        <p:spPr>
          <a:xfrm>
            <a:off x="1923898" y="1415263"/>
            <a:ext cx="124765" cy="169850"/>
          </a:xfrm>
          <a:prstGeom prst="rect">
            <a:avLst/>
          </a:prstGeom>
          <a:solidFill>
            <a:srgbClr val="E9A15F">
              <a:alpha val="92000"/>
            </a:srgbClr>
          </a:solidFill>
          <a:ln w="12700">
            <a:solidFill>
              <a:srgbClr val="E9A15F">
                <a:alpha val="0"/>
              </a:srgbClr>
            </a:solidFill>
            <a:prstDash val="solid"/>
          </a:ln>
        </p:spPr>
      </p:sp>
      <p:sp>
        <p:nvSpPr>
          <p:cNvPr id="78" name="Shape 76"/>
          <p:cNvSpPr/>
          <p:nvPr/>
        </p:nvSpPr>
        <p:spPr>
          <a:xfrm>
            <a:off x="1923898" y="1592428"/>
            <a:ext cx="124765" cy="169850"/>
          </a:xfrm>
          <a:prstGeom prst="rect">
            <a:avLst/>
          </a:prstGeom>
          <a:solidFill>
            <a:srgbClr val="6D5BD0">
              <a:alpha val="92000"/>
            </a:srgbClr>
          </a:solidFill>
          <a:ln w="12700">
            <a:solidFill>
              <a:srgbClr val="6D5BD0">
                <a:alpha val="0"/>
              </a:srgbClr>
            </a:solidFill>
            <a:prstDash val="solid"/>
          </a:ln>
        </p:spPr>
      </p:sp>
      <p:sp>
        <p:nvSpPr>
          <p:cNvPr id="79" name="Shape 77"/>
          <p:cNvSpPr/>
          <p:nvPr/>
        </p:nvSpPr>
        <p:spPr>
          <a:xfrm>
            <a:off x="1923898" y="1769593"/>
            <a:ext cx="124765" cy="169850"/>
          </a:xfrm>
          <a:prstGeom prst="rect">
            <a:avLst/>
          </a:prstGeom>
          <a:solidFill>
            <a:srgbClr val="6D5BD0">
              <a:alpha val="92000"/>
            </a:srgbClr>
          </a:solidFill>
          <a:ln w="12700">
            <a:solidFill>
              <a:srgbClr val="6D5BD0">
                <a:alpha val="0"/>
              </a:srgbClr>
            </a:solidFill>
            <a:prstDash val="solid"/>
          </a:ln>
        </p:spPr>
      </p:sp>
      <p:sp>
        <p:nvSpPr>
          <p:cNvPr id="80" name="Shape 78"/>
          <p:cNvSpPr/>
          <p:nvPr/>
        </p:nvSpPr>
        <p:spPr>
          <a:xfrm>
            <a:off x="1923898" y="1946758"/>
            <a:ext cx="124765" cy="169850"/>
          </a:xfrm>
          <a:prstGeom prst="rect">
            <a:avLst/>
          </a:prstGeom>
          <a:solidFill>
            <a:srgbClr val="B6545A">
              <a:alpha val="92000"/>
            </a:srgbClr>
          </a:solidFill>
          <a:ln w="12700">
            <a:solidFill>
              <a:srgbClr val="B6545A">
                <a:alpha val="0"/>
              </a:srgbClr>
            </a:solidFill>
            <a:prstDash val="solid"/>
          </a:ln>
        </p:spPr>
      </p:sp>
      <p:sp>
        <p:nvSpPr>
          <p:cNvPr id="81" name="Shape 79"/>
          <p:cNvSpPr/>
          <p:nvPr/>
        </p:nvSpPr>
        <p:spPr>
          <a:xfrm>
            <a:off x="1923898" y="2123923"/>
            <a:ext cx="124765" cy="169850"/>
          </a:xfrm>
          <a:prstGeom prst="rect">
            <a:avLst/>
          </a:prstGeom>
          <a:solidFill>
            <a:srgbClr val="EFC97F">
              <a:alpha val="92000"/>
            </a:srgbClr>
          </a:solidFill>
          <a:ln w="12700">
            <a:solidFill>
              <a:srgbClr val="EFC97F">
                <a:alpha val="0"/>
              </a:srgbClr>
            </a:solidFill>
            <a:prstDash val="solid"/>
          </a:ln>
        </p:spPr>
      </p:sp>
      <p:sp>
        <p:nvSpPr>
          <p:cNvPr id="82" name="Shape 80"/>
          <p:cNvSpPr/>
          <p:nvPr/>
        </p:nvSpPr>
        <p:spPr>
          <a:xfrm>
            <a:off x="1923898" y="2301088"/>
            <a:ext cx="124765" cy="169850"/>
          </a:xfrm>
          <a:prstGeom prst="rect">
            <a:avLst/>
          </a:prstGeom>
          <a:solidFill>
            <a:srgbClr val="F4DDB7">
              <a:alpha val="92000"/>
            </a:srgbClr>
          </a:solidFill>
          <a:ln w="12700">
            <a:solidFill>
              <a:srgbClr val="F4DDB7">
                <a:alpha val="0"/>
              </a:srgbClr>
            </a:solidFill>
            <a:prstDash val="solid"/>
          </a:ln>
        </p:spPr>
      </p:sp>
      <p:sp>
        <p:nvSpPr>
          <p:cNvPr id="83" name="Shape 81"/>
          <p:cNvSpPr/>
          <p:nvPr/>
        </p:nvSpPr>
        <p:spPr>
          <a:xfrm>
            <a:off x="1923898" y="2478253"/>
            <a:ext cx="124765" cy="169850"/>
          </a:xfrm>
          <a:prstGeom prst="rect">
            <a:avLst/>
          </a:prstGeom>
          <a:solidFill>
            <a:srgbClr val="DC7B52">
              <a:alpha val="92000"/>
            </a:srgbClr>
          </a:solidFill>
          <a:ln w="12700">
            <a:solidFill>
              <a:srgbClr val="DC7B52">
                <a:alpha val="0"/>
              </a:srgbClr>
            </a:solidFill>
            <a:prstDash val="solid"/>
          </a:ln>
        </p:spPr>
      </p:sp>
      <p:sp>
        <p:nvSpPr>
          <p:cNvPr id="84" name="Shape 82"/>
          <p:cNvSpPr/>
          <p:nvPr/>
        </p:nvSpPr>
        <p:spPr>
          <a:xfrm>
            <a:off x="2055978" y="1238098"/>
            <a:ext cx="124765" cy="169850"/>
          </a:xfrm>
          <a:prstGeom prst="rect">
            <a:avLst/>
          </a:prstGeom>
          <a:solidFill>
            <a:srgbClr val="DC7B52">
              <a:alpha val="92000"/>
            </a:srgbClr>
          </a:solidFill>
          <a:ln w="12700">
            <a:solidFill>
              <a:srgbClr val="DC7B52">
                <a:alpha val="0"/>
              </a:srgbClr>
            </a:solidFill>
            <a:prstDash val="solid"/>
          </a:ln>
        </p:spPr>
      </p:sp>
      <p:sp>
        <p:nvSpPr>
          <p:cNvPr id="85" name="Shape 83"/>
          <p:cNvSpPr/>
          <p:nvPr/>
        </p:nvSpPr>
        <p:spPr>
          <a:xfrm>
            <a:off x="2055978" y="1415263"/>
            <a:ext cx="124765" cy="169850"/>
          </a:xfrm>
          <a:prstGeom prst="rect">
            <a:avLst/>
          </a:prstGeom>
          <a:solidFill>
            <a:srgbClr val="6D5BD0">
              <a:alpha val="92000"/>
            </a:srgbClr>
          </a:solidFill>
          <a:ln w="12700">
            <a:solidFill>
              <a:srgbClr val="6D5BD0">
                <a:alpha val="0"/>
              </a:srgbClr>
            </a:solidFill>
            <a:prstDash val="solid"/>
          </a:ln>
        </p:spPr>
      </p:sp>
      <p:sp>
        <p:nvSpPr>
          <p:cNvPr id="86" name="Shape 84"/>
          <p:cNvSpPr/>
          <p:nvPr/>
        </p:nvSpPr>
        <p:spPr>
          <a:xfrm>
            <a:off x="2055978" y="1592428"/>
            <a:ext cx="124765" cy="169850"/>
          </a:xfrm>
          <a:prstGeom prst="rect">
            <a:avLst/>
          </a:prstGeom>
          <a:solidFill>
            <a:srgbClr val="6D5BD0">
              <a:alpha val="92000"/>
            </a:srgbClr>
          </a:solidFill>
          <a:ln w="12700">
            <a:solidFill>
              <a:srgbClr val="6D5BD0">
                <a:alpha val="0"/>
              </a:srgbClr>
            </a:solidFill>
            <a:prstDash val="solid"/>
          </a:ln>
        </p:spPr>
      </p:sp>
      <p:sp>
        <p:nvSpPr>
          <p:cNvPr id="87" name="Shape 85"/>
          <p:cNvSpPr/>
          <p:nvPr/>
        </p:nvSpPr>
        <p:spPr>
          <a:xfrm>
            <a:off x="2055978" y="1769593"/>
            <a:ext cx="124765" cy="169850"/>
          </a:xfrm>
          <a:prstGeom prst="rect">
            <a:avLst/>
          </a:prstGeom>
          <a:solidFill>
            <a:srgbClr val="DC7B52">
              <a:alpha val="92000"/>
            </a:srgbClr>
          </a:solidFill>
          <a:ln w="12700">
            <a:solidFill>
              <a:srgbClr val="DC7B52">
                <a:alpha val="0"/>
              </a:srgbClr>
            </a:solidFill>
            <a:prstDash val="solid"/>
          </a:ln>
        </p:spPr>
      </p:sp>
      <p:sp>
        <p:nvSpPr>
          <p:cNvPr id="88" name="Shape 86"/>
          <p:cNvSpPr/>
          <p:nvPr/>
        </p:nvSpPr>
        <p:spPr>
          <a:xfrm>
            <a:off x="2055978" y="1946758"/>
            <a:ext cx="124765" cy="169850"/>
          </a:xfrm>
          <a:prstGeom prst="rect">
            <a:avLst/>
          </a:prstGeom>
          <a:solidFill>
            <a:srgbClr val="F4DDB7">
              <a:alpha val="92000"/>
            </a:srgbClr>
          </a:solidFill>
          <a:ln w="12700">
            <a:solidFill>
              <a:srgbClr val="F4DDB7">
                <a:alpha val="0"/>
              </a:srgbClr>
            </a:solidFill>
            <a:prstDash val="solid"/>
          </a:ln>
        </p:spPr>
      </p:sp>
      <p:sp>
        <p:nvSpPr>
          <p:cNvPr id="89" name="Shape 87"/>
          <p:cNvSpPr/>
          <p:nvPr/>
        </p:nvSpPr>
        <p:spPr>
          <a:xfrm>
            <a:off x="2055978" y="2123923"/>
            <a:ext cx="124765" cy="169850"/>
          </a:xfrm>
          <a:prstGeom prst="rect">
            <a:avLst/>
          </a:prstGeom>
          <a:solidFill>
            <a:srgbClr val="EFC97F">
              <a:alpha val="92000"/>
            </a:srgbClr>
          </a:solidFill>
          <a:ln w="12700">
            <a:solidFill>
              <a:srgbClr val="EFC97F">
                <a:alpha val="0"/>
              </a:srgbClr>
            </a:solidFill>
            <a:prstDash val="solid"/>
          </a:ln>
        </p:spPr>
      </p:sp>
      <p:sp>
        <p:nvSpPr>
          <p:cNvPr id="90" name="Shape 88"/>
          <p:cNvSpPr/>
          <p:nvPr/>
        </p:nvSpPr>
        <p:spPr>
          <a:xfrm>
            <a:off x="2055978" y="2301088"/>
            <a:ext cx="124765" cy="169850"/>
          </a:xfrm>
          <a:prstGeom prst="rect">
            <a:avLst/>
          </a:prstGeom>
          <a:solidFill>
            <a:srgbClr val="B6545A">
              <a:alpha val="92000"/>
            </a:srgbClr>
          </a:solidFill>
          <a:ln w="12700">
            <a:solidFill>
              <a:srgbClr val="B6545A">
                <a:alpha val="0"/>
              </a:srgbClr>
            </a:solidFill>
            <a:prstDash val="solid"/>
          </a:ln>
        </p:spPr>
      </p:sp>
      <p:sp>
        <p:nvSpPr>
          <p:cNvPr id="91" name="Shape 89"/>
          <p:cNvSpPr/>
          <p:nvPr/>
        </p:nvSpPr>
        <p:spPr>
          <a:xfrm>
            <a:off x="2055978" y="2478253"/>
            <a:ext cx="124765" cy="169850"/>
          </a:xfrm>
          <a:prstGeom prst="rect">
            <a:avLst/>
          </a:prstGeom>
          <a:solidFill>
            <a:srgbClr val="6D5BD0">
              <a:alpha val="92000"/>
            </a:srgbClr>
          </a:solidFill>
          <a:ln w="12700">
            <a:solidFill>
              <a:srgbClr val="6D5BD0">
                <a:alpha val="0"/>
              </a:srgbClr>
            </a:solidFill>
            <a:prstDash val="solid"/>
          </a:ln>
        </p:spPr>
      </p:sp>
      <p:sp>
        <p:nvSpPr>
          <p:cNvPr id="92" name="Shape 90"/>
          <p:cNvSpPr/>
          <p:nvPr/>
        </p:nvSpPr>
        <p:spPr>
          <a:xfrm>
            <a:off x="2188058" y="1238098"/>
            <a:ext cx="124765" cy="169850"/>
          </a:xfrm>
          <a:prstGeom prst="rect">
            <a:avLst/>
          </a:prstGeom>
          <a:solidFill>
            <a:srgbClr val="6D5BD0">
              <a:alpha val="92000"/>
            </a:srgbClr>
          </a:solidFill>
          <a:ln w="12700">
            <a:solidFill>
              <a:srgbClr val="6D5BD0">
                <a:alpha val="0"/>
              </a:srgbClr>
            </a:solidFill>
            <a:prstDash val="solid"/>
          </a:ln>
        </p:spPr>
      </p:sp>
      <p:sp>
        <p:nvSpPr>
          <p:cNvPr id="93" name="Shape 91"/>
          <p:cNvSpPr/>
          <p:nvPr/>
        </p:nvSpPr>
        <p:spPr>
          <a:xfrm>
            <a:off x="2188058" y="1415263"/>
            <a:ext cx="124765" cy="169850"/>
          </a:xfrm>
          <a:prstGeom prst="rect">
            <a:avLst/>
          </a:prstGeom>
          <a:solidFill>
            <a:srgbClr val="6D5BD0">
              <a:alpha val="92000"/>
            </a:srgbClr>
          </a:solidFill>
          <a:ln w="12700">
            <a:solidFill>
              <a:srgbClr val="6D5BD0">
                <a:alpha val="0"/>
              </a:srgbClr>
            </a:solidFill>
            <a:prstDash val="solid"/>
          </a:ln>
        </p:spPr>
      </p:sp>
      <p:sp>
        <p:nvSpPr>
          <p:cNvPr id="94" name="Shape 92"/>
          <p:cNvSpPr/>
          <p:nvPr/>
        </p:nvSpPr>
        <p:spPr>
          <a:xfrm>
            <a:off x="2188058" y="1592428"/>
            <a:ext cx="124765" cy="169850"/>
          </a:xfrm>
          <a:prstGeom prst="rect">
            <a:avLst/>
          </a:prstGeom>
          <a:solidFill>
            <a:srgbClr val="DC7B52">
              <a:alpha val="92000"/>
            </a:srgbClr>
          </a:solidFill>
          <a:ln w="12700">
            <a:solidFill>
              <a:srgbClr val="DC7B52">
                <a:alpha val="0"/>
              </a:srgbClr>
            </a:solidFill>
            <a:prstDash val="solid"/>
          </a:ln>
        </p:spPr>
      </p:sp>
      <p:sp>
        <p:nvSpPr>
          <p:cNvPr id="95" name="Shape 93"/>
          <p:cNvSpPr/>
          <p:nvPr/>
        </p:nvSpPr>
        <p:spPr>
          <a:xfrm>
            <a:off x="2188058" y="1769593"/>
            <a:ext cx="124765" cy="169850"/>
          </a:xfrm>
          <a:prstGeom prst="rect">
            <a:avLst/>
          </a:prstGeom>
          <a:solidFill>
            <a:srgbClr val="F8EFE2">
              <a:alpha val="92000"/>
            </a:srgbClr>
          </a:solidFill>
          <a:ln w="12700">
            <a:solidFill>
              <a:srgbClr val="F8EFE2">
                <a:alpha val="0"/>
              </a:srgbClr>
            </a:solidFill>
            <a:prstDash val="solid"/>
          </a:ln>
        </p:spPr>
      </p:sp>
      <p:sp>
        <p:nvSpPr>
          <p:cNvPr id="96" name="Shape 94"/>
          <p:cNvSpPr/>
          <p:nvPr/>
        </p:nvSpPr>
        <p:spPr>
          <a:xfrm>
            <a:off x="2188058" y="1946758"/>
            <a:ext cx="124765" cy="169850"/>
          </a:xfrm>
          <a:prstGeom prst="rect">
            <a:avLst/>
          </a:prstGeom>
          <a:solidFill>
            <a:srgbClr val="E9A15F">
              <a:alpha val="92000"/>
            </a:srgbClr>
          </a:solidFill>
          <a:ln w="12700">
            <a:solidFill>
              <a:srgbClr val="E9A15F">
                <a:alpha val="0"/>
              </a:srgbClr>
            </a:solidFill>
            <a:prstDash val="solid"/>
          </a:ln>
        </p:spPr>
      </p:sp>
      <p:sp>
        <p:nvSpPr>
          <p:cNvPr id="97" name="Shape 95"/>
          <p:cNvSpPr/>
          <p:nvPr/>
        </p:nvSpPr>
        <p:spPr>
          <a:xfrm>
            <a:off x="2188058" y="2123923"/>
            <a:ext cx="124765" cy="169850"/>
          </a:xfrm>
          <a:prstGeom prst="rect">
            <a:avLst/>
          </a:prstGeom>
          <a:solidFill>
            <a:srgbClr val="B6545A">
              <a:alpha val="92000"/>
            </a:srgbClr>
          </a:solidFill>
          <a:ln w="12700">
            <a:solidFill>
              <a:srgbClr val="B6545A">
                <a:alpha val="0"/>
              </a:srgbClr>
            </a:solidFill>
            <a:prstDash val="solid"/>
          </a:ln>
        </p:spPr>
      </p:sp>
      <p:sp>
        <p:nvSpPr>
          <p:cNvPr id="98" name="Shape 96"/>
          <p:cNvSpPr/>
          <p:nvPr/>
        </p:nvSpPr>
        <p:spPr>
          <a:xfrm>
            <a:off x="2188058" y="2301088"/>
            <a:ext cx="124765" cy="169850"/>
          </a:xfrm>
          <a:prstGeom prst="rect">
            <a:avLst/>
          </a:prstGeom>
          <a:solidFill>
            <a:srgbClr val="6D5BD0">
              <a:alpha val="92000"/>
            </a:srgbClr>
          </a:solidFill>
          <a:ln w="12700">
            <a:solidFill>
              <a:srgbClr val="6D5BD0">
                <a:alpha val="0"/>
              </a:srgbClr>
            </a:solidFill>
            <a:prstDash val="solid"/>
          </a:ln>
        </p:spPr>
      </p:sp>
      <p:sp>
        <p:nvSpPr>
          <p:cNvPr id="99" name="Shape 97"/>
          <p:cNvSpPr/>
          <p:nvPr/>
        </p:nvSpPr>
        <p:spPr>
          <a:xfrm>
            <a:off x="2188058" y="2478253"/>
            <a:ext cx="124765" cy="169850"/>
          </a:xfrm>
          <a:prstGeom prst="rect">
            <a:avLst/>
          </a:prstGeom>
          <a:solidFill>
            <a:srgbClr val="B6545A">
              <a:alpha val="92000"/>
            </a:srgbClr>
          </a:solidFill>
          <a:ln w="12700">
            <a:solidFill>
              <a:srgbClr val="B6545A">
                <a:alpha val="0"/>
              </a:srgbClr>
            </a:solidFill>
            <a:prstDash val="solid"/>
          </a:ln>
        </p:spPr>
      </p:sp>
      <p:sp>
        <p:nvSpPr>
          <p:cNvPr id="100" name="Shape 98"/>
          <p:cNvSpPr/>
          <p:nvPr/>
        </p:nvSpPr>
        <p:spPr>
          <a:xfrm>
            <a:off x="2320138" y="1238098"/>
            <a:ext cx="124765" cy="169850"/>
          </a:xfrm>
          <a:prstGeom prst="rect">
            <a:avLst/>
          </a:prstGeom>
          <a:solidFill>
            <a:srgbClr val="B6545A">
              <a:alpha val="92000"/>
            </a:srgbClr>
          </a:solidFill>
          <a:ln w="12700">
            <a:solidFill>
              <a:srgbClr val="B6545A">
                <a:alpha val="0"/>
              </a:srgbClr>
            </a:solidFill>
            <a:prstDash val="solid"/>
          </a:ln>
        </p:spPr>
      </p:sp>
      <p:sp>
        <p:nvSpPr>
          <p:cNvPr id="101" name="Shape 99"/>
          <p:cNvSpPr/>
          <p:nvPr/>
        </p:nvSpPr>
        <p:spPr>
          <a:xfrm>
            <a:off x="2320138" y="1415263"/>
            <a:ext cx="124765" cy="169850"/>
          </a:xfrm>
          <a:prstGeom prst="rect">
            <a:avLst/>
          </a:prstGeom>
          <a:solidFill>
            <a:srgbClr val="E9A15F">
              <a:alpha val="92000"/>
            </a:srgbClr>
          </a:solidFill>
          <a:ln w="12700">
            <a:solidFill>
              <a:srgbClr val="E9A15F">
                <a:alpha val="0"/>
              </a:srgbClr>
            </a:solidFill>
            <a:prstDash val="solid"/>
          </a:ln>
        </p:spPr>
      </p:sp>
      <p:sp>
        <p:nvSpPr>
          <p:cNvPr id="102" name="Shape 100"/>
          <p:cNvSpPr/>
          <p:nvPr/>
        </p:nvSpPr>
        <p:spPr>
          <a:xfrm>
            <a:off x="2320138" y="1592428"/>
            <a:ext cx="124765" cy="169850"/>
          </a:xfrm>
          <a:prstGeom prst="rect">
            <a:avLst/>
          </a:prstGeom>
          <a:solidFill>
            <a:srgbClr val="F8EFE2">
              <a:alpha val="92000"/>
            </a:srgbClr>
          </a:solidFill>
          <a:ln w="12700">
            <a:solidFill>
              <a:srgbClr val="F8EFE2">
                <a:alpha val="0"/>
              </a:srgbClr>
            </a:solidFill>
            <a:prstDash val="solid"/>
          </a:ln>
        </p:spPr>
      </p:sp>
      <p:sp>
        <p:nvSpPr>
          <p:cNvPr id="103" name="Shape 101"/>
          <p:cNvSpPr/>
          <p:nvPr/>
        </p:nvSpPr>
        <p:spPr>
          <a:xfrm>
            <a:off x="2320138" y="1769593"/>
            <a:ext cx="124765" cy="169850"/>
          </a:xfrm>
          <a:prstGeom prst="rect">
            <a:avLst/>
          </a:prstGeom>
          <a:solidFill>
            <a:srgbClr val="DC7B52">
              <a:alpha val="92000"/>
            </a:srgbClr>
          </a:solidFill>
          <a:ln w="12700">
            <a:solidFill>
              <a:srgbClr val="DC7B52">
                <a:alpha val="0"/>
              </a:srgbClr>
            </a:solidFill>
            <a:prstDash val="solid"/>
          </a:ln>
        </p:spPr>
      </p:sp>
      <p:sp>
        <p:nvSpPr>
          <p:cNvPr id="104" name="Shape 102"/>
          <p:cNvSpPr/>
          <p:nvPr/>
        </p:nvSpPr>
        <p:spPr>
          <a:xfrm>
            <a:off x="2320138" y="1946758"/>
            <a:ext cx="124765" cy="169850"/>
          </a:xfrm>
          <a:prstGeom prst="rect">
            <a:avLst/>
          </a:prstGeom>
          <a:solidFill>
            <a:srgbClr val="6D5BD0">
              <a:alpha val="92000"/>
            </a:srgbClr>
          </a:solidFill>
          <a:ln w="12700">
            <a:solidFill>
              <a:srgbClr val="6D5BD0">
                <a:alpha val="0"/>
              </a:srgbClr>
            </a:solidFill>
            <a:prstDash val="solid"/>
          </a:ln>
        </p:spPr>
      </p:sp>
      <p:sp>
        <p:nvSpPr>
          <p:cNvPr id="105" name="Shape 103"/>
          <p:cNvSpPr/>
          <p:nvPr/>
        </p:nvSpPr>
        <p:spPr>
          <a:xfrm>
            <a:off x="2320138" y="2123923"/>
            <a:ext cx="124765" cy="169850"/>
          </a:xfrm>
          <a:prstGeom prst="rect">
            <a:avLst/>
          </a:prstGeom>
          <a:solidFill>
            <a:srgbClr val="6D5BD0">
              <a:alpha val="92000"/>
            </a:srgbClr>
          </a:solidFill>
          <a:ln w="12700">
            <a:solidFill>
              <a:srgbClr val="6D5BD0">
                <a:alpha val="0"/>
              </a:srgbClr>
            </a:solidFill>
            <a:prstDash val="solid"/>
          </a:ln>
        </p:spPr>
      </p:sp>
      <p:sp>
        <p:nvSpPr>
          <p:cNvPr id="106" name="Shape 104"/>
          <p:cNvSpPr/>
          <p:nvPr/>
        </p:nvSpPr>
        <p:spPr>
          <a:xfrm>
            <a:off x="2320138" y="2301088"/>
            <a:ext cx="124765" cy="169850"/>
          </a:xfrm>
          <a:prstGeom prst="rect">
            <a:avLst/>
          </a:prstGeom>
          <a:solidFill>
            <a:srgbClr val="B6545A">
              <a:alpha val="92000"/>
            </a:srgbClr>
          </a:solidFill>
          <a:ln w="12700">
            <a:solidFill>
              <a:srgbClr val="B6545A">
                <a:alpha val="0"/>
              </a:srgbClr>
            </a:solidFill>
            <a:prstDash val="solid"/>
          </a:ln>
        </p:spPr>
      </p:sp>
      <p:sp>
        <p:nvSpPr>
          <p:cNvPr id="107" name="Shape 105"/>
          <p:cNvSpPr/>
          <p:nvPr/>
        </p:nvSpPr>
        <p:spPr>
          <a:xfrm>
            <a:off x="2320138" y="2478253"/>
            <a:ext cx="124765" cy="169850"/>
          </a:xfrm>
          <a:prstGeom prst="rect">
            <a:avLst/>
          </a:prstGeom>
          <a:solidFill>
            <a:srgbClr val="EFC97F">
              <a:alpha val="92000"/>
            </a:srgbClr>
          </a:solidFill>
          <a:ln w="12700">
            <a:solidFill>
              <a:srgbClr val="EFC97F">
                <a:alpha val="0"/>
              </a:srgbClr>
            </a:solidFill>
            <a:prstDash val="solid"/>
          </a:ln>
        </p:spPr>
      </p:sp>
      <p:sp>
        <p:nvSpPr>
          <p:cNvPr id="108" name="Shape 106"/>
          <p:cNvSpPr/>
          <p:nvPr/>
        </p:nvSpPr>
        <p:spPr>
          <a:xfrm>
            <a:off x="2452218" y="1238098"/>
            <a:ext cx="124765" cy="169850"/>
          </a:xfrm>
          <a:prstGeom prst="rect">
            <a:avLst/>
          </a:prstGeom>
          <a:solidFill>
            <a:srgbClr val="EFC97F">
              <a:alpha val="92000"/>
            </a:srgbClr>
          </a:solidFill>
          <a:ln w="12700">
            <a:solidFill>
              <a:srgbClr val="EFC97F">
                <a:alpha val="0"/>
              </a:srgbClr>
            </a:solidFill>
            <a:prstDash val="solid"/>
          </a:ln>
        </p:spPr>
      </p:sp>
      <p:sp>
        <p:nvSpPr>
          <p:cNvPr id="109" name="Shape 107"/>
          <p:cNvSpPr/>
          <p:nvPr/>
        </p:nvSpPr>
        <p:spPr>
          <a:xfrm>
            <a:off x="2452218" y="1415263"/>
            <a:ext cx="124765" cy="169850"/>
          </a:xfrm>
          <a:prstGeom prst="rect">
            <a:avLst/>
          </a:prstGeom>
          <a:solidFill>
            <a:srgbClr val="F4DDB7">
              <a:alpha val="92000"/>
            </a:srgbClr>
          </a:solidFill>
          <a:ln w="12700">
            <a:solidFill>
              <a:srgbClr val="F4DDB7">
                <a:alpha val="0"/>
              </a:srgbClr>
            </a:solidFill>
            <a:prstDash val="solid"/>
          </a:ln>
        </p:spPr>
      </p:sp>
      <p:sp>
        <p:nvSpPr>
          <p:cNvPr id="110" name="Shape 108"/>
          <p:cNvSpPr/>
          <p:nvPr/>
        </p:nvSpPr>
        <p:spPr>
          <a:xfrm>
            <a:off x="2452218" y="1592428"/>
            <a:ext cx="124765" cy="169850"/>
          </a:xfrm>
          <a:prstGeom prst="rect">
            <a:avLst/>
          </a:prstGeom>
          <a:solidFill>
            <a:srgbClr val="DC7B52">
              <a:alpha val="92000"/>
            </a:srgbClr>
          </a:solidFill>
          <a:ln w="12700">
            <a:solidFill>
              <a:srgbClr val="DC7B52">
                <a:alpha val="0"/>
              </a:srgbClr>
            </a:solidFill>
            <a:prstDash val="solid"/>
          </a:ln>
        </p:spPr>
      </p:sp>
      <p:sp>
        <p:nvSpPr>
          <p:cNvPr id="111" name="Shape 109"/>
          <p:cNvSpPr/>
          <p:nvPr/>
        </p:nvSpPr>
        <p:spPr>
          <a:xfrm>
            <a:off x="2452218" y="1769593"/>
            <a:ext cx="124765" cy="169850"/>
          </a:xfrm>
          <a:prstGeom prst="rect">
            <a:avLst/>
          </a:prstGeom>
          <a:solidFill>
            <a:srgbClr val="6D5BD0">
              <a:alpha val="92000"/>
            </a:srgbClr>
          </a:solidFill>
          <a:ln w="12700">
            <a:solidFill>
              <a:srgbClr val="6D5BD0">
                <a:alpha val="0"/>
              </a:srgbClr>
            </a:solidFill>
            <a:prstDash val="solid"/>
          </a:ln>
        </p:spPr>
      </p:sp>
      <p:sp>
        <p:nvSpPr>
          <p:cNvPr id="112" name="Shape 110"/>
          <p:cNvSpPr/>
          <p:nvPr/>
        </p:nvSpPr>
        <p:spPr>
          <a:xfrm>
            <a:off x="2452218" y="1946758"/>
            <a:ext cx="124765" cy="169850"/>
          </a:xfrm>
          <a:prstGeom prst="rect">
            <a:avLst/>
          </a:prstGeom>
          <a:solidFill>
            <a:srgbClr val="6D5BD0">
              <a:alpha val="92000"/>
            </a:srgbClr>
          </a:solidFill>
          <a:ln w="12700">
            <a:solidFill>
              <a:srgbClr val="6D5BD0">
                <a:alpha val="0"/>
              </a:srgbClr>
            </a:solidFill>
            <a:prstDash val="solid"/>
          </a:ln>
        </p:spPr>
      </p:sp>
      <p:sp>
        <p:nvSpPr>
          <p:cNvPr id="113" name="Shape 111"/>
          <p:cNvSpPr/>
          <p:nvPr/>
        </p:nvSpPr>
        <p:spPr>
          <a:xfrm>
            <a:off x="2452218" y="2123923"/>
            <a:ext cx="124765" cy="169850"/>
          </a:xfrm>
          <a:prstGeom prst="rect">
            <a:avLst/>
          </a:prstGeom>
          <a:solidFill>
            <a:srgbClr val="DC7B52">
              <a:alpha val="92000"/>
            </a:srgbClr>
          </a:solidFill>
          <a:ln w="12700">
            <a:solidFill>
              <a:srgbClr val="DC7B52">
                <a:alpha val="0"/>
              </a:srgbClr>
            </a:solidFill>
            <a:prstDash val="solid"/>
          </a:ln>
        </p:spPr>
      </p:sp>
      <p:sp>
        <p:nvSpPr>
          <p:cNvPr id="114" name="Shape 112"/>
          <p:cNvSpPr/>
          <p:nvPr/>
        </p:nvSpPr>
        <p:spPr>
          <a:xfrm>
            <a:off x="2452218" y="2301088"/>
            <a:ext cx="124765" cy="169850"/>
          </a:xfrm>
          <a:prstGeom prst="rect">
            <a:avLst/>
          </a:prstGeom>
          <a:solidFill>
            <a:srgbClr val="F4DDB7">
              <a:alpha val="92000"/>
            </a:srgbClr>
          </a:solidFill>
          <a:ln w="12700">
            <a:solidFill>
              <a:srgbClr val="F4DDB7">
                <a:alpha val="0"/>
              </a:srgbClr>
            </a:solidFill>
            <a:prstDash val="solid"/>
          </a:ln>
        </p:spPr>
      </p:sp>
      <p:sp>
        <p:nvSpPr>
          <p:cNvPr id="115" name="Shape 113"/>
          <p:cNvSpPr/>
          <p:nvPr/>
        </p:nvSpPr>
        <p:spPr>
          <a:xfrm>
            <a:off x="2452218" y="2478253"/>
            <a:ext cx="124765" cy="169850"/>
          </a:xfrm>
          <a:prstGeom prst="rect">
            <a:avLst/>
          </a:prstGeom>
          <a:solidFill>
            <a:srgbClr val="EFC97F">
              <a:alpha val="92000"/>
            </a:srgbClr>
          </a:solidFill>
          <a:ln w="12700">
            <a:solidFill>
              <a:srgbClr val="EFC97F">
                <a:alpha val="0"/>
              </a:srgbClr>
            </a:solidFill>
            <a:prstDash val="solid"/>
          </a:ln>
        </p:spPr>
      </p:sp>
      <p:sp>
        <p:nvSpPr>
          <p:cNvPr id="116" name="Shape 114"/>
          <p:cNvSpPr/>
          <p:nvPr/>
        </p:nvSpPr>
        <p:spPr>
          <a:xfrm>
            <a:off x="2584298" y="1238098"/>
            <a:ext cx="124765" cy="169850"/>
          </a:xfrm>
          <a:prstGeom prst="rect">
            <a:avLst/>
          </a:prstGeom>
          <a:solidFill>
            <a:srgbClr val="EFC97F">
              <a:alpha val="92000"/>
            </a:srgbClr>
          </a:solidFill>
          <a:ln w="12700">
            <a:solidFill>
              <a:srgbClr val="EFC97F">
                <a:alpha val="0"/>
              </a:srgbClr>
            </a:solidFill>
            <a:prstDash val="solid"/>
          </a:ln>
        </p:spPr>
      </p:sp>
      <p:sp>
        <p:nvSpPr>
          <p:cNvPr id="117" name="Shape 115"/>
          <p:cNvSpPr/>
          <p:nvPr/>
        </p:nvSpPr>
        <p:spPr>
          <a:xfrm>
            <a:off x="2584298" y="1415263"/>
            <a:ext cx="124765" cy="169850"/>
          </a:xfrm>
          <a:prstGeom prst="rect">
            <a:avLst/>
          </a:prstGeom>
          <a:solidFill>
            <a:srgbClr val="B6545A">
              <a:alpha val="92000"/>
            </a:srgbClr>
          </a:solidFill>
          <a:ln w="12700">
            <a:solidFill>
              <a:srgbClr val="B6545A">
                <a:alpha val="0"/>
              </a:srgbClr>
            </a:solidFill>
            <a:prstDash val="solid"/>
          </a:ln>
        </p:spPr>
      </p:sp>
      <p:sp>
        <p:nvSpPr>
          <p:cNvPr id="118" name="Shape 116"/>
          <p:cNvSpPr/>
          <p:nvPr/>
        </p:nvSpPr>
        <p:spPr>
          <a:xfrm>
            <a:off x="2584298" y="1592428"/>
            <a:ext cx="124765" cy="169850"/>
          </a:xfrm>
          <a:prstGeom prst="rect">
            <a:avLst/>
          </a:prstGeom>
          <a:solidFill>
            <a:srgbClr val="6D5BD0">
              <a:alpha val="92000"/>
            </a:srgbClr>
          </a:solidFill>
          <a:ln w="12700">
            <a:solidFill>
              <a:srgbClr val="6D5BD0">
                <a:alpha val="0"/>
              </a:srgbClr>
            </a:solidFill>
            <a:prstDash val="solid"/>
          </a:ln>
        </p:spPr>
      </p:sp>
      <p:sp>
        <p:nvSpPr>
          <p:cNvPr id="119" name="Shape 117"/>
          <p:cNvSpPr/>
          <p:nvPr/>
        </p:nvSpPr>
        <p:spPr>
          <a:xfrm>
            <a:off x="2584298" y="1769593"/>
            <a:ext cx="124765" cy="169850"/>
          </a:xfrm>
          <a:prstGeom prst="rect">
            <a:avLst/>
          </a:prstGeom>
          <a:solidFill>
            <a:srgbClr val="6D5BD0">
              <a:alpha val="92000"/>
            </a:srgbClr>
          </a:solidFill>
          <a:ln w="12700">
            <a:solidFill>
              <a:srgbClr val="6D5BD0">
                <a:alpha val="0"/>
              </a:srgbClr>
            </a:solidFill>
            <a:prstDash val="solid"/>
          </a:ln>
        </p:spPr>
      </p:sp>
      <p:sp>
        <p:nvSpPr>
          <p:cNvPr id="120" name="Shape 118"/>
          <p:cNvSpPr/>
          <p:nvPr/>
        </p:nvSpPr>
        <p:spPr>
          <a:xfrm>
            <a:off x="2584298" y="1946758"/>
            <a:ext cx="124765" cy="169850"/>
          </a:xfrm>
          <a:prstGeom prst="rect">
            <a:avLst/>
          </a:prstGeom>
          <a:solidFill>
            <a:srgbClr val="E9A15F">
              <a:alpha val="92000"/>
            </a:srgbClr>
          </a:solidFill>
          <a:ln w="12700">
            <a:solidFill>
              <a:srgbClr val="E9A15F">
                <a:alpha val="0"/>
              </a:srgbClr>
            </a:solidFill>
            <a:prstDash val="solid"/>
          </a:ln>
        </p:spPr>
      </p:sp>
      <p:sp>
        <p:nvSpPr>
          <p:cNvPr id="121" name="Shape 119"/>
          <p:cNvSpPr/>
          <p:nvPr/>
        </p:nvSpPr>
        <p:spPr>
          <a:xfrm>
            <a:off x="2584298" y="2123923"/>
            <a:ext cx="124765" cy="169850"/>
          </a:xfrm>
          <a:prstGeom prst="rect">
            <a:avLst/>
          </a:prstGeom>
          <a:solidFill>
            <a:srgbClr val="F8EFE2">
              <a:alpha val="92000"/>
            </a:srgbClr>
          </a:solidFill>
          <a:ln w="12700">
            <a:solidFill>
              <a:srgbClr val="F8EFE2">
                <a:alpha val="0"/>
              </a:srgbClr>
            </a:solidFill>
            <a:prstDash val="solid"/>
          </a:ln>
        </p:spPr>
      </p:sp>
      <p:sp>
        <p:nvSpPr>
          <p:cNvPr id="122" name="Shape 120"/>
          <p:cNvSpPr/>
          <p:nvPr/>
        </p:nvSpPr>
        <p:spPr>
          <a:xfrm>
            <a:off x="2584298" y="2301088"/>
            <a:ext cx="124765" cy="169850"/>
          </a:xfrm>
          <a:prstGeom prst="rect">
            <a:avLst/>
          </a:prstGeom>
          <a:solidFill>
            <a:srgbClr val="E9A15F">
              <a:alpha val="92000"/>
            </a:srgbClr>
          </a:solidFill>
          <a:ln w="12700">
            <a:solidFill>
              <a:srgbClr val="E9A15F">
                <a:alpha val="0"/>
              </a:srgbClr>
            </a:solidFill>
            <a:prstDash val="solid"/>
          </a:ln>
        </p:spPr>
      </p:sp>
      <p:sp>
        <p:nvSpPr>
          <p:cNvPr id="123" name="Shape 121"/>
          <p:cNvSpPr/>
          <p:nvPr/>
        </p:nvSpPr>
        <p:spPr>
          <a:xfrm>
            <a:off x="2584298" y="2478253"/>
            <a:ext cx="124765" cy="169850"/>
          </a:xfrm>
          <a:prstGeom prst="rect">
            <a:avLst/>
          </a:prstGeom>
          <a:solidFill>
            <a:srgbClr val="6D5BD0">
              <a:alpha val="92000"/>
            </a:srgbClr>
          </a:solidFill>
          <a:ln w="12700">
            <a:solidFill>
              <a:srgbClr val="6D5BD0">
                <a:alpha val="0"/>
              </a:srgbClr>
            </a:solidFill>
            <a:prstDash val="solid"/>
          </a:ln>
        </p:spPr>
      </p:sp>
      <p:sp>
        <p:nvSpPr>
          <p:cNvPr id="124" name="Shape 122"/>
          <p:cNvSpPr/>
          <p:nvPr/>
        </p:nvSpPr>
        <p:spPr>
          <a:xfrm>
            <a:off x="2716378" y="1238098"/>
            <a:ext cx="124765" cy="169850"/>
          </a:xfrm>
          <a:prstGeom prst="rect">
            <a:avLst/>
          </a:prstGeom>
          <a:solidFill>
            <a:srgbClr val="6D5BD0">
              <a:alpha val="92000"/>
            </a:srgbClr>
          </a:solidFill>
          <a:ln w="12700">
            <a:solidFill>
              <a:srgbClr val="6D5BD0">
                <a:alpha val="0"/>
              </a:srgbClr>
            </a:solidFill>
            <a:prstDash val="solid"/>
          </a:ln>
        </p:spPr>
      </p:sp>
      <p:sp>
        <p:nvSpPr>
          <p:cNvPr id="125" name="Shape 123"/>
          <p:cNvSpPr/>
          <p:nvPr/>
        </p:nvSpPr>
        <p:spPr>
          <a:xfrm>
            <a:off x="2716378" y="1415263"/>
            <a:ext cx="124765" cy="169850"/>
          </a:xfrm>
          <a:prstGeom prst="rect">
            <a:avLst/>
          </a:prstGeom>
          <a:solidFill>
            <a:srgbClr val="6D5BD0">
              <a:alpha val="92000"/>
            </a:srgbClr>
          </a:solidFill>
          <a:ln w="12700">
            <a:solidFill>
              <a:srgbClr val="6D5BD0">
                <a:alpha val="0"/>
              </a:srgbClr>
            </a:solidFill>
            <a:prstDash val="solid"/>
          </a:ln>
        </p:spPr>
      </p:sp>
      <p:sp>
        <p:nvSpPr>
          <p:cNvPr id="126" name="Shape 124"/>
          <p:cNvSpPr/>
          <p:nvPr/>
        </p:nvSpPr>
        <p:spPr>
          <a:xfrm>
            <a:off x="2716378" y="1592428"/>
            <a:ext cx="124765" cy="169850"/>
          </a:xfrm>
          <a:prstGeom prst="rect">
            <a:avLst/>
          </a:prstGeom>
          <a:solidFill>
            <a:srgbClr val="B6545A">
              <a:alpha val="92000"/>
            </a:srgbClr>
          </a:solidFill>
          <a:ln w="12700">
            <a:solidFill>
              <a:srgbClr val="B6545A">
                <a:alpha val="0"/>
              </a:srgbClr>
            </a:solidFill>
            <a:prstDash val="solid"/>
          </a:ln>
        </p:spPr>
      </p:sp>
      <p:sp>
        <p:nvSpPr>
          <p:cNvPr id="127" name="Shape 125"/>
          <p:cNvSpPr/>
          <p:nvPr/>
        </p:nvSpPr>
        <p:spPr>
          <a:xfrm>
            <a:off x="2716378" y="1769593"/>
            <a:ext cx="124765" cy="169850"/>
          </a:xfrm>
          <a:prstGeom prst="rect">
            <a:avLst/>
          </a:prstGeom>
          <a:solidFill>
            <a:srgbClr val="EFC97F">
              <a:alpha val="92000"/>
            </a:srgbClr>
          </a:solidFill>
          <a:ln w="12700">
            <a:solidFill>
              <a:srgbClr val="EFC97F">
                <a:alpha val="0"/>
              </a:srgbClr>
            </a:solidFill>
            <a:prstDash val="solid"/>
          </a:ln>
        </p:spPr>
      </p:sp>
      <p:sp>
        <p:nvSpPr>
          <p:cNvPr id="128" name="Shape 126"/>
          <p:cNvSpPr/>
          <p:nvPr/>
        </p:nvSpPr>
        <p:spPr>
          <a:xfrm>
            <a:off x="2716378" y="1946758"/>
            <a:ext cx="124765" cy="169850"/>
          </a:xfrm>
          <a:prstGeom prst="rect">
            <a:avLst/>
          </a:prstGeom>
          <a:solidFill>
            <a:srgbClr val="F8EFE2">
              <a:alpha val="92000"/>
            </a:srgbClr>
          </a:solidFill>
          <a:ln w="12700">
            <a:solidFill>
              <a:srgbClr val="F8EFE2">
                <a:alpha val="0"/>
              </a:srgbClr>
            </a:solidFill>
            <a:prstDash val="solid"/>
          </a:ln>
        </p:spPr>
      </p:sp>
      <p:sp>
        <p:nvSpPr>
          <p:cNvPr id="129" name="Shape 127"/>
          <p:cNvSpPr/>
          <p:nvPr/>
        </p:nvSpPr>
        <p:spPr>
          <a:xfrm>
            <a:off x="2716378" y="2123923"/>
            <a:ext cx="124765" cy="169850"/>
          </a:xfrm>
          <a:prstGeom prst="rect">
            <a:avLst/>
          </a:prstGeom>
          <a:solidFill>
            <a:srgbClr val="DC7B52">
              <a:alpha val="92000"/>
            </a:srgbClr>
          </a:solidFill>
          <a:ln w="12700">
            <a:solidFill>
              <a:srgbClr val="DC7B52">
                <a:alpha val="0"/>
              </a:srgbClr>
            </a:solidFill>
            <a:prstDash val="solid"/>
          </a:ln>
        </p:spPr>
      </p:sp>
      <p:sp>
        <p:nvSpPr>
          <p:cNvPr id="130" name="Shape 128"/>
          <p:cNvSpPr/>
          <p:nvPr/>
        </p:nvSpPr>
        <p:spPr>
          <a:xfrm>
            <a:off x="2716378" y="2301088"/>
            <a:ext cx="124765" cy="169850"/>
          </a:xfrm>
          <a:prstGeom prst="rect">
            <a:avLst/>
          </a:prstGeom>
          <a:solidFill>
            <a:srgbClr val="6D5BD0">
              <a:alpha val="92000"/>
            </a:srgbClr>
          </a:solidFill>
          <a:ln w="12700">
            <a:solidFill>
              <a:srgbClr val="6D5BD0">
                <a:alpha val="0"/>
              </a:srgbClr>
            </a:solidFill>
            <a:prstDash val="solid"/>
          </a:ln>
        </p:spPr>
      </p:sp>
      <p:sp>
        <p:nvSpPr>
          <p:cNvPr id="131" name="Shape 129"/>
          <p:cNvSpPr/>
          <p:nvPr/>
        </p:nvSpPr>
        <p:spPr>
          <a:xfrm>
            <a:off x="2716378" y="2478253"/>
            <a:ext cx="124765" cy="169850"/>
          </a:xfrm>
          <a:prstGeom prst="rect">
            <a:avLst/>
          </a:prstGeom>
          <a:solidFill>
            <a:srgbClr val="6D5BD0">
              <a:alpha val="92000"/>
            </a:srgbClr>
          </a:solidFill>
          <a:ln w="12700">
            <a:solidFill>
              <a:srgbClr val="6D5BD0">
                <a:alpha val="0"/>
              </a:srgbClr>
            </a:solidFill>
            <a:prstDash val="solid"/>
          </a:ln>
        </p:spPr>
      </p:sp>
      <p:sp>
        <p:nvSpPr>
          <p:cNvPr id="132" name="Shape 130"/>
          <p:cNvSpPr/>
          <p:nvPr/>
        </p:nvSpPr>
        <p:spPr>
          <a:xfrm>
            <a:off x="2848458" y="1238098"/>
            <a:ext cx="124765" cy="169850"/>
          </a:xfrm>
          <a:prstGeom prst="rect">
            <a:avLst/>
          </a:prstGeom>
          <a:solidFill>
            <a:srgbClr val="6D5BD0">
              <a:alpha val="92000"/>
            </a:srgbClr>
          </a:solidFill>
          <a:ln w="12700">
            <a:solidFill>
              <a:srgbClr val="6D5BD0">
                <a:alpha val="0"/>
              </a:srgbClr>
            </a:solidFill>
            <a:prstDash val="solid"/>
          </a:ln>
        </p:spPr>
      </p:sp>
      <p:sp>
        <p:nvSpPr>
          <p:cNvPr id="133" name="Shape 131"/>
          <p:cNvSpPr/>
          <p:nvPr/>
        </p:nvSpPr>
        <p:spPr>
          <a:xfrm>
            <a:off x="2848458" y="1415263"/>
            <a:ext cx="124765" cy="169850"/>
          </a:xfrm>
          <a:prstGeom prst="rect">
            <a:avLst/>
          </a:prstGeom>
          <a:solidFill>
            <a:srgbClr val="B6545A">
              <a:alpha val="92000"/>
            </a:srgbClr>
          </a:solidFill>
          <a:ln w="12700">
            <a:solidFill>
              <a:srgbClr val="B6545A">
                <a:alpha val="0"/>
              </a:srgbClr>
            </a:solidFill>
            <a:prstDash val="solid"/>
          </a:ln>
        </p:spPr>
      </p:sp>
      <p:sp>
        <p:nvSpPr>
          <p:cNvPr id="134" name="Shape 132"/>
          <p:cNvSpPr/>
          <p:nvPr/>
        </p:nvSpPr>
        <p:spPr>
          <a:xfrm>
            <a:off x="2848458" y="1592428"/>
            <a:ext cx="124765" cy="169850"/>
          </a:xfrm>
          <a:prstGeom prst="rect">
            <a:avLst/>
          </a:prstGeom>
          <a:solidFill>
            <a:srgbClr val="F4DDB7">
              <a:alpha val="92000"/>
            </a:srgbClr>
          </a:solidFill>
          <a:ln w="12700">
            <a:solidFill>
              <a:srgbClr val="F4DDB7">
                <a:alpha val="0"/>
              </a:srgbClr>
            </a:solidFill>
            <a:prstDash val="solid"/>
          </a:ln>
        </p:spPr>
      </p:sp>
      <p:sp>
        <p:nvSpPr>
          <p:cNvPr id="135" name="Shape 133"/>
          <p:cNvSpPr/>
          <p:nvPr/>
        </p:nvSpPr>
        <p:spPr>
          <a:xfrm>
            <a:off x="2848458" y="1769593"/>
            <a:ext cx="124765" cy="169850"/>
          </a:xfrm>
          <a:prstGeom prst="rect">
            <a:avLst/>
          </a:prstGeom>
          <a:solidFill>
            <a:srgbClr val="F4DDB7">
              <a:alpha val="92000"/>
            </a:srgbClr>
          </a:solidFill>
          <a:ln w="12700">
            <a:solidFill>
              <a:srgbClr val="F4DDB7">
                <a:alpha val="0"/>
              </a:srgbClr>
            </a:solidFill>
            <a:prstDash val="solid"/>
          </a:ln>
        </p:spPr>
      </p:sp>
      <p:sp>
        <p:nvSpPr>
          <p:cNvPr id="136" name="Shape 134"/>
          <p:cNvSpPr/>
          <p:nvPr/>
        </p:nvSpPr>
        <p:spPr>
          <a:xfrm>
            <a:off x="2848458" y="1946758"/>
            <a:ext cx="124765" cy="169850"/>
          </a:xfrm>
          <a:prstGeom prst="rect">
            <a:avLst/>
          </a:prstGeom>
          <a:solidFill>
            <a:srgbClr val="B6545A">
              <a:alpha val="92000"/>
            </a:srgbClr>
          </a:solidFill>
          <a:ln w="12700">
            <a:solidFill>
              <a:srgbClr val="B6545A">
                <a:alpha val="0"/>
              </a:srgbClr>
            </a:solidFill>
            <a:prstDash val="solid"/>
          </a:ln>
        </p:spPr>
      </p:sp>
      <p:sp>
        <p:nvSpPr>
          <p:cNvPr id="137" name="Shape 135"/>
          <p:cNvSpPr/>
          <p:nvPr/>
        </p:nvSpPr>
        <p:spPr>
          <a:xfrm>
            <a:off x="2848458" y="2123923"/>
            <a:ext cx="124765" cy="169850"/>
          </a:xfrm>
          <a:prstGeom prst="rect">
            <a:avLst/>
          </a:prstGeom>
          <a:solidFill>
            <a:srgbClr val="6D5BD0">
              <a:alpha val="92000"/>
            </a:srgbClr>
          </a:solidFill>
          <a:ln w="12700">
            <a:solidFill>
              <a:srgbClr val="6D5BD0">
                <a:alpha val="0"/>
              </a:srgbClr>
            </a:solidFill>
            <a:prstDash val="solid"/>
          </a:ln>
        </p:spPr>
      </p:sp>
      <p:sp>
        <p:nvSpPr>
          <p:cNvPr id="138" name="Shape 136"/>
          <p:cNvSpPr/>
          <p:nvPr/>
        </p:nvSpPr>
        <p:spPr>
          <a:xfrm>
            <a:off x="2848458" y="2301088"/>
            <a:ext cx="124765" cy="169850"/>
          </a:xfrm>
          <a:prstGeom prst="rect">
            <a:avLst/>
          </a:prstGeom>
          <a:solidFill>
            <a:srgbClr val="6D5BD0">
              <a:alpha val="92000"/>
            </a:srgbClr>
          </a:solidFill>
          <a:ln w="12700">
            <a:solidFill>
              <a:srgbClr val="6D5BD0">
                <a:alpha val="0"/>
              </a:srgbClr>
            </a:solidFill>
            <a:prstDash val="solid"/>
          </a:ln>
        </p:spPr>
      </p:sp>
      <p:sp>
        <p:nvSpPr>
          <p:cNvPr id="139" name="Shape 137"/>
          <p:cNvSpPr/>
          <p:nvPr/>
        </p:nvSpPr>
        <p:spPr>
          <a:xfrm>
            <a:off x="2848458" y="2478253"/>
            <a:ext cx="124765" cy="169850"/>
          </a:xfrm>
          <a:prstGeom prst="rect">
            <a:avLst/>
          </a:prstGeom>
          <a:solidFill>
            <a:srgbClr val="DC7B52">
              <a:alpha val="92000"/>
            </a:srgbClr>
          </a:solidFill>
          <a:ln w="12700">
            <a:solidFill>
              <a:srgbClr val="DC7B52">
                <a:alpha val="0"/>
              </a:srgbClr>
            </a:solidFill>
            <a:prstDash val="solid"/>
          </a:ln>
        </p:spPr>
      </p:sp>
      <p:sp>
        <p:nvSpPr>
          <p:cNvPr id="140" name="Shape 138"/>
          <p:cNvSpPr/>
          <p:nvPr/>
        </p:nvSpPr>
        <p:spPr>
          <a:xfrm>
            <a:off x="2980538" y="1238098"/>
            <a:ext cx="124765" cy="169850"/>
          </a:xfrm>
          <a:prstGeom prst="rect">
            <a:avLst/>
          </a:prstGeom>
          <a:solidFill>
            <a:srgbClr val="DC7B52">
              <a:alpha val="92000"/>
            </a:srgbClr>
          </a:solidFill>
          <a:ln w="12700">
            <a:solidFill>
              <a:srgbClr val="DC7B52">
                <a:alpha val="0"/>
              </a:srgbClr>
            </a:solidFill>
            <a:prstDash val="solid"/>
          </a:ln>
        </p:spPr>
      </p:sp>
      <p:sp>
        <p:nvSpPr>
          <p:cNvPr id="141" name="Shape 139"/>
          <p:cNvSpPr/>
          <p:nvPr/>
        </p:nvSpPr>
        <p:spPr>
          <a:xfrm>
            <a:off x="2980538" y="1415263"/>
            <a:ext cx="124765" cy="169850"/>
          </a:xfrm>
          <a:prstGeom prst="rect">
            <a:avLst/>
          </a:prstGeom>
          <a:solidFill>
            <a:srgbClr val="F8EFE2">
              <a:alpha val="92000"/>
            </a:srgbClr>
          </a:solidFill>
          <a:ln w="12700">
            <a:solidFill>
              <a:srgbClr val="F8EFE2">
                <a:alpha val="0"/>
              </a:srgbClr>
            </a:solidFill>
            <a:prstDash val="solid"/>
          </a:ln>
        </p:spPr>
      </p:sp>
      <p:sp>
        <p:nvSpPr>
          <p:cNvPr id="142" name="Shape 140"/>
          <p:cNvSpPr/>
          <p:nvPr/>
        </p:nvSpPr>
        <p:spPr>
          <a:xfrm>
            <a:off x="2980538" y="1592428"/>
            <a:ext cx="124765" cy="169850"/>
          </a:xfrm>
          <a:prstGeom prst="rect">
            <a:avLst/>
          </a:prstGeom>
          <a:solidFill>
            <a:srgbClr val="EFC97F">
              <a:alpha val="92000"/>
            </a:srgbClr>
          </a:solidFill>
          <a:ln w="12700">
            <a:solidFill>
              <a:srgbClr val="EFC97F">
                <a:alpha val="0"/>
              </a:srgbClr>
            </a:solidFill>
            <a:prstDash val="solid"/>
          </a:ln>
        </p:spPr>
      </p:sp>
      <p:sp>
        <p:nvSpPr>
          <p:cNvPr id="143" name="Shape 141"/>
          <p:cNvSpPr/>
          <p:nvPr/>
        </p:nvSpPr>
        <p:spPr>
          <a:xfrm>
            <a:off x="2980538" y="1769593"/>
            <a:ext cx="124765" cy="169850"/>
          </a:xfrm>
          <a:prstGeom prst="rect">
            <a:avLst/>
          </a:prstGeom>
          <a:solidFill>
            <a:srgbClr val="B6545A">
              <a:alpha val="92000"/>
            </a:srgbClr>
          </a:solidFill>
          <a:ln w="12700">
            <a:solidFill>
              <a:srgbClr val="B6545A">
                <a:alpha val="0"/>
              </a:srgbClr>
            </a:solidFill>
            <a:prstDash val="solid"/>
          </a:ln>
        </p:spPr>
      </p:sp>
      <p:sp>
        <p:nvSpPr>
          <p:cNvPr id="144" name="Shape 142"/>
          <p:cNvSpPr/>
          <p:nvPr/>
        </p:nvSpPr>
        <p:spPr>
          <a:xfrm>
            <a:off x="2980538" y="1946758"/>
            <a:ext cx="124765" cy="169850"/>
          </a:xfrm>
          <a:prstGeom prst="rect">
            <a:avLst/>
          </a:prstGeom>
          <a:solidFill>
            <a:srgbClr val="6D5BD0">
              <a:alpha val="92000"/>
            </a:srgbClr>
          </a:solidFill>
          <a:ln w="12700">
            <a:solidFill>
              <a:srgbClr val="6D5BD0">
                <a:alpha val="0"/>
              </a:srgbClr>
            </a:solidFill>
            <a:prstDash val="solid"/>
          </a:ln>
        </p:spPr>
      </p:sp>
      <p:sp>
        <p:nvSpPr>
          <p:cNvPr id="145" name="Shape 143"/>
          <p:cNvSpPr/>
          <p:nvPr/>
        </p:nvSpPr>
        <p:spPr>
          <a:xfrm>
            <a:off x="2980538" y="2123923"/>
            <a:ext cx="124765" cy="169850"/>
          </a:xfrm>
          <a:prstGeom prst="rect">
            <a:avLst/>
          </a:prstGeom>
          <a:solidFill>
            <a:srgbClr val="6D5BD0">
              <a:alpha val="92000"/>
            </a:srgbClr>
          </a:solidFill>
          <a:ln w="12700">
            <a:solidFill>
              <a:srgbClr val="6D5BD0">
                <a:alpha val="0"/>
              </a:srgbClr>
            </a:solidFill>
            <a:prstDash val="solid"/>
          </a:ln>
        </p:spPr>
      </p:sp>
      <p:sp>
        <p:nvSpPr>
          <p:cNvPr id="146" name="Shape 144"/>
          <p:cNvSpPr/>
          <p:nvPr/>
        </p:nvSpPr>
        <p:spPr>
          <a:xfrm>
            <a:off x="2980538" y="2301088"/>
            <a:ext cx="124765" cy="169850"/>
          </a:xfrm>
          <a:prstGeom prst="rect">
            <a:avLst/>
          </a:prstGeom>
          <a:solidFill>
            <a:srgbClr val="E9A15F">
              <a:alpha val="92000"/>
            </a:srgbClr>
          </a:solidFill>
          <a:ln w="12700">
            <a:solidFill>
              <a:srgbClr val="E9A15F">
                <a:alpha val="0"/>
              </a:srgbClr>
            </a:solidFill>
            <a:prstDash val="solid"/>
          </a:ln>
        </p:spPr>
      </p:sp>
      <p:sp>
        <p:nvSpPr>
          <p:cNvPr id="147" name="Shape 145"/>
          <p:cNvSpPr/>
          <p:nvPr/>
        </p:nvSpPr>
        <p:spPr>
          <a:xfrm>
            <a:off x="2980538" y="2478253"/>
            <a:ext cx="124765" cy="169850"/>
          </a:xfrm>
          <a:prstGeom prst="rect">
            <a:avLst/>
          </a:prstGeom>
          <a:solidFill>
            <a:srgbClr val="F8EFE2">
              <a:alpha val="92000"/>
            </a:srgbClr>
          </a:solidFill>
          <a:ln w="12700">
            <a:solidFill>
              <a:srgbClr val="F8EFE2">
                <a:alpha val="0"/>
              </a:srgbClr>
            </a:solidFill>
            <a:prstDash val="solid"/>
          </a:ln>
        </p:spPr>
      </p:sp>
      <p:sp>
        <p:nvSpPr>
          <p:cNvPr id="148" name="Text 146"/>
          <p:cNvSpPr/>
          <p:nvPr/>
        </p:nvSpPr>
        <p:spPr>
          <a:xfrm>
            <a:off x="731520" y="2788920"/>
            <a:ext cx="2377440" cy="201168"/>
          </a:xfrm>
          <a:prstGeom prst="rect">
            <a:avLst/>
          </a:prstGeom>
          <a:noFill/>
          <a:ln/>
        </p:spPr>
        <p:txBody>
          <a:bodyPr wrap="square" lIns="0" tIns="0" rIns="0" bIns="0" rtlCol="0" anchor="ctr">
            <a:normAutofit/>
          </a:bodyPr>
          <a:lstStyle/>
          <a:p>
            <a:pPr algn="ctr" indent="0" marL="0">
              <a:buNone/>
            </a:pPr>
            <a:r>
              <a:rPr lang="en-US" sz="850" dirty="0">
                <a:solidFill>
                  <a:srgbClr val="516271"/>
                </a:solidFill>
                <a:latin typeface="Aptos" pitchFamily="34" charset="0"/>
                <a:ea typeface="Aptos" pitchFamily="34" charset="-122"/>
                <a:cs typeface="Aptos" pitchFamily="34" charset="-120"/>
              </a:rPr>
              <a:t>Log-Mel</a:t>
            </a:r>
            <a:endParaRPr lang="en-US" sz="850" dirty="0"/>
          </a:p>
        </p:txBody>
      </p:sp>
      <p:sp>
        <p:nvSpPr>
          <p:cNvPr id="149" name="Shape 147"/>
          <p:cNvSpPr/>
          <p:nvPr/>
        </p:nvSpPr>
        <p:spPr>
          <a:xfrm>
            <a:off x="3310128" y="1965960"/>
            <a:ext cx="457200" cy="0"/>
          </a:xfrm>
          <a:prstGeom prst="line">
            <a:avLst/>
          </a:prstGeom>
          <a:noFill/>
          <a:ln w="17780">
            <a:solidFill>
              <a:srgbClr val="AAB7C3"/>
            </a:solidFill>
            <a:prstDash val="solid"/>
            <a:headEnd type="none"/>
            <a:tailEnd type="triangle"/>
          </a:ln>
        </p:spPr>
      </p:sp>
      <p:sp>
        <p:nvSpPr>
          <p:cNvPr id="150" name="Shape 148"/>
          <p:cNvSpPr/>
          <p:nvPr/>
        </p:nvSpPr>
        <p:spPr>
          <a:xfrm>
            <a:off x="3886200" y="1417320"/>
            <a:ext cx="1325880" cy="868680"/>
          </a:xfrm>
          <a:prstGeom prst="roundRect">
            <a:avLst>
              <a:gd name="adj" fmla="val 12632"/>
            </a:avLst>
          </a:prstGeom>
          <a:solidFill>
            <a:srgbClr val="FFFFFF"/>
          </a:solidFill>
          <a:ln w="12700">
            <a:solidFill>
              <a:srgbClr val="2A67B1"/>
            </a:solidFill>
            <a:prstDash val="solid"/>
          </a:ln>
        </p:spPr>
      </p:sp>
      <p:sp>
        <p:nvSpPr>
          <p:cNvPr id="151" name="Text 149"/>
          <p:cNvSpPr/>
          <p:nvPr/>
        </p:nvSpPr>
        <p:spPr>
          <a:xfrm>
            <a:off x="3950208" y="1463040"/>
            <a:ext cx="1197864" cy="777240"/>
          </a:xfrm>
          <a:prstGeom prst="rect">
            <a:avLst/>
          </a:prstGeom>
          <a:noFill/>
          <a:ln/>
        </p:spPr>
        <p:txBody>
          <a:bodyPr wrap="square" lIns="762" tIns="762" rIns="762" bIns="762" rtlCol="0" anchor="ctr">
            <a:normAutofit/>
          </a:bodyPr>
          <a:lstStyle/>
          <a:p>
            <a:pPr algn="ctr" indent="0" marL="0">
              <a:buNone/>
            </a:pPr>
            <a:r>
              <a:rPr lang="en-US" sz="1300" b="1" dirty="0">
                <a:solidFill>
                  <a:srgbClr val="2A67B1"/>
                </a:solidFill>
                <a:latin typeface="Aptos" pitchFamily="34" charset="0"/>
                <a:ea typeface="Aptos" pitchFamily="34" charset="-122"/>
                <a:cs typeface="Aptos" pitchFamily="34" charset="-120"/>
              </a:rPr>
              <a:t>Conv 1D</a:t>
            </a:r>
            <a:endParaRPr lang="en-US" sz="1300" dirty="0"/>
          </a:p>
          <a:p>
            <a:pPr algn="ctr" indent="0" marL="0">
              <a:buNone/>
            </a:pPr>
            <a:r>
              <a:rPr lang="en-US" sz="1300" b="1" dirty="0">
                <a:solidFill>
                  <a:srgbClr val="2A67B1"/>
                </a:solidFill>
                <a:latin typeface="Aptos" pitchFamily="34" charset="0"/>
                <a:ea typeface="Aptos" pitchFamily="34" charset="-122"/>
                <a:cs typeface="Aptos" pitchFamily="34" charset="-120"/>
              </a:rPr>
              <a:t>+ GELU</a:t>
            </a:r>
            <a:endParaRPr lang="en-US" sz="1300" dirty="0"/>
          </a:p>
        </p:txBody>
      </p:sp>
      <p:sp>
        <p:nvSpPr>
          <p:cNvPr id="152" name="Shape 150"/>
          <p:cNvSpPr/>
          <p:nvPr/>
        </p:nvSpPr>
        <p:spPr>
          <a:xfrm>
            <a:off x="5358384" y="1965960"/>
            <a:ext cx="457200" cy="0"/>
          </a:xfrm>
          <a:prstGeom prst="line">
            <a:avLst/>
          </a:prstGeom>
          <a:noFill/>
          <a:ln w="17780">
            <a:solidFill>
              <a:srgbClr val="AAB7C3"/>
            </a:solidFill>
            <a:prstDash val="solid"/>
            <a:headEnd type="none"/>
            <a:tailEnd type="triangle"/>
          </a:ln>
        </p:spPr>
      </p:sp>
      <p:sp>
        <p:nvSpPr>
          <p:cNvPr id="153" name="Shape 151"/>
          <p:cNvSpPr/>
          <p:nvPr/>
        </p:nvSpPr>
        <p:spPr>
          <a:xfrm>
            <a:off x="5943600" y="1417320"/>
            <a:ext cx="1600200" cy="868680"/>
          </a:xfrm>
          <a:prstGeom prst="roundRect">
            <a:avLst>
              <a:gd name="adj" fmla="val 12632"/>
            </a:avLst>
          </a:prstGeom>
          <a:solidFill>
            <a:srgbClr val="FFFFFF"/>
          </a:solidFill>
          <a:ln w="12700">
            <a:solidFill>
              <a:srgbClr val="2A67B1"/>
            </a:solidFill>
            <a:prstDash val="solid"/>
          </a:ln>
        </p:spPr>
      </p:sp>
      <p:sp>
        <p:nvSpPr>
          <p:cNvPr id="154" name="Text 152"/>
          <p:cNvSpPr/>
          <p:nvPr/>
        </p:nvSpPr>
        <p:spPr>
          <a:xfrm>
            <a:off x="6007608" y="1463040"/>
            <a:ext cx="1472184" cy="777240"/>
          </a:xfrm>
          <a:prstGeom prst="rect">
            <a:avLst/>
          </a:prstGeom>
          <a:noFill/>
          <a:ln/>
        </p:spPr>
        <p:txBody>
          <a:bodyPr wrap="square" lIns="762" tIns="762" rIns="762" bIns="762" rtlCol="0" anchor="ctr">
            <a:normAutofit/>
          </a:bodyPr>
          <a:lstStyle/>
          <a:p>
            <a:pPr algn="ctr" indent="0" marL="0">
              <a:buNone/>
            </a:pPr>
            <a:r>
              <a:rPr lang="en-US" sz="1250" b="1" dirty="0">
                <a:solidFill>
                  <a:srgbClr val="2A67B1"/>
                </a:solidFill>
                <a:latin typeface="Aptos" pitchFamily="34" charset="0"/>
                <a:ea typeface="Aptos" pitchFamily="34" charset="-122"/>
                <a:cs typeface="Aptos" pitchFamily="34" charset="-120"/>
              </a:rPr>
              <a:t>Conv 1D stride 2</a:t>
            </a:r>
            <a:endParaRPr lang="en-US" sz="1250" dirty="0"/>
          </a:p>
          <a:p>
            <a:pPr algn="ctr" indent="0" marL="0">
              <a:buNone/>
            </a:pPr>
            <a:r>
              <a:rPr lang="en-US" sz="1250" b="1" dirty="0">
                <a:solidFill>
                  <a:srgbClr val="2A67B1"/>
                </a:solidFill>
                <a:latin typeface="Aptos" pitchFamily="34" charset="0"/>
                <a:ea typeface="Aptos" pitchFamily="34" charset="-122"/>
                <a:cs typeface="Aptos" pitchFamily="34" charset="-120"/>
              </a:rPr>
              <a:t>+ GELU</a:t>
            </a:r>
            <a:endParaRPr lang="en-US" sz="1250" dirty="0"/>
          </a:p>
        </p:txBody>
      </p:sp>
      <p:sp>
        <p:nvSpPr>
          <p:cNvPr id="155" name="Shape 153"/>
          <p:cNvSpPr/>
          <p:nvPr/>
        </p:nvSpPr>
        <p:spPr>
          <a:xfrm>
            <a:off x="7699248" y="1965960"/>
            <a:ext cx="457200" cy="0"/>
          </a:xfrm>
          <a:prstGeom prst="line">
            <a:avLst/>
          </a:prstGeom>
          <a:noFill/>
          <a:ln w="17780">
            <a:solidFill>
              <a:srgbClr val="AAB7C3"/>
            </a:solidFill>
            <a:prstDash val="solid"/>
            <a:headEnd type="none"/>
            <a:tailEnd type="triangle"/>
          </a:ln>
        </p:spPr>
      </p:sp>
      <p:sp>
        <p:nvSpPr>
          <p:cNvPr id="156" name="Shape 154"/>
          <p:cNvSpPr/>
          <p:nvPr/>
        </p:nvSpPr>
        <p:spPr>
          <a:xfrm>
            <a:off x="8275320" y="1417320"/>
            <a:ext cx="2057400" cy="868680"/>
          </a:xfrm>
          <a:prstGeom prst="roundRect">
            <a:avLst>
              <a:gd name="adj" fmla="val 12632"/>
            </a:avLst>
          </a:prstGeom>
          <a:solidFill>
            <a:srgbClr val="FFFFFF"/>
          </a:solidFill>
          <a:ln w="12700">
            <a:solidFill>
              <a:srgbClr val="2F9E74"/>
            </a:solidFill>
            <a:prstDash val="solid"/>
          </a:ln>
        </p:spPr>
      </p:sp>
      <p:sp>
        <p:nvSpPr>
          <p:cNvPr id="157" name="Text 155"/>
          <p:cNvSpPr/>
          <p:nvPr/>
        </p:nvSpPr>
        <p:spPr>
          <a:xfrm>
            <a:off x="8339328" y="1463040"/>
            <a:ext cx="1929384" cy="777240"/>
          </a:xfrm>
          <a:prstGeom prst="rect">
            <a:avLst/>
          </a:prstGeom>
          <a:noFill/>
          <a:ln/>
        </p:spPr>
        <p:txBody>
          <a:bodyPr wrap="square" lIns="762" tIns="762" rIns="762" bIns="762" rtlCol="0" anchor="ctr">
            <a:normAutofit/>
          </a:bodyPr>
          <a:lstStyle/>
          <a:p>
            <a:pPr algn="ctr" indent="0" marL="0">
              <a:buNone/>
            </a:pPr>
            <a:r>
              <a:rPr lang="en-US" sz="1400" b="1" dirty="0">
                <a:solidFill>
                  <a:srgbClr val="2F9E74"/>
                </a:solidFill>
                <a:latin typeface="Aptos" pitchFamily="34" charset="0"/>
                <a:ea typeface="Aptos" pitchFamily="34" charset="-122"/>
                <a:cs typeface="Aptos" pitchFamily="34" charset="-120"/>
              </a:rPr>
              <a:t>Chuỗi vector</a:t>
            </a:r>
            <a:endParaRPr lang="en-US" sz="1400" dirty="0"/>
          </a:p>
          <a:p>
            <a:pPr algn="ctr" indent="0" marL="0">
              <a:buNone/>
            </a:pPr>
            <a:r>
              <a:rPr lang="en-US" sz="1400" b="1" dirty="0">
                <a:solidFill>
                  <a:srgbClr val="2F9E74"/>
                </a:solidFill>
                <a:latin typeface="Aptos" pitchFamily="34" charset="0"/>
                <a:ea typeface="Aptos" pitchFamily="34" charset="-122"/>
                <a:cs typeface="Aptos" pitchFamily="34" charset="-120"/>
              </a:rPr>
              <a:t>cho Transformer</a:t>
            </a:r>
            <a:endParaRPr lang="en-US" sz="1400" dirty="0"/>
          </a:p>
        </p:txBody>
      </p:sp>
      <p:sp>
        <p:nvSpPr>
          <p:cNvPr id="158" name="Text 156"/>
          <p:cNvSpPr/>
          <p:nvPr/>
        </p:nvSpPr>
        <p:spPr>
          <a:xfrm>
            <a:off x="822960" y="3822192"/>
            <a:ext cx="3108960" cy="274320"/>
          </a:xfrm>
          <a:prstGeom prst="rect">
            <a:avLst/>
          </a:prstGeom>
          <a:noFill/>
          <a:ln/>
        </p:spPr>
        <p:txBody>
          <a:bodyPr wrap="square" lIns="762" tIns="762" rIns="762" bIns="762" rtlCol="0" anchor="ctr">
            <a:normAutofit/>
          </a:bodyPr>
          <a:lstStyle/>
          <a:p>
            <a:pPr algn="l" indent="0" marL="0">
              <a:buNone/>
            </a:pPr>
            <a:r>
              <a:rPr lang="en-US" sz="1800" b="1" dirty="0">
                <a:solidFill>
                  <a:srgbClr val="12212B"/>
                </a:solidFill>
                <a:latin typeface="Aptos" pitchFamily="34" charset="0"/>
                <a:ea typeface="Aptos" pitchFamily="34" charset="-122"/>
                <a:cs typeface="Aptos" pitchFamily="34" charset="-120"/>
              </a:rPr>
              <a:t>Ý nghĩa của stride 2</a:t>
            </a:r>
            <a:endParaRPr lang="en-US" sz="1800" dirty="0"/>
          </a:p>
        </p:txBody>
      </p:sp>
      <p:sp>
        <p:nvSpPr>
          <p:cNvPr id="159" name="Text 157"/>
          <p:cNvSpPr/>
          <p:nvPr/>
        </p:nvSpPr>
        <p:spPr>
          <a:xfrm>
            <a:off x="868680" y="4251960"/>
            <a:ext cx="5669280" cy="1371600"/>
          </a:xfrm>
          <a:prstGeom prst="rect">
            <a:avLst/>
          </a:prstGeom>
          <a:noFill/>
          <a:ln/>
        </p:spPr>
        <p:txBody>
          <a:bodyPr wrap="square" lIns="1016" tIns="1016" rIns="1016" bIns="1016" rtlCol="0" anchor="ctr">
            <a:normAutofit/>
          </a:bodyPr>
          <a:lstStyle/>
          <a:p>
            <a:r>
              <a:rPr lang="en-US" sz="1320" dirty="0">
                <a:solidFill>
                  <a:srgbClr val="12212B"/>
                </a:solidFill>
                <a:latin typeface="Aptos" pitchFamily="34" charset="0"/>
                <a:ea typeface="Aptos" pitchFamily="34" charset="-122"/>
                <a:cs typeface="Aptos" pitchFamily="34" charset="-120"/>
              </a:rPr>
              <a:t>Nén số bước thời gian: ít frame hơn để Transformer xử lý nhanh hơn.</a:t>
            </a:r>
            <a:endParaRPr lang="en-US" sz="1320" dirty="0"/>
          </a:p>
          <a:p>
            <a:r>
              <a:rPr lang="en-US" sz="1320" dirty="0">
                <a:solidFill>
                  <a:srgbClr val="12212B"/>
                </a:solidFill>
                <a:latin typeface="Aptos" pitchFamily="34" charset="0"/>
                <a:ea typeface="Aptos" pitchFamily="34" charset="-122"/>
                <a:cs typeface="Aptos" pitchFamily="34" charset="-120"/>
              </a:rPr>
              <a:t>Tăng chiều đặc trưng: mỗi bước có vector giàu thông tin hơn.</a:t>
            </a:r>
            <a:endParaRPr lang="en-US" sz="1320" dirty="0"/>
          </a:p>
          <a:p>
            <a:r>
              <a:rPr lang="en-US" sz="1320" dirty="0">
                <a:solidFill>
                  <a:srgbClr val="12212B"/>
                </a:solidFill>
                <a:latin typeface="Aptos" pitchFamily="34" charset="0"/>
                <a:ea typeface="Aptos" pitchFamily="34" charset="-122"/>
                <a:cs typeface="Aptos" pitchFamily="34" charset="-120"/>
              </a:rPr>
              <a:t>Không sinh chữ ở đây; đây chỉ là biến đổi đặc trưng âm thanh.</a:t>
            </a:r>
            <a:endParaRPr lang="en-US" sz="1320" dirty="0"/>
          </a:p>
        </p:txBody>
      </p:sp>
      <p:sp>
        <p:nvSpPr>
          <p:cNvPr id="160" name="Shape 158"/>
          <p:cNvSpPr/>
          <p:nvPr/>
        </p:nvSpPr>
        <p:spPr>
          <a:xfrm>
            <a:off x="6903720" y="4251960"/>
            <a:ext cx="4069080" cy="658368"/>
          </a:xfrm>
          <a:prstGeom prst="roundRect">
            <a:avLst>
              <a:gd name="adj" fmla="val 16667"/>
            </a:avLst>
          </a:prstGeom>
          <a:solidFill>
            <a:srgbClr val="FFFFFF"/>
          </a:solidFill>
          <a:ln w="12700">
            <a:solidFill>
              <a:srgbClr val="175D7C"/>
            </a:solidFill>
            <a:prstDash val="solid"/>
          </a:ln>
        </p:spPr>
      </p:sp>
      <p:sp>
        <p:nvSpPr>
          <p:cNvPr id="161" name="Text 159"/>
          <p:cNvSpPr/>
          <p:nvPr/>
        </p:nvSpPr>
        <p:spPr>
          <a:xfrm>
            <a:off x="6967728" y="4297680"/>
            <a:ext cx="3941064" cy="566928"/>
          </a:xfrm>
          <a:prstGeom prst="rect">
            <a:avLst/>
          </a:prstGeom>
          <a:noFill/>
          <a:ln/>
        </p:spPr>
        <p:txBody>
          <a:bodyPr wrap="square" lIns="762" tIns="762" rIns="762" bIns="762" rtlCol="0" anchor="ctr">
            <a:normAutofit/>
          </a:bodyPr>
          <a:lstStyle/>
          <a:p>
            <a:pPr algn="ctr" indent="0" marL="0">
              <a:buNone/>
            </a:pPr>
            <a:r>
              <a:rPr lang="en-US" sz="1600" b="1" dirty="0">
                <a:solidFill>
                  <a:srgbClr val="175D7C"/>
                </a:solidFill>
                <a:latin typeface="Aptos" pitchFamily="34" charset="0"/>
                <a:ea typeface="Aptos" pitchFamily="34" charset="-122"/>
                <a:cs typeface="Aptos" pitchFamily="34" charset="-120"/>
              </a:rPr>
              <a:t>Minh họa chiều: [Mel × Time] → [Time/2 × d_model]</a:t>
            </a:r>
            <a:endParaRPr lang="en-US" sz="1600" dirty="0"/>
          </a:p>
        </p:txBody>
      </p:sp>
      <p:sp>
        <p:nvSpPr>
          <p:cNvPr id="162" name="Text 160"/>
          <p:cNvSpPr/>
          <p:nvPr/>
        </p:nvSpPr>
        <p:spPr>
          <a:xfrm>
            <a:off x="7178040" y="5074920"/>
            <a:ext cx="3474720" cy="219456"/>
          </a:xfrm>
          <a:prstGeom prst="rect">
            <a:avLst/>
          </a:prstGeom>
          <a:noFill/>
          <a:ln/>
        </p:spPr>
        <p:txBody>
          <a:bodyPr wrap="square" lIns="762" tIns="762" rIns="762" bIns="762" rtlCol="0" anchor="ctr">
            <a:normAutofit/>
          </a:bodyPr>
          <a:lstStyle/>
          <a:p>
            <a:pPr algn="ctr" indent="0" marL="0">
              <a:buNone/>
            </a:pPr>
            <a:r>
              <a:rPr lang="en-US" sz="1050" i="1" dirty="0">
                <a:solidFill>
                  <a:srgbClr val="516271"/>
                </a:solidFill>
                <a:latin typeface="Aptos" pitchFamily="34" charset="0"/>
                <a:ea typeface="Aptos" pitchFamily="34" charset="-122"/>
                <a:cs typeface="Aptos" pitchFamily="34" charset="-120"/>
              </a:rPr>
              <a:t>Số cụ thể phụ thuộc checkpoint/config; đây là sơ đồ cơ chế.</a:t>
            </a:r>
            <a:endParaRPr lang="en-US" sz="1050" dirty="0"/>
          </a:p>
        </p:txBody>
      </p:sp>
      <p:sp>
        <p:nvSpPr>
          <p:cNvPr id="163" name="Shape 161"/>
          <p:cNvSpPr/>
          <p:nvPr/>
        </p:nvSpPr>
        <p:spPr>
          <a:xfrm>
            <a:off x="438912" y="6199632"/>
            <a:ext cx="2377440" cy="310896"/>
          </a:xfrm>
          <a:prstGeom prst="roundRect">
            <a:avLst>
              <a:gd name="adj" fmla="val 44118"/>
            </a:avLst>
          </a:prstGeom>
          <a:solidFill>
            <a:srgbClr val="E8F2F6"/>
          </a:solidFill>
          <a:ln w="12700">
            <a:solidFill>
              <a:srgbClr val="E8F2F6"/>
            </a:solidFill>
            <a:prstDash val="solid"/>
          </a:ln>
        </p:spPr>
      </p:sp>
      <p:sp>
        <p:nvSpPr>
          <p:cNvPr id="164" name="Text 162"/>
          <p:cNvSpPr/>
          <p:nvPr/>
        </p:nvSpPr>
        <p:spPr>
          <a:xfrm>
            <a:off x="512064" y="6259068"/>
            <a:ext cx="2231136" cy="201168"/>
          </a:xfrm>
          <a:prstGeom prst="rect">
            <a:avLst/>
          </a:prstGeom>
          <a:noFill/>
          <a:ln/>
        </p:spPr>
        <p:txBody>
          <a:bodyPr wrap="square" lIns="0" tIns="0" rIns="0" bIns="0" rtlCol="0" anchor="ctr">
            <a:normAutofit/>
          </a:bodyPr>
          <a:lstStyle/>
          <a:p>
            <a:pPr algn="ctr" indent="0" marL="0">
              <a:buNone/>
            </a:pPr>
            <a:r>
              <a:rPr lang="en-US" sz="950" b="1" dirty="0">
                <a:solidFill>
                  <a:srgbClr val="175D7C"/>
                </a:solidFill>
                <a:latin typeface="Aptos" pitchFamily="34" charset="0"/>
                <a:ea typeface="Aptos" pitchFamily="34" charset="-122"/>
                <a:cs typeface="Aptos" pitchFamily="34" charset="-120"/>
              </a:rPr>
              <a:t>Encoder: input projection</a:t>
            </a:r>
            <a:endParaRPr lang="en-US" sz="950" dirty="0"/>
          </a:p>
        </p:txBody>
      </p:sp>
      <p:sp>
        <p:nvSpPr>
          <p:cNvPr id="25" name="Slide Number Placeholder 0"/>
          <p:cNvSpPr>
            <a:spLocks noGrp="1"/>
          </p:cNvSpPr>
          <p:nvPr>
            <p:ph type="sldNum" sz="quarter" idx="4294967295"/>
          </p:nvPr>
        </p:nvSpPr>
        <p:spPr>
          <a:xfrm>
            <a:off x="11841480" y="6519672"/>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7C879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420624" y="256032"/>
            <a:ext cx="9875520" cy="384048"/>
          </a:xfrm>
          <a:prstGeom prst="rect">
            <a:avLst/>
          </a:prstGeom>
          <a:noFill/>
          <a:ln/>
        </p:spPr>
        <p:txBody>
          <a:bodyPr wrap="square" lIns="0" tIns="0" rIns="0" bIns="0" rtlCol="0" anchor="ctr"/>
          <a:lstStyle/>
          <a:p>
            <a:pPr indent="0" marL="0">
              <a:buNone/>
            </a:pPr>
            <a:r>
              <a:rPr lang="en-US" sz="2500" b="1" dirty="0">
                <a:solidFill>
                  <a:srgbClr val="12212B"/>
                </a:solidFill>
                <a:latin typeface="Aptos Display" pitchFamily="34" charset="0"/>
                <a:ea typeface="Aptos Display" pitchFamily="34" charset="-122"/>
                <a:cs typeface="Aptos Display" pitchFamily="34" charset="-120"/>
              </a:rPr>
              <a:t>Audio Encoder phần 2: các block Transformer</a:t>
            </a:r>
            <a:endParaRPr lang="en-US" sz="2500" dirty="0"/>
          </a:p>
        </p:txBody>
      </p:sp>
      <p:sp>
        <p:nvSpPr>
          <p:cNvPr id="3" name="Text 1"/>
          <p:cNvSpPr/>
          <p:nvPr/>
        </p:nvSpPr>
        <p:spPr>
          <a:xfrm>
            <a:off x="438912" y="694944"/>
            <a:ext cx="9875520" cy="256032"/>
          </a:xfrm>
          <a:prstGeom prst="rect">
            <a:avLst/>
          </a:prstGeom>
          <a:noFill/>
          <a:ln/>
        </p:spPr>
        <p:txBody>
          <a:bodyPr wrap="square" lIns="0" tIns="0" rIns="0" bIns="0" rtlCol="0" anchor="ctr"/>
          <a:lstStyle/>
          <a:p>
            <a:pPr indent="0" marL="0">
              <a:buNone/>
            </a:pPr>
            <a:r>
              <a:rPr lang="en-US" sz="1050" dirty="0">
                <a:solidFill>
                  <a:srgbClr val="516271"/>
                </a:solidFill>
              </a:rPr>
              <a:t>Encoder tạo biểu diễn âm thanh có ngữ cảnh toàn câu</a:t>
            </a:r>
            <a:endParaRPr lang="en-US" sz="1050" dirty="0"/>
          </a:p>
        </p:txBody>
      </p:sp>
      <p:sp>
        <p:nvSpPr>
          <p:cNvPr id="4" name="Shape 2"/>
          <p:cNvSpPr/>
          <p:nvPr/>
        </p:nvSpPr>
        <p:spPr>
          <a:xfrm>
            <a:off x="914400" y="1417320"/>
            <a:ext cx="1417320" cy="1325880"/>
          </a:xfrm>
          <a:prstGeom prst="roundRect">
            <a:avLst>
              <a:gd name="adj" fmla="val 6897"/>
            </a:avLst>
          </a:prstGeom>
          <a:solidFill>
            <a:srgbClr val="FFFFFF"/>
          </a:solidFill>
          <a:ln w="12700">
            <a:solidFill>
              <a:srgbClr val="2F9E74"/>
            </a:solidFill>
            <a:prstDash val="solid"/>
          </a:ln>
        </p:spPr>
      </p:sp>
      <p:sp>
        <p:nvSpPr>
          <p:cNvPr id="5" name="Text 3"/>
          <p:cNvSpPr/>
          <p:nvPr/>
        </p:nvSpPr>
        <p:spPr>
          <a:xfrm>
            <a:off x="960120" y="1444752"/>
            <a:ext cx="1325880" cy="219456"/>
          </a:xfrm>
          <a:prstGeom prst="rect">
            <a:avLst/>
          </a:prstGeom>
          <a:noFill/>
          <a:ln/>
        </p:spPr>
        <p:txBody>
          <a:bodyPr wrap="square" lIns="0" tIns="0" rIns="0" bIns="0" rtlCol="0" anchor="ctr">
            <a:normAutofit/>
          </a:bodyPr>
          <a:lstStyle/>
          <a:p>
            <a:pPr algn="ctr" indent="0" marL="0">
              <a:buNone/>
            </a:pPr>
            <a:r>
              <a:rPr lang="en-US" sz="900" b="1" dirty="0">
                <a:solidFill>
                  <a:srgbClr val="2F9E74"/>
                </a:solidFill>
                <a:latin typeface="Aptos" pitchFamily="34" charset="0"/>
                <a:ea typeface="Aptos" pitchFamily="34" charset="-122"/>
                <a:cs typeface="Aptos" pitchFamily="34" charset="-120"/>
              </a:rPr>
              <a:t>Block 1</a:t>
            </a:r>
            <a:endParaRPr lang="en-US" sz="900" dirty="0"/>
          </a:p>
        </p:txBody>
      </p:sp>
      <p:sp>
        <p:nvSpPr>
          <p:cNvPr id="6" name="Shape 4"/>
          <p:cNvSpPr/>
          <p:nvPr/>
        </p:nvSpPr>
        <p:spPr>
          <a:xfrm>
            <a:off x="1051560" y="1737360"/>
            <a:ext cx="1143000" cy="301752"/>
          </a:xfrm>
          <a:prstGeom prst="roundRect">
            <a:avLst>
              <a:gd name="adj" fmla="val 36364"/>
            </a:avLst>
          </a:prstGeom>
          <a:solidFill>
            <a:srgbClr val="F2F7FB"/>
          </a:solidFill>
          <a:ln w="12700">
            <a:solidFill>
              <a:srgbClr val="2F9E74"/>
            </a:solidFill>
            <a:prstDash val="solid"/>
          </a:ln>
        </p:spPr>
      </p:sp>
      <p:sp>
        <p:nvSpPr>
          <p:cNvPr id="7" name="Text 5"/>
          <p:cNvSpPr/>
          <p:nvPr/>
        </p:nvSpPr>
        <p:spPr>
          <a:xfrm>
            <a:off x="1115568" y="1783080"/>
            <a:ext cx="1014984" cy="210312"/>
          </a:xfrm>
          <a:prstGeom prst="rect">
            <a:avLst/>
          </a:prstGeom>
          <a:noFill/>
          <a:ln/>
        </p:spPr>
        <p:txBody>
          <a:bodyPr wrap="square" lIns="762" tIns="762" rIns="762" bIns="762" rtlCol="0" anchor="ctr">
            <a:normAutofit/>
          </a:bodyPr>
          <a:lstStyle/>
          <a:p>
            <a:pPr algn="ctr" indent="0" marL="0">
              <a:buNone/>
            </a:pPr>
            <a:r>
              <a:rPr lang="en-US" sz="800" dirty="0">
                <a:solidFill>
                  <a:srgbClr val="12212B"/>
                </a:solidFill>
                <a:latin typeface="Aptos" pitchFamily="34" charset="0"/>
                <a:ea typeface="Aptos" pitchFamily="34" charset="-122"/>
                <a:cs typeface="Aptos" pitchFamily="34" charset="-120"/>
              </a:rPr>
              <a:t>Attention</a:t>
            </a:r>
            <a:endParaRPr lang="en-US" sz="800" dirty="0"/>
          </a:p>
        </p:txBody>
      </p:sp>
      <p:sp>
        <p:nvSpPr>
          <p:cNvPr id="8" name="Shape 6"/>
          <p:cNvSpPr/>
          <p:nvPr/>
        </p:nvSpPr>
        <p:spPr>
          <a:xfrm>
            <a:off x="1051560" y="2130552"/>
            <a:ext cx="1143000" cy="301752"/>
          </a:xfrm>
          <a:prstGeom prst="roundRect">
            <a:avLst>
              <a:gd name="adj" fmla="val 36364"/>
            </a:avLst>
          </a:prstGeom>
          <a:solidFill>
            <a:srgbClr val="F2F7FB"/>
          </a:solidFill>
          <a:ln w="12700">
            <a:solidFill>
              <a:srgbClr val="2F9E74"/>
            </a:solidFill>
            <a:prstDash val="solid"/>
          </a:ln>
        </p:spPr>
      </p:sp>
      <p:sp>
        <p:nvSpPr>
          <p:cNvPr id="9" name="Text 7"/>
          <p:cNvSpPr/>
          <p:nvPr/>
        </p:nvSpPr>
        <p:spPr>
          <a:xfrm>
            <a:off x="1115568" y="2176272"/>
            <a:ext cx="1014984" cy="210312"/>
          </a:xfrm>
          <a:prstGeom prst="rect">
            <a:avLst/>
          </a:prstGeom>
          <a:noFill/>
          <a:ln/>
        </p:spPr>
        <p:txBody>
          <a:bodyPr wrap="square" lIns="762" tIns="762" rIns="762" bIns="762" rtlCol="0" anchor="ctr">
            <a:normAutofit/>
          </a:bodyPr>
          <a:lstStyle/>
          <a:p>
            <a:pPr algn="ctr" indent="0" marL="0">
              <a:buNone/>
            </a:pPr>
            <a:r>
              <a:rPr lang="en-US" sz="800" dirty="0">
                <a:solidFill>
                  <a:srgbClr val="12212B"/>
                </a:solidFill>
                <a:latin typeface="Aptos" pitchFamily="34" charset="0"/>
                <a:ea typeface="Aptos" pitchFamily="34" charset="-122"/>
                <a:cs typeface="Aptos" pitchFamily="34" charset="-120"/>
              </a:rPr>
              <a:t>FFN</a:t>
            </a:r>
            <a:endParaRPr lang="en-US" sz="800" dirty="0"/>
          </a:p>
        </p:txBody>
      </p:sp>
      <p:sp>
        <p:nvSpPr>
          <p:cNvPr id="10" name="Shape 8"/>
          <p:cNvSpPr/>
          <p:nvPr/>
        </p:nvSpPr>
        <p:spPr>
          <a:xfrm>
            <a:off x="2395728" y="2084832"/>
            <a:ext cx="438912" cy="0"/>
          </a:xfrm>
          <a:prstGeom prst="line">
            <a:avLst/>
          </a:prstGeom>
          <a:noFill/>
          <a:ln w="15240">
            <a:solidFill>
              <a:srgbClr val="AAB7C3"/>
            </a:solidFill>
            <a:prstDash val="solid"/>
            <a:headEnd type="none"/>
            <a:tailEnd type="triangle"/>
          </a:ln>
        </p:spPr>
      </p:sp>
      <p:sp>
        <p:nvSpPr>
          <p:cNvPr id="11" name="Shape 9"/>
          <p:cNvSpPr/>
          <p:nvPr/>
        </p:nvSpPr>
        <p:spPr>
          <a:xfrm>
            <a:off x="2926080" y="1417320"/>
            <a:ext cx="1417320" cy="1325880"/>
          </a:xfrm>
          <a:prstGeom prst="roundRect">
            <a:avLst>
              <a:gd name="adj" fmla="val 6897"/>
            </a:avLst>
          </a:prstGeom>
          <a:solidFill>
            <a:srgbClr val="FFFFFF"/>
          </a:solidFill>
          <a:ln w="12700">
            <a:solidFill>
              <a:srgbClr val="2F9E74"/>
            </a:solidFill>
            <a:prstDash val="solid"/>
          </a:ln>
        </p:spPr>
      </p:sp>
      <p:sp>
        <p:nvSpPr>
          <p:cNvPr id="12" name="Text 10"/>
          <p:cNvSpPr/>
          <p:nvPr/>
        </p:nvSpPr>
        <p:spPr>
          <a:xfrm>
            <a:off x="2971800" y="1444752"/>
            <a:ext cx="1325880" cy="219456"/>
          </a:xfrm>
          <a:prstGeom prst="rect">
            <a:avLst/>
          </a:prstGeom>
          <a:noFill/>
          <a:ln/>
        </p:spPr>
        <p:txBody>
          <a:bodyPr wrap="square" lIns="0" tIns="0" rIns="0" bIns="0" rtlCol="0" anchor="ctr">
            <a:normAutofit/>
          </a:bodyPr>
          <a:lstStyle/>
          <a:p>
            <a:pPr algn="ctr" indent="0" marL="0">
              <a:buNone/>
            </a:pPr>
            <a:r>
              <a:rPr lang="en-US" sz="900" b="1" dirty="0">
                <a:solidFill>
                  <a:srgbClr val="2F9E74"/>
                </a:solidFill>
                <a:latin typeface="Aptos" pitchFamily="34" charset="0"/>
                <a:ea typeface="Aptos" pitchFamily="34" charset="-122"/>
                <a:cs typeface="Aptos" pitchFamily="34" charset="-120"/>
              </a:rPr>
              <a:t>Block 2</a:t>
            </a:r>
            <a:endParaRPr lang="en-US" sz="900" dirty="0"/>
          </a:p>
        </p:txBody>
      </p:sp>
      <p:sp>
        <p:nvSpPr>
          <p:cNvPr id="13" name="Shape 11"/>
          <p:cNvSpPr/>
          <p:nvPr/>
        </p:nvSpPr>
        <p:spPr>
          <a:xfrm>
            <a:off x="3063240" y="1737360"/>
            <a:ext cx="1143000" cy="301752"/>
          </a:xfrm>
          <a:prstGeom prst="roundRect">
            <a:avLst>
              <a:gd name="adj" fmla="val 36364"/>
            </a:avLst>
          </a:prstGeom>
          <a:solidFill>
            <a:srgbClr val="F2F7FB"/>
          </a:solidFill>
          <a:ln w="12700">
            <a:solidFill>
              <a:srgbClr val="2F9E74"/>
            </a:solidFill>
            <a:prstDash val="solid"/>
          </a:ln>
        </p:spPr>
      </p:sp>
      <p:sp>
        <p:nvSpPr>
          <p:cNvPr id="14" name="Text 12"/>
          <p:cNvSpPr/>
          <p:nvPr/>
        </p:nvSpPr>
        <p:spPr>
          <a:xfrm>
            <a:off x="3127248" y="1783080"/>
            <a:ext cx="1014984" cy="210312"/>
          </a:xfrm>
          <a:prstGeom prst="rect">
            <a:avLst/>
          </a:prstGeom>
          <a:noFill/>
          <a:ln/>
        </p:spPr>
        <p:txBody>
          <a:bodyPr wrap="square" lIns="762" tIns="762" rIns="762" bIns="762" rtlCol="0" anchor="ctr">
            <a:normAutofit/>
          </a:bodyPr>
          <a:lstStyle/>
          <a:p>
            <a:pPr algn="ctr" indent="0" marL="0">
              <a:buNone/>
            </a:pPr>
            <a:r>
              <a:rPr lang="en-US" sz="800" dirty="0">
                <a:solidFill>
                  <a:srgbClr val="12212B"/>
                </a:solidFill>
                <a:latin typeface="Aptos" pitchFamily="34" charset="0"/>
                <a:ea typeface="Aptos" pitchFamily="34" charset="-122"/>
                <a:cs typeface="Aptos" pitchFamily="34" charset="-120"/>
              </a:rPr>
              <a:t>Attention</a:t>
            </a:r>
            <a:endParaRPr lang="en-US" sz="800" dirty="0"/>
          </a:p>
        </p:txBody>
      </p:sp>
      <p:sp>
        <p:nvSpPr>
          <p:cNvPr id="15" name="Shape 13"/>
          <p:cNvSpPr/>
          <p:nvPr/>
        </p:nvSpPr>
        <p:spPr>
          <a:xfrm>
            <a:off x="3063240" y="2130552"/>
            <a:ext cx="1143000" cy="301752"/>
          </a:xfrm>
          <a:prstGeom prst="roundRect">
            <a:avLst>
              <a:gd name="adj" fmla="val 36364"/>
            </a:avLst>
          </a:prstGeom>
          <a:solidFill>
            <a:srgbClr val="F2F7FB"/>
          </a:solidFill>
          <a:ln w="12700">
            <a:solidFill>
              <a:srgbClr val="2F9E74"/>
            </a:solidFill>
            <a:prstDash val="solid"/>
          </a:ln>
        </p:spPr>
      </p:sp>
      <p:sp>
        <p:nvSpPr>
          <p:cNvPr id="16" name="Text 14"/>
          <p:cNvSpPr/>
          <p:nvPr/>
        </p:nvSpPr>
        <p:spPr>
          <a:xfrm>
            <a:off x="3127248" y="2176272"/>
            <a:ext cx="1014984" cy="210312"/>
          </a:xfrm>
          <a:prstGeom prst="rect">
            <a:avLst/>
          </a:prstGeom>
          <a:noFill/>
          <a:ln/>
        </p:spPr>
        <p:txBody>
          <a:bodyPr wrap="square" lIns="762" tIns="762" rIns="762" bIns="762" rtlCol="0" anchor="ctr">
            <a:normAutofit/>
          </a:bodyPr>
          <a:lstStyle/>
          <a:p>
            <a:pPr algn="ctr" indent="0" marL="0">
              <a:buNone/>
            </a:pPr>
            <a:r>
              <a:rPr lang="en-US" sz="800" dirty="0">
                <a:solidFill>
                  <a:srgbClr val="12212B"/>
                </a:solidFill>
                <a:latin typeface="Aptos" pitchFamily="34" charset="0"/>
                <a:ea typeface="Aptos" pitchFamily="34" charset="-122"/>
                <a:cs typeface="Aptos" pitchFamily="34" charset="-120"/>
              </a:rPr>
              <a:t>FFN</a:t>
            </a:r>
            <a:endParaRPr lang="en-US" sz="800" dirty="0"/>
          </a:p>
        </p:txBody>
      </p:sp>
      <p:sp>
        <p:nvSpPr>
          <p:cNvPr id="17" name="Shape 15"/>
          <p:cNvSpPr/>
          <p:nvPr/>
        </p:nvSpPr>
        <p:spPr>
          <a:xfrm>
            <a:off x="4407408" y="2084832"/>
            <a:ext cx="438912" cy="0"/>
          </a:xfrm>
          <a:prstGeom prst="line">
            <a:avLst/>
          </a:prstGeom>
          <a:noFill/>
          <a:ln w="15240">
            <a:solidFill>
              <a:srgbClr val="AAB7C3"/>
            </a:solidFill>
            <a:prstDash val="solid"/>
            <a:headEnd type="none"/>
            <a:tailEnd type="triangle"/>
          </a:ln>
        </p:spPr>
      </p:sp>
      <p:sp>
        <p:nvSpPr>
          <p:cNvPr id="18" name="Shape 16"/>
          <p:cNvSpPr/>
          <p:nvPr/>
        </p:nvSpPr>
        <p:spPr>
          <a:xfrm>
            <a:off x="4937760" y="1417320"/>
            <a:ext cx="1417320" cy="1325880"/>
          </a:xfrm>
          <a:prstGeom prst="roundRect">
            <a:avLst>
              <a:gd name="adj" fmla="val 6897"/>
            </a:avLst>
          </a:prstGeom>
          <a:solidFill>
            <a:srgbClr val="FFFFFF"/>
          </a:solidFill>
          <a:ln w="12700">
            <a:solidFill>
              <a:srgbClr val="2F9E74"/>
            </a:solidFill>
            <a:prstDash val="solid"/>
          </a:ln>
        </p:spPr>
      </p:sp>
      <p:sp>
        <p:nvSpPr>
          <p:cNvPr id="19" name="Text 17"/>
          <p:cNvSpPr/>
          <p:nvPr/>
        </p:nvSpPr>
        <p:spPr>
          <a:xfrm>
            <a:off x="4983480" y="1444752"/>
            <a:ext cx="1325880" cy="219456"/>
          </a:xfrm>
          <a:prstGeom prst="rect">
            <a:avLst/>
          </a:prstGeom>
          <a:noFill/>
          <a:ln/>
        </p:spPr>
        <p:txBody>
          <a:bodyPr wrap="square" lIns="0" tIns="0" rIns="0" bIns="0" rtlCol="0" anchor="ctr">
            <a:normAutofit/>
          </a:bodyPr>
          <a:lstStyle/>
          <a:p>
            <a:pPr algn="ctr" indent="0" marL="0">
              <a:buNone/>
            </a:pPr>
            <a:r>
              <a:rPr lang="en-US" sz="900" b="1" dirty="0">
                <a:solidFill>
                  <a:srgbClr val="2F9E74"/>
                </a:solidFill>
                <a:latin typeface="Aptos" pitchFamily="34" charset="0"/>
                <a:ea typeface="Aptos" pitchFamily="34" charset="-122"/>
                <a:cs typeface="Aptos" pitchFamily="34" charset="-120"/>
              </a:rPr>
              <a:t>Block 3</a:t>
            </a:r>
            <a:endParaRPr lang="en-US" sz="900" dirty="0"/>
          </a:p>
        </p:txBody>
      </p:sp>
      <p:sp>
        <p:nvSpPr>
          <p:cNvPr id="20" name="Shape 18"/>
          <p:cNvSpPr/>
          <p:nvPr/>
        </p:nvSpPr>
        <p:spPr>
          <a:xfrm>
            <a:off x="5074920" y="1737360"/>
            <a:ext cx="1143000" cy="301752"/>
          </a:xfrm>
          <a:prstGeom prst="roundRect">
            <a:avLst>
              <a:gd name="adj" fmla="val 36364"/>
            </a:avLst>
          </a:prstGeom>
          <a:solidFill>
            <a:srgbClr val="F2F7FB"/>
          </a:solidFill>
          <a:ln w="12700">
            <a:solidFill>
              <a:srgbClr val="2F9E74"/>
            </a:solidFill>
            <a:prstDash val="solid"/>
          </a:ln>
        </p:spPr>
      </p:sp>
      <p:sp>
        <p:nvSpPr>
          <p:cNvPr id="21" name="Text 19"/>
          <p:cNvSpPr/>
          <p:nvPr/>
        </p:nvSpPr>
        <p:spPr>
          <a:xfrm>
            <a:off x="5138928" y="1783080"/>
            <a:ext cx="1014984" cy="210312"/>
          </a:xfrm>
          <a:prstGeom prst="rect">
            <a:avLst/>
          </a:prstGeom>
          <a:noFill/>
          <a:ln/>
        </p:spPr>
        <p:txBody>
          <a:bodyPr wrap="square" lIns="762" tIns="762" rIns="762" bIns="762" rtlCol="0" anchor="ctr">
            <a:normAutofit/>
          </a:bodyPr>
          <a:lstStyle/>
          <a:p>
            <a:pPr algn="ctr" indent="0" marL="0">
              <a:buNone/>
            </a:pPr>
            <a:r>
              <a:rPr lang="en-US" sz="800" dirty="0">
                <a:solidFill>
                  <a:srgbClr val="12212B"/>
                </a:solidFill>
                <a:latin typeface="Aptos" pitchFamily="34" charset="0"/>
                <a:ea typeface="Aptos" pitchFamily="34" charset="-122"/>
                <a:cs typeface="Aptos" pitchFamily="34" charset="-120"/>
              </a:rPr>
              <a:t>Attention</a:t>
            </a:r>
            <a:endParaRPr lang="en-US" sz="800" dirty="0"/>
          </a:p>
        </p:txBody>
      </p:sp>
      <p:sp>
        <p:nvSpPr>
          <p:cNvPr id="22" name="Shape 20"/>
          <p:cNvSpPr/>
          <p:nvPr/>
        </p:nvSpPr>
        <p:spPr>
          <a:xfrm>
            <a:off x="5074920" y="2130552"/>
            <a:ext cx="1143000" cy="301752"/>
          </a:xfrm>
          <a:prstGeom prst="roundRect">
            <a:avLst>
              <a:gd name="adj" fmla="val 36364"/>
            </a:avLst>
          </a:prstGeom>
          <a:solidFill>
            <a:srgbClr val="F2F7FB"/>
          </a:solidFill>
          <a:ln w="12700">
            <a:solidFill>
              <a:srgbClr val="2F9E74"/>
            </a:solidFill>
            <a:prstDash val="solid"/>
          </a:ln>
        </p:spPr>
      </p:sp>
      <p:sp>
        <p:nvSpPr>
          <p:cNvPr id="23" name="Text 21"/>
          <p:cNvSpPr/>
          <p:nvPr/>
        </p:nvSpPr>
        <p:spPr>
          <a:xfrm>
            <a:off x="5138928" y="2176272"/>
            <a:ext cx="1014984" cy="210312"/>
          </a:xfrm>
          <a:prstGeom prst="rect">
            <a:avLst/>
          </a:prstGeom>
          <a:noFill/>
          <a:ln/>
        </p:spPr>
        <p:txBody>
          <a:bodyPr wrap="square" lIns="762" tIns="762" rIns="762" bIns="762" rtlCol="0" anchor="ctr">
            <a:normAutofit/>
          </a:bodyPr>
          <a:lstStyle/>
          <a:p>
            <a:pPr algn="ctr" indent="0" marL="0">
              <a:buNone/>
            </a:pPr>
            <a:r>
              <a:rPr lang="en-US" sz="800" dirty="0">
                <a:solidFill>
                  <a:srgbClr val="12212B"/>
                </a:solidFill>
                <a:latin typeface="Aptos" pitchFamily="34" charset="0"/>
                <a:ea typeface="Aptos" pitchFamily="34" charset="-122"/>
                <a:cs typeface="Aptos" pitchFamily="34" charset="-120"/>
              </a:rPr>
              <a:t>FFN</a:t>
            </a:r>
            <a:endParaRPr lang="en-US" sz="800" dirty="0"/>
          </a:p>
        </p:txBody>
      </p:sp>
      <p:sp>
        <p:nvSpPr>
          <p:cNvPr id="24" name="Shape 22"/>
          <p:cNvSpPr/>
          <p:nvPr/>
        </p:nvSpPr>
        <p:spPr>
          <a:xfrm>
            <a:off x="6419088" y="2084832"/>
            <a:ext cx="438912" cy="0"/>
          </a:xfrm>
          <a:prstGeom prst="line">
            <a:avLst/>
          </a:prstGeom>
          <a:noFill/>
          <a:ln w="15240">
            <a:solidFill>
              <a:srgbClr val="AAB7C3"/>
            </a:solidFill>
            <a:prstDash val="solid"/>
            <a:headEnd type="none"/>
            <a:tailEnd type="triangle"/>
          </a:ln>
        </p:spPr>
      </p:sp>
      <p:sp>
        <p:nvSpPr>
          <p:cNvPr id="25" name="Shape 23"/>
          <p:cNvSpPr/>
          <p:nvPr/>
        </p:nvSpPr>
        <p:spPr>
          <a:xfrm>
            <a:off x="6949440" y="1417320"/>
            <a:ext cx="1417320" cy="1325880"/>
          </a:xfrm>
          <a:prstGeom prst="roundRect">
            <a:avLst>
              <a:gd name="adj" fmla="val 6897"/>
            </a:avLst>
          </a:prstGeom>
          <a:solidFill>
            <a:srgbClr val="FFFFFF"/>
          </a:solidFill>
          <a:ln w="12700">
            <a:solidFill>
              <a:srgbClr val="2F9E74"/>
            </a:solidFill>
            <a:prstDash val="solid"/>
          </a:ln>
        </p:spPr>
      </p:sp>
      <p:sp>
        <p:nvSpPr>
          <p:cNvPr id="26" name="Text 24"/>
          <p:cNvSpPr/>
          <p:nvPr/>
        </p:nvSpPr>
        <p:spPr>
          <a:xfrm>
            <a:off x="6995160" y="1444752"/>
            <a:ext cx="1325880" cy="219456"/>
          </a:xfrm>
          <a:prstGeom prst="rect">
            <a:avLst/>
          </a:prstGeom>
          <a:noFill/>
          <a:ln/>
        </p:spPr>
        <p:txBody>
          <a:bodyPr wrap="square" lIns="0" tIns="0" rIns="0" bIns="0" rtlCol="0" anchor="ctr">
            <a:normAutofit/>
          </a:bodyPr>
          <a:lstStyle/>
          <a:p>
            <a:pPr algn="ctr" indent="0" marL="0">
              <a:buNone/>
            </a:pPr>
            <a:r>
              <a:rPr lang="en-US" sz="900" b="1" dirty="0">
                <a:solidFill>
                  <a:srgbClr val="2F9E74"/>
                </a:solidFill>
                <a:latin typeface="Aptos" pitchFamily="34" charset="0"/>
                <a:ea typeface="Aptos" pitchFamily="34" charset="-122"/>
                <a:cs typeface="Aptos" pitchFamily="34" charset="-120"/>
              </a:rPr>
              <a:t>Block 4</a:t>
            </a:r>
            <a:endParaRPr lang="en-US" sz="900" dirty="0"/>
          </a:p>
        </p:txBody>
      </p:sp>
      <p:sp>
        <p:nvSpPr>
          <p:cNvPr id="27" name="Shape 25"/>
          <p:cNvSpPr/>
          <p:nvPr/>
        </p:nvSpPr>
        <p:spPr>
          <a:xfrm>
            <a:off x="7086600" y="1737360"/>
            <a:ext cx="1143000" cy="301752"/>
          </a:xfrm>
          <a:prstGeom prst="roundRect">
            <a:avLst>
              <a:gd name="adj" fmla="val 36364"/>
            </a:avLst>
          </a:prstGeom>
          <a:solidFill>
            <a:srgbClr val="F2F7FB"/>
          </a:solidFill>
          <a:ln w="12700">
            <a:solidFill>
              <a:srgbClr val="2F9E74"/>
            </a:solidFill>
            <a:prstDash val="solid"/>
          </a:ln>
        </p:spPr>
      </p:sp>
      <p:sp>
        <p:nvSpPr>
          <p:cNvPr id="28" name="Text 26"/>
          <p:cNvSpPr/>
          <p:nvPr/>
        </p:nvSpPr>
        <p:spPr>
          <a:xfrm>
            <a:off x="7150608" y="1783080"/>
            <a:ext cx="1014984" cy="210312"/>
          </a:xfrm>
          <a:prstGeom prst="rect">
            <a:avLst/>
          </a:prstGeom>
          <a:noFill/>
          <a:ln/>
        </p:spPr>
        <p:txBody>
          <a:bodyPr wrap="square" lIns="762" tIns="762" rIns="762" bIns="762" rtlCol="0" anchor="ctr">
            <a:normAutofit/>
          </a:bodyPr>
          <a:lstStyle/>
          <a:p>
            <a:pPr algn="ctr" indent="0" marL="0">
              <a:buNone/>
            </a:pPr>
            <a:r>
              <a:rPr lang="en-US" sz="800" dirty="0">
                <a:solidFill>
                  <a:srgbClr val="12212B"/>
                </a:solidFill>
                <a:latin typeface="Aptos" pitchFamily="34" charset="0"/>
                <a:ea typeface="Aptos" pitchFamily="34" charset="-122"/>
                <a:cs typeface="Aptos" pitchFamily="34" charset="-120"/>
              </a:rPr>
              <a:t>Attention</a:t>
            </a:r>
            <a:endParaRPr lang="en-US" sz="800" dirty="0"/>
          </a:p>
        </p:txBody>
      </p:sp>
      <p:sp>
        <p:nvSpPr>
          <p:cNvPr id="29" name="Shape 27"/>
          <p:cNvSpPr/>
          <p:nvPr/>
        </p:nvSpPr>
        <p:spPr>
          <a:xfrm>
            <a:off x="7086600" y="2130552"/>
            <a:ext cx="1143000" cy="301752"/>
          </a:xfrm>
          <a:prstGeom prst="roundRect">
            <a:avLst>
              <a:gd name="adj" fmla="val 36364"/>
            </a:avLst>
          </a:prstGeom>
          <a:solidFill>
            <a:srgbClr val="F2F7FB"/>
          </a:solidFill>
          <a:ln w="12700">
            <a:solidFill>
              <a:srgbClr val="2F9E74"/>
            </a:solidFill>
            <a:prstDash val="solid"/>
          </a:ln>
        </p:spPr>
      </p:sp>
      <p:sp>
        <p:nvSpPr>
          <p:cNvPr id="30" name="Text 28"/>
          <p:cNvSpPr/>
          <p:nvPr/>
        </p:nvSpPr>
        <p:spPr>
          <a:xfrm>
            <a:off x="7150608" y="2176272"/>
            <a:ext cx="1014984" cy="210312"/>
          </a:xfrm>
          <a:prstGeom prst="rect">
            <a:avLst/>
          </a:prstGeom>
          <a:noFill/>
          <a:ln/>
        </p:spPr>
        <p:txBody>
          <a:bodyPr wrap="square" lIns="762" tIns="762" rIns="762" bIns="762" rtlCol="0" anchor="ctr">
            <a:normAutofit/>
          </a:bodyPr>
          <a:lstStyle/>
          <a:p>
            <a:pPr algn="ctr" indent="0" marL="0">
              <a:buNone/>
            </a:pPr>
            <a:r>
              <a:rPr lang="en-US" sz="800" dirty="0">
                <a:solidFill>
                  <a:srgbClr val="12212B"/>
                </a:solidFill>
                <a:latin typeface="Aptos" pitchFamily="34" charset="0"/>
                <a:ea typeface="Aptos" pitchFamily="34" charset="-122"/>
                <a:cs typeface="Aptos" pitchFamily="34" charset="-120"/>
              </a:rPr>
              <a:t>FFN</a:t>
            </a:r>
            <a:endParaRPr lang="en-US" sz="800" dirty="0"/>
          </a:p>
        </p:txBody>
      </p:sp>
      <p:sp>
        <p:nvSpPr>
          <p:cNvPr id="31" name="Text 29"/>
          <p:cNvSpPr/>
          <p:nvPr/>
        </p:nvSpPr>
        <p:spPr>
          <a:xfrm>
            <a:off x="8961120" y="1874520"/>
            <a:ext cx="1828800" cy="329184"/>
          </a:xfrm>
          <a:prstGeom prst="rect">
            <a:avLst/>
          </a:prstGeom>
          <a:noFill/>
          <a:ln/>
        </p:spPr>
        <p:txBody>
          <a:bodyPr wrap="square" lIns="762" tIns="762" rIns="762" bIns="762" rtlCol="0" anchor="ctr">
            <a:normAutofit/>
          </a:bodyPr>
          <a:lstStyle/>
          <a:p>
            <a:pPr algn="ctr" indent="0" marL="0">
              <a:buNone/>
            </a:pPr>
            <a:r>
              <a:rPr lang="en-US" sz="1500" b="1" dirty="0">
                <a:solidFill>
                  <a:srgbClr val="516271"/>
                </a:solidFill>
                <a:latin typeface="Aptos" pitchFamily="34" charset="0"/>
                <a:ea typeface="Aptos" pitchFamily="34" charset="-122"/>
                <a:cs typeface="Aptos" pitchFamily="34" charset="-120"/>
              </a:rPr>
              <a:t>… lặp nhiều lớp tùy checkpoint</a:t>
            </a:r>
            <a:endParaRPr lang="en-US" sz="1500" dirty="0"/>
          </a:p>
        </p:txBody>
      </p:sp>
      <p:sp>
        <p:nvSpPr>
          <p:cNvPr id="32" name="Text 30"/>
          <p:cNvSpPr/>
          <p:nvPr/>
        </p:nvSpPr>
        <p:spPr>
          <a:xfrm>
            <a:off x="868680" y="3749040"/>
            <a:ext cx="5303520" cy="1600200"/>
          </a:xfrm>
          <a:prstGeom prst="rect">
            <a:avLst/>
          </a:prstGeom>
          <a:noFill/>
          <a:ln/>
        </p:spPr>
        <p:txBody>
          <a:bodyPr wrap="square" lIns="1016" tIns="1016" rIns="1016" bIns="1016" rtlCol="0" anchor="ctr">
            <a:normAutofit/>
          </a:bodyPr>
          <a:lstStyle/>
          <a:p>
            <a:r>
              <a:rPr lang="en-US" sz="1350" dirty="0">
                <a:solidFill>
                  <a:srgbClr val="12212B"/>
                </a:solidFill>
                <a:latin typeface="Aptos" pitchFamily="34" charset="0"/>
                <a:ea typeface="Aptos" pitchFamily="34" charset="-122"/>
                <a:cs typeface="Aptos" pitchFamily="34" charset="-120"/>
              </a:rPr>
              <a:t>Self-attention: mỗi frame nhìn sang các frame khác để hiểu ngữ cảnh.</a:t>
            </a:r>
            <a:endParaRPr lang="en-US" sz="1350" dirty="0"/>
          </a:p>
          <a:p>
            <a:r>
              <a:rPr lang="en-US" sz="1350" dirty="0">
                <a:solidFill>
                  <a:srgbClr val="12212B"/>
                </a:solidFill>
                <a:latin typeface="Aptos" pitchFamily="34" charset="0"/>
                <a:ea typeface="Aptos" pitchFamily="34" charset="-122"/>
                <a:cs typeface="Aptos" pitchFamily="34" charset="-120"/>
              </a:rPr>
              <a:t>Feed-forward network: biến đổi phi tuyến từng vị trí để tăng khả năng biểu diễn.</a:t>
            </a:r>
            <a:endParaRPr lang="en-US" sz="1350" dirty="0"/>
          </a:p>
          <a:p>
            <a:r>
              <a:rPr lang="en-US" sz="1350" dirty="0">
                <a:solidFill>
                  <a:srgbClr val="12212B"/>
                </a:solidFill>
                <a:latin typeface="Aptos" pitchFamily="34" charset="0"/>
                <a:ea typeface="Aptos" pitchFamily="34" charset="-122"/>
                <a:cs typeface="Aptos" pitchFamily="34" charset="-120"/>
              </a:rPr>
              <a:t>Residual + normalization: giữ tín hiệu ổn định qua nhiều lớp.</a:t>
            </a:r>
            <a:endParaRPr lang="en-US" sz="1350" dirty="0"/>
          </a:p>
        </p:txBody>
      </p:sp>
      <p:sp>
        <p:nvSpPr>
          <p:cNvPr id="33" name="Shape 31"/>
          <p:cNvSpPr/>
          <p:nvPr/>
        </p:nvSpPr>
        <p:spPr>
          <a:xfrm>
            <a:off x="6492240" y="3977640"/>
            <a:ext cx="4480560" cy="841248"/>
          </a:xfrm>
          <a:prstGeom prst="roundRect">
            <a:avLst>
              <a:gd name="adj" fmla="val 13043"/>
            </a:avLst>
          </a:prstGeom>
          <a:solidFill>
            <a:srgbClr val="FFFFFF"/>
          </a:solidFill>
          <a:ln w="12700">
            <a:solidFill>
              <a:srgbClr val="175D7C"/>
            </a:solidFill>
            <a:prstDash val="solid"/>
          </a:ln>
        </p:spPr>
      </p:sp>
      <p:sp>
        <p:nvSpPr>
          <p:cNvPr id="34" name="Text 32"/>
          <p:cNvSpPr/>
          <p:nvPr/>
        </p:nvSpPr>
        <p:spPr>
          <a:xfrm>
            <a:off x="6556248" y="4023360"/>
            <a:ext cx="4352544" cy="749808"/>
          </a:xfrm>
          <a:prstGeom prst="rect">
            <a:avLst/>
          </a:prstGeom>
          <a:noFill/>
          <a:ln/>
        </p:spPr>
        <p:txBody>
          <a:bodyPr wrap="square" lIns="762" tIns="762" rIns="762" bIns="762" rtlCol="0" anchor="ctr">
            <a:normAutofit/>
          </a:bodyPr>
          <a:lstStyle/>
          <a:p>
            <a:pPr algn="ctr" indent="0" marL="0">
              <a:buNone/>
            </a:pPr>
            <a:r>
              <a:rPr lang="en-US" sz="1550" b="1" dirty="0">
                <a:solidFill>
                  <a:srgbClr val="175D7C"/>
                </a:solidFill>
                <a:latin typeface="Aptos" pitchFamily="34" charset="0"/>
                <a:ea typeface="Aptos" pitchFamily="34" charset="-122"/>
                <a:cs typeface="Aptos" pitchFamily="34" charset="-120"/>
              </a:rPr>
              <a:t>Kết quả: mỗi bước thời gian không còn “cô lập”; nó biết trước/sau đang nói gì.</a:t>
            </a:r>
            <a:endParaRPr lang="en-US" sz="1550" dirty="0"/>
          </a:p>
        </p:txBody>
      </p:sp>
      <p:sp>
        <p:nvSpPr>
          <p:cNvPr id="35" name="Shape 33"/>
          <p:cNvSpPr/>
          <p:nvPr/>
        </p:nvSpPr>
        <p:spPr>
          <a:xfrm>
            <a:off x="438912" y="6199632"/>
            <a:ext cx="2377440" cy="310896"/>
          </a:xfrm>
          <a:prstGeom prst="roundRect">
            <a:avLst>
              <a:gd name="adj" fmla="val 44118"/>
            </a:avLst>
          </a:prstGeom>
          <a:solidFill>
            <a:srgbClr val="E8F2F6"/>
          </a:solidFill>
          <a:ln w="12700">
            <a:solidFill>
              <a:srgbClr val="E8F2F6"/>
            </a:solidFill>
            <a:prstDash val="solid"/>
          </a:ln>
        </p:spPr>
      </p:sp>
      <p:sp>
        <p:nvSpPr>
          <p:cNvPr id="36" name="Text 34"/>
          <p:cNvSpPr/>
          <p:nvPr/>
        </p:nvSpPr>
        <p:spPr>
          <a:xfrm>
            <a:off x="512064" y="6259068"/>
            <a:ext cx="2231136" cy="201168"/>
          </a:xfrm>
          <a:prstGeom prst="rect">
            <a:avLst/>
          </a:prstGeom>
          <a:noFill/>
          <a:ln/>
        </p:spPr>
        <p:txBody>
          <a:bodyPr wrap="square" lIns="0" tIns="0" rIns="0" bIns="0" rtlCol="0" anchor="ctr">
            <a:normAutofit/>
          </a:bodyPr>
          <a:lstStyle/>
          <a:p>
            <a:pPr algn="ctr" indent="0" marL="0">
              <a:buNone/>
            </a:pPr>
            <a:r>
              <a:rPr lang="en-US" sz="950" b="1" dirty="0">
                <a:solidFill>
                  <a:srgbClr val="175D7C"/>
                </a:solidFill>
                <a:latin typeface="Aptos" pitchFamily="34" charset="0"/>
                <a:ea typeface="Aptos" pitchFamily="34" charset="-122"/>
                <a:cs typeface="Aptos" pitchFamily="34" charset="-120"/>
              </a:rPr>
              <a:t>Encoder blocks</a:t>
            </a:r>
            <a:endParaRPr lang="en-US" sz="950" dirty="0"/>
          </a:p>
        </p:txBody>
      </p:sp>
      <p:sp>
        <p:nvSpPr>
          <p:cNvPr id="25" name="Slide Number Placeholder 0"/>
          <p:cNvSpPr>
            <a:spLocks noGrp="1"/>
          </p:cNvSpPr>
          <p:nvPr>
            <p:ph type="sldNum" sz="quarter" idx="4294967295"/>
          </p:nvPr>
        </p:nvSpPr>
        <p:spPr>
          <a:xfrm>
            <a:off x="11841480" y="6519672"/>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7C879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420624" y="256032"/>
            <a:ext cx="9875520" cy="384048"/>
          </a:xfrm>
          <a:prstGeom prst="rect">
            <a:avLst/>
          </a:prstGeom>
          <a:noFill/>
          <a:ln/>
        </p:spPr>
        <p:txBody>
          <a:bodyPr wrap="square" lIns="0" tIns="0" rIns="0" bIns="0" rtlCol="0" anchor="ctr"/>
          <a:lstStyle/>
          <a:p>
            <a:pPr indent="0" marL="0">
              <a:buNone/>
            </a:pPr>
            <a:r>
              <a:rPr lang="en-US" sz="2500" b="1" dirty="0">
                <a:solidFill>
                  <a:srgbClr val="12212B"/>
                </a:solidFill>
                <a:latin typeface="Aptos Display" pitchFamily="34" charset="0"/>
                <a:ea typeface="Aptos Display" pitchFamily="34" charset="-122"/>
                <a:cs typeface="Aptos Display" pitchFamily="34" charset="-120"/>
              </a:rPr>
              <a:t>Attention: cơ chế “nhìn phần liên quan”</a:t>
            </a:r>
            <a:endParaRPr lang="en-US" sz="2500" dirty="0"/>
          </a:p>
        </p:txBody>
      </p:sp>
      <p:sp>
        <p:nvSpPr>
          <p:cNvPr id="3" name="Text 1"/>
          <p:cNvSpPr/>
          <p:nvPr/>
        </p:nvSpPr>
        <p:spPr>
          <a:xfrm>
            <a:off x="438912" y="694944"/>
            <a:ext cx="9875520" cy="256032"/>
          </a:xfrm>
          <a:prstGeom prst="rect">
            <a:avLst/>
          </a:prstGeom>
          <a:noFill/>
          <a:ln/>
        </p:spPr>
        <p:txBody>
          <a:bodyPr wrap="square" lIns="0" tIns="0" rIns="0" bIns="0" rtlCol="0" anchor="ctr"/>
          <a:lstStyle/>
          <a:p>
            <a:pPr indent="0" marL="0">
              <a:buNone/>
            </a:pPr>
            <a:r>
              <a:rPr lang="en-US" sz="1050" dirty="0">
                <a:solidFill>
                  <a:srgbClr val="516271"/>
                </a:solidFill>
              </a:rPr>
              <a:t>Attention không nghe to hơn; nó phân bổ trọng số chú ý giữa các vị trí</a:t>
            </a:r>
            <a:endParaRPr lang="en-US" sz="1050" dirty="0"/>
          </a:p>
        </p:txBody>
      </p:sp>
      <p:sp>
        <p:nvSpPr>
          <p:cNvPr id="4" name="Shape 2"/>
          <p:cNvSpPr/>
          <p:nvPr/>
        </p:nvSpPr>
        <p:spPr>
          <a:xfrm>
            <a:off x="868680" y="1097280"/>
            <a:ext cx="566928" cy="384048"/>
          </a:xfrm>
          <a:prstGeom prst="roundRect">
            <a:avLst>
              <a:gd name="adj" fmla="val 28571"/>
            </a:avLst>
          </a:prstGeom>
          <a:solidFill>
            <a:srgbClr val="FFFFFF"/>
          </a:solidFill>
          <a:ln w="12700">
            <a:solidFill>
              <a:srgbClr val="AAB7C3"/>
            </a:solidFill>
            <a:prstDash val="solid"/>
          </a:ln>
        </p:spPr>
      </p:sp>
      <p:sp>
        <p:nvSpPr>
          <p:cNvPr id="5" name="Text 3"/>
          <p:cNvSpPr/>
          <p:nvPr/>
        </p:nvSpPr>
        <p:spPr>
          <a:xfrm>
            <a:off x="932688" y="1143000"/>
            <a:ext cx="438912" cy="292608"/>
          </a:xfrm>
          <a:prstGeom prst="rect">
            <a:avLst/>
          </a:prstGeom>
          <a:noFill/>
          <a:ln/>
        </p:spPr>
        <p:txBody>
          <a:bodyPr wrap="square" lIns="762" tIns="762" rIns="762" bIns="762" rtlCol="0" anchor="ctr">
            <a:normAutofit/>
          </a:bodyPr>
          <a:lstStyle/>
          <a:p>
            <a:pPr algn="ctr" indent="0" marL="0">
              <a:buNone/>
            </a:pPr>
            <a:r>
              <a:rPr lang="en-US" sz="1100" b="1" dirty="0">
                <a:solidFill>
                  <a:srgbClr val="12212B"/>
                </a:solidFill>
                <a:latin typeface="Aptos" pitchFamily="34" charset="0"/>
                <a:ea typeface="Aptos" pitchFamily="34" charset="-122"/>
                <a:cs typeface="Aptos" pitchFamily="34" charset="-120"/>
              </a:rPr>
              <a:t>tôi</a:t>
            </a:r>
            <a:endParaRPr lang="en-US" sz="1100" dirty="0"/>
          </a:p>
        </p:txBody>
      </p:sp>
      <p:sp>
        <p:nvSpPr>
          <p:cNvPr id="6" name="Shape 4"/>
          <p:cNvSpPr/>
          <p:nvPr/>
        </p:nvSpPr>
        <p:spPr>
          <a:xfrm>
            <a:off x="1691640" y="1097280"/>
            <a:ext cx="566928" cy="384048"/>
          </a:xfrm>
          <a:prstGeom prst="roundRect">
            <a:avLst>
              <a:gd name="adj" fmla="val 28571"/>
            </a:avLst>
          </a:prstGeom>
          <a:solidFill>
            <a:srgbClr val="FFFFFF"/>
          </a:solidFill>
          <a:ln w="12700">
            <a:solidFill>
              <a:srgbClr val="AAB7C3"/>
            </a:solidFill>
            <a:prstDash val="solid"/>
          </a:ln>
        </p:spPr>
      </p:sp>
      <p:sp>
        <p:nvSpPr>
          <p:cNvPr id="7" name="Text 5"/>
          <p:cNvSpPr/>
          <p:nvPr/>
        </p:nvSpPr>
        <p:spPr>
          <a:xfrm>
            <a:off x="1755648" y="1143000"/>
            <a:ext cx="438912" cy="292608"/>
          </a:xfrm>
          <a:prstGeom prst="rect">
            <a:avLst/>
          </a:prstGeom>
          <a:noFill/>
          <a:ln/>
        </p:spPr>
        <p:txBody>
          <a:bodyPr wrap="square" lIns="762" tIns="762" rIns="762" bIns="762" rtlCol="0" anchor="ctr">
            <a:normAutofit/>
          </a:bodyPr>
          <a:lstStyle/>
          <a:p>
            <a:pPr algn="ctr" indent="0" marL="0">
              <a:buNone/>
            </a:pPr>
            <a:r>
              <a:rPr lang="en-US" sz="1100" b="1" dirty="0">
                <a:solidFill>
                  <a:srgbClr val="12212B"/>
                </a:solidFill>
                <a:latin typeface="Aptos" pitchFamily="34" charset="0"/>
                <a:ea typeface="Aptos" pitchFamily="34" charset="-122"/>
                <a:cs typeface="Aptos" pitchFamily="34" charset="-120"/>
              </a:rPr>
              <a:t>muốn</a:t>
            </a:r>
            <a:endParaRPr lang="en-US" sz="1100" dirty="0"/>
          </a:p>
        </p:txBody>
      </p:sp>
      <p:sp>
        <p:nvSpPr>
          <p:cNvPr id="8" name="Shape 6"/>
          <p:cNvSpPr/>
          <p:nvPr/>
        </p:nvSpPr>
        <p:spPr>
          <a:xfrm>
            <a:off x="2514600" y="1097280"/>
            <a:ext cx="566928" cy="384048"/>
          </a:xfrm>
          <a:prstGeom prst="roundRect">
            <a:avLst>
              <a:gd name="adj" fmla="val 28571"/>
            </a:avLst>
          </a:prstGeom>
          <a:solidFill>
            <a:srgbClr val="FFFFFF"/>
          </a:solidFill>
          <a:ln w="12700">
            <a:solidFill>
              <a:srgbClr val="AAB7C3"/>
            </a:solidFill>
            <a:prstDash val="solid"/>
          </a:ln>
        </p:spPr>
      </p:sp>
      <p:sp>
        <p:nvSpPr>
          <p:cNvPr id="9" name="Text 7"/>
          <p:cNvSpPr/>
          <p:nvPr/>
        </p:nvSpPr>
        <p:spPr>
          <a:xfrm>
            <a:off x="2578608" y="1143000"/>
            <a:ext cx="438912" cy="292608"/>
          </a:xfrm>
          <a:prstGeom prst="rect">
            <a:avLst/>
          </a:prstGeom>
          <a:noFill/>
          <a:ln/>
        </p:spPr>
        <p:txBody>
          <a:bodyPr wrap="square" lIns="762" tIns="762" rIns="762" bIns="762" rtlCol="0" anchor="ctr">
            <a:normAutofit/>
          </a:bodyPr>
          <a:lstStyle/>
          <a:p>
            <a:pPr algn="ctr" indent="0" marL="0">
              <a:buNone/>
            </a:pPr>
            <a:r>
              <a:rPr lang="en-US" sz="1100" b="1" dirty="0">
                <a:solidFill>
                  <a:srgbClr val="12212B"/>
                </a:solidFill>
                <a:latin typeface="Aptos" pitchFamily="34" charset="0"/>
                <a:ea typeface="Aptos" pitchFamily="34" charset="-122"/>
                <a:cs typeface="Aptos" pitchFamily="34" charset="-120"/>
              </a:rPr>
              <a:t>kiểm</a:t>
            </a:r>
            <a:endParaRPr lang="en-US" sz="1100" dirty="0"/>
          </a:p>
        </p:txBody>
      </p:sp>
      <p:sp>
        <p:nvSpPr>
          <p:cNvPr id="10" name="Shape 8"/>
          <p:cNvSpPr/>
          <p:nvPr/>
        </p:nvSpPr>
        <p:spPr>
          <a:xfrm>
            <a:off x="3337560" y="1097280"/>
            <a:ext cx="566928" cy="384048"/>
          </a:xfrm>
          <a:prstGeom prst="roundRect">
            <a:avLst>
              <a:gd name="adj" fmla="val 28571"/>
            </a:avLst>
          </a:prstGeom>
          <a:solidFill>
            <a:srgbClr val="FFFFFF"/>
          </a:solidFill>
          <a:ln w="12700">
            <a:solidFill>
              <a:srgbClr val="AAB7C3"/>
            </a:solidFill>
            <a:prstDash val="solid"/>
          </a:ln>
        </p:spPr>
      </p:sp>
      <p:sp>
        <p:nvSpPr>
          <p:cNvPr id="11" name="Text 9"/>
          <p:cNvSpPr/>
          <p:nvPr/>
        </p:nvSpPr>
        <p:spPr>
          <a:xfrm>
            <a:off x="3401568" y="1143000"/>
            <a:ext cx="438912" cy="292608"/>
          </a:xfrm>
          <a:prstGeom prst="rect">
            <a:avLst/>
          </a:prstGeom>
          <a:noFill/>
          <a:ln/>
        </p:spPr>
        <p:txBody>
          <a:bodyPr wrap="square" lIns="762" tIns="762" rIns="762" bIns="762" rtlCol="0" anchor="ctr">
            <a:normAutofit/>
          </a:bodyPr>
          <a:lstStyle/>
          <a:p>
            <a:pPr algn="ctr" indent="0" marL="0">
              <a:buNone/>
            </a:pPr>
            <a:r>
              <a:rPr lang="en-US" sz="1100" b="1" dirty="0">
                <a:solidFill>
                  <a:srgbClr val="12212B"/>
                </a:solidFill>
                <a:latin typeface="Aptos" pitchFamily="34" charset="0"/>
                <a:ea typeface="Aptos" pitchFamily="34" charset="-122"/>
                <a:cs typeface="Aptos" pitchFamily="34" charset="-120"/>
              </a:rPr>
              <a:t>tra</a:t>
            </a:r>
            <a:endParaRPr lang="en-US" sz="1100" dirty="0"/>
          </a:p>
        </p:txBody>
      </p:sp>
      <p:sp>
        <p:nvSpPr>
          <p:cNvPr id="12" name="Shape 10"/>
          <p:cNvSpPr/>
          <p:nvPr/>
        </p:nvSpPr>
        <p:spPr>
          <a:xfrm>
            <a:off x="4160520" y="1097280"/>
            <a:ext cx="566928" cy="384048"/>
          </a:xfrm>
          <a:prstGeom prst="roundRect">
            <a:avLst>
              <a:gd name="adj" fmla="val 28571"/>
            </a:avLst>
          </a:prstGeom>
          <a:solidFill>
            <a:srgbClr val="FFFFFF"/>
          </a:solidFill>
          <a:ln w="12700">
            <a:solidFill>
              <a:srgbClr val="AAB7C3"/>
            </a:solidFill>
            <a:prstDash val="solid"/>
          </a:ln>
        </p:spPr>
      </p:sp>
      <p:sp>
        <p:nvSpPr>
          <p:cNvPr id="13" name="Text 11"/>
          <p:cNvSpPr/>
          <p:nvPr/>
        </p:nvSpPr>
        <p:spPr>
          <a:xfrm>
            <a:off x="4224528" y="1143000"/>
            <a:ext cx="438912" cy="292608"/>
          </a:xfrm>
          <a:prstGeom prst="rect">
            <a:avLst/>
          </a:prstGeom>
          <a:noFill/>
          <a:ln/>
        </p:spPr>
        <p:txBody>
          <a:bodyPr wrap="square" lIns="762" tIns="762" rIns="762" bIns="762" rtlCol="0" anchor="ctr">
            <a:normAutofit/>
          </a:bodyPr>
          <a:lstStyle/>
          <a:p>
            <a:pPr algn="ctr" indent="0" marL="0">
              <a:buNone/>
            </a:pPr>
            <a:r>
              <a:rPr lang="en-US" sz="1100" b="1" dirty="0">
                <a:solidFill>
                  <a:srgbClr val="12212B"/>
                </a:solidFill>
                <a:latin typeface="Aptos" pitchFamily="34" charset="0"/>
                <a:ea typeface="Aptos" pitchFamily="34" charset="-122"/>
                <a:cs typeface="Aptos" pitchFamily="34" charset="-120"/>
              </a:rPr>
              <a:t>hợp</a:t>
            </a:r>
            <a:endParaRPr lang="en-US" sz="1100" dirty="0"/>
          </a:p>
        </p:txBody>
      </p:sp>
      <p:sp>
        <p:nvSpPr>
          <p:cNvPr id="14" name="Shape 12"/>
          <p:cNvSpPr/>
          <p:nvPr/>
        </p:nvSpPr>
        <p:spPr>
          <a:xfrm>
            <a:off x="4983480" y="1097280"/>
            <a:ext cx="566928" cy="384048"/>
          </a:xfrm>
          <a:prstGeom prst="roundRect">
            <a:avLst>
              <a:gd name="adj" fmla="val 28571"/>
            </a:avLst>
          </a:prstGeom>
          <a:solidFill>
            <a:srgbClr val="FFFFFF"/>
          </a:solidFill>
          <a:ln w="12700">
            <a:solidFill>
              <a:srgbClr val="AAB7C3"/>
            </a:solidFill>
            <a:prstDash val="solid"/>
          </a:ln>
        </p:spPr>
      </p:sp>
      <p:sp>
        <p:nvSpPr>
          <p:cNvPr id="15" name="Text 13"/>
          <p:cNvSpPr/>
          <p:nvPr/>
        </p:nvSpPr>
        <p:spPr>
          <a:xfrm>
            <a:off x="5047488" y="1143000"/>
            <a:ext cx="438912" cy="292608"/>
          </a:xfrm>
          <a:prstGeom prst="rect">
            <a:avLst/>
          </a:prstGeom>
          <a:noFill/>
          <a:ln/>
        </p:spPr>
        <p:txBody>
          <a:bodyPr wrap="square" lIns="762" tIns="762" rIns="762" bIns="762" rtlCol="0" anchor="ctr">
            <a:normAutofit/>
          </a:bodyPr>
          <a:lstStyle/>
          <a:p>
            <a:pPr algn="ctr" indent="0" marL="0">
              <a:buNone/>
            </a:pPr>
            <a:r>
              <a:rPr lang="en-US" sz="1100" b="1" dirty="0">
                <a:solidFill>
                  <a:srgbClr val="12212B"/>
                </a:solidFill>
                <a:latin typeface="Aptos" pitchFamily="34" charset="0"/>
                <a:ea typeface="Aptos" pitchFamily="34" charset="-122"/>
                <a:cs typeface="Aptos" pitchFamily="34" charset="-120"/>
              </a:rPr>
              <a:t>đồng</a:t>
            </a:r>
            <a:endParaRPr lang="en-US" sz="1100" dirty="0"/>
          </a:p>
        </p:txBody>
      </p:sp>
      <p:sp>
        <p:nvSpPr>
          <p:cNvPr id="16" name="Shape 14"/>
          <p:cNvSpPr/>
          <p:nvPr/>
        </p:nvSpPr>
        <p:spPr>
          <a:xfrm>
            <a:off x="868680" y="3246120"/>
            <a:ext cx="566928" cy="384048"/>
          </a:xfrm>
          <a:prstGeom prst="roundRect">
            <a:avLst>
              <a:gd name="adj" fmla="val 28571"/>
            </a:avLst>
          </a:prstGeom>
          <a:solidFill>
            <a:srgbClr val="FFFFFF"/>
          </a:solidFill>
          <a:ln w="12700">
            <a:solidFill>
              <a:srgbClr val="AAB7C3"/>
            </a:solidFill>
            <a:prstDash val="solid"/>
          </a:ln>
        </p:spPr>
      </p:sp>
      <p:sp>
        <p:nvSpPr>
          <p:cNvPr id="17" name="Text 15"/>
          <p:cNvSpPr/>
          <p:nvPr/>
        </p:nvSpPr>
        <p:spPr>
          <a:xfrm>
            <a:off x="932688" y="3291840"/>
            <a:ext cx="438912" cy="292608"/>
          </a:xfrm>
          <a:prstGeom prst="rect">
            <a:avLst/>
          </a:prstGeom>
          <a:noFill/>
          <a:ln/>
        </p:spPr>
        <p:txBody>
          <a:bodyPr wrap="square" lIns="762" tIns="762" rIns="762" bIns="762" rtlCol="0" anchor="ctr">
            <a:normAutofit/>
          </a:bodyPr>
          <a:lstStyle/>
          <a:p>
            <a:pPr algn="ctr" indent="0" marL="0">
              <a:buNone/>
            </a:pPr>
            <a:r>
              <a:rPr lang="en-US" sz="1100" b="1" dirty="0">
                <a:solidFill>
                  <a:srgbClr val="12212B"/>
                </a:solidFill>
                <a:latin typeface="Aptos" pitchFamily="34" charset="0"/>
                <a:ea typeface="Aptos" pitchFamily="34" charset="-122"/>
                <a:cs typeface="Aptos" pitchFamily="34" charset="-120"/>
              </a:rPr>
              <a:t>tôi</a:t>
            </a:r>
            <a:endParaRPr lang="en-US" sz="1100" dirty="0"/>
          </a:p>
        </p:txBody>
      </p:sp>
      <p:sp>
        <p:nvSpPr>
          <p:cNvPr id="18" name="Shape 16"/>
          <p:cNvSpPr/>
          <p:nvPr/>
        </p:nvSpPr>
        <p:spPr>
          <a:xfrm>
            <a:off x="1691640" y="3246120"/>
            <a:ext cx="566928" cy="384048"/>
          </a:xfrm>
          <a:prstGeom prst="roundRect">
            <a:avLst>
              <a:gd name="adj" fmla="val 28571"/>
            </a:avLst>
          </a:prstGeom>
          <a:solidFill>
            <a:srgbClr val="FFFFFF"/>
          </a:solidFill>
          <a:ln w="12700">
            <a:solidFill>
              <a:srgbClr val="AAB7C3"/>
            </a:solidFill>
            <a:prstDash val="solid"/>
          </a:ln>
        </p:spPr>
      </p:sp>
      <p:sp>
        <p:nvSpPr>
          <p:cNvPr id="19" name="Text 17"/>
          <p:cNvSpPr/>
          <p:nvPr/>
        </p:nvSpPr>
        <p:spPr>
          <a:xfrm>
            <a:off x="1755648" y="3291840"/>
            <a:ext cx="438912" cy="292608"/>
          </a:xfrm>
          <a:prstGeom prst="rect">
            <a:avLst/>
          </a:prstGeom>
          <a:noFill/>
          <a:ln/>
        </p:spPr>
        <p:txBody>
          <a:bodyPr wrap="square" lIns="762" tIns="762" rIns="762" bIns="762" rtlCol="0" anchor="ctr">
            <a:normAutofit/>
          </a:bodyPr>
          <a:lstStyle/>
          <a:p>
            <a:pPr algn="ctr" indent="0" marL="0">
              <a:buNone/>
            </a:pPr>
            <a:r>
              <a:rPr lang="en-US" sz="1100" b="1" dirty="0">
                <a:solidFill>
                  <a:srgbClr val="12212B"/>
                </a:solidFill>
                <a:latin typeface="Aptos" pitchFamily="34" charset="0"/>
                <a:ea typeface="Aptos" pitchFamily="34" charset="-122"/>
                <a:cs typeface="Aptos" pitchFamily="34" charset="-120"/>
              </a:rPr>
              <a:t>muốn</a:t>
            </a:r>
            <a:endParaRPr lang="en-US" sz="1100" dirty="0"/>
          </a:p>
        </p:txBody>
      </p:sp>
      <p:sp>
        <p:nvSpPr>
          <p:cNvPr id="20" name="Shape 18"/>
          <p:cNvSpPr/>
          <p:nvPr/>
        </p:nvSpPr>
        <p:spPr>
          <a:xfrm>
            <a:off x="2514600" y="3246120"/>
            <a:ext cx="566928" cy="384048"/>
          </a:xfrm>
          <a:prstGeom prst="roundRect">
            <a:avLst>
              <a:gd name="adj" fmla="val 28571"/>
            </a:avLst>
          </a:prstGeom>
          <a:solidFill>
            <a:srgbClr val="FFFFFF"/>
          </a:solidFill>
          <a:ln w="12700">
            <a:solidFill>
              <a:srgbClr val="AAB7C3"/>
            </a:solidFill>
            <a:prstDash val="solid"/>
          </a:ln>
        </p:spPr>
      </p:sp>
      <p:sp>
        <p:nvSpPr>
          <p:cNvPr id="21" name="Text 19"/>
          <p:cNvSpPr/>
          <p:nvPr/>
        </p:nvSpPr>
        <p:spPr>
          <a:xfrm>
            <a:off x="2578608" y="3291840"/>
            <a:ext cx="438912" cy="292608"/>
          </a:xfrm>
          <a:prstGeom prst="rect">
            <a:avLst/>
          </a:prstGeom>
          <a:noFill/>
          <a:ln/>
        </p:spPr>
        <p:txBody>
          <a:bodyPr wrap="square" lIns="762" tIns="762" rIns="762" bIns="762" rtlCol="0" anchor="ctr">
            <a:normAutofit/>
          </a:bodyPr>
          <a:lstStyle/>
          <a:p>
            <a:pPr algn="ctr" indent="0" marL="0">
              <a:buNone/>
            </a:pPr>
            <a:r>
              <a:rPr lang="en-US" sz="1100" b="1" dirty="0">
                <a:solidFill>
                  <a:srgbClr val="12212B"/>
                </a:solidFill>
                <a:latin typeface="Aptos" pitchFamily="34" charset="0"/>
                <a:ea typeface="Aptos" pitchFamily="34" charset="-122"/>
                <a:cs typeface="Aptos" pitchFamily="34" charset="-120"/>
              </a:rPr>
              <a:t>kiểm</a:t>
            </a:r>
            <a:endParaRPr lang="en-US" sz="1100" dirty="0"/>
          </a:p>
        </p:txBody>
      </p:sp>
      <p:sp>
        <p:nvSpPr>
          <p:cNvPr id="22" name="Shape 20"/>
          <p:cNvSpPr/>
          <p:nvPr/>
        </p:nvSpPr>
        <p:spPr>
          <a:xfrm>
            <a:off x="3337560" y="3246120"/>
            <a:ext cx="566928" cy="384048"/>
          </a:xfrm>
          <a:prstGeom prst="roundRect">
            <a:avLst>
              <a:gd name="adj" fmla="val 28571"/>
            </a:avLst>
          </a:prstGeom>
          <a:solidFill>
            <a:srgbClr val="FFFFFF"/>
          </a:solidFill>
          <a:ln w="12700">
            <a:solidFill>
              <a:srgbClr val="AAB7C3"/>
            </a:solidFill>
            <a:prstDash val="solid"/>
          </a:ln>
        </p:spPr>
      </p:sp>
      <p:sp>
        <p:nvSpPr>
          <p:cNvPr id="23" name="Text 21"/>
          <p:cNvSpPr/>
          <p:nvPr/>
        </p:nvSpPr>
        <p:spPr>
          <a:xfrm>
            <a:off x="3401568" y="3291840"/>
            <a:ext cx="438912" cy="292608"/>
          </a:xfrm>
          <a:prstGeom prst="rect">
            <a:avLst/>
          </a:prstGeom>
          <a:noFill/>
          <a:ln/>
        </p:spPr>
        <p:txBody>
          <a:bodyPr wrap="square" lIns="762" tIns="762" rIns="762" bIns="762" rtlCol="0" anchor="ctr">
            <a:normAutofit/>
          </a:bodyPr>
          <a:lstStyle/>
          <a:p>
            <a:pPr algn="ctr" indent="0" marL="0">
              <a:buNone/>
            </a:pPr>
            <a:r>
              <a:rPr lang="en-US" sz="1100" b="1" dirty="0">
                <a:solidFill>
                  <a:srgbClr val="12212B"/>
                </a:solidFill>
                <a:latin typeface="Aptos" pitchFamily="34" charset="0"/>
                <a:ea typeface="Aptos" pitchFamily="34" charset="-122"/>
                <a:cs typeface="Aptos" pitchFamily="34" charset="-120"/>
              </a:rPr>
              <a:t>tra</a:t>
            </a:r>
            <a:endParaRPr lang="en-US" sz="1100" dirty="0"/>
          </a:p>
        </p:txBody>
      </p:sp>
      <p:sp>
        <p:nvSpPr>
          <p:cNvPr id="24" name="Shape 22"/>
          <p:cNvSpPr/>
          <p:nvPr/>
        </p:nvSpPr>
        <p:spPr>
          <a:xfrm>
            <a:off x="4160520" y="3246120"/>
            <a:ext cx="566928" cy="384048"/>
          </a:xfrm>
          <a:prstGeom prst="roundRect">
            <a:avLst>
              <a:gd name="adj" fmla="val 28571"/>
            </a:avLst>
          </a:prstGeom>
          <a:solidFill>
            <a:srgbClr val="FFFFFF"/>
          </a:solidFill>
          <a:ln w="12700">
            <a:solidFill>
              <a:srgbClr val="AAB7C3"/>
            </a:solidFill>
            <a:prstDash val="solid"/>
          </a:ln>
        </p:spPr>
      </p:sp>
      <p:sp>
        <p:nvSpPr>
          <p:cNvPr id="25" name="Text 23"/>
          <p:cNvSpPr/>
          <p:nvPr/>
        </p:nvSpPr>
        <p:spPr>
          <a:xfrm>
            <a:off x="4224528" y="3291840"/>
            <a:ext cx="438912" cy="292608"/>
          </a:xfrm>
          <a:prstGeom prst="rect">
            <a:avLst/>
          </a:prstGeom>
          <a:noFill/>
          <a:ln/>
        </p:spPr>
        <p:txBody>
          <a:bodyPr wrap="square" lIns="762" tIns="762" rIns="762" bIns="762" rtlCol="0" anchor="ctr">
            <a:normAutofit/>
          </a:bodyPr>
          <a:lstStyle/>
          <a:p>
            <a:pPr algn="ctr" indent="0" marL="0">
              <a:buNone/>
            </a:pPr>
            <a:r>
              <a:rPr lang="en-US" sz="1100" b="1" dirty="0">
                <a:solidFill>
                  <a:srgbClr val="12212B"/>
                </a:solidFill>
                <a:latin typeface="Aptos" pitchFamily="34" charset="0"/>
                <a:ea typeface="Aptos" pitchFamily="34" charset="-122"/>
                <a:cs typeface="Aptos" pitchFamily="34" charset="-120"/>
              </a:rPr>
              <a:t>hợp</a:t>
            </a:r>
            <a:endParaRPr lang="en-US" sz="1100" dirty="0"/>
          </a:p>
        </p:txBody>
      </p:sp>
      <p:sp>
        <p:nvSpPr>
          <p:cNvPr id="26" name="Shape 24"/>
          <p:cNvSpPr/>
          <p:nvPr/>
        </p:nvSpPr>
        <p:spPr>
          <a:xfrm>
            <a:off x="4983480" y="3246120"/>
            <a:ext cx="566928" cy="384048"/>
          </a:xfrm>
          <a:prstGeom prst="roundRect">
            <a:avLst>
              <a:gd name="adj" fmla="val 28571"/>
            </a:avLst>
          </a:prstGeom>
          <a:solidFill>
            <a:srgbClr val="FFFFFF"/>
          </a:solidFill>
          <a:ln w="12700">
            <a:solidFill>
              <a:srgbClr val="AAB7C3"/>
            </a:solidFill>
            <a:prstDash val="solid"/>
          </a:ln>
        </p:spPr>
      </p:sp>
      <p:sp>
        <p:nvSpPr>
          <p:cNvPr id="27" name="Text 25"/>
          <p:cNvSpPr/>
          <p:nvPr/>
        </p:nvSpPr>
        <p:spPr>
          <a:xfrm>
            <a:off x="5047488" y="3291840"/>
            <a:ext cx="438912" cy="292608"/>
          </a:xfrm>
          <a:prstGeom prst="rect">
            <a:avLst/>
          </a:prstGeom>
          <a:noFill/>
          <a:ln/>
        </p:spPr>
        <p:txBody>
          <a:bodyPr wrap="square" lIns="762" tIns="762" rIns="762" bIns="762" rtlCol="0" anchor="ctr">
            <a:normAutofit/>
          </a:bodyPr>
          <a:lstStyle/>
          <a:p>
            <a:pPr algn="ctr" indent="0" marL="0">
              <a:buNone/>
            </a:pPr>
            <a:r>
              <a:rPr lang="en-US" sz="1100" b="1" dirty="0">
                <a:solidFill>
                  <a:srgbClr val="12212B"/>
                </a:solidFill>
                <a:latin typeface="Aptos" pitchFamily="34" charset="0"/>
                <a:ea typeface="Aptos" pitchFamily="34" charset="-122"/>
                <a:cs typeface="Aptos" pitchFamily="34" charset="-120"/>
              </a:rPr>
              <a:t>đồng</a:t>
            </a:r>
            <a:endParaRPr lang="en-US" sz="1100" dirty="0"/>
          </a:p>
        </p:txBody>
      </p:sp>
      <p:sp>
        <p:nvSpPr>
          <p:cNvPr id="28" name="Text 26"/>
          <p:cNvSpPr/>
          <p:nvPr/>
        </p:nvSpPr>
        <p:spPr>
          <a:xfrm>
            <a:off x="1463040" y="1993392"/>
            <a:ext cx="2011680" cy="274320"/>
          </a:xfrm>
          <a:prstGeom prst="rect">
            <a:avLst/>
          </a:prstGeom>
          <a:noFill/>
          <a:ln/>
        </p:spPr>
        <p:txBody>
          <a:bodyPr wrap="square" lIns="762" tIns="762" rIns="762" bIns="762" rtlCol="0" anchor="ctr">
            <a:normAutofit/>
          </a:bodyPr>
          <a:lstStyle/>
          <a:p>
            <a:pPr algn="l" indent="0" marL="0">
              <a:buNone/>
            </a:pPr>
            <a:r>
              <a:rPr lang="en-US" sz="1600" b="1" dirty="0">
                <a:solidFill>
                  <a:srgbClr val="175D7C"/>
                </a:solidFill>
                <a:latin typeface="Aptos" pitchFamily="34" charset="0"/>
                <a:ea typeface="Aptos" pitchFamily="34" charset="-122"/>
                <a:cs typeface="Aptos" pitchFamily="34" charset="-120"/>
              </a:rPr>
              <a:t>Vị trí đang xét: “hợp”</a:t>
            </a:r>
            <a:endParaRPr lang="en-US" sz="1600" dirty="0"/>
          </a:p>
        </p:txBody>
      </p:sp>
      <p:sp>
        <p:nvSpPr>
          <p:cNvPr id="29" name="Shape 27"/>
          <p:cNvSpPr/>
          <p:nvPr/>
        </p:nvSpPr>
        <p:spPr>
          <a:xfrm>
            <a:off x="4187952" y="1481328"/>
            <a:ext cx="0" cy="1755648"/>
          </a:xfrm>
          <a:prstGeom prst="line">
            <a:avLst/>
          </a:prstGeom>
          <a:noFill/>
          <a:ln w="25400">
            <a:solidFill>
              <a:srgbClr val="E26D5A"/>
            </a:solidFill>
            <a:prstDash val="solid"/>
          </a:ln>
        </p:spPr>
      </p:sp>
      <p:sp>
        <p:nvSpPr>
          <p:cNvPr id="30" name="Shape 28"/>
          <p:cNvSpPr/>
          <p:nvPr/>
        </p:nvSpPr>
        <p:spPr>
          <a:xfrm>
            <a:off x="4187952" y="1481328"/>
            <a:ext cx="822960" cy="1755648"/>
          </a:xfrm>
          <a:prstGeom prst="line">
            <a:avLst/>
          </a:prstGeom>
          <a:noFill/>
          <a:ln w="17780">
            <a:solidFill>
              <a:srgbClr val="F0B429"/>
            </a:solidFill>
            <a:prstDash val="solid"/>
          </a:ln>
        </p:spPr>
      </p:sp>
      <p:sp>
        <p:nvSpPr>
          <p:cNvPr id="31" name="Shape 29"/>
          <p:cNvSpPr/>
          <p:nvPr/>
        </p:nvSpPr>
        <p:spPr>
          <a:xfrm>
            <a:off x="4187952" y="1481328"/>
            <a:ext cx="-822960" cy="1755648"/>
          </a:xfrm>
          <a:prstGeom prst="line">
            <a:avLst/>
          </a:prstGeom>
          <a:noFill/>
          <a:ln w="13970">
            <a:solidFill>
              <a:srgbClr val="AAB7C3"/>
            </a:solidFill>
            <a:prstDash val="solid"/>
          </a:ln>
        </p:spPr>
      </p:sp>
      <p:sp>
        <p:nvSpPr>
          <p:cNvPr id="32" name="Shape 30"/>
          <p:cNvSpPr/>
          <p:nvPr/>
        </p:nvSpPr>
        <p:spPr>
          <a:xfrm>
            <a:off x="6492240" y="1051560"/>
            <a:ext cx="1143000" cy="420624"/>
          </a:xfrm>
          <a:prstGeom prst="roundRect">
            <a:avLst>
              <a:gd name="adj" fmla="val 26087"/>
            </a:avLst>
          </a:prstGeom>
          <a:solidFill>
            <a:srgbClr val="FFFFFF"/>
          </a:solidFill>
          <a:ln w="12700">
            <a:solidFill>
              <a:srgbClr val="2A67B1"/>
            </a:solidFill>
            <a:prstDash val="solid"/>
          </a:ln>
        </p:spPr>
      </p:sp>
      <p:sp>
        <p:nvSpPr>
          <p:cNvPr id="33" name="Text 31"/>
          <p:cNvSpPr/>
          <p:nvPr/>
        </p:nvSpPr>
        <p:spPr>
          <a:xfrm>
            <a:off x="6556248" y="1097280"/>
            <a:ext cx="1014984" cy="329184"/>
          </a:xfrm>
          <a:prstGeom prst="rect">
            <a:avLst/>
          </a:prstGeom>
          <a:noFill/>
          <a:ln/>
        </p:spPr>
        <p:txBody>
          <a:bodyPr wrap="square" lIns="762" tIns="762" rIns="762" bIns="762" rtlCol="0" anchor="ctr">
            <a:normAutofit/>
          </a:bodyPr>
          <a:lstStyle/>
          <a:p>
            <a:pPr algn="ctr" indent="0" marL="0">
              <a:buNone/>
            </a:pPr>
            <a:r>
              <a:rPr lang="en-US" sz="1200" b="1" dirty="0">
                <a:solidFill>
                  <a:srgbClr val="2A67B1"/>
                </a:solidFill>
                <a:latin typeface="Aptos" pitchFamily="34" charset="0"/>
                <a:ea typeface="Aptos" pitchFamily="34" charset="-122"/>
                <a:cs typeface="Aptos" pitchFamily="34" charset="-120"/>
              </a:rPr>
              <a:t>Query</a:t>
            </a:r>
            <a:endParaRPr lang="en-US" sz="1200" dirty="0"/>
          </a:p>
        </p:txBody>
      </p:sp>
      <p:sp>
        <p:nvSpPr>
          <p:cNvPr id="34" name="Shape 32"/>
          <p:cNvSpPr/>
          <p:nvPr/>
        </p:nvSpPr>
        <p:spPr>
          <a:xfrm>
            <a:off x="6492240" y="1828800"/>
            <a:ext cx="1143000" cy="420624"/>
          </a:xfrm>
          <a:prstGeom prst="roundRect">
            <a:avLst>
              <a:gd name="adj" fmla="val 26087"/>
            </a:avLst>
          </a:prstGeom>
          <a:solidFill>
            <a:srgbClr val="FFFFFF"/>
          </a:solidFill>
          <a:ln w="12700">
            <a:solidFill>
              <a:srgbClr val="2F9E74"/>
            </a:solidFill>
            <a:prstDash val="solid"/>
          </a:ln>
        </p:spPr>
      </p:sp>
      <p:sp>
        <p:nvSpPr>
          <p:cNvPr id="35" name="Text 33"/>
          <p:cNvSpPr/>
          <p:nvPr/>
        </p:nvSpPr>
        <p:spPr>
          <a:xfrm>
            <a:off x="6556248" y="1874520"/>
            <a:ext cx="1014984" cy="329184"/>
          </a:xfrm>
          <a:prstGeom prst="rect">
            <a:avLst/>
          </a:prstGeom>
          <a:noFill/>
          <a:ln/>
        </p:spPr>
        <p:txBody>
          <a:bodyPr wrap="square" lIns="762" tIns="762" rIns="762" bIns="762" rtlCol="0" anchor="ctr">
            <a:normAutofit/>
          </a:bodyPr>
          <a:lstStyle/>
          <a:p>
            <a:pPr algn="ctr" indent="0" marL="0">
              <a:buNone/>
            </a:pPr>
            <a:r>
              <a:rPr lang="en-US" sz="1200" b="1" dirty="0">
                <a:solidFill>
                  <a:srgbClr val="2F9E74"/>
                </a:solidFill>
                <a:latin typeface="Aptos" pitchFamily="34" charset="0"/>
                <a:ea typeface="Aptos" pitchFamily="34" charset="-122"/>
                <a:cs typeface="Aptos" pitchFamily="34" charset="-120"/>
              </a:rPr>
              <a:t>Key</a:t>
            </a:r>
            <a:endParaRPr lang="en-US" sz="1200" dirty="0"/>
          </a:p>
        </p:txBody>
      </p:sp>
      <p:sp>
        <p:nvSpPr>
          <p:cNvPr id="36" name="Shape 34"/>
          <p:cNvSpPr/>
          <p:nvPr/>
        </p:nvSpPr>
        <p:spPr>
          <a:xfrm>
            <a:off x="6492240" y="2606040"/>
            <a:ext cx="1143000" cy="420624"/>
          </a:xfrm>
          <a:prstGeom prst="roundRect">
            <a:avLst>
              <a:gd name="adj" fmla="val 26087"/>
            </a:avLst>
          </a:prstGeom>
          <a:solidFill>
            <a:srgbClr val="FFFFFF"/>
          </a:solidFill>
          <a:ln w="12700">
            <a:solidFill>
              <a:srgbClr val="E26D5A"/>
            </a:solidFill>
            <a:prstDash val="solid"/>
          </a:ln>
        </p:spPr>
      </p:sp>
      <p:sp>
        <p:nvSpPr>
          <p:cNvPr id="37" name="Text 35"/>
          <p:cNvSpPr/>
          <p:nvPr/>
        </p:nvSpPr>
        <p:spPr>
          <a:xfrm>
            <a:off x="6556248" y="2651760"/>
            <a:ext cx="1014984" cy="329184"/>
          </a:xfrm>
          <a:prstGeom prst="rect">
            <a:avLst/>
          </a:prstGeom>
          <a:noFill/>
          <a:ln/>
        </p:spPr>
        <p:txBody>
          <a:bodyPr wrap="square" lIns="762" tIns="762" rIns="762" bIns="762" rtlCol="0" anchor="ctr">
            <a:normAutofit/>
          </a:bodyPr>
          <a:lstStyle/>
          <a:p>
            <a:pPr algn="ctr" indent="0" marL="0">
              <a:buNone/>
            </a:pPr>
            <a:r>
              <a:rPr lang="en-US" sz="1200" b="1" dirty="0">
                <a:solidFill>
                  <a:srgbClr val="E26D5A"/>
                </a:solidFill>
                <a:latin typeface="Aptos" pitchFamily="34" charset="0"/>
                <a:ea typeface="Aptos" pitchFamily="34" charset="-122"/>
                <a:cs typeface="Aptos" pitchFamily="34" charset="-120"/>
              </a:rPr>
              <a:t>Value</a:t>
            </a:r>
            <a:endParaRPr lang="en-US" sz="1200" dirty="0"/>
          </a:p>
        </p:txBody>
      </p:sp>
      <p:sp>
        <p:nvSpPr>
          <p:cNvPr id="38" name="Shape 36"/>
          <p:cNvSpPr/>
          <p:nvPr/>
        </p:nvSpPr>
        <p:spPr>
          <a:xfrm>
            <a:off x="7818120" y="1261872"/>
            <a:ext cx="868680" cy="0"/>
          </a:xfrm>
          <a:prstGeom prst="line">
            <a:avLst/>
          </a:prstGeom>
          <a:noFill/>
          <a:ln w="12700">
            <a:solidFill>
              <a:srgbClr val="AAB7C3"/>
            </a:solidFill>
            <a:prstDash val="solid"/>
            <a:headEnd type="none"/>
            <a:tailEnd type="triangle"/>
          </a:ln>
        </p:spPr>
      </p:sp>
      <p:sp>
        <p:nvSpPr>
          <p:cNvPr id="39" name="Shape 37"/>
          <p:cNvSpPr/>
          <p:nvPr/>
        </p:nvSpPr>
        <p:spPr>
          <a:xfrm>
            <a:off x="7818120" y="2039112"/>
            <a:ext cx="868680" cy="0"/>
          </a:xfrm>
          <a:prstGeom prst="line">
            <a:avLst/>
          </a:prstGeom>
          <a:noFill/>
          <a:ln w="12700">
            <a:solidFill>
              <a:srgbClr val="AAB7C3"/>
            </a:solidFill>
            <a:prstDash val="solid"/>
            <a:headEnd type="none"/>
            <a:tailEnd type="triangle"/>
          </a:ln>
        </p:spPr>
      </p:sp>
      <p:sp>
        <p:nvSpPr>
          <p:cNvPr id="40" name="Shape 38"/>
          <p:cNvSpPr/>
          <p:nvPr/>
        </p:nvSpPr>
        <p:spPr>
          <a:xfrm>
            <a:off x="7818120" y="2816352"/>
            <a:ext cx="868680" cy="0"/>
          </a:xfrm>
          <a:prstGeom prst="line">
            <a:avLst/>
          </a:prstGeom>
          <a:noFill/>
          <a:ln w="12700">
            <a:solidFill>
              <a:srgbClr val="AAB7C3"/>
            </a:solidFill>
            <a:prstDash val="solid"/>
            <a:headEnd type="none"/>
            <a:tailEnd type="triangle"/>
          </a:ln>
        </p:spPr>
      </p:sp>
      <p:sp>
        <p:nvSpPr>
          <p:cNvPr id="41" name="Shape 39"/>
          <p:cNvSpPr/>
          <p:nvPr/>
        </p:nvSpPr>
        <p:spPr>
          <a:xfrm>
            <a:off x="8823960" y="1600200"/>
            <a:ext cx="2103120" cy="960120"/>
          </a:xfrm>
          <a:prstGeom prst="roundRect">
            <a:avLst>
              <a:gd name="adj" fmla="val 11429"/>
            </a:avLst>
          </a:prstGeom>
          <a:solidFill>
            <a:srgbClr val="FFFFFF"/>
          </a:solidFill>
          <a:ln w="12700">
            <a:solidFill>
              <a:srgbClr val="175D7C"/>
            </a:solidFill>
            <a:prstDash val="solid"/>
          </a:ln>
        </p:spPr>
      </p:sp>
      <p:sp>
        <p:nvSpPr>
          <p:cNvPr id="42" name="Text 40"/>
          <p:cNvSpPr/>
          <p:nvPr/>
        </p:nvSpPr>
        <p:spPr>
          <a:xfrm>
            <a:off x="8887968" y="1645920"/>
            <a:ext cx="1975104" cy="868680"/>
          </a:xfrm>
          <a:prstGeom prst="rect">
            <a:avLst/>
          </a:prstGeom>
          <a:noFill/>
          <a:ln/>
        </p:spPr>
        <p:txBody>
          <a:bodyPr wrap="square" lIns="762" tIns="762" rIns="762" bIns="762" rtlCol="0" anchor="ctr">
            <a:normAutofit/>
          </a:bodyPr>
          <a:lstStyle/>
          <a:p>
            <a:pPr algn="ctr" indent="0" marL="0">
              <a:buNone/>
            </a:pPr>
            <a:r>
              <a:rPr lang="en-US" sz="1400" b="1" dirty="0">
                <a:solidFill>
                  <a:srgbClr val="175D7C"/>
                </a:solidFill>
                <a:latin typeface="Aptos" pitchFamily="34" charset="0"/>
                <a:ea typeface="Aptos" pitchFamily="34" charset="-122"/>
                <a:cs typeface="Aptos" pitchFamily="34" charset="-120"/>
              </a:rPr>
              <a:t>Trọng số chú ý</a:t>
            </a:r>
            <a:endParaRPr lang="en-US" sz="1400" dirty="0"/>
          </a:p>
          <a:p>
            <a:pPr algn="ctr" indent="0" marL="0">
              <a:buNone/>
            </a:pPr>
            <a:r>
              <a:rPr lang="en-US" sz="1400" b="1" dirty="0">
                <a:solidFill>
                  <a:srgbClr val="175D7C"/>
                </a:solidFill>
                <a:latin typeface="Aptos" pitchFamily="34" charset="0"/>
                <a:ea typeface="Aptos" pitchFamily="34" charset="-122"/>
                <a:cs typeface="Aptos" pitchFamily="34" charset="-120"/>
              </a:rPr>
              <a:t>attention weights</a:t>
            </a:r>
            <a:endParaRPr lang="en-US" sz="1400" dirty="0"/>
          </a:p>
        </p:txBody>
      </p:sp>
      <p:sp>
        <p:nvSpPr>
          <p:cNvPr id="43" name="Text 41"/>
          <p:cNvSpPr/>
          <p:nvPr/>
        </p:nvSpPr>
        <p:spPr>
          <a:xfrm>
            <a:off x="914400" y="4617720"/>
            <a:ext cx="9784080" cy="822960"/>
          </a:xfrm>
          <a:prstGeom prst="rect">
            <a:avLst/>
          </a:prstGeom>
          <a:noFill/>
          <a:ln/>
        </p:spPr>
        <p:txBody>
          <a:bodyPr wrap="square" lIns="1016" tIns="1016" rIns="1016" bIns="1016" rtlCol="0" anchor="ctr">
            <a:normAutofit/>
          </a:bodyPr>
          <a:lstStyle/>
          <a:p>
            <a:r>
              <a:rPr lang="en-US" sz="1300" dirty="0">
                <a:solidFill>
                  <a:srgbClr val="12212B"/>
                </a:solidFill>
                <a:latin typeface="Aptos" pitchFamily="34" charset="0"/>
                <a:ea typeface="Aptos" pitchFamily="34" charset="-122"/>
                <a:cs typeface="Aptos" pitchFamily="34" charset="-120"/>
              </a:rPr>
              <a:t>Self-attention trong encoder: audio nhìn audio.</a:t>
            </a:r>
            <a:endParaRPr lang="en-US" sz="1300" dirty="0"/>
          </a:p>
          <a:p>
            <a:r>
              <a:rPr lang="en-US" sz="1300" dirty="0">
                <a:solidFill>
                  <a:srgbClr val="12212B"/>
                </a:solidFill>
                <a:latin typeface="Aptos" pitchFamily="34" charset="0"/>
                <a:ea typeface="Aptos" pitchFamily="34" charset="-122"/>
                <a:cs typeface="Aptos" pitchFamily="34" charset="-120"/>
              </a:rPr>
              <a:t>Masked self-attention trong decoder: token chỉ nhìn token trước đó.</a:t>
            </a:r>
            <a:endParaRPr lang="en-US" sz="1300" dirty="0"/>
          </a:p>
          <a:p>
            <a:r>
              <a:rPr lang="en-US" sz="1300" dirty="0">
                <a:solidFill>
                  <a:srgbClr val="12212B"/>
                </a:solidFill>
                <a:latin typeface="Aptos" pitchFamily="34" charset="0"/>
                <a:ea typeface="Aptos" pitchFamily="34" charset="-122"/>
                <a:cs typeface="Aptos" pitchFamily="34" charset="-120"/>
              </a:rPr>
              <a:t>Cross-attention trong decoder: text nhìn audio encoded.</a:t>
            </a:r>
            <a:endParaRPr lang="en-US" sz="1300" dirty="0"/>
          </a:p>
        </p:txBody>
      </p:sp>
      <p:sp>
        <p:nvSpPr>
          <p:cNvPr id="44" name="Shape 42"/>
          <p:cNvSpPr/>
          <p:nvPr/>
        </p:nvSpPr>
        <p:spPr>
          <a:xfrm>
            <a:off x="438912" y="6199632"/>
            <a:ext cx="2377440" cy="310896"/>
          </a:xfrm>
          <a:prstGeom prst="roundRect">
            <a:avLst>
              <a:gd name="adj" fmla="val 44118"/>
            </a:avLst>
          </a:prstGeom>
          <a:solidFill>
            <a:srgbClr val="E8F2F6"/>
          </a:solidFill>
          <a:ln w="12700">
            <a:solidFill>
              <a:srgbClr val="E8F2F6"/>
            </a:solidFill>
            <a:prstDash val="solid"/>
          </a:ln>
        </p:spPr>
      </p:sp>
      <p:sp>
        <p:nvSpPr>
          <p:cNvPr id="45" name="Text 43"/>
          <p:cNvSpPr/>
          <p:nvPr/>
        </p:nvSpPr>
        <p:spPr>
          <a:xfrm>
            <a:off x="512064" y="6259068"/>
            <a:ext cx="2231136" cy="201168"/>
          </a:xfrm>
          <a:prstGeom prst="rect">
            <a:avLst/>
          </a:prstGeom>
          <a:noFill/>
          <a:ln/>
        </p:spPr>
        <p:txBody>
          <a:bodyPr wrap="square" lIns="0" tIns="0" rIns="0" bIns="0" rtlCol="0" anchor="ctr">
            <a:normAutofit/>
          </a:bodyPr>
          <a:lstStyle/>
          <a:p>
            <a:pPr algn="ctr" indent="0" marL="0">
              <a:buNone/>
            </a:pPr>
            <a:r>
              <a:rPr lang="en-US" sz="950" b="1" dirty="0">
                <a:solidFill>
                  <a:srgbClr val="175D7C"/>
                </a:solidFill>
                <a:latin typeface="Aptos" pitchFamily="34" charset="0"/>
                <a:ea typeface="Aptos" pitchFamily="34" charset="-122"/>
                <a:cs typeface="Aptos" pitchFamily="34" charset="-120"/>
              </a:rPr>
              <a:t>Attention</a:t>
            </a:r>
            <a:endParaRPr lang="en-US" sz="950" dirty="0"/>
          </a:p>
        </p:txBody>
      </p:sp>
      <p:sp>
        <p:nvSpPr>
          <p:cNvPr id="25" name="Slide Number Placeholder 0"/>
          <p:cNvSpPr>
            <a:spLocks noGrp="1"/>
          </p:cNvSpPr>
          <p:nvPr>
            <p:ph type="sldNum" sz="quarter" idx="4294967295"/>
          </p:nvPr>
        </p:nvSpPr>
        <p:spPr>
          <a:xfrm>
            <a:off x="11841480" y="6519672"/>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7C8794"/>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420624" y="256032"/>
            <a:ext cx="9875520" cy="384048"/>
          </a:xfrm>
          <a:prstGeom prst="rect">
            <a:avLst/>
          </a:prstGeom>
          <a:noFill/>
          <a:ln/>
        </p:spPr>
        <p:txBody>
          <a:bodyPr wrap="square" lIns="0" tIns="0" rIns="0" bIns="0" rtlCol="0" anchor="ctr"/>
          <a:lstStyle/>
          <a:p>
            <a:pPr indent="0" marL="0">
              <a:buNone/>
            </a:pPr>
            <a:r>
              <a:rPr lang="en-US" sz="2500" b="1" dirty="0">
                <a:solidFill>
                  <a:srgbClr val="12212B"/>
                </a:solidFill>
                <a:latin typeface="Aptos Display" pitchFamily="34" charset="0"/>
                <a:ea typeface="Aptos Display" pitchFamily="34" charset="-122"/>
                <a:cs typeface="Aptos Display" pitchFamily="34" charset="-120"/>
              </a:rPr>
              <a:t>Text Decoder: bắt đầu bằng token điều khiển</a:t>
            </a:r>
            <a:endParaRPr lang="en-US" sz="2500" dirty="0"/>
          </a:p>
        </p:txBody>
      </p:sp>
      <p:sp>
        <p:nvSpPr>
          <p:cNvPr id="3" name="Text 1"/>
          <p:cNvSpPr/>
          <p:nvPr/>
        </p:nvSpPr>
        <p:spPr>
          <a:xfrm>
            <a:off x="438912" y="694944"/>
            <a:ext cx="9875520" cy="256032"/>
          </a:xfrm>
          <a:prstGeom prst="rect">
            <a:avLst/>
          </a:prstGeom>
          <a:noFill/>
          <a:ln/>
        </p:spPr>
        <p:txBody>
          <a:bodyPr wrap="square" lIns="0" tIns="0" rIns="0" bIns="0" rtlCol="0" anchor="ctr"/>
          <a:lstStyle/>
          <a:p>
            <a:pPr indent="0" marL="0">
              <a:buNone/>
            </a:pPr>
            <a:r>
              <a:rPr lang="en-US" sz="1050" dirty="0">
                <a:solidFill>
                  <a:srgbClr val="516271"/>
                </a:solidFill>
              </a:rPr>
              <a:t>Decoder không sinh chữ từ khoảng trống; nó bắt đầu từ special tokens</a:t>
            </a:r>
            <a:endParaRPr lang="en-US" sz="1050" dirty="0"/>
          </a:p>
        </p:txBody>
      </p:sp>
      <p:sp>
        <p:nvSpPr>
          <p:cNvPr id="4" name="Shape 2"/>
          <p:cNvSpPr/>
          <p:nvPr/>
        </p:nvSpPr>
        <p:spPr>
          <a:xfrm>
            <a:off x="777240" y="1627632"/>
            <a:ext cx="1737360" cy="329184"/>
          </a:xfrm>
          <a:prstGeom prst="roundRect">
            <a:avLst>
              <a:gd name="adj" fmla="val 36111"/>
            </a:avLst>
          </a:prstGeom>
          <a:solidFill>
            <a:srgbClr val="2A67B1">
              <a:alpha val="95000"/>
            </a:srgbClr>
          </a:solidFill>
          <a:ln w="12700">
            <a:solidFill>
              <a:srgbClr val="2A67B1"/>
            </a:solidFill>
            <a:prstDash val="solid"/>
          </a:ln>
        </p:spPr>
      </p:sp>
      <p:sp>
        <p:nvSpPr>
          <p:cNvPr id="5" name="Text 3"/>
          <p:cNvSpPr/>
          <p:nvPr/>
        </p:nvSpPr>
        <p:spPr>
          <a:xfrm>
            <a:off x="813816" y="1700784"/>
            <a:ext cx="1664208" cy="164592"/>
          </a:xfrm>
          <a:prstGeom prst="rect">
            <a:avLst/>
          </a:prstGeom>
          <a:noFill/>
          <a:ln/>
        </p:spPr>
        <p:txBody>
          <a:bodyPr wrap="square" lIns="0" tIns="0" rIns="0" bIns="0" rtlCol="0" anchor="ctr">
            <a:normAutofit/>
          </a:bodyPr>
          <a:lstStyle/>
          <a:p>
            <a:pPr algn="ctr" indent="0" marL="0">
              <a:buNone/>
            </a:pPr>
            <a:r>
              <a:rPr lang="en-US" sz="850" b="1" dirty="0">
                <a:solidFill>
                  <a:srgbClr val="12212B"/>
                </a:solidFill>
                <a:latin typeface="Aptos" pitchFamily="34" charset="0"/>
                <a:ea typeface="Aptos" pitchFamily="34" charset="-122"/>
                <a:cs typeface="Aptos" pitchFamily="34" charset="-120"/>
              </a:rPr>
              <a:t>&lt;|startoftranscript|&gt;</a:t>
            </a:r>
            <a:endParaRPr lang="en-US" sz="850" dirty="0"/>
          </a:p>
        </p:txBody>
      </p:sp>
      <p:sp>
        <p:nvSpPr>
          <p:cNvPr id="6" name="Shape 4"/>
          <p:cNvSpPr/>
          <p:nvPr/>
        </p:nvSpPr>
        <p:spPr>
          <a:xfrm>
            <a:off x="2697480" y="1627632"/>
            <a:ext cx="685800" cy="329184"/>
          </a:xfrm>
          <a:prstGeom prst="roundRect">
            <a:avLst>
              <a:gd name="adj" fmla="val 36111"/>
            </a:avLst>
          </a:prstGeom>
          <a:solidFill>
            <a:srgbClr val="2F9E74">
              <a:alpha val="95000"/>
            </a:srgbClr>
          </a:solidFill>
          <a:ln w="12700">
            <a:solidFill>
              <a:srgbClr val="2F9E74"/>
            </a:solidFill>
            <a:prstDash val="solid"/>
          </a:ln>
        </p:spPr>
      </p:sp>
      <p:sp>
        <p:nvSpPr>
          <p:cNvPr id="7" name="Text 5"/>
          <p:cNvSpPr/>
          <p:nvPr/>
        </p:nvSpPr>
        <p:spPr>
          <a:xfrm>
            <a:off x="2734056" y="1700784"/>
            <a:ext cx="612648" cy="164592"/>
          </a:xfrm>
          <a:prstGeom prst="rect">
            <a:avLst/>
          </a:prstGeom>
          <a:noFill/>
          <a:ln/>
        </p:spPr>
        <p:txBody>
          <a:bodyPr wrap="square" lIns="0" tIns="0" rIns="0" bIns="0" rtlCol="0" anchor="ctr">
            <a:normAutofit/>
          </a:bodyPr>
          <a:lstStyle/>
          <a:p>
            <a:pPr algn="ctr" indent="0" marL="0">
              <a:buNone/>
            </a:pPr>
            <a:r>
              <a:rPr lang="en-US" sz="850" b="1" dirty="0">
                <a:solidFill>
                  <a:srgbClr val="12212B"/>
                </a:solidFill>
                <a:latin typeface="Aptos" pitchFamily="34" charset="0"/>
                <a:ea typeface="Aptos" pitchFamily="34" charset="-122"/>
                <a:cs typeface="Aptos" pitchFamily="34" charset="-120"/>
              </a:rPr>
              <a:t>&lt;|vi|&gt;</a:t>
            </a:r>
            <a:endParaRPr lang="en-US" sz="850" dirty="0"/>
          </a:p>
        </p:txBody>
      </p:sp>
      <p:sp>
        <p:nvSpPr>
          <p:cNvPr id="8" name="Shape 6"/>
          <p:cNvSpPr/>
          <p:nvPr/>
        </p:nvSpPr>
        <p:spPr>
          <a:xfrm>
            <a:off x="3611880" y="1627632"/>
            <a:ext cx="1143000" cy="329184"/>
          </a:xfrm>
          <a:prstGeom prst="roundRect">
            <a:avLst>
              <a:gd name="adj" fmla="val 36111"/>
            </a:avLst>
          </a:prstGeom>
          <a:solidFill>
            <a:srgbClr val="E26D5A">
              <a:alpha val="95000"/>
            </a:srgbClr>
          </a:solidFill>
          <a:ln w="12700">
            <a:solidFill>
              <a:srgbClr val="E26D5A"/>
            </a:solidFill>
            <a:prstDash val="solid"/>
          </a:ln>
        </p:spPr>
      </p:sp>
      <p:sp>
        <p:nvSpPr>
          <p:cNvPr id="9" name="Text 7"/>
          <p:cNvSpPr/>
          <p:nvPr/>
        </p:nvSpPr>
        <p:spPr>
          <a:xfrm>
            <a:off x="3648456" y="1700784"/>
            <a:ext cx="1069848" cy="164592"/>
          </a:xfrm>
          <a:prstGeom prst="rect">
            <a:avLst/>
          </a:prstGeom>
          <a:noFill/>
          <a:ln/>
        </p:spPr>
        <p:txBody>
          <a:bodyPr wrap="square" lIns="0" tIns="0" rIns="0" bIns="0" rtlCol="0" anchor="ctr">
            <a:normAutofit/>
          </a:bodyPr>
          <a:lstStyle/>
          <a:p>
            <a:pPr algn="ctr" indent="0" marL="0">
              <a:buNone/>
            </a:pPr>
            <a:r>
              <a:rPr lang="en-US" sz="850" b="1" dirty="0">
                <a:solidFill>
                  <a:srgbClr val="12212B"/>
                </a:solidFill>
                <a:latin typeface="Aptos" pitchFamily="34" charset="0"/>
                <a:ea typeface="Aptos" pitchFamily="34" charset="-122"/>
                <a:cs typeface="Aptos" pitchFamily="34" charset="-120"/>
              </a:rPr>
              <a:t>&lt;|transcribe|&gt;</a:t>
            </a:r>
            <a:endParaRPr lang="en-US" sz="850" dirty="0"/>
          </a:p>
        </p:txBody>
      </p:sp>
      <p:sp>
        <p:nvSpPr>
          <p:cNvPr id="10" name="Shape 8"/>
          <p:cNvSpPr/>
          <p:nvPr/>
        </p:nvSpPr>
        <p:spPr>
          <a:xfrm>
            <a:off x="4983480" y="1627632"/>
            <a:ext cx="1325880" cy="329184"/>
          </a:xfrm>
          <a:prstGeom prst="roundRect">
            <a:avLst>
              <a:gd name="adj" fmla="val 36111"/>
            </a:avLst>
          </a:prstGeom>
          <a:solidFill>
            <a:srgbClr val="6D5BD0">
              <a:alpha val="95000"/>
            </a:srgbClr>
          </a:solidFill>
          <a:ln w="12700">
            <a:solidFill>
              <a:srgbClr val="6D5BD0"/>
            </a:solidFill>
            <a:prstDash val="solid"/>
          </a:ln>
        </p:spPr>
      </p:sp>
      <p:sp>
        <p:nvSpPr>
          <p:cNvPr id="11" name="Text 9"/>
          <p:cNvSpPr/>
          <p:nvPr/>
        </p:nvSpPr>
        <p:spPr>
          <a:xfrm>
            <a:off x="5020056" y="1700784"/>
            <a:ext cx="1252728" cy="164592"/>
          </a:xfrm>
          <a:prstGeom prst="rect">
            <a:avLst/>
          </a:prstGeom>
          <a:noFill/>
          <a:ln/>
        </p:spPr>
        <p:txBody>
          <a:bodyPr wrap="square" lIns="0" tIns="0" rIns="0" bIns="0" rtlCol="0" anchor="ctr">
            <a:normAutofit/>
          </a:bodyPr>
          <a:lstStyle/>
          <a:p>
            <a:pPr algn="ctr" indent="0" marL="0">
              <a:buNone/>
            </a:pPr>
            <a:r>
              <a:rPr lang="en-US" sz="850" b="1" dirty="0">
                <a:solidFill>
                  <a:srgbClr val="12212B"/>
                </a:solidFill>
                <a:latin typeface="Aptos" pitchFamily="34" charset="0"/>
                <a:ea typeface="Aptos" pitchFamily="34" charset="-122"/>
                <a:cs typeface="Aptos" pitchFamily="34" charset="-120"/>
              </a:rPr>
              <a:t>&lt;|notimestamps|&gt;</a:t>
            </a:r>
            <a:endParaRPr lang="en-US" sz="850" dirty="0"/>
          </a:p>
        </p:txBody>
      </p:sp>
      <p:sp>
        <p:nvSpPr>
          <p:cNvPr id="12" name="Shape 10"/>
          <p:cNvSpPr/>
          <p:nvPr/>
        </p:nvSpPr>
        <p:spPr>
          <a:xfrm>
            <a:off x="6510528" y="1792224"/>
            <a:ext cx="548640" cy="0"/>
          </a:xfrm>
          <a:prstGeom prst="line">
            <a:avLst/>
          </a:prstGeom>
          <a:noFill/>
          <a:ln w="16510">
            <a:solidFill>
              <a:srgbClr val="AAB7C3"/>
            </a:solidFill>
            <a:prstDash val="solid"/>
            <a:headEnd type="none"/>
            <a:tailEnd type="triangle"/>
          </a:ln>
        </p:spPr>
      </p:sp>
      <p:sp>
        <p:nvSpPr>
          <p:cNvPr id="13" name="Shape 11"/>
          <p:cNvSpPr/>
          <p:nvPr/>
        </p:nvSpPr>
        <p:spPr>
          <a:xfrm>
            <a:off x="7223760" y="1353312"/>
            <a:ext cx="2011680" cy="868680"/>
          </a:xfrm>
          <a:prstGeom prst="roundRect">
            <a:avLst>
              <a:gd name="adj" fmla="val 12632"/>
            </a:avLst>
          </a:prstGeom>
          <a:solidFill>
            <a:srgbClr val="FFFFFF"/>
          </a:solidFill>
          <a:ln w="12700">
            <a:solidFill>
              <a:srgbClr val="6D5BD0"/>
            </a:solidFill>
            <a:prstDash val="solid"/>
          </a:ln>
        </p:spPr>
      </p:sp>
      <p:sp>
        <p:nvSpPr>
          <p:cNvPr id="14" name="Text 12"/>
          <p:cNvSpPr/>
          <p:nvPr/>
        </p:nvSpPr>
        <p:spPr>
          <a:xfrm>
            <a:off x="7287768" y="1399032"/>
            <a:ext cx="1883664" cy="777240"/>
          </a:xfrm>
          <a:prstGeom prst="rect">
            <a:avLst/>
          </a:prstGeom>
          <a:noFill/>
          <a:ln/>
        </p:spPr>
        <p:txBody>
          <a:bodyPr wrap="square" lIns="762" tIns="762" rIns="762" bIns="762" rtlCol="0" anchor="ctr">
            <a:normAutofit/>
          </a:bodyPr>
          <a:lstStyle/>
          <a:p>
            <a:pPr algn="ctr" indent="0" marL="0">
              <a:buNone/>
            </a:pPr>
            <a:r>
              <a:rPr lang="en-US" sz="1400" b="1" dirty="0">
                <a:solidFill>
                  <a:srgbClr val="6D5BD0"/>
                </a:solidFill>
                <a:latin typeface="Aptos" pitchFamily="34" charset="0"/>
                <a:ea typeface="Aptos" pitchFamily="34" charset="-122"/>
                <a:cs typeface="Aptos" pitchFamily="34" charset="-120"/>
              </a:rPr>
              <a:t>Decoder</a:t>
            </a:r>
            <a:endParaRPr lang="en-US" sz="1400" dirty="0"/>
          </a:p>
          <a:p>
            <a:pPr algn="ctr" indent="0" marL="0">
              <a:buNone/>
            </a:pPr>
            <a:r>
              <a:rPr lang="en-US" sz="1400" b="1" dirty="0">
                <a:solidFill>
                  <a:srgbClr val="6D5BD0"/>
                </a:solidFill>
                <a:latin typeface="Aptos" pitchFamily="34" charset="0"/>
                <a:ea typeface="Aptos" pitchFamily="34" charset="-122"/>
                <a:cs typeface="Aptos" pitchFamily="34" charset="-120"/>
              </a:rPr>
              <a:t>dự đoán token kế tiếp</a:t>
            </a:r>
            <a:endParaRPr lang="en-US" sz="1400" dirty="0"/>
          </a:p>
        </p:txBody>
      </p:sp>
      <p:sp>
        <p:nvSpPr>
          <p:cNvPr id="15" name="Shape 13"/>
          <p:cNvSpPr/>
          <p:nvPr/>
        </p:nvSpPr>
        <p:spPr>
          <a:xfrm>
            <a:off x="9372600" y="1792224"/>
            <a:ext cx="548640" cy="0"/>
          </a:xfrm>
          <a:prstGeom prst="line">
            <a:avLst/>
          </a:prstGeom>
          <a:noFill/>
          <a:ln w="16510">
            <a:solidFill>
              <a:srgbClr val="AAB7C3"/>
            </a:solidFill>
            <a:prstDash val="solid"/>
            <a:headEnd type="none"/>
            <a:tailEnd type="triangle"/>
          </a:ln>
        </p:spPr>
      </p:sp>
      <p:sp>
        <p:nvSpPr>
          <p:cNvPr id="16" name="Shape 14"/>
          <p:cNvSpPr/>
          <p:nvPr/>
        </p:nvSpPr>
        <p:spPr>
          <a:xfrm>
            <a:off x="10104120" y="1627632"/>
            <a:ext cx="594360" cy="329184"/>
          </a:xfrm>
          <a:prstGeom prst="roundRect">
            <a:avLst>
              <a:gd name="adj" fmla="val 36111"/>
            </a:avLst>
          </a:prstGeom>
          <a:solidFill>
            <a:srgbClr val="F0B429">
              <a:alpha val="95000"/>
            </a:srgbClr>
          </a:solidFill>
          <a:ln w="12700">
            <a:solidFill>
              <a:srgbClr val="F0B429"/>
            </a:solidFill>
            <a:prstDash val="solid"/>
          </a:ln>
        </p:spPr>
      </p:sp>
      <p:sp>
        <p:nvSpPr>
          <p:cNvPr id="17" name="Text 15"/>
          <p:cNvSpPr/>
          <p:nvPr/>
        </p:nvSpPr>
        <p:spPr>
          <a:xfrm>
            <a:off x="10140696" y="1700784"/>
            <a:ext cx="521208" cy="164592"/>
          </a:xfrm>
          <a:prstGeom prst="rect">
            <a:avLst/>
          </a:prstGeom>
          <a:noFill/>
          <a:ln/>
        </p:spPr>
        <p:txBody>
          <a:bodyPr wrap="square" lIns="0" tIns="0" rIns="0" bIns="0" rtlCol="0" anchor="ctr">
            <a:normAutofit/>
          </a:bodyPr>
          <a:lstStyle/>
          <a:p>
            <a:pPr algn="ctr" indent="0" marL="0">
              <a:buNone/>
            </a:pPr>
            <a:r>
              <a:rPr lang="en-US" sz="850" b="1" dirty="0">
                <a:solidFill>
                  <a:srgbClr val="12212B"/>
                </a:solidFill>
                <a:latin typeface="Aptos" pitchFamily="34" charset="0"/>
                <a:ea typeface="Aptos" pitchFamily="34" charset="-122"/>
                <a:cs typeface="Aptos" pitchFamily="34" charset="-120"/>
              </a:rPr>
              <a:t>tôi</a:t>
            </a:r>
            <a:endParaRPr lang="en-US" sz="850" dirty="0"/>
          </a:p>
        </p:txBody>
      </p:sp>
      <p:sp>
        <p:nvSpPr>
          <p:cNvPr id="18" name="Text 16"/>
          <p:cNvSpPr/>
          <p:nvPr/>
        </p:nvSpPr>
        <p:spPr>
          <a:xfrm>
            <a:off x="868680" y="2788920"/>
            <a:ext cx="1280160" cy="256032"/>
          </a:xfrm>
          <a:prstGeom prst="rect">
            <a:avLst/>
          </a:prstGeom>
          <a:noFill/>
          <a:ln/>
        </p:spPr>
        <p:txBody>
          <a:bodyPr wrap="square" lIns="762" tIns="762" rIns="762" bIns="762" rtlCol="0" anchor="ctr">
            <a:normAutofit/>
          </a:bodyPr>
          <a:lstStyle/>
          <a:p>
            <a:pPr algn="l" indent="0" marL="0">
              <a:buNone/>
            </a:pPr>
            <a:r>
              <a:rPr lang="en-US" sz="1700" b="1" dirty="0">
                <a:solidFill>
                  <a:srgbClr val="12212B"/>
                </a:solidFill>
                <a:latin typeface="Aptos" pitchFamily="34" charset="0"/>
                <a:ea typeface="Aptos" pitchFamily="34" charset="-122"/>
                <a:cs typeface="Aptos" pitchFamily="34" charset="-120"/>
              </a:rPr>
              <a:t>Ý nghĩa</a:t>
            </a:r>
            <a:endParaRPr lang="en-US" sz="1700" dirty="0"/>
          </a:p>
        </p:txBody>
      </p:sp>
      <p:sp>
        <p:nvSpPr>
          <p:cNvPr id="19" name="Text 17"/>
          <p:cNvSpPr/>
          <p:nvPr/>
        </p:nvSpPr>
        <p:spPr>
          <a:xfrm>
            <a:off x="1005840" y="3200400"/>
            <a:ext cx="5212080" cy="1325880"/>
          </a:xfrm>
          <a:prstGeom prst="rect">
            <a:avLst/>
          </a:prstGeom>
          <a:noFill/>
          <a:ln/>
        </p:spPr>
        <p:txBody>
          <a:bodyPr wrap="square" lIns="1016" tIns="1016" rIns="1016" bIns="1016" rtlCol="0" anchor="ctr">
            <a:normAutofit/>
          </a:bodyPr>
          <a:lstStyle/>
          <a:p>
            <a:r>
              <a:rPr lang="en-US" sz="1350" dirty="0">
                <a:solidFill>
                  <a:srgbClr val="12212B"/>
                </a:solidFill>
                <a:latin typeface="Aptos" pitchFamily="34" charset="0"/>
                <a:ea typeface="Aptos" pitchFamily="34" charset="-122"/>
                <a:cs typeface="Aptos" pitchFamily="34" charset="-120"/>
              </a:rPr>
              <a:t>&lt;|vi|&gt;: yêu cầu/biểu thị tiếng Việt trong hệ token đa ngôn ngữ.</a:t>
            </a:r>
            <a:endParaRPr lang="en-US" sz="1350" dirty="0"/>
          </a:p>
          <a:p>
            <a:r>
              <a:rPr lang="en-US" sz="1350" dirty="0">
                <a:solidFill>
                  <a:srgbClr val="12212B"/>
                </a:solidFill>
                <a:latin typeface="Aptos" pitchFamily="34" charset="0"/>
                <a:ea typeface="Aptos" pitchFamily="34" charset="-122"/>
                <a:cs typeface="Aptos" pitchFamily="34" charset="-120"/>
              </a:rPr>
              <a:t>&lt;|transcribe|&gt;: chuyển lời nói sang cùng ngôn ngữ, không dịch sang tiếng Anh.</a:t>
            </a:r>
            <a:endParaRPr lang="en-US" sz="1350" dirty="0"/>
          </a:p>
          <a:p>
            <a:r>
              <a:rPr lang="en-US" sz="1350" dirty="0">
                <a:solidFill>
                  <a:srgbClr val="12212B"/>
                </a:solidFill>
                <a:latin typeface="Aptos" pitchFamily="34" charset="0"/>
                <a:ea typeface="Aptos" pitchFamily="34" charset="-122"/>
                <a:cs typeface="Aptos" pitchFamily="34" charset="-120"/>
              </a:rPr>
              <a:t>&lt;|notimestamps|&gt;: ví dụ khi không cần trả timestamp trong output token.</a:t>
            </a:r>
            <a:endParaRPr lang="en-US" sz="1350" dirty="0"/>
          </a:p>
        </p:txBody>
      </p:sp>
      <p:sp>
        <p:nvSpPr>
          <p:cNvPr id="20" name="Shape 18"/>
          <p:cNvSpPr/>
          <p:nvPr/>
        </p:nvSpPr>
        <p:spPr>
          <a:xfrm>
            <a:off x="6446520" y="3429000"/>
            <a:ext cx="4572000" cy="731520"/>
          </a:xfrm>
          <a:prstGeom prst="roundRect">
            <a:avLst>
              <a:gd name="adj" fmla="val 15000"/>
            </a:avLst>
          </a:prstGeom>
          <a:solidFill>
            <a:srgbClr val="FFFFFF"/>
          </a:solidFill>
          <a:ln w="12700">
            <a:solidFill>
              <a:srgbClr val="175D7C"/>
            </a:solidFill>
            <a:prstDash val="solid"/>
          </a:ln>
        </p:spPr>
      </p:sp>
      <p:sp>
        <p:nvSpPr>
          <p:cNvPr id="21" name="Text 19"/>
          <p:cNvSpPr/>
          <p:nvPr/>
        </p:nvSpPr>
        <p:spPr>
          <a:xfrm>
            <a:off x="6510528" y="3474720"/>
            <a:ext cx="4443984" cy="640080"/>
          </a:xfrm>
          <a:prstGeom prst="rect">
            <a:avLst/>
          </a:prstGeom>
          <a:noFill/>
          <a:ln/>
        </p:spPr>
        <p:txBody>
          <a:bodyPr wrap="square" lIns="762" tIns="762" rIns="762" bIns="762" rtlCol="0" anchor="ctr">
            <a:normAutofit/>
          </a:bodyPr>
          <a:lstStyle/>
          <a:p>
            <a:pPr algn="ctr" indent="0" marL="0">
              <a:buNone/>
            </a:pPr>
            <a:r>
              <a:rPr lang="en-US" sz="1500" b="1" dirty="0">
                <a:solidFill>
                  <a:srgbClr val="175D7C"/>
                </a:solidFill>
                <a:latin typeface="Aptos" pitchFamily="34" charset="0"/>
                <a:ea typeface="Aptos" pitchFamily="34" charset="-122"/>
                <a:cs typeface="Aptos" pitchFamily="34" charset="-120"/>
              </a:rPr>
              <a:t>Generation config của checkpoint có &lt;|vi|&gt; = 50278 và transcribe = 50359</a:t>
            </a:r>
            <a:endParaRPr lang="en-US" sz="1500" dirty="0"/>
          </a:p>
        </p:txBody>
      </p:sp>
      <p:sp>
        <p:nvSpPr>
          <p:cNvPr id="22" name="Text 20"/>
          <p:cNvSpPr/>
          <p:nvPr/>
        </p:nvSpPr>
        <p:spPr>
          <a:xfrm>
            <a:off x="6629400" y="4389120"/>
            <a:ext cx="4160520" cy="256032"/>
          </a:xfrm>
          <a:prstGeom prst="rect">
            <a:avLst/>
          </a:prstGeom>
          <a:noFill/>
          <a:ln/>
        </p:spPr>
        <p:txBody>
          <a:bodyPr wrap="square" lIns="762" tIns="762" rIns="762" bIns="762" rtlCol="0" anchor="ctr">
            <a:normAutofit/>
          </a:bodyPr>
          <a:lstStyle/>
          <a:p>
            <a:pPr algn="ctr" indent="0" marL="0">
              <a:buNone/>
            </a:pPr>
            <a:r>
              <a:rPr lang="en-US" sz="1100" dirty="0">
                <a:solidFill>
                  <a:srgbClr val="516271"/>
                </a:solidFill>
                <a:latin typeface="Aptos" pitchFamily="34" charset="0"/>
                <a:ea typeface="Aptos" pitchFamily="34" charset="-122"/>
                <a:cs typeface="Aptos" pitchFamily="34" charset="-120"/>
              </a:rPr>
              <a:t>Token ID là số trong vocab; ID cụ thể phụ thuộc tokenizer/checkpoint.</a:t>
            </a:r>
            <a:endParaRPr lang="en-US" sz="1100" dirty="0"/>
          </a:p>
        </p:txBody>
      </p:sp>
      <p:sp>
        <p:nvSpPr>
          <p:cNvPr id="23" name="Shape 21"/>
          <p:cNvSpPr/>
          <p:nvPr/>
        </p:nvSpPr>
        <p:spPr>
          <a:xfrm>
            <a:off x="438912" y="6199632"/>
            <a:ext cx="2377440" cy="310896"/>
          </a:xfrm>
          <a:prstGeom prst="roundRect">
            <a:avLst>
              <a:gd name="adj" fmla="val 44118"/>
            </a:avLst>
          </a:prstGeom>
          <a:solidFill>
            <a:srgbClr val="E8F2F6"/>
          </a:solidFill>
          <a:ln w="12700">
            <a:solidFill>
              <a:srgbClr val="E8F2F6"/>
            </a:solidFill>
            <a:prstDash val="solid"/>
          </a:ln>
        </p:spPr>
      </p:sp>
      <p:sp>
        <p:nvSpPr>
          <p:cNvPr id="24" name="Text 22"/>
          <p:cNvSpPr/>
          <p:nvPr/>
        </p:nvSpPr>
        <p:spPr>
          <a:xfrm>
            <a:off x="512064" y="6259068"/>
            <a:ext cx="2231136" cy="201168"/>
          </a:xfrm>
          <a:prstGeom prst="rect">
            <a:avLst/>
          </a:prstGeom>
          <a:noFill/>
          <a:ln/>
        </p:spPr>
        <p:txBody>
          <a:bodyPr wrap="square" lIns="0" tIns="0" rIns="0" bIns="0" rtlCol="0" anchor="ctr">
            <a:normAutofit/>
          </a:bodyPr>
          <a:lstStyle/>
          <a:p>
            <a:pPr algn="ctr" indent="0" marL="0">
              <a:buNone/>
            </a:pPr>
            <a:r>
              <a:rPr lang="en-US" sz="950" b="1" dirty="0">
                <a:solidFill>
                  <a:srgbClr val="175D7C"/>
                </a:solidFill>
                <a:latin typeface="Aptos" pitchFamily="34" charset="0"/>
                <a:ea typeface="Aptos" pitchFamily="34" charset="-122"/>
                <a:cs typeface="Aptos" pitchFamily="34" charset="-120"/>
              </a:rPr>
              <a:t>Decoder start</a:t>
            </a:r>
            <a:endParaRPr lang="en-US" sz="950" dirty="0"/>
          </a:p>
        </p:txBody>
      </p:sp>
      <p:sp>
        <p:nvSpPr>
          <p:cNvPr id="25" name="Slide Number Placeholder 0"/>
          <p:cNvSpPr>
            <a:spLocks noGrp="1"/>
          </p:cNvSpPr>
          <p:nvPr>
            <p:ph type="sldNum" sz="quarter" idx="4294967295"/>
          </p:nvPr>
        </p:nvSpPr>
        <p:spPr>
          <a:xfrm>
            <a:off x="11841480" y="6519672"/>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7C8794"/>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420624" y="256032"/>
            <a:ext cx="9875520" cy="384048"/>
          </a:xfrm>
          <a:prstGeom prst="rect">
            <a:avLst/>
          </a:prstGeom>
          <a:noFill/>
          <a:ln/>
        </p:spPr>
        <p:txBody>
          <a:bodyPr wrap="square" lIns="0" tIns="0" rIns="0" bIns="0" rtlCol="0" anchor="ctr"/>
          <a:lstStyle/>
          <a:p>
            <a:pPr indent="0" marL="0">
              <a:buNone/>
            </a:pPr>
            <a:r>
              <a:rPr lang="en-US" sz="2500" b="1" dirty="0">
                <a:solidFill>
                  <a:srgbClr val="12212B"/>
                </a:solidFill>
                <a:latin typeface="Aptos Display" pitchFamily="34" charset="0"/>
                <a:ea typeface="Aptos Display" pitchFamily="34" charset="-122"/>
                <a:cs typeface="Aptos Display" pitchFamily="34" charset="-120"/>
              </a:rPr>
              <a:t>Decoder sinh chữ bằng cross-attention</a:t>
            </a:r>
            <a:endParaRPr lang="en-US" sz="2500" dirty="0"/>
          </a:p>
        </p:txBody>
      </p:sp>
      <p:sp>
        <p:nvSpPr>
          <p:cNvPr id="3" name="Text 1"/>
          <p:cNvSpPr/>
          <p:nvPr/>
        </p:nvSpPr>
        <p:spPr>
          <a:xfrm>
            <a:off x="438912" y="694944"/>
            <a:ext cx="9875520" cy="256032"/>
          </a:xfrm>
          <a:prstGeom prst="rect">
            <a:avLst/>
          </a:prstGeom>
          <a:noFill/>
          <a:ln/>
        </p:spPr>
        <p:txBody>
          <a:bodyPr wrap="square" lIns="0" tIns="0" rIns="0" bIns="0" rtlCol="0" anchor="ctr"/>
          <a:lstStyle/>
          <a:p>
            <a:pPr indent="0" marL="0">
              <a:buNone/>
            </a:pPr>
            <a:r>
              <a:rPr lang="en-US" sz="1050" dirty="0">
                <a:solidFill>
                  <a:srgbClr val="516271"/>
                </a:solidFill>
              </a:rPr>
              <a:t>Mỗi token mới được quyết định từ lịch sử token + biểu diễn audio</a:t>
            </a:r>
            <a:endParaRPr lang="en-US" sz="1050" dirty="0"/>
          </a:p>
        </p:txBody>
      </p:sp>
      <p:sp>
        <p:nvSpPr>
          <p:cNvPr id="4" name="Shape 2"/>
          <p:cNvSpPr/>
          <p:nvPr/>
        </p:nvSpPr>
        <p:spPr>
          <a:xfrm>
            <a:off x="777240" y="1234440"/>
            <a:ext cx="1920240" cy="685800"/>
          </a:xfrm>
          <a:prstGeom prst="roundRect">
            <a:avLst>
              <a:gd name="adj" fmla="val 16000"/>
            </a:avLst>
          </a:prstGeom>
          <a:solidFill>
            <a:srgbClr val="FFFFFF"/>
          </a:solidFill>
          <a:ln w="12700">
            <a:solidFill>
              <a:srgbClr val="F0B429"/>
            </a:solidFill>
            <a:prstDash val="solid"/>
          </a:ln>
        </p:spPr>
      </p:sp>
      <p:sp>
        <p:nvSpPr>
          <p:cNvPr id="5" name="Text 3"/>
          <p:cNvSpPr/>
          <p:nvPr/>
        </p:nvSpPr>
        <p:spPr>
          <a:xfrm>
            <a:off x="841248" y="1280160"/>
            <a:ext cx="1792224" cy="594360"/>
          </a:xfrm>
          <a:prstGeom prst="rect">
            <a:avLst/>
          </a:prstGeom>
          <a:noFill/>
          <a:ln/>
        </p:spPr>
        <p:txBody>
          <a:bodyPr wrap="square" lIns="762" tIns="762" rIns="762" bIns="762" rtlCol="0" anchor="ctr">
            <a:normAutofit/>
          </a:bodyPr>
          <a:lstStyle/>
          <a:p>
            <a:pPr algn="ctr" indent="0" marL="0">
              <a:buNone/>
            </a:pPr>
            <a:r>
              <a:rPr lang="en-US" sz="1400" b="1" dirty="0">
                <a:solidFill>
                  <a:srgbClr val="12212B"/>
                </a:solidFill>
                <a:latin typeface="Aptos" pitchFamily="34" charset="0"/>
                <a:ea typeface="Aptos" pitchFamily="34" charset="-122"/>
                <a:cs typeface="Aptos" pitchFamily="34" charset="-120"/>
              </a:rPr>
              <a:t>Token đã sinh</a:t>
            </a:r>
            <a:endParaRPr lang="en-US" sz="1400" dirty="0"/>
          </a:p>
          <a:p>
            <a:pPr algn="ctr" indent="0" marL="0">
              <a:buNone/>
            </a:pPr>
            <a:r>
              <a:rPr lang="en-US" sz="1400" b="1" dirty="0">
                <a:solidFill>
                  <a:srgbClr val="12212B"/>
                </a:solidFill>
                <a:latin typeface="Aptos" pitchFamily="34" charset="0"/>
                <a:ea typeface="Aptos" pitchFamily="34" charset="-122"/>
                <a:cs typeface="Aptos" pitchFamily="34" charset="-120"/>
              </a:rPr>
              <a:t>&lt;tôi&gt; &lt;muốn&gt;</a:t>
            </a:r>
            <a:endParaRPr lang="en-US" sz="1400" dirty="0"/>
          </a:p>
        </p:txBody>
      </p:sp>
      <p:sp>
        <p:nvSpPr>
          <p:cNvPr id="6" name="Shape 4"/>
          <p:cNvSpPr/>
          <p:nvPr/>
        </p:nvSpPr>
        <p:spPr>
          <a:xfrm>
            <a:off x="2834640" y="1572768"/>
            <a:ext cx="640080" cy="0"/>
          </a:xfrm>
          <a:prstGeom prst="line">
            <a:avLst/>
          </a:prstGeom>
          <a:noFill/>
          <a:ln w="15240">
            <a:solidFill>
              <a:srgbClr val="AAB7C3"/>
            </a:solidFill>
            <a:prstDash val="solid"/>
            <a:headEnd type="none"/>
            <a:tailEnd type="triangle"/>
          </a:ln>
        </p:spPr>
      </p:sp>
      <p:sp>
        <p:nvSpPr>
          <p:cNvPr id="7" name="Shape 5"/>
          <p:cNvSpPr/>
          <p:nvPr/>
        </p:nvSpPr>
        <p:spPr>
          <a:xfrm>
            <a:off x="3611880" y="1143000"/>
            <a:ext cx="1920240" cy="868680"/>
          </a:xfrm>
          <a:prstGeom prst="roundRect">
            <a:avLst>
              <a:gd name="adj" fmla="val 12632"/>
            </a:avLst>
          </a:prstGeom>
          <a:solidFill>
            <a:srgbClr val="FFFFFF"/>
          </a:solidFill>
          <a:ln w="12700">
            <a:solidFill>
              <a:srgbClr val="6D5BD0"/>
            </a:solidFill>
            <a:prstDash val="solid"/>
          </a:ln>
        </p:spPr>
      </p:sp>
      <p:sp>
        <p:nvSpPr>
          <p:cNvPr id="8" name="Text 6"/>
          <p:cNvSpPr/>
          <p:nvPr/>
        </p:nvSpPr>
        <p:spPr>
          <a:xfrm>
            <a:off x="3675888" y="1188720"/>
            <a:ext cx="1792224" cy="777240"/>
          </a:xfrm>
          <a:prstGeom prst="rect">
            <a:avLst/>
          </a:prstGeom>
          <a:noFill/>
          <a:ln/>
        </p:spPr>
        <p:txBody>
          <a:bodyPr wrap="square" lIns="762" tIns="762" rIns="762" bIns="762" rtlCol="0" anchor="ctr">
            <a:normAutofit/>
          </a:bodyPr>
          <a:lstStyle/>
          <a:p>
            <a:pPr algn="ctr" indent="0" marL="0">
              <a:buNone/>
            </a:pPr>
            <a:r>
              <a:rPr lang="en-US" sz="1250" b="1" dirty="0">
                <a:solidFill>
                  <a:srgbClr val="6D5BD0"/>
                </a:solidFill>
                <a:latin typeface="Aptos" pitchFamily="34" charset="0"/>
                <a:ea typeface="Aptos" pitchFamily="34" charset="-122"/>
                <a:cs typeface="Aptos" pitchFamily="34" charset="-120"/>
              </a:rPr>
              <a:t>Masked self-attention</a:t>
            </a:r>
            <a:endParaRPr lang="en-US" sz="1250" dirty="0"/>
          </a:p>
          <a:p>
            <a:pPr algn="ctr" indent="0" marL="0">
              <a:buNone/>
            </a:pPr>
            <a:r>
              <a:rPr lang="en-US" sz="1250" b="1" dirty="0">
                <a:solidFill>
                  <a:srgbClr val="6D5BD0"/>
                </a:solidFill>
                <a:latin typeface="Aptos" pitchFamily="34" charset="0"/>
                <a:ea typeface="Aptos" pitchFamily="34" charset="-122"/>
                <a:cs typeface="Aptos" pitchFamily="34" charset="-120"/>
              </a:rPr>
              <a:t>nhìn token trước</a:t>
            </a:r>
            <a:endParaRPr lang="en-US" sz="1250" dirty="0"/>
          </a:p>
        </p:txBody>
      </p:sp>
      <p:sp>
        <p:nvSpPr>
          <p:cNvPr id="9" name="Shape 7"/>
          <p:cNvSpPr/>
          <p:nvPr/>
        </p:nvSpPr>
        <p:spPr>
          <a:xfrm>
            <a:off x="777240" y="3154680"/>
            <a:ext cx="2331720" cy="777240"/>
          </a:xfrm>
          <a:prstGeom prst="roundRect">
            <a:avLst>
              <a:gd name="adj" fmla="val 14118"/>
            </a:avLst>
          </a:prstGeom>
          <a:solidFill>
            <a:srgbClr val="FFFFFF"/>
          </a:solidFill>
          <a:ln w="12700">
            <a:solidFill>
              <a:srgbClr val="2F9E74"/>
            </a:solidFill>
            <a:prstDash val="solid"/>
          </a:ln>
        </p:spPr>
      </p:sp>
      <p:sp>
        <p:nvSpPr>
          <p:cNvPr id="10" name="Text 8"/>
          <p:cNvSpPr/>
          <p:nvPr/>
        </p:nvSpPr>
        <p:spPr>
          <a:xfrm>
            <a:off x="841248" y="3200400"/>
            <a:ext cx="2203704" cy="685800"/>
          </a:xfrm>
          <a:prstGeom prst="rect">
            <a:avLst/>
          </a:prstGeom>
          <a:noFill/>
          <a:ln/>
        </p:spPr>
        <p:txBody>
          <a:bodyPr wrap="square" lIns="762" tIns="762" rIns="762" bIns="762" rtlCol="0" anchor="ctr">
            <a:normAutofit/>
          </a:bodyPr>
          <a:lstStyle/>
          <a:p>
            <a:pPr algn="ctr" indent="0" marL="0">
              <a:buNone/>
            </a:pPr>
            <a:r>
              <a:rPr lang="en-US" sz="1400" b="1" dirty="0">
                <a:solidFill>
                  <a:srgbClr val="2F9E74"/>
                </a:solidFill>
                <a:latin typeface="Aptos" pitchFamily="34" charset="0"/>
                <a:ea typeface="Aptos" pitchFamily="34" charset="-122"/>
                <a:cs typeface="Aptos" pitchFamily="34" charset="-120"/>
              </a:rPr>
              <a:t>Audio encoded</a:t>
            </a:r>
            <a:endParaRPr lang="en-US" sz="1400" dirty="0"/>
          </a:p>
          <a:p>
            <a:pPr algn="ctr" indent="0" marL="0">
              <a:buNone/>
            </a:pPr>
            <a:r>
              <a:rPr lang="en-US" sz="1400" b="1" dirty="0">
                <a:solidFill>
                  <a:srgbClr val="2F9E74"/>
                </a:solidFill>
                <a:latin typeface="Aptos" pitchFamily="34" charset="0"/>
                <a:ea typeface="Aptos" pitchFamily="34" charset="-122"/>
                <a:cs typeface="Aptos" pitchFamily="34" charset="-120"/>
              </a:rPr>
              <a:t>chuỗi vector từ encoder</a:t>
            </a:r>
            <a:endParaRPr lang="en-US" sz="1400" dirty="0"/>
          </a:p>
        </p:txBody>
      </p:sp>
      <p:sp>
        <p:nvSpPr>
          <p:cNvPr id="11" name="Shape 9"/>
          <p:cNvSpPr/>
          <p:nvPr/>
        </p:nvSpPr>
        <p:spPr>
          <a:xfrm>
            <a:off x="3246120" y="3547872"/>
            <a:ext cx="640080" cy="0"/>
          </a:xfrm>
          <a:prstGeom prst="line">
            <a:avLst/>
          </a:prstGeom>
          <a:noFill/>
          <a:ln w="15240">
            <a:solidFill>
              <a:srgbClr val="AAB7C3"/>
            </a:solidFill>
            <a:prstDash val="solid"/>
            <a:headEnd type="none"/>
            <a:tailEnd type="triangle"/>
          </a:ln>
        </p:spPr>
      </p:sp>
      <p:sp>
        <p:nvSpPr>
          <p:cNvPr id="12" name="Shape 10"/>
          <p:cNvSpPr/>
          <p:nvPr/>
        </p:nvSpPr>
        <p:spPr>
          <a:xfrm>
            <a:off x="4023360" y="3063240"/>
            <a:ext cx="1920240" cy="868680"/>
          </a:xfrm>
          <a:prstGeom prst="roundRect">
            <a:avLst>
              <a:gd name="adj" fmla="val 12632"/>
            </a:avLst>
          </a:prstGeom>
          <a:solidFill>
            <a:srgbClr val="FFFFFF"/>
          </a:solidFill>
          <a:ln w="12700">
            <a:solidFill>
              <a:srgbClr val="175D7C"/>
            </a:solidFill>
            <a:prstDash val="solid"/>
          </a:ln>
        </p:spPr>
      </p:sp>
      <p:sp>
        <p:nvSpPr>
          <p:cNvPr id="13" name="Text 11"/>
          <p:cNvSpPr/>
          <p:nvPr/>
        </p:nvSpPr>
        <p:spPr>
          <a:xfrm>
            <a:off x="4087368" y="3108960"/>
            <a:ext cx="1792224" cy="777240"/>
          </a:xfrm>
          <a:prstGeom prst="rect">
            <a:avLst/>
          </a:prstGeom>
          <a:noFill/>
          <a:ln/>
        </p:spPr>
        <p:txBody>
          <a:bodyPr wrap="square" lIns="762" tIns="762" rIns="762" bIns="762" rtlCol="0" anchor="ctr">
            <a:normAutofit/>
          </a:bodyPr>
          <a:lstStyle/>
          <a:p>
            <a:pPr algn="ctr" indent="0" marL="0">
              <a:buNone/>
            </a:pPr>
            <a:r>
              <a:rPr lang="en-US" sz="1300" b="1" dirty="0">
                <a:solidFill>
                  <a:srgbClr val="175D7C"/>
                </a:solidFill>
                <a:latin typeface="Aptos" pitchFamily="34" charset="0"/>
                <a:ea typeface="Aptos" pitchFamily="34" charset="-122"/>
                <a:cs typeface="Aptos" pitchFamily="34" charset="-120"/>
              </a:rPr>
              <a:t>Cross-attention</a:t>
            </a:r>
            <a:endParaRPr lang="en-US" sz="1300" dirty="0"/>
          </a:p>
          <a:p>
            <a:pPr algn="ctr" indent="0" marL="0">
              <a:buNone/>
            </a:pPr>
            <a:r>
              <a:rPr lang="en-US" sz="1300" b="1" dirty="0">
                <a:solidFill>
                  <a:srgbClr val="175D7C"/>
                </a:solidFill>
                <a:latin typeface="Aptos" pitchFamily="34" charset="0"/>
                <a:ea typeface="Aptos" pitchFamily="34" charset="-122"/>
                <a:cs typeface="Aptos" pitchFamily="34" charset="-120"/>
              </a:rPr>
              <a:t>text hỏi audio</a:t>
            </a:r>
            <a:endParaRPr lang="en-US" sz="1300" dirty="0"/>
          </a:p>
        </p:txBody>
      </p:sp>
      <p:sp>
        <p:nvSpPr>
          <p:cNvPr id="14" name="Shape 12"/>
          <p:cNvSpPr/>
          <p:nvPr/>
        </p:nvSpPr>
        <p:spPr>
          <a:xfrm>
            <a:off x="5715000" y="1572768"/>
            <a:ext cx="777240" cy="576072"/>
          </a:xfrm>
          <a:prstGeom prst="line">
            <a:avLst/>
          </a:prstGeom>
          <a:noFill/>
          <a:ln w="15240">
            <a:solidFill>
              <a:srgbClr val="AAB7C3"/>
            </a:solidFill>
            <a:prstDash val="solid"/>
            <a:headEnd type="none"/>
            <a:tailEnd type="triangle"/>
          </a:ln>
        </p:spPr>
      </p:sp>
      <p:sp>
        <p:nvSpPr>
          <p:cNvPr id="15" name="Shape 13"/>
          <p:cNvSpPr/>
          <p:nvPr/>
        </p:nvSpPr>
        <p:spPr>
          <a:xfrm>
            <a:off x="6080760" y="3547872"/>
            <a:ext cx="411480" cy="-1005840"/>
          </a:xfrm>
          <a:prstGeom prst="line">
            <a:avLst/>
          </a:prstGeom>
          <a:noFill/>
          <a:ln w="15240">
            <a:solidFill>
              <a:srgbClr val="AAB7C3"/>
            </a:solidFill>
            <a:prstDash val="solid"/>
            <a:headEnd type="none"/>
            <a:tailEnd type="triangle"/>
          </a:ln>
        </p:spPr>
      </p:sp>
      <p:sp>
        <p:nvSpPr>
          <p:cNvPr id="16" name="Shape 14"/>
          <p:cNvSpPr/>
          <p:nvPr/>
        </p:nvSpPr>
        <p:spPr>
          <a:xfrm>
            <a:off x="6720840" y="1901952"/>
            <a:ext cx="2148840" cy="914400"/>
          </a:xfrm>
          <a:prstGeom prst="roundRect">
            <a:avLst>
              <a:gd name="adj" fmla="val 12000"/>
            </a:avLst>
          </a:prstGeom>
          <a:solidFill>
            <a:srgbClr val="FFFFFF"/>
          </a:solidFill>
          <a:ln w="12700">
            <a:solidFill>
              <a:srgbClr val="E26D5A"/>
            </a:solidFill>
            <a:prstDash val="solid"/>
          </a:ln>
        </p:spPr>
      </p:sp>
      <p:sp>
        <p:nvSpPr>
          <p:cNvPr id="17" name="Text 15"/>
          <p:cNvSpPr/>
          <p:nvPr/>
        </p:nvSpPr>
        <p:spPr>
          <a:xfrm>
            <a:off x="6784848" y="1947672"/>
            <a:ext cx="2020824" cy="822960"/>
          </a:xfrm>
          <a:prstGeom prst="rect">
            <a:avLst/>
          </a:prstGeom>
          <a:noFill/>
          <a:ln/>
        </p:spPr>
        <p:txBody>
          <a:bodyPr wrap="square" lIns="762" tIns="762" rIns="762" bIns="762" rtlCol="0" anchor="ctr">
            <a:normAutofit/>
          </a:bodyPr>
          <a:lstStyle/>
          <a:p>
            <a:pPr algn="ctr" indent="0" marL="0">
              <a:buNone/>
            </a:pPr>
            <a:r>
              <a:rPr lang="en-US" sz="1400" b="1" dirty="0">
                <a:solidFill>
                  <a:srgbClr val="E26D5A"/>
                </a:solidFill>
                <a:latin typeface="Aptos" pitchFamily="34" charset="0"/>
                <a:ea typeface="Aptos" pitchFamily="34" charset="-122"/>
                <a:cs typeface="Aptos" pitchFamily="34" charset="-120"/>
              </a:rPr>
              <a:t>Xác suất token kế tiếp</a:t>
            </a:r>
            <a:endParaRPr lang="en-US" sz="1400" dirty="0"/>
          </a:p>
          <a:p>
            <a:pPr algn="ctr" indent="0" marL="0">
              <a:buNone/>
            </a:pPr>
            <a:r>
              <a:rPr lang="en-US" sz="1400" b="1" dirty="0">
                <a:solidFill>
                  <a:srgbClr val="E26D5A"/>
                </a:solidFill>
                <a:latin typeface="Aptos" pitchFamily="34" charset="0"/>
                <a:ea typeface="Aptos" pitchFamily="34" charset="-122"/>
                <a:cs typeface="Aptos" pitchFamily="34" charset="-120"/>
              </a:rPr>
              <a:t>logits → softmax</a:t>
            </a:r>
            <a:endParaRPr lang="en-US" sz="1400" dirty="0"/>
          </a:p>
        </p:txBody>
      </p:sp>
      <p:sp>
        <p:nvSpPr>
          <p:cNvPr id="18" name="Shape 16"/>
          <p:cNvSpPr/>
          <p:nvPr/>
        </p:nvSpPr>
        <p:spPr>
          <a:xfrm>
            <a:off x="9052560" y="2359152"/>
            <a:ext cx="621792" cy="0"/>
          </a:xfrm>
          <a:prstGeom prst="line">
            <a:avLst/>
          </a:prstGeom>
          <a:noFill/>
          <a:ln w="15240">
            <a:solidFill>
              <a:srgbClr val="AAB7C3"/>
            </a:solidFill>
            <a:prstDash val="solid"/>
            <a:headEnd type="none"/>
            <a:tailEnd type="triangle"/>
          </a:ln>
        </p:spPr>
      </p:sp>
      <p:sp>
        <p:nvSpPr>
          <p:cNvPr id="19" name="Shape 17"/>
          <p:cNvSpPr/>
          <p:nvPr/>
        </p:nvSpPr>
        <p:spPr>
          <a:xfrm>
            <a:off x="9875520" y="1993392"/>
            <a:ext cx="1417320" cy="713232"/>
          </a:xfrm>
          <a:prstGeom prst="roundRect">
            <a:avLst>
              <a:gd name="adj" fmla="val 15385"/>
            </a:avLst>
          </a:prstGeom>
          <a:solidFill>
            <a:srgbClr val="FFFFFF"/>
          </a:solidFill>
          <a:ln w="12700">
            <a:solidFill>
              <a:srgbClr val="F0B429"/>
            </a:solidFill>
            <a:prstDash val="solid"/>
          </a:ln>
        </p:spPr>
      </p:sp>
      <p:sp>
        <p:nvSpPr>
          <p:cNvPr id="20" name="Text 18"/>
          <p:cNvSpPr/>
          <p:nvPr/>
        </p:nvSpPr>
        <p:spPr>
          <a:xfrm>
            <a:off x="9939528" y="2039112"/>
            <a:ext cx="1289304" cy="621792"/>
          </a:xfrm>
          <a:prstGeom prst="rect">
            <a:avLst/>
          </a:prstGeom>
          <a:noFill/>
          <a:ln/>
        </p:spPr>
        <p:txBody>
          <a:bodyPr wrap="square" lIns="762" tIns="762" rIns="762" bIns="762" rtlCol="0" anchor="ctr">
            <a:normAutofit/>
          </a:bodyPr>
          <a:lstStyle/>
          <a:p>
            <a:pPr algn="ctr" indent="0" marL="0">
              <a:buNone/>
            </a:pPr>
            <a:r>
              <a:rPr lang="en-US" sz="1600" b="1" dirty="0">
                <a:solidFill>
                  <a:srgbClr val="12212B"/>
                </a:solidFill>
                <a:latin typeface="Aptos" pitchFamily="34" charset="0"/>
                <a:ea typeface="Aptos" pitchFamily="34" charset="-122"/>
                <a:cs typeface="Aptos" pitchFamily="34" charset="-120"/>
              </a:rPr>
              <a:t>token kế tiếp</a:t>
            </a:r>
            <a:endParaRPr lang="en-US" sz="1600" dirty="0"/>
          </a:p>
          <a:p>
            <a:pPr algn="ctr" indent="0" marL="0">
              <a:buNone/>
            </a:pPr>
            <a:r>
              <a:rPr lang="en-US" sz="1600" b="1" dirty="0">
                <a:solidFill>
                  <a:srgbClr val="12212B"/>
                </a:solidFill>
                <a:latin typeface="Aptos" pitchFamily="34" charset="0"/>
                <a:ea typeface="Aptos" pitchFamily="34" charset="-122"/>
                <a:cs typeface="Aptos" pitchFamily="34" charset="-120"/>
              </a:rPr>
              <a:t>“kiểm”</a:t>
            </a:r>
            <a:endParaRPr lang="en-US" sz="1600" dirty="0"/>
          </a:p>
        </p:txBody>
      </p:sp>
      <p:sp>
        <p:nvSpPr>
          <p:cNvPr id="21" name="Text 19"/>
          <p:cNvSpPr/>
          <p:nvPr/>
        </p:nvSpPr>
        <p:spPr>
          <a:xfrm>
            <a:off x="1097280" y="4892040"/>
            <a:ext cx="9875520" cy="347472"/>
          </a:xfrm>
          <a:prstGeom prst="rect">
            <a:avLst/>
          </a:prstGeom>
          <a:noFill/>
          <a:ln/>
        </p:spPr>
        <p:txBody>
          <a:bodyPr wrap="square" lIns="762" tIns="762" rIns="762" bIns="762" rtlCol="0" anchor="ctr">
            <a:normAutofit/>
          </a:bodyPr>
          <a:lstStyle/>
          <a:p>
            <a:pPr algn="ctr" indent="0" marL="0">
              <a:buNone/>
            </a:pPr>
            <a:r>
              <a:rPr lang="en-US" sz="1600" b="1" dirty="0">
                <a:solidFill>
                  <a:srgbClr val="12212B"/>
                </a:solidFill>
                <a:latin typeface="Aptos" pitchFamily="34" charset="0"/>
                <a:ea typeface="Aptos" pitchFamily="34" charset="-122"/>
                <a:cs typeface="Aptos" pitchFamily="34" charset="-120"/>
              </a:rPr>
              <a:t>Minh họa giải mã: “tôi” → “muốn” → “kiểm” → “tra” → “hợp” → “đồng”</a:t>
            </a:r>
            <a:endParaRPr lang="en-US" sz="1600" dirty="0"/>
          </a:p>
        </p:txBody>
      </p:sp>
      <p:sp>
        <p:nvSpPr>
          <p:cNvPr id="22" name="Shape 20"/>
          <p:cNvSpPr/>
          <p:nvPr/>
        </p:nvSpPr>
        <p:spPr>
          <a:xfrm>
            <a:off x="438912" y="6199632"/>
            <a:ext cx="2377440" cy="310896"/>
          </a:xfrm>
          <a:prstGeom prst="roundRect">
            <a:avLst>
              <a:gd name="adj" fmla="val 44118"/>
            </a:avLst>
          </a:prstGeom>
          <a:solidFill>
            <a:srgbClr val="E8F2F6"/>
          </a:solidFill>
          <a:ln w="12700">
            <a:solidFill>
              <a:srgbClr val="E8F2F6"/>
            </a:solidFill>
            <a:prstDash val="solid"/>
          </a:ln>
        </p:spPr>
      </p:sp>
      <p:sp>
        <p:nvSpPr>
          <p:cNvPr id="23" name="Text 21"/>
          <p:cNvSpPr/>
          <p:nvPr/>
        </p:nvSpPr>
        <p:spPr>
          <a:xfrm>
            <a:off x="512064" y="6259068"/>
            <a:ext cx="2231136" cy="201168"/>
          </a:xfrm>
          <a:prstGeom prst="rect">
            <a:avLst/>
          </a:prstGeom>
          <a:noFill/>
          <a:ln/>
        </p:spPr>
        <p:txBody>
          <a:bodyPr wrap="square" lIns="0" tIns="0" rIns="0" bIns="0" rtlCol="0" anchor="ctr">
            <a:normAutofit/>
          </a:bodyPr>
          <a:lstStyle/>
          <a:p>
            <a:pPr algn="ctr" indent="0" marL="0">
              <a:buNone/>
            </a:pPr>
            <a:r>
              <a:rPr lang="en-US" sz="950" b="1" dirty="0">
                <a:solidFill>
                  <a:srgbClr val="175D7C"/>
                </a:solidFill>
                <a:latin typeface="Aptos" pitchFamily="34" charset="0"/>
                <a:ea typeface="Aptos" pitchFamily="34" charset="-122"/>
                <a:cs typeface="Aptos" pitchFamily="34" charset="-120"/>
              </a:rPr>
              <a:t>Cross-attention</a:t>
            </a:r>
            <a:endParaRPr lang="en-US" sz="950" dirty="0"/>
          </a:p>
        </p:txBody>
      </p:sp>
      <p:sp>
        <p:nvSpPr>
          <p:cNvPr id="25" name="Slide Number Placeholder 0"/>
          <p:cNvSpPr>
            <a:spLocks noGrp="1"/>
          </p:cNvSpPr>
          <p:nvPr>
            <p:ph type="sldNum" sz="quarter" idx="4294967295"/>
          </p:nvPr>
        </p:nvSpPr>
        <p:spPr>
          <a:xfrm>
            <a:off x="11841480" y="6519672"/>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7C8794"/>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420624" y="256032"/>
            <a:ext cx="9875520" cy="384048"/>
          </a:xfrm>
          <a:prstGeom prst="rect">
            <a:avLst/>
          </a:prstGeom>
          <a:noFill/>
          <a:ln/>
        </p:spPr>
        <p:txBody>
          <a:bodyPr wrap="square" lIns="0" tIns="0" rIns="0" bIns="0" rtlCol="0" anchor="ctr"/>
          <a:lstStyle/>
          <a:p>
            <a:pPr indent="0" marL="0">
              <a:buNone/>
            </a:pPr>
            <a:r>
              <a:rPr lang="en-US" sz="2500" b="1" dirty="0">
                <a:solidFill>
                  <a:srgbClr val="12212B"/>
                </a:solidFill>
                <a:latin typeface="Aptos Display" pitchFamily="34" charset="0"/>
                <a:ea typeface="Aptos Display" pitchFamily="34" charset="-122"/>
                <a:cs typeface="Aptos Display" pitchFamily="34" charset="-120"/>
              </a:rPr>
              <a:t>Theo dõi câu ví dụ từ âm thanh đến transcript</a:t>
            </a:r>
            <a:endParaRPr lang="en-US" sz="2500" dirty="0"/>
          </a:p>
        </p:txBody>
      </p:sp>
      <p:sp>
        <p:nvSpPr>
          <p:cNvPr id="3" name="Text 1"/>
          <p:cNvSpPr/>
          <p:nvPr/>
        </p:nvSpPr>
        <p:spPr>
          <a:xfrm>
            <a:off x="438912" y="694944"/>
            <a:ext cx="9875520" cy="256032"/>
          </a:xfrm>
          <a:prstGeom prst="rect">
            <a:avLst/>
          </a:prstGeom>
          <a:noFill/>
          <a:ln/>
        </p:spPr>
        <p:txBody>
          <a:bodyPr wrap="square" lIns="0" tIns="0" rIns="0" bIns="0" rtlCol="0" anchor="ctr"/>
          <a:lstStyle/>
          <a:p>
            <a:pPr indent="0" marL="0">
              <a:buNone/>
            </a:pPr>
            <a:r>
              <a:rPr lang="en-US" sz="1050" dirty="0">
                <a:solidFill>
                  <a:srgbClr val="516271"/>
                </a:solidFill>
              </a:rPr>
              <a:t>Phân biệt mẫu âm thanh, frame, vector, token và từ</a:t>
            </a:r>
            <a:endParaRPr lang="en-US" sz="1050" dirty="0"/>
          </a:p>
        </p:txBody>
      </p:sp>
      <p:sp>
        <p:nvSpPr>
          <p:cNvPr id="4" name="Shape 2"/>
          <p:cNvSpPr/>
          <p:nvPr/>
        </p:nvSpPr>
        <p:spPr>
          <a:xfrm>
            <a:off x="822960" y="1005840"/>
            <a:ext cx="1828800" cy="457200"/>
          </a:xfrm>
          <a:prstGeom prst="roundRect">
            <a:avLst>
              <a:gd name="adj" fmla="val 24000"/>
            </a:avLst>
          </a:prstGeom>
          <a:solidFill>
            <a:srgbClr val="FFFFFF"/>
          </a:solidFill>
          <a:ln w="12700">
            <a:solidFill>
              <a:srgbClr val="2A67B1"/>
            </a:solidFill>
            <a:prstDash val="solid"/>
          </a:ln>
        </p:spPr>
      </p:sp>
      <p:sp>
        <p:nvSpPr>
          <p:cNvPr id="5" name="Text 3"/>
          <p:cNvSpPr/>
          <p:nvPr/>
        </p:nvSpPr>
        <p:spPr>
          <a:xfrm>
            <a:off x="886968" y="1051560"/>
            <a:ext cx="1700784" cy="365760"/>
          </a:xfrm>
          <a:prstGeom prst="rect">
            <a:avLst/>
          </a:prstGeom>
          <a:noFill/>
          <a:ln/>
        </p:spPr>
        <p:txBody>
          <a:bodyPr wrap="square" lIns="762" tIns="762" rIns="762" bIns="762" rtlCol="0" anchor="ctr">
            <a:normAutofit/>
          </a:bodyPr>
          <a:lstStyle/>
          <a:p>
            <a:pPr algn="ctr" indent="0" marL="0">
              <a:buNone/>
            </a:pPr>
            <a:r>
              <a:rPr lang="en-US" sz="1220" b="1" dirty="0">
                <a:solidFill>
                  <a:srgbClr val="2A67B1"/>
                </a:solidFill>
                <a:latin typeface="Aptos" pitchFamily="34" charset="0"/>
                <a:ea typeface="Aptos" pitchFamily="34" charset="-122"/>
                <a:cs typeface="Aptos" pitchFamily="34" charset="-120"/>
              </a:rPr>
              <a:t>Waveform</a:t>
            </a:r>
            <a:endParaRPr lang="en-US" sz="1220" dirty="0"/>
          </a:p>
        </p:txBody>
      </p:sp>
      <p:sp>
        <p:nvSpPr>
          <p:cNvPr id="6" name="Text 4"/>
          <p:cNvSpPr/>
          <p:nvPr/>
        </p:nvSpPr>
        <p:spPr>
          <a:xfrm>
            <a:off x="2971800" y="1078992"/>
            <a:ext cx="4663440" cy="256032"/>
          </a:xfrm>
          <a:prstGeom prst="rect">
            <a:avLst/>
          </a:prstGeom>
          <a:noFill/>
          <a:ln/>
        </p:spPr>
        <p:txBody>
          <a:bodyPr wrap="square" lIns="762" tIns="762" rIns="762" bIns="762" rtlCol="0" anchor="ctr">
            <a:normAutofit/>
          </a:bodyPr>
          <a:lstStyle/>
          <a:p>
            <a:pPr algn="l" indent="0" marL="0">
              <a:buNone/>
            </a:pPr>
            <a:r>
              <a:rPr lang="en-US" sz="1250" dirty="0">
                <a:solidFill>
                  <a:srgbClr val="12212B"/>
                </a:solidFill>
                <a:latin typeface="Aptos" pitchFamily="34" charset="0"/>
                <a:ea typeface="Aptos" pitchFamily="34" charset="-122"/>
                <a:cs typeface="Aptos" pitchFamily="34" charset="-120"/>
              </a:rPr>
              <a:t>~32.000 mẫu nếu audio 2 giây @16 kHz</a:t>
            </a:r>
            <a:endParaRPr lang="en-US" sz="1250" dirty="0"/>
          </a:p>
        </p:txBody>
      </p:sp>
      <p:sp>
        <p:nvSpPr>
          <p:cNvPr id="7" name="Text 5"/>
          <p:cNvSpPr/>
          <p:nvPr/>
        </p:nvSpPr>
        <p:spPr>
          <a:xfrm>
            <a:off x="7909560" y="1078992"/>
            <a:ext cx="2377440" cy="256032"/>
          </a:xfrm>
          <a:prstGeom prst="rect">
            <a:avLst/>
          </a:prstGeom>
          <a:noFill/>
          <a:ln/>
        </p:spPr>
        <p:txBody>
          <a:bodyPr wrap="square" lIns="762" tIns="762" rIns="762" bIns="762" rtlCol="0" anchor="ctr">
            <a:normAutofit/>
          </a:bodyPr>
          <a:lstStyle/>
          <a:p>
            <a:pPr algn="l" indent="0" marL="0">
              <a:buNone/>
            </a:pPr>
            <a:r>
              <a:rPr lang="en-US" sz="1150" dirty="0">
                <a:solidFill>
                  <a:srgbClr val="516271"/>
                </a:solidFill>
                <a:latin typeface="Aptos" pitchFamily="34" charset="0"/>
                <a:ea typeface="Aptos" pitchFamily="34" charset="-122"/>
                <a:cs typeface="Aptos" pitchFamily="34" charset="-120"/>
              </a:rPr>
              <a:t>mẫu âm thanh</a:t>
            </a:r>
            <a:endParaRPr lang="en-US" sz="1150" dirty="0"/>
          </a:p>
        </p:txBody>
      </p:sp>
      <p:sp>
        <p:nvSpPr>
          <p:cNvPr id="8" name="Shape 6"/>
          <p:cNvSpPr/>
          <p:nvPr/>
        </p:nvSpPr>
        <p:spPr>
          <a:xfrm>
            <a:off x="1737360" y="1536192"/>
            <a:ext cx="0" cy="146304"/>
          </a:xfrm>
          <a:prstGeom prst="line">
            <a:avLst/>
          </a:prstGeom>
          <a:noFill/>
          <a:ln w="12700">
            <a:solidFill>
              <a:srgbClr val="AAB7C3"/>
            </a:solidFill>
            <a:prstDash val="solid"/>
            <a:headEnd type="none"/>
            <a:tailEnd type="triangle"/>
          </a:ln>
        </p:spPr>
      </p:sp>
      <p:sp>
        <p:nvSpPr>
          <p:cNvPr id="9" name="Shape 7"/>
          <p:cNvSpPr/>
          <p:nvPr/>
        </p:nvSpPr>
        <p:spPr>
          <a:xfrm>
            <a:off x="822960" y="1737360"/>
            <a:ext cx="1828800" cy="457200"/>
          </a:xfrm>
          <a:prstGeom prst="roundRect">
            <a:avLst>
              <a:gd name="adj" fmla="val 24000"/>
            </a:avLst>
          </a:prstGeom>
          <a:solidFill>
            <a:srgbClr val="FDFEFF"/>
          </a:solidFill>
          <a:ln w="12700">
            <a:solidFill>
              <a:srgbClr val="175D7C"/>
            </a:solidFill>
            <a:prstDash val="solid"/>
          </a:ln>
        </p:spPr>
      </p:sp>
      <p:sp>
        <p:nvSpPr>
          <p:cNvPr id="10" name="Text 8"/>
          <p:cNvSpPr/>
          <p:nvPr/>
        </p:nvSpPr>
        <p:spPr>
          <a:xfrm>
            <a:off x="886968" y="1783080"/>
            <a:ext cx="1700784" cy="365760"/>
          </a:xfrm>
          <a:prstGeom prst="rect">
            <a:avLst/>
          </a:prstGeom>
          <a:noFill/>
          <a:ln/>
        </p:spPr>
        <p:txBody>
          <a:bodyPr wrap="square" lIns="762" tIns="762" rIns="762" bIns="762" rtlCol="0" anchor="ctr">
            <a:normAutofit/>
          </a:bodyPr>
          <a:lstStyle/>
          <a:p>
            <a:pPr algn="ctr" indent="0" marL="0">
              <a:buNone/>
            </a:pPr>
            <a:r>
              <a:rPr lang="en-US" sz="1220" b="1" dirty="0">
                <a:solidFill>
                  <a:srgbClr val="175D7C"/>
                </a:solidFill>
                <a:latin typeface="Aptos" pitchFamily="34" charset="0"/>
                <a:ea typeface="Aptos" pitchFamily="34" charset="-122"/>
                <a:cs typeface="Aptos" pitchFamily="34" charset="-120"/>
              </a:rPr>
              <a:t>Log-Mel</a:t>
            </a:r>
            <a:endParaRPr lang="en-US" sz="1220" dirty="0"/>
          </a:p>
        </p:txBody>
      </p:sp>
      <p:sp>
        <p:nvSpPr>
          <p:cNvPr id="11" name="Text 9"/>
          <p:cNvSpPr/>
          <p:nvPr/>
        </p:nvSpPr>
        <p:spPr>
          <a:xfrm>
            <a:off x="2971800" y="1810512"/>
            <a:ext cx="4663440" cy="256032"/>
          </a:xfrm>
          <a:prstGeom prst="rect">
            <a:avLst/>
          </a:prstGeom>
          <a:noFill/>
          <a:ln/>
        </p:spPr>
        <p:txBody>
          <a:bodyPr wrap="square" lIns="762" tIns="762" rIns="762" bIns="762" rtlCol="0" anchor="ctr">
            <a:normAutofit/>
          </a:bodyPr>
          <a:lstStyle/>
          <a:p>
            <a:pPr algn="l" indent="0" marL="0">
              <a:buNone/>
            </a:pPr>
            <a:r>
              <a:rPr lang="en-US" sz="1250" dirty="0">
                <a:solidFill>
                  <a:srgbClr val="12212B"/>
                </a:solidFill>
                <a:latin typeface="Aptos" pitchFamily="34" charset="0"/>
                <a:ea typeface="Aptos" pitchFamily="34" charset="-122"/>
                <a:cs typeface="Aptos" pitchFamily="34" charset="-120"/>
              </a:rPr>
              <a:t>ma trận Mel × thời gian</a:t>
            </a:r>
            <a:endParaRPr lang="en-US" sz="1250" dirty="0"/>
          </a:p>
        </p:txBody>
      </p:sp>
      <p:sp>
        <p:nvSpPr>
          <p:cNvPr id="12" name="Text 10"/>
          <p:cNvSpPr/>
          <p:nvPr/>
        </p:nvSpPr>
        <p:spPr>
          <a:xfrm>
            <a:off x="7909560" y="1810512"/>
            <a:ext cx="2377440" cy="256032"/>
          </a:xfrm>
          <a:prstGeom prst="rect">
            <a:avLst/>
          </a:prstGeom>
          <a:noFill/>
          <a:ln/>
        </p:spPr>
        <p:txBody>
          <a:bodyPr wrap="square" lIns="762" tIns="762" rIns="762" bIns="762" rtlCol="0" anchor="ctr">
            <a:normAutofit/>
          </a:bodyPr>
          <a:lstStyle/>
          <a:p>
            <a:pPr algn="l" indent="0" marL="0">
              <a:buNone/>
            </a:pPr>
            <a:r>
              <a:rPr lang="en-US" sz="1150" dirty="0">
                <a:solidFill>
                  <a:srgbClr val="516271"/>
                </a:solidFill>
                <a:latin typeface="Aptos" pitchFamily="34" charset="0"/>
                <a:ea typeface="Aptos" pitchFamily="34" charset="-122"/>
                <a:cs typeface="Aptos" pitchFamily="34" charset="-120"/>
              </a:rPr>
              <a:t>frame đặc trưng</a:t>
            </a:r>
            <a:endParaRPr lang="en-US" sz="1150" dirty="0"/>
          </a:p>
        </p:txBody>
      </p:sp>
      <p:sp>
        <p:nvSpPr>
          <p:cNvPr id="13" name="Shape 11"/>
          <p:cNvSpPr/>
          <p:nvPr/>
        </p:nvSpPr>
        <p:spPr>
          <a:xfrm>
            <a:off x="1737360" y="2267712"/>
            <a:ext cx="0" cy="146304"/>
          </a:xfrm>
          <a:prstGeom prst="line">
            <a:avLst/>
          </a:prstGeom>
          <a:noFill/>
          <a:ln w="12700">
            <a:solidFill>
              <a:srgbClr val="AAB7C3"/>
            </a:solidFill>
            <a:prstDash val="solid"/>
            <a:headEnd type="none"/>
            <a:tailEnd type="triangle"/>
          </a:ln>
        </p:spPr>
      </p:sp>
      <p:sp>
        <p:nvSpPr>
          <p:cNvPr id="14" name="Shape 12"/>
          <p:cNvSpPr/>
          <p:nvPr/>
        </p:nvSpPr>
        <p:spPr>
          <a:xfrm>
            <a:off x="822960" y="2468880"/>
            <a:ext cx="1828800" cy="457200"/>
          </a:xfrm>
          <a:prstGeom prst="roundRect">
            <a:avLst>
              <a:gd name="adj" fmla="val 24000"/>
            </a:avLst>
          </a:prstGeom>
          <a:solidFill>
            <a:srgbClr val="FDFEFF"/>
          </a:solidFill>
          <a:ln w="12700">
            <a:solidFill>
              <a:srgbClr val="2A67B1"/>
            </a:solidFill>
            <a:prstDash val="solid"/>
          </a:ln>
        </p:spPr>
      </p:sp>
      <p:sp>
        <p:nvSpPr>
          <p:cNvPr id="15" name="Text 13"/>
          <p:cNvSpPr/>
          <p:nvPr/>
        </p:nvSpPr>
        <p:spPr>
          <a:xfrm>
            <a:off x="886968" y="2514600"/>
            <a:ext cx="1700784" cy="365760"/>
          </a:xfrm>
          <a:prstGeom prst="rect">
            <a:avLst/>
          </a:prstGeom>
          <a:noFill/>
          <a:ln/>
        </p:spPr>
        <p:txBody>
          <a:bodyPr wrap="square" lIns="762" tIns="762" rIns="762" bIns="762" rtlCol="0" anchor="ctr">
            <a:normAutofit/>
          </a:bodyPr>
          <a:lstStyle/>
          <a:p>
            <a:pPr algn="ctr" indent="0" marL="0">
              <a:buNone/>
            </a:pPr>
            <a:r>
              <a:rPr lang="en-US" sz="1220" b="1" dirty="0">
                <a:solidFill>
                  <a:srgbClr val="2A67B1"/>
                </a:solidFill>
                <a:latin typeface="Aptos" pitchFamily="34" charset="0"/>
                <a:ea typeface="Aptos" pitchFamily="34" charset="-122"/>
                <a:cs typeface="Aptos" pitchFamily="34" charset="-120"/>
              </a:rPr>
              <a:t>Conv + Encoder</a:t>
            </a:r>
            <a:endParaRPr lang="en-US" sz="1220" dirty="0"/>
          </a:p>
        </p:txBody>
      </p:sp>
      <p:sp>
        <p:nvSpPr>
          <p:cNvPr id="16" name="Text 14"/>
          <p:cNvSpPr/>
          <p:nvPr/>
        </p:nvSpPr>
        <p:spPr>
          <a:xfrm>
            <a:off x="2971800" y="2542032"/>
            <a:ext cx="4663440" cy="256032"/>
          </a:xfrm>
          <a:prstGeom prst="rect">
            <a:avLst/>
          </a:prstGeom>
          <a:noFill/>
          <a:ln/>
        </p:spPr>
        <p:txBody>
          <a:bodyPr wrap="square" lIns="762" tIns="762" rIns="762" bIns="762" rtlCol="0" anchor="ctr">
            <a:normAutofit/>
          </a:bodyPr>
          <a:lstStyle/>
          <a:p>
            <a:pPr algn="l" indent="0" marL="0">
              <a:buNone/>
            </a:pPr>
            <a:r>
              <a:rPr lang="en-US" sz="1250" dirty="0">
                <a:solidFill>
                  <a:srgbClr val="12212B"/>
                </a:solidFill>
                <a:latin typeface="Aptos" pitchFamily="34" charset="0"/>
                <a:ea typeface="Aptos" pitchFamily="34" charset="-122"/>
                <a:cs typeface="Aptos" pitchFamily="34" charset="-120"/>
              </a:rPr>
              <a:t>chuỗi vector audio encoded</a:t>
            </a:r>
            <a:endParaRPr lang="en-US" sz="1250" dirty="0"/>
          </a:p>
        </p:txBody>
      </p:sp>
      <p:sp>
        <p:nvSpPr>
          <p:cNvPr id="17" name="Text 15"/>
          <p:cNvSpPr/>
          <p:nvPr/>
        </p:nvSpPr>
        <p:spPr>
          <a:xfrm>
            <a:off x="7909560" y="2542032"/>
            <a:ext cx="2377440" cy="256032"/>
          </a:xfrm>
          <a:prstGeom prst="rect">
            <a:avLst/>
          </a:prstGeom>
          <a:noFill/>
          <a:ln/>
        </p:spPr>
        <p:txBody>
          <a:bodyPr wrap="square" lIns="762" tIns="762" rIns="762" bIns="762" rtlCol="0" anchor="ctr">
            <a:normAutofit/>
          </a:bodyPr>
          <a:lstStyle/>
          <a:p>
            <a:pPr algn="l" indent="0" marL="0">
              <a:buNone/>
            </a:pPr>
            <a:r>
              <a:rPr lang="en-US" sz="1150" dirty="0">
                <a:solidFill>
                  <a:srgbClr val="516271"/>
                </a:solidFill>
                <a:latin typeface="Aptos" pitchFamily="34" charset="0"/>
                <a:ea typeface="Aptos" pitchFamily="34" charset="-122"/>
                <a:cs typeface="Aptos" pitchFamily="34" charset="-120"/>
              </a:rPr>
              <a:t>bước thời gian đã nén</a:t>
            </a:r>
            <a:endParaRPr lang="en-US" sz="1150" dirty="0"/>
          </a:p>
        </p:txBody>
      </p:sp>
      <p:sp>
        <p:nvSpPr>
          <p:cNvPr id="18" name="Shape 16"/>
          <p:cNvSpPr/>
          <p:nvPr/>
        </p:nvSpPr>
        <p:spPr>
          <a:xfrm>
            <a:off x="1737360" y="2999232"/>
            <a:ext cx="0" cy="146304"/>
          </a:xfrm>
          <a:prstGeom prst="line">
            <a:avLst/>
          </a:prstGeom>
          <a:noFill/>
          <a:ln w="12700">
            <a:solidFill>
              <a:srgbClr val="AAB7C3"/>
            </a:solidFill>
            <a:prstDash val="solid"/>
            <a:headEnd type="none"/>
            <a:tailEnd type="triangle"/>
          </a:ln>
        </p:spPr>
      </p:sp>
      <p:sp>
        <p:nvSpPr>
          <p:cNvPr id="19" name="Shape 17"/>
          <p:cNvSpPr/>
          <p:nvPr/>
        </p:nvSpPr>
        <p:spPr>
          <a:xfrm>
            <a:off x="822960" y="3200400"/>
            <a:ext cx="1828800" cy="457200"/>
          </a:xfrm>
          <a:prstGeom prst="roundRect">
            <a:avLst>
              <a:gd name="adj" fmla="val 24000"/>
            </a:avLst>
          </a:prstGeom>
          <a:solidFill>
            <a:srgbClr val="FDFEFF"/>
          </a:solidFill>
          <a:ln w="12700">
            <a:solidFill>
              <a:srgbClr val="175D7C"/>
            </a:solidFill>
            <a:prstDash val="solid"/>
          </a:ln>
        </p:spPr>
      </p:sp>
      <p:sp>
        <p:nvSpPr>
          <p:cNvPr id="20" name="Text 18"/>
          <p:cNvSpPr/>
          <p:nvPr/>
        </p:nvSpPr>
        <p:spPr>
          <a:xfrm>
            <a:off x="886968" y="3246120"/>
            <a:ext cx="1700784" cy="365760"/>
          </a:xfrm>
          <a:prstGeom prst="rect">
            <a:avLst/>
          </a:prstGeom>
          <a:noFill/>
          <a:ln/>
        </p:spPr>
        <p:txBody>
          <a:bodyPr wrap="square" lIns="762" tIns="762" rIns="762" bIns="762" rtlCol="0" anchor="ctr">
            <a:normAutofit/>
          </a:bodyPr>
          <a:lstStyle/>
          <a:p>
            <a:pPr algn="ctr" indent="0" marL="0">
              <a:buNone/>
            </a:pPr>
            <a:r>
              <a:rPr lang="en-US" sz="1220" b="1" dirty="0">
                <a:solidFill>
                  <a:srgbClr val="175D7C"/>
                </a:solidFill>
                <a:latin typeface="Aptos" pitchFamily="34" charset="0"/>
                <a:ea typeface="Aptos" pitchFamily="34" charset="-122"/>
                <a:cs typeface="Aptos" pitchFamily="34" charset="-120"/>
              </a:rPr>
              <a:t>Decoder input</a:t>
            </a:r>
            <a:endParaRPr lang="en-US" sz="1220" dirty="0"/>
          </a:p>
        </p:txBody>
      </p:sp>
      <p:sp>
        <p:nvSpPr>
          <p:cNvPr id="21" name="Text 19"/>
          <p:cNvSpPr/>
          <p:nvPr/>
        </p:nvSpPr>
        <p:spPr>
          <a:xfrm>
            <a:off x="2971800" y="3273552"/>
            <a:ext cx="4663440" cy="256032"/>
          </a:xfrm>
          <a:prstGeom prst="rect">
            <a:avLst/>
          </a:prstGeom>
          <a:noFill/>
          <a:ln/>
        </p:spPr>
        <p:txBody>
          <a:bodyPr wrap="square" lIns="762" tIns="762" rIns="762" bIns="762" rtlCol="0" anchor="ctr">
            <a:normAutofit/>
          </a:bodyPr>
          <a:lstStyle/>
          <a:p>
            <a:pPr algn="l" indent="0" marL="0">
              <a:buNone/>
            </a:pPr>
            <a:r>
              <a:rPr lang="en-US" sz="1250" dirty="0">
                <a:solidFill>
                  <a:srgbClr val="12212B"/>
                </a:solidFill>
                <a:latin typeface="Aptos" pitchFamily="34" charset="0"/>
                <a:ea typeface="Aptos" pitchFamily="34" charset="-122"/>
                <a:cs typeface="Aptos" pitchFamily="34" charset="-120"/>
              </a:rPr>
              <a:t>special tokens + token đã sinh</a:t>
            </a:r>
            <a:endParaRPr lang="en-US" sz="1250" dirty="0"/>
          </a:p>
        </p:txBody>
      </p:sp>
      <p:sp>
        <p:nvSpPr>
          <p:cNvPr id="22" name="Text 20"/>
          <p:cNvSpPr/>
          <p:nvPr/>
        </p:nvSpPr>
        <p:spPr>
          <a:xfrm>
            <a:off x="7909560" y="3273552"/>
            <a:ext cx="2377440" cy="256032"/>
          </a:xfrm>
          <a:prstGeom prst="rect">
            <a:avLst/>
          </a:prstGeom>
          <a:noFill/>
          <a:ln/>
        </p:spPr>
        <p:txBody>
          <a:bodyPr wrap="square" lIns="762" tIns="762" rIns="762" bIns="762" rtlCol="0" anchor="ctr">
            <a:normAutofit/>
          </a:bodyPr>
          <a:lstStyle/>
          <a:p>
            <a:pPr algn="l" indent="0" marL="0">
              <a:buNone/>
            </a:pPr>
            <a:r>
              <a:rPr lang="en-US" sz="1150" dirty="0">
                <a:solidFill>
                  <a:srgbClr val="516271"/>
                </a:solidFill>
                <a:latin typeface="Aptos" pitchFamily="34" charset="0"/>
                <a:ea typeface="Aptos" pitchFamily="34" charset="-122"/>
                <a:cs typeface="Aptos" pitchFamily="34" charset="-120"/>
              </a:rPr>
              <a:t>token ID</a:t>
            </a:r>
            <a:endParaRPr lang="en-US" sz="1150" dirty="0"/>
          </a:p>
        </p:txBody>
      </p:sp>
      <p:sp>
        <p:nvSpPr>
          <p:cNvPr id="23" name="Shape 21"/>
          <p:cNvSpPr/>
          <p:nvPr/>
        </p:nvSpPr>
        <p:spPr>
          <a:xfrm>
            <a:off x="1737360" y="3730752"/>
            <a:ext cx="0" cy="146304"/>
          </a:xfrm>
          <a:prstGeom prst="line">
            <a:avLst/>
          </a:prstGeom>
          <a:noFill/>
          <a:ln w="12700">
            <a:solidFill>
              <a:srgbClr val="AAB7C3"/>
            </a:solidFill>
            <a:prstDash val="solid"/>
            <a:headEnd type="none"/>
            <a:tailEnd type="triangle"/>
          </a:ln>
        </p:spPr>
      </p:sp>
      <p:sp>
        <p:nvSpPr>
          <p:cNvPr id="24" name="Shape 22"/>
          <p:cNvSpPr/>
          <p:nvPr/>
        </p:nvSpPr>
        <p:spPr>
          <a:xfrm>
            <a:off x="822960" y="3931920"/>
            <a:ext cx="1828800" cy="457200"/>
          </a:xfrm>
          <a:prstGeom prst="roundRect">
            <a:avLst>
              <a:gd name="adj" fmla="val 24000"/>
            </a:avLst>
          </a:prstGeom>
          <a:solidFill>
            <a:srgbClr val="FDFEFF"/>
          </a:solidFill>
          <a:ln w="12700">
            <a:solidFill>
              <a:srgbClr val="2A67B1"/>
            </a:solidFill>
            <a:prstDash val="solid"/>
          </a:ln>
        </p:spPr>
      </p:sp>
      <p:sp>
        <p:nvSpPr>
          <p:cNvPr id="25" name="Text 23"/>
          <p:cNvSpPr/>
          <p:nvPr/>
        </p:nvSpPr>
        <p:spPr>
          <a:xfrm>
            <a:off x="886968" y="3977640"/>
            <a:ext cx="1700784" cy="365760"/>
          </a:xfrm>
          <a:prstGeom prst="rect">
            <a:avLst/>
          </a:prstGeom>
          <a:noFill/>
          <a:ln/>
        </p:spPr>
        <p:txBody>
          <a:bodyPr wrap="square" lIns="762" tIns="762" rIns="762" bIns="762" rtlCol="0" anchor="ctr">
            <a:normAutofit/>
          </a:bodyPr>
          <a:lstStyle/>
          <a:p>
            <a:pPr algn="ctr" indent="0" marL="0">
              <a:buNone/>
            </a:pPr>
            <a:r>
              <a:rPr lang="en-US" sz="1220" b="1" dirty="0">
                <a:solidFill>
                  <a:srgbClr val="2A67B1"/>
                </a:solidFill>
                <a:latin typeface="Aptos" pitchFamily="34" charset="0"/>
                <a:ea typeface="Aptos" pitchFamily="34" charset="-122"/>
                <a:cs typeface="Aptos" pitchFamily="34" charset="-120"/>
              </a:rPr>
              <a:t>Logits</a:t>
            </a:r>
            <a:endParaRPr lang="en-US" sz="1220" dirty="0"/>
          </a:p>
        </p:txBody>
      </p:sp>
      <p:sp>
        <p:nvSpPr>
          <p:cNvPr id="26" name="Text 24"/>
          <p:cNvSpPr/>
          <p:nvPr/>
        </p:nvSpPr>
        <p:spPr>
          <a:xfrm>
            <a:off x="2971800" y="4005072"/>
            <a:ext cx="4663440" cy="256032"/>
          </a:xfrm>
          <a:prstGeom prst="rect">
            <a:avLst/>
          </a:prstGeom>
          <a:noFill/>
          <a:ln/>
        </p:spPr>
        <p:txBody>
          <a:bodyPr wrap="square" lIns="762" tIns="762" rIns="762" bIns="762" rtlCol="0" anchor="ctr">
            <a:normAutofit/>
          </a:bodyPr>
          <a:lstStyle/>
          <a:p>
            <a:pPr algn="l" indent="0" marL="0">
              <a:buNone/>
            </a:pPr>
            <a:r>
              <a:rPr lang="en-US" sz="1250" dirty="0">
                <a:solidFill>
                  <a:srgbClr val="12212B"/>
                </a:solidFill>
                <a:latin typeface="Aptos" pitchFamily="34" charset="0"/>
                <a:ea typeface="Aptos" pitchFamily="34" charset="-122"/>
                <a:cs typeface="Aptos" pitchFamily="34" charset="-120"/>
              </a:rPr>
              <a:t>điểm số cho vocab</a:t>
            </a:r>
            <a:endParaRPr lang="en-US" sz="1250" dirty="0"/>
          </a:p>
        </p:txBody>
      </p:sp>
      <p:sp>
        <p:nvSpPr>
          <p:cNvPr id="27" name="Text 25"/>
          <p:cNvSpPr/>
          <p:nvPr/>
        </p:nvSpPr>
        <p:spPr>
          <a:xfrm>
            <a:off x="7909560" y="4005072"/>
            <a:ext cx="2377440" cy="256032"/>
          </a:xfrm>
          <a:prstGeom prst="rect">
            <a:avLst/>
          </a:prstGeom>
          <a:noFill/>
          <a:ln/>
        </p:spPr>
        <p:txBody>
          <a:bodyPr wrap="square" lIns="762" tIns="762" rIns="762" bIns="762" rtlCol="0" anchor="ctr">
            <a:normAutofit/>
          </a:bodyPr>
          <a:lstStyle/>
          <a:p>
            <a:pPr algn="l" indent="0" marL="0">
              <a:buNone/>
            </a:pPr>
            <a:r>
              <a:rPr lang="en-US" sz="1150" dirty="0">
                <a:solidFill>
                  <a:srgbClr val="516271"/>
                </a:solidFill>
                <a:latin typeface="Aptos" pitchFamily="34" charset="0"/>
                <a:ea typeface="Aptos" pitchFamily="34" charset="-122"/>
                <a:cs typeface="Aptos" pitchFamily="34" charset="-120"/>
              </a:rPr>
              <a:t>xác suất token</a:t>
            </a:r>
            <a:endParaRPr lang="en-US" sz="1150" dirty="0"/>
          </a:p>
        </p:txBody>
      </p:sp>
      <p:sp>
        <p:nvSpPr>
          <p:cNvPr id="28" name="Shape 26"/>
          <p:cNvSpPr/>
          <p:nvPr/>
        </p:nvSpPr>
        <p:spPr>
          <a:xfrm>
            <a:off x="1737360" y="4462272"/>
            <a:ext cx="0" cy="146304"/>
          </a:xfrm>
          <a:prstGeom prst="line">
            <a:avLst/>
          </a:prstGeom>
          <a:noFill/>
          <a:ln w="12700">
            <a:solidFill>
              <a:srgbClr val="AAB7C3"/>
            </a:solidFill>
            <a:prstDash val="solid"/>
            <a:headEnd type="none"/>
            <a:tailEnd type="triangle"/>
          </a:ln>
        </p:spPr>
      </p:sp>
      <p:sp>
        <p:nvSpPr>
          <p:cNvPr id="29" name="Shape 27"/>
          <p:cNvSpPr/>
          <p:nvPr/>
        </p:nvSpPr>
        <p:spPr>
          <a:xfrm>
            <a:off x="822960" y="4663440"/>
            <a:ext cx="1828800" cy="457200"/>
          </a:xfrm>
          <a:prstGeom prst="roundRect">
            <a:avLst>
              <a:gd name="adj" fmla="val 24000"/>
            </a:avLst>
          </a:prstGeom>
          <a:solidFill>
            <a:srgbClr val="FDFEFF"/>
          </a:solidFill>
          <a:ln w="12700">
            <a:solidFill>
              <a:srgbClr val="175D7C"/>
            </a:solidFill>
            <a:prstDash val="solid"/>
          </a:ln>
        </p:spPr>
      </p:sp>
      <p:sp>
        <p:nvSpPr>
          <p:cNvPr id="30" name="Text 28"/>
          <p:cNvSpPr/>
          <p:nvPr/>
        </p:nvSpPr>
        <p:spPr>
          <a:xfrm>
            <a:off x="886968" y="4709160"/>
            <a:ext cx="1700784" cy="365760"/>
          </a:xfrm>
          <a:prstGeom prst="rect">
            <a:avLst/>
          </a:prstGeom>
          <a:noFill/>
          <a:ln/>
        </p:spPr>
        <p:txBody>
          <a:bodyPr wrap="square" lIns="762" tIns="762" rIns="762" bIns="762" rtlCol="0" anchor="ctr">
            <a:normAutofit/>
          </a:bodyPr>
          <a:lstStyle/>
          <a:p>
            <a:pPr algn="ctr" indent="0" marL="0">
              <a:buNone/>
            </a:pPr>
            <a:r>
              <a:rPr lang="en-US" sz="1220" b="1" dirty="0">
                <a:solidFill>
                  <a:srgbClr val="175D7C"/>
                </a:solidFill>
                <a:latin typeface="Aptos" pitchFamily="34" charset="0"/>
                <a:ea typeface="Aptos" pitchFamily="34" charset="-122"/>
                <a:cs typeface="Aptos" pitchFamily="34" charset="-120"/>
              </a:rPr>
              <a:t>Transcript</a:t>
            </a:r>
            <a:endParaRPr lang="en-US" sz="1220" dirty="0"/>
          </a:p>
        </p:txBody>
      </p:sp>
      <p:sp>
        <p:nvSpPr>
          <p:cNvPr id="31" name="Text 29"/>
          <p:cNvSpPr/>
          <p:nvPr/>
        </p:nvSpPr>
        <p:spPr>
          <a:xfrm>
            <a:off x="2971800" y="4736592"/>
            <a:ext cx="4663440" cy="256032"/>
          </a:xfrm>
          <a:prstGeom prst="rect">
            <a:avLst/>
          </a:prstGeom>
          <a:noFill/>
          <a:ln/>
        </p:spPr>
        <p:txBody>
          <a:bodyPr wrap="square" lIns="762" tIns="762" rIns="762" bIns="762" rtlCol="0" anchor="ctr">
            <a:normAutofit/>
          </a:bodyPr>
          <a:lstStyle/>
          <a:p>
            <a:pPr algn="l" indent="0" marL="0">
              <a:buNone/>
            </a:pPr>
            <a:r>
              <a:rPr lang="en-US" sz="1250" dirty="0">
                <a:solidFill>
                  <a:srgbClr val="12212B"/>
                </a:solidFill>
                <a:latin typeface="Aptos" pitchFamily="34" charset="0"/>
                <a:ea typeface="Aptos" pitchFamily="34" charset="-122"/>
                <a:cs typeface="Aptos" pitchFamily="34" charset="-120"/>
              </a:rPr>
              <a:t>“tôi muốn kiểm tra hợp đồng”</a:t>
            </a:r>
            <a:endParaRPr lang="en-US" sz="1250" dirty="0"/>
          </a:p>
        </p:txBody>
      </p:sp>
      <p:sp>
        <p:nvSpPr>
          <p:cNvPr id="32" name="Text 30"/>
          <p:cNvSpPr/>
          <p:nvPr/>
        </p:nvSpPr>
        <p:spPr>
          <a:xfrm>
            <a:off x="7909560" y="4736592"/>
            <a:ext cx="2377440" cy="256032"/>
          </a:xfrm>
          <a:prstGeom prst="rect">
            <a:avLst/>
          </a:prstGeom>
          <a:noFill/>
          <a:ln/>
        </p:spPr>
        <p:txBody>
          <a:bodyPr wrap="square" lIns="762" tIns="762" rIns="762" bIns="762" rtlCol="0" anchor="ctr">
            <a:normAutofit/>
          </a:bodyPr>
          <a:lstStyle/>
          <a:p>
            <a:pPr algn="l" indent="0" marL="0">
              <a:buNone/>
            </a:pPr>
            <a:r>
              <a:rPr lang="en-US" sz="1150" dirty="0">
                <a:solidFill>
                  <a:srgbClr val="516271"/>
                </a:solidFill>
                <a:latin typeface="Aptos" pitchFamily="34" charset="0"/>
                <a:ea typeface="Aptos" pitchFamily="34" charset="-122"/>
                <a:cs typeface="Aptos" pitchFamily="34" charset="-120"/>
              </a:rPr>
              <a:t>từ/cụm từ</a:t>
            </a:r>
            <a:endParaRPr lang="en-US" sz="1150" dirty="0"/>
          </a:p>
        </p:txBody>
      </p:sp>
      <p:sp>
        <p:nvSpPr>
          <p:cNvPr id="33" name="Text 31"/>
          <p:cNvSpPr/>
          <p:nvPr/>
        </p:nvSpPr>
        <p:spPr>
          <a:xfrm>
            <a:off x="914400" y="5623560"/>
            <a:ext cx="9784080" cy="292608"/>
          </a:xfrm>
          <a:prstGeom prst="rect">
            <a:avLst/>
          </a:prstGeom>
          <a:noFill/>
          <a:ln/>
        </p:spPr>
        <p:txBody>
          <a:bodyPr wrap="square" lIns="762" tIns="762" rIns="762" bIns="762" rtlCol="0" anchor="ctr">
            <a:normAutofit/>
          </a:bodyPr>
          <a:lstStyle/>
          <a:p>
            <a:pPr algn="ctr" indent="0" marL="0">
              <a:buNone/>
            </a:pPr>
            <a:r>
              <a:rPr lang="en-US" sz="1120" i="1" dirty="0">
                <a:solidFill>
                  <a:srgbClr val="516271"/>
                </a:solidFill>
                <a:latin typeface="Aptos" pitchFamily="34" charset="0"/>
                <a:ea typeface="Aptos" pitchFamily="34" charset="-122"/>
                <a:cs typeface="Aptos" pitchFamily="34" charset="-120"/>
              </a:rPr>
              <a:t>Tất cả số liệu trong bảng là minh họa trừ các giả định đã ghi; không phải output chạy thật.</a:t>
            </a:r>
            <a:endParaRPr lang="en-US" sz="1120" dirty="0"/>
          </a:p>
        </p:txBody>
      </p:sp>
      <p:sp>
        <p:nvSpPr>
          <p:cNvPr id="34" name="Shape 32"/>
          <p:cNvSpPr/>
          <p:nvPr/>
        </p:nvSpPr>
        <p:spPr>
          <a:xfrm>
            <a:off x="438912" y="6199632"/>
            <a:ext cx="2377440" cy="310896"/>
          </a:xfrm>
          <a:prstGeom prst="roundRect">
            <a:avLst>
              <a:gd name="adj" fmla="val 44118"/>
            </a:avLst>
          </a:prstGeom>
          <a:solidFill>
            <a:srgbClr val="E8F2F6"/>
          </a:solidFill>
          <a:ln w="12700">
            <a:solidFill>
              <a:srgbClr val="E8F2F6"/>
            </a:solidFill>
            <a:prstDash val="solid"/>
          </a:ln>
        </p:spPr>
      </p:sp>
      <p:sp>
        <p:nvSpPr>
          <p:cNvPr id="35" name="Text 33"/>
          <p:cNvSpPr/>
          <p:nvPr/>
        </p:nvSpPr>
        <p:spPr>
          <a:xfrm>
            <a:off x="512064" y="6259068"/>
            <a:ext cx="2231136" cy="201168"/>
          </a:xfrm>
          <a:prstGeom prst="rect">
            <a:avLst/>
          </a:prstGeom>
          <a:noFill/>
          <a:ln/>
        </p:spPr>
        <p:txBody>
          <a:bodyPr wrap="square" lIns="0" tIns="0" rIns="0" bIns="0" rtlCol="0" anchor="ctr">
            <a:normAutofit/>
          </a:bodyPr>
          <a:lstStyle/>
          <a:p>
            <a:pPr algn="ctr" indent="0" marL="0">
              <a:buNone/>
            </a:pPr>
            <a:r>
              <a:rPr lang="en-US" sz="950" b="1" dirty="0">
                <a:solidFill>
                  <a:srgbClr val="175D7C"/>
                </a:solidFill>
                <a:latin typeface="Aptos" pitchFamily="34" charset="0"/>
                <a:ea typeface="Aptos" pitchFamily="34" charset="-122"/>
                <a:cs typeface="Aptos" pitchFamily="34" charset="-120"/>
              </a:rPr>
              <a:t>Example walkthrough</a:t>
            </a:r>
            <a:endParaRPr lang="en-US" sz="950" dirty="0"/>
          </a:p>
        </p:txBody>
      </p:sp>
      <p:sp>
        <p:nvSpPr>
          <p:cNvPr id="25" name="Slide Number Placeholder 0"/>
          <p:cNvSpPr>
            <a:spLocks noGrp="1"/>
          </p:cNvSpPr>
          <p:nvPr>
            <p:ph type="sldNum" sz="quarter" idx="4294967295"/>
          </p:nvPr>
        </p:nvSpPr>
        <p:spPr>
          <a:xfrm>
            <a:off x="11841480" y="6519672"/>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7C8794"/>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420624" y="256032"/>
            <a:ext cx="9875520" cy="384048"/>
          </a:xfrm>
          <a:prstGeom prst="rect">
            <a:avLst/>
          </a:prstGeom>
          <a:noFill/>
          <a:ln/>
        </p:spPr>
        <p:txBody>
          <a:bodyPr wrap="square" lIns="0" tIns="0" rIns="0" bIns="0" rtlCol="0" anchor="ctr"/>
          <a:lstStyle/>
          <a:p>
            <a:pPr indent="0" marL="0">
              <a:buNone/>
            </a:pPr>
            <a:r>
              <a:rPr lang="en-US" sz="2500" b="1" dirty="0">
                <a:solidFill>
                  <a:srgbClr val="12212B"/>
                </a:solidFill>
                <a:latin typeface="Aptos Display" pitchFamily="34" charset="0"/>
                <a:ea typeface="Aptos Display" pitchFamily="34" charset="-122"/>
                <a:cs typeface="Aptos Display" pitchFamily="34" charset="-120"/>
              </a:rPr>
              <a:t>Decoding: mô hình chọn token như thế nào?</a:t>
            </a:r>
            <a:endParaRPr lang="en-US" sz="2500" dirty="0"/>
          </a:p>
        </p:txBody>
      </p:sp>
      <p:sp>
        <p:nvSpPr>
          <p:cNvPr id="3" name="Text 1"/>
          <p:cNvSpPr/>
          <p:nvPr/>
        </p:nvSpPr>
        <p:spPr>
          <a:xfrm>
            <a:off x="438912" y="694944"/>
            <a:ext cx="9875520" cy="256032"/>
          </a:xfrm>
          <a:prstGeom prst="rect">
            <a:avLst/>
          </a:prstGeom>
          <a:noFill/>
          <a:ln/>
        </p:spPr>
        <p:txBody>
          <a:bodyPr wrap="square" lIns="0" tIns="0" rIns="0" bIns="0" rtlCol="0" anchor="ctr"/>
          <a:lstStyle/>
          <a:p>
            <a:pPr indent="0" marL="0">
              <a:buNone/>
            </a:pPr>
            <a:r>
              <a:rPr lang="en-US" sz="1050" dirty="0">
                <a:solidFill>
                  <a:srgbClr val="516271"/>
                </a:solidFill>
              </a:rPr>
              <a:t>Autoregressive = sinh từng token, token sau phụ thuộc token trước</a:t>
            </a:r>
            <a:endParaRPr lang="en-US" sz="1050" dirty="0"/>
          </a:p>
        </p:txBody>
      </p:sp>
      <p:sp>
        <p:nvSpPr>
          <p:cNvPr id="4" name="Shape 2"/>
          <p:cNvSpPr/>
          <p:nvPr/>
        </p:nvSpPr>
        <p:spPr>
          <a:xfrm>
            <a:off x="640080" y="1005840"/>
            <a:ext cx="1069848" cy="329184"/>
          </a:xfrm>
          <a:prstGeom prst="roundRect">
            <a:avLst>
              <a:gd name="adj" fmla="val 36111"/>
            </a:avLst>
          </a:prstGeom>
          <a:solidFill>
            <a:srgbClr val="2F9E74">
              <a:alpha val="95000"/>
            </a:srgbClr>
          </a:solidFill>
          <a:ln w="12700">
            <a:solidFill>
              <a:srgbClr val="2F9E74"/>
            </a:solidFill>
            <a:prstDash val="solid"/>
          </a:ln>
        </p:spPr>
      </p:sp>
      <p:sp>
        <p:nvSpPr>
          <p:cNvPr id="5" name="Text 3"/>
          <p:cNvSpPr/>
          <p:nvPr/>
        </p:nvSpPr>
        <p:spPr>
          <a:xfrm>
            <a:off x="676656" y="1078992"/>
            <a:ext cx="996696" cy="164592"/>
          </a:xfrm>
          <a:prstGeom prst="rect">
            <a:avLst/>
          </a:prstGeom>
          <a:noFill/>
          <a:ln/>
        </p:spPr>
        <p:txBody>
          <a:bodyPr wrap="square" lIns="0" tIns="0" rIns="0" bIns="0" rtlCol="0" anchor="ctr">
            <a:normAutofit/>
          </a:bodyPr>
          <a:lstStyle/>
          <a:p>
            <a:pPr algn="ctr" indent="0" marL="0">
              <a:buNone/>
            </a:pPr>
            <a:r>
              <a:rPr lang="en-US" sz="850" b="1" dirty="0">
                <a:solidFill>
                  <a:srgbClr val="12212B"/>
                </a:solidFill>
                <a:latin typeface="Aptos" pitchFamily="34" charset="0"/>
                <a:ea typeface="Aptos" pitchFamily="34" charset="-122"/>
                <a:cs typeface="Aptos" pitchFamily="34" charset="-120"/>
              </a:rPr>
              <a:t>&lt;|vi|&gt;</a:t>
            </a:r>
            <a:endParaRPr lang="en-US" sz="850" dirty="0"/>
          </a:p>
        </p:txBody>
      </p:sp>
      <p:sp>
        <p:nvSpPr>
          <p:cNvPr id="6" name="Shape 4"/>
          <p:cNvSpPr/>
          <p:nvPr/>
        </p:nvSpPr>
        <p:spPr>
          <a:xfrm>
            <a:off x="1737360" y="1170432"/>
            <a:ext cx="137160" cy="0"/>
          </a:xfrm>
          <a:prstGeom prst="line">
            <a:avLst/>
          </a:prstGeom>
          <a:noFill/>
          <a:ln w="12700">
            <a:solidFill>
              <a:srgbClr val="AAB7C3"/>
            </a:solidFill>
            <a:prstDash val="solid"/>
            <a:headEnd type="none"/>
            <a:tailEnd type="triangle"/>
          </a:ln>
        </p:spPr>
      </p:sp>
      <p:sp>
        <p:nvSpPr>
          <p:cNvPr id="7" name="Shape 5"/>
          <p:cNvSpPr/>
          <p:nvPr/>
        </p:nvSpPr>
        <p:spPr>
          <a:xfrm>
            <a:off x="1965960" y="1005840"/>
            <a:ext cx="1069848" cy="329184"/>
          </a:xfrm>
          <a:prstGeom prst="roundRect">
            <a:avLst>
              <a:gd name="adj" fmla="val 36111"/>
            </a:avLst>
          </a:prstGeom>
          <a:solidFill>
            <a:srgbClr val="2F9E74">
              <a:alpha val="95000"/>
            </a:srgbClr>
          </a:solidFill>
          <a:ln w="12700">
            <a:solidFill>
              <a:srgbClr val="2F9E74"/>
            </a:solidFill>
            <a:prstDash val="solid"/>
          </a:ln>
        </p:spPr>
      </p:sp>
      <p:sp>
        <p:nvSpPr>
          <p:cNvPr id="8" name="Text 6"/>
          <p:cNvSpPr/>
          <p:nvPr/>
        </p:nvSpPr>
        <p:spPr>
          <a:xfrm>
            <a:off x="2002536" y="1078992"/>
            <a:ext cx="996696" cy="164592"/>
          </a:xfrm>
          <a:prstGeom prst="rect">
            <a:avLst/>
          </a:prstGeom>
          <a:noFill/>
          <a:ln/>
        </p:spPr>
        <p:txBody>
          <a:bodyPr wrap="square" lIns="0" tIns="0" rIns="0" bIns="0" rtlCol="0" anchor="ctr">
            <a:normAutofit/>
          </a:bodyPr>
          <a:lstStyle/>
          <a:p>
            <a:pPr algn="ctr" indent="0" marL="0">
              <a:buNone/>
            </a:pPr>
            <a:r>
              <a:rPr lang="en-US" sz="850" b="1" dirty="0">
                <a:solidFill>
                  <a:srgbClr val="12212B"/>
                </a:solidFill>
                <a:latin typeface="Aptos" pitchFamily="34" charset="0"/>
                <a:ea typeface="Aptos" pitchFamily="34" charset="-122"/>
                <a:cs typeface="Aptos" pitchFamily="34" charset="-120"/>
              </a:rPr>
              <a:t>&lt;|transcribe|&gt;</a:t>
            </a:r>
            <a:endParaRPr lang="en-US" sz="850" dirty="0"/>
          </a:p>
        </p:txBody>
      </p:sp>
      <p:sp>
        <p:nvSpPr>
          <p:cNvPr id="9" name="Shape 7"/>
          <p:cNvSpPr/>
          <p:nvPr/>
        </p:nvSpPr>
        <p:spPr>
          <a:xfrm>
            <a:off x="3063240" y="1170432"/>
            <a:ext cx="137160" cy="0"/>
          </a:xfrm>
          <a:prstGeom prst="line">
            <a:avLst/>
          </a:prstGeom>
          <a:noFill/>
          <a:ln w="12700">
            <a:solidFill>
              <a:srgbClr val="AAB7C3"/>
            </a:solidFill>
            <a:prstDash val="solid"/>
            <a:headEnd type="none"/>
            <a:tailEnd type="triangle"/>
          </a:ln>
        </p:spPr>
      </p:sp>
      <p:sp>
        <p:nvSpPr>
          <p:cNvPr id="10" name="Shape 8"/>
          <p:cNvSpPr/>
          <p:nvPr/>
        </p:nvSpPr>
        <p:spPr>
          <a:xfrm>
            <a:off x="3291840" y="1005840"/>
            <a:ext cx="1069848" cy="329184"/>
          </a:xfrm>
          <a:prstGeom prst="roundRect">
            <a:avLst>
              <a:gd name="adj" fmla="val 36111"/>
            </a:avLst>
          </a:prstGeom>
          <a:solidFill>
            <a:srgbClr val="F0B429">
              <a:alpha val="95000"/>
            </a:srgbClr>
          </a:solidFill>
          <a:ln w="12700">
            <a:solidFill>
              <a:srgbClr val="F0B429"/>
            </a:solidFill>
            <a:prstDash val="solid"/>
          </a:ln>
        </p:spPr>
      </p:sp>
      <p:sp>
        <p:nvSpPr>
          <p:cNvPr id="11" name="Text 9"/>
          <p:cNvSpPr/>
          <p:nvPr/>
        </p:nvSpPr>
        <p:spPr>
          <a:xfrm>
            <a:off x="3328416" y="1078992"/>
            <a:ext cx="996696" cy="164592"/>
          </a:xfrm>
          <a:prstGeom prst="rect">
            <a:avLst/>
          </a:prstGeom>
          <a:noFill/>
          <a:ln/>
        </p:spPr>
        <p:txBody>
          <a:bodyPr wrap="square" lIns="0" tIns="0" rIns="0" bIns="0" rtlCol="0" anchor="ctr">
            <a:normAutofit/>
          </a:bodyPr>
          <a:lstStyle/>
          <a:p>
            <a:pPr algn="ctr" indent="0" marL="0">
              <a:buNone/>
            </a:pPr>
            <a:r>
              <a:rPr lang="en-US" sz="850" b="1" dirty="0">
                <a:solidFill>
                  <a:srgbClr val="12212B"/>
                </a:solidFill>
                <a:latin typeface="Aptos" pitchFamily="34" charset="0"/>
                <a:ea typeface="Aptos" pitchFamily="34" charset="-122"/>
                <a:cs typeface="Aptos" pitchFamily="34" charset="-120"/>
              </a:rPr>
              <a:t>tôi</a:t>
            </a:r>
            <a:endParaRPr lang="en-US" sz="850" dirty="0"/>
          </a:p>
        </p:txBody>
      </p:sp>
      <p:sp>
        <p:nvSpPr>
          <p:cNvPr id="12" name="Shape 10"/>
          <p:cNvSpPr/>
          <p:nvPr/>
        </p:nvSpPr>
        <p:spPr>
          <a:xfrm>
            <a:off x="4389120" y="1170432"/>
            <a:ext cx="137160" cy="0"/>
          </a:xfrm>
          <a:prstGeom prst="line">
            <a:avLst/>
          </a:prstGeom>
          <a:noFill/>
          <a:ln w="12700">
            <a:solidFill>
              <a:srgbClr val="AAB7C3"/>
            </a:solidFill>
            <a:prstDash val="solid"/>
            <a:headEnd type="none"/>
            <a:tailEnd type="triangle"/>
          </a:ln>
        </p:spPr>
      </p:sp>
      <p:sp>
        <p:nvSpPr>
          <p:cNvPr id="13" name="Shape 11"/>
          <p:cNvSpPr/>
          <p:nvPr/>
        </p:nvSpPr>
        <p:spPr>
          <a:xfrm>
            <a:off x="4617720" y="1005840"/>
            <a:ext cx="1069848" cy="329184"/>
          </a:xfrm>
          <a:prstGeom prst="roundRect">
            <a:avLst>
              <a:gd name="adj" fmla="val 36111"/>
            </a:avLst>
          </a:prstGeom>
          <a:solidFill>
            <a:srgbClr val="F0B429">
              <a:alpha val="95000"/>
            </a:srgbClr>
          </a:solidFill>
          <a:ln w="12700">
            <a:solidFill>
              <a:srgbClr val="F0B429"/>
            </a:solidFill>
            <a:prstDash val="solid"/>
          </a:ln>
        </p:spPr>
      </p:sp>
      <p:sp>
        <p:nvSpPr>
          <p:cNvPr id="14" name="Text 12"/>
          <p:cNvSpPr/>
          <p:nvPr/>
        </p:nvSpPr>
        <p:spPr>
          <a:xfrm>
            <a:off x="4654296" y="1078992"/>
            <a:ext cx="996696" cy="164592"/>
          </a:xfrm>
          <a:prstGeom prst="rect">
            <a:avLst/>
          </a:prstGeom>
          <a:noFill/>
          <a:ln/>
        </p:spPr>
        <p:txBody>
          <a:bodyPr wrap="square" lIns="0" tIns="0" rIns="0" bIns="0" rtlCol="0" anchor="ctr">
            <a:normAutofit/>
          </a:bodyPr>
          <a:lstStyle/>
          <a:p>
            <a:pPr algn="ctr" indent="0" marL="0">
              <a:buNone/>
            </a:pPr>
            <a:r>
              <a:rPr lang="en-US" sz="850" b="1" dirty="0">
                <a:solidFill>
                  <a:srgbClr val="12212B"/>
                </a:solidFill>
                <a:latin typeface="Aptos" pitchFamily="34" charset="0"/>
                <a:ea typeface="Aptos" pitchFamily="34" charset="-122"/>
                <a:cs typeface="Aptos" pitchFamily="34" charset="-120"/>
              </a:rPr>
              <a:t>muốn</a:t>
            </a:r>
            <a:endParaRPr lang="en-US" sz="850" dirty="0"/>
          </a:p>
        </p:txBody>
      </p:sp>
      <p:sp>
        <p:nvSpPr>
          <p:cNvPr id="15" name="Shape 13"/>
          <p:cNvSpPr/>
          <p:nvPr/>
        </p:nvSpPr>
        <p:spPr>
          <a:xfrm>
            <a:off x="5715000" y="1170432"/>
            <a:ext cx="137160" cy="0"/>
          </a:xfrm>
          <a:prstGeom prst="line">
            <a:avLst/>
          </a:prstGeom>
          <a:noFill/>
          <a:ln w="12700">
            <a:solidFill>
              <a:srgbClr val="AAB7C3"/>
            </a:solidFill>
            <a:prstDash val="solid"/>
            <a:headEnd type="none"/>
            <a:tailEnd type="triangle"/>
          </a:ln>
        </p:spPr>
      </p:sp>
      <p:sp>
        <p:nvSpPr>
          <p:cNvPr id="16" name="Shape 14"/>
          <p:cNvSpPr/>
          <p:nvPr/>
        </p:nvSpPr>
        <p:spPr>
          <a:xfrm>
            <a:off x="5943600" y="1005840"/>
            <a:ext cx="1069848" cy="329184"/>
          </a:xfrm>
          <a:prstGeom prst="roundRect">
            <a:avLst>
              <a:gd name="adj" fmla="val 36111"/>
            </a:avLst>
          </a:prstGeom>
          <a:solidFill>
            <a:srgbClr val="F0B429">
              <a:alpha val="95000"/>
            </a:srgbClr>
          </a:solidFill>
          <a:ln w="12700">
            <a:solidFill>
              <a:srgbClr val="F0B429"/>
            </a:solidFill>
            <a:prstDash val="solid"/>
          </a:ln>
        </p:spPr>
      </p:sp>
      <p:sp>
        <p:nvSpPr>
          <p:cNvPr id="17" name="Text 15"/>
          <p:cNvSpPr/>
          <p:nvPr/>
        </p:nvSpPr>
        <p:spPr>
          <a:xfrm>
            <a:off x="5980176" y="1078992"/>
            <a:ext cx="996696" cy="164592"/>
          </a:xfrm>
          <a:prstGeom prst="rect">
            <a:avLst/>
          </a:prstGeom>
          <a:noFill/>
          <a:ln/>
        </p:spPr>
        <p:txBody>
          <a:bodyPr wrap="square" lIns="0" tIns="0" rIns="0" bIns="0" rtlCol="0" anchor="ctr">
            <a:normAutofit/>
          </a:bodyPr>
          <a:lstStyle/>
          <a:p>
            <a:pPr algn="ctr" indent="0" marL="0">
              <a:buNone/>
            </a:pPr>
            <a:r>
              <a:rPr lang="en-US" sz="850" b="1" dirty="0">
                <a:solidFill>
                  <a:srgbClr val="12212B"/>
                </a:solidFill>
                <a:latin typeface="Aptos" pitchFamily="34" charset="0"/>
                <a:ea typeface="Aptos" pitchFamily="34" charset="-122"/>
                <a:cs typeface="Aptos" pitchFamily="34" charset="-120"/>
              </a:rPr>
              <a:t>kiểm</a:t>
            </a:r>
            <a:endParaRPr lang="en-US" sz="850" dirty="0"/>
          </a:p>
        </p:txBody>
      </p:sp>
      <p:sp>
        <p:nvSpPr>
          <p:cNvPr id="18" name="Shape 16"/>
          <p:cNvSpPr/>
          <p:nvPr/>
        </p:nvSpPr>
        <p:spPr>
          <a:xfrm>
            <a:off x="7040880" y="1170432"/>
            <a:ext cx="137160" cy="0"/>
          </a:xfrm>
          <a:prstGeom prst="line">
            <a:avLst/>
          </a:prstGeom>
          <a:noFill/>
          <a:ln w="12700">
            <a:solidFill>
              <a:srgbClr val="AAB7C3"/>
            </a:solidFill>
            <a:prstDash val="solid"/>
            <a:headEnd type="none"/>
            <a:tailEnd type="triangle"/>
          </a:ln>
        </p:spPr>
      </p:sp>
      <p:sp>
        <p:nvSpPr>
          <p:cNvPr id="19" name="Shape 17"/>
          <p:cNvSpPr/>
          <p:nvPr/>
        </p:nvSpPr>
        <p:spPr>
          <a:xfrm>
            <a:off x="7269480" y="1005840"/>
            <a:ext cx="1069848" cy="329184"/>
          </a:xfrm>
          <a:prstGeom prst="roundRect">
            <a:avLst>
              <a:gd name="adj" fmla="val 36111"/>
            </a:avLst>
          </a:prstGeom>
          <a:solidFill>
            <a:srgbClr val="F0B429">
              <a:alpha val="95000"/>
            </a:srgbClr>
          </a:solidFill>
          <a:ln w="12700">
            <a:solidFill>
              <a:srgbClr val="F0B429"/>
            </a:solidFill>
            <a:prstDash val="solid"/>
          </a:ln>
        </p:spPr>
      </p:sp>
      <p:sp>
        <p:nvSpPr>
          <p:cNvPr id="20" name="Text 18"/>
          <p:cNvSpPr/>
          <p:nvPr/>
        </p:nvSpPr>
        <p:spPr>
          <a:xfrm>
            <a:off x="7306056" y="1078992"/>
            <a:ext cx="996696" cy="164592"/>
          </a:xfrm>
          <a:prstGeom prst="rect">
            <a:avLst/>
          </a:prstGeom>
          <a:noFill/>
          <a:ln/>
        </p:spPr>
        <p:txBody>
          <a:bodyPr wrap="square" lIns="0" tIns="0" rIns="0" bIns="0" rtlCol="0" anchor="ctr">
            <a:normAutofit/>
          </a:bodyPr>
          <a:lstStyle/>
          <a:p>
            <a:pPr algn="ctr" indent="0" marL="0">
              <a:buNone/>
            </a:pPr>
            <a:r>
              <a:rPr lang="en-US" sz="850" b="1" dirty="0">
                <a:solidFill>
                  <a:srgbClr val="12212B"/>
                </a:solidFill>
                <a:latin typeface="Aptos" pitchFamily="34" charset="0"/>
                <a:ea typeface="Aptos" pitchFamily="34" charset="-122"/>
                <a:cs typeface="Aptos" pitchFamily="34" charset="-120"/>
              </a:rPr>
              <a:t>tra</a:t>
            </a:r>
            <a:endParaRPr lang="en-US" sz="850" dirty="0"/>
          </a:p>
        </p:txBody>
      </p:sp>
      <p:sp>
        <p:nvSpPr>
          <p:cNvPr id="21" name="Shape 19"/>
          <p:cNvSpPr/>
          <p:nvPr/>
        </p:nvSpPr>
        <p:spPr>
          <a:xfrm>
            <a:off x="8366760" y="1170432"/>
            <a:ext cx="137160" cy="0"/>
          </a:xfrm>
          <a:prstGeom prst="line">
            <a:avLst/>
          </a:prstGeom>
          <a:noFill/>
          <a:ln w="12700">
            <a:solidFill>
              <a:srgbClr val="AAB7C3"/>
            </a:solidFill>
            <a:prstDash val="solid"/>
            <a:headEnd type="none"/>
            <a:tailEnd type="triangle"/>
          </a:ln>
        </p:spPr>
      </p:sp>
      <p:sp>
        <p:nvSpPr>
          <p:cNvPr id="22" name="Shape 20"/>
          <p:cNvSpPr/>
          <p:nvPr/>
        </p:nvSpPr>
        <p:spPr>
          <a:xfrm>
            <a:off x="8595360" y="1005840"/>
            <a:ext cx="1069848" cy="329184"/>
          </a:xfrm>
          <a:prstGeom prst="roundRect">
            <a:avLst>
              <a:gd name="adj" fmla="val 36111"/>
            </a:avLst>
          </a:prstGeom>
          <a:solidFill>
            <a:srgbClr val="F0B429">
              <a:alpha val="95000"/>
            </a:srgbClr>
          </a:solidFill>
          <a:ln w="12700">
            <a:solidFill>
              <a:srgbClr val="F0B429"/>
            </a:solidFill>
            <a:prstDash val="solid"/>
          </a:ln>
        </p:spPr>
      </p:sp>
      <p:sp>
        <p:nvSpPr>
          <p:cNvPr id="23" name="Text 21"/>
          <p:cNvSpPr/>
          <p:nvPr/>
        </p:nvSpPr>
        <p:spPr>
          <a:xfrm>
            <a:off x="8631936" y="1078992"/>
            <a:ext cx="996696" cy="164592"/>
          </a:xfrm>
          <a:prstGeom prst="rect">
            <a:avLst/>
          </a:prstGeom>
          <a:noFill/>
          <a:ln/>
        </p:spPr>
        <p:txBody>
          <a:bodyPr wrap="square" lIns="0" tIns="0" rIns="0" bIns="0" rtlCol="0" anchor="ctr">
            <a:normAutofit/>
          </a:bodyPr>
          <a:lstStyle/>
          <a:p>
            <a:pPr algn="ctr" indent="0" marL="0">
              <a:buNone/>
            </a:pPr>
            <a:r>
              <a:rPr lang="en-US" sz="850" b="1" dirty="0">
                <a:solidFill>
                  <a:srgbClr val="12212B"/>
                </a:solidFill>
                <a:latin typeface="Aptos" pitchFamily="34" charset="0"/>
                <a:ea typeface="Aptos" pitchFamily="34" charset="-122"/>
                <a:cs typeface="Aptos" pitchFamily="34" charset="-120"/>
              </a:rPr>
              <a:t>hợp</a:t>
            </a:r>
            <a:endParaRPr lang="en-US" sz="850" dirty="0"/>
          </a:p>
        </p:txBody>
      </p:sp>
      <p:sp>
        <p:nvSpPr>
          <p:cNvPr id="24" name="Shape 22"/>
          <p:cNvSpPr/>
          <p:nvPr/>
        </p:nvSpPr>
        <p:spPr>
          <a:xfrm>
            <a:off x="9692640" y="1170432"/>
            <a:ext cx="137160" cy="0"/>
          </a:xfrm>
          <a:prstGeom prst="line">
            <a:avLst/>
          </a:prstGeom>
          <a:noFill/>
          <a:ln w="12700">
            <a:solidFill>
              <a:srgbClr val="AAB7C3"/>
            </a:solidFill>
            <a:prstDash val="solid"/>
            <a:headEnd type="none"/>
            <a:tailEnd type="triangle"/>
          </a:ln>
        </p:spPr>
      </p:sp>
      <p:sp>
        <p:nvSpPr>
          <p:cNvPr id="25" name="Shape 23"/>
          <p:cNvSpPr/>
          <p:nvPr/>
        </p:nvSpPr>
        <p:spPr>
          <a:xfrm>
            <a:off x="9921240" y="1005840"/>
            <a:ext cx="1069848" cy="329184"/>
          </a:xfrm>
          <a:prstGeom prst="roundRect">
            <a:avLst>
              <a:gd name="adj" fmla="val 36111"/>
            </a:avLst>
          </a:prstGeom>
          <a:solidFill>
            <a:srgbClr val="F0B429">
              <a:alpha val="95000"/>
            </a:srgbClr>
          </a:solidFill>
          <a:ln w="12700">
            <a:solidFill>
              <a:srgbClr val="F0B429"/>
            </a:solidFill>
            <a:prstDash val="solid"/>
          </a:ln>
        </p:spPr>
      </p:sp>
      <p:sp>
        <p:nvSpPr>
          <p:cNvPr id="26" name="Text 24"/>
          <p:cNvSpPr/>
          <p:nvPr/>
        </p:nvSpPr>
        <p:spPr>
          <a:xfrm>
            <a:off x="9957816" y="1078992"/>
            <a:ext cx="996696" cy="164592"/>
          </a:xfrm>
          <a:prstGeom prst="rect">
            <a:avLst/>
          </a:prstGeom>
          <a:noFill/>
          <a:ln/>
        </p:spPr>
        <p:txBody>
          <a:bodyPr wrap="square" lIns="0" tIns="0" rIns="0" bIns="0" rtlCol="0" anchor="ctr">
            <a:normAutofit/>
          </a:bodyPr>
          <a:lstStyle/>
          <a:p>
            <a:pPr algn="ctr" indent="0" marL="0">
              <a:buNone/>
            </a:pPr>
            <a:r>
              <a:rPr lang="en-US" sz="850" b="1" dirty="0">
                <a:solidFill>
                  <a:srgbClr val="12212B"/>
                </a:solidFill>
                <a:latin typeface="Aptos" pitchFamily="34" charset="0"/>
                <a:ea typeface="Aptos" pitchFamily="34" charset="-122"/>
                <a:cs typeface="Aptos" pitchFamily="34" charset="-120"/>
              </a:rPr>
              <a:t>đồng</a:t>
            </a:r>
            <a:endParaRPr lang="en-US" sz="850" dirty="0"/>
          </a:p>
        </p:txBody>
      </p:sp>
      <p:sp>
        <p:nvSpPr>
          <p:cNvPr id="27" name="Shape 25"/>
          <p:cNvSpPr/>
          <p:nvPr/>
        </p:nvSpPr>
        <p:spPr>
          <a:xfrm>
            <a:off x="1005840" y="2514600"/>
            <a:ext cx="914400" cy="457200"/>
          </a:xfrm>
          <a:prstGeom prst="roundRect">
            <a:avLst>
              <a:gd name="adj" fmla="val 24000"/>
            </a:avLst>
          </a:prstGeom>
          <a:solidFill>
            <a:srgbClr val="FFFFFF"/>
          </a:solidFill>
          <a:ln w="12700">
            <a:solidFill>
              <a:srgbClr val="175D7C"/>
            </a:solidFill>
            <a:prstDash val="solid"/>
          </a:ln>
        </p:spPr>
      </p:sp>
      <p:sp>
        <p:nvSpPr>
          <p:cNvPr id="28" name="Text 26"/>
          <p:cNvSpPr/>
          <p:nvPr/>
        </p:nvSpPr>
        <p:spPr>
          <a:xfrm>
            <a:off x="1069848" y="2560320"/>
            <a:ext cx="786384" cy="365760"/>
          </a:xfrm>
          <a:prstGeom prst="rect">
            <a:avLst/>
          </a:prstGeom>
          <a:noFill/>
          <a:ln/>
        </p:spPr>
        <p:txBody>
          <a:bodyPr wrap="square" lIns="762" tIns="762" rIns="762" bIns="762" rtlCol="0" anchor="ctr">
            <a:normAutofit/>
          </a:bodyPr>
          <a:lstStyle/>
          <a:p>
            <a:pPr algn="ctr" indent="0" marL="0">
              <a:buNone/>
            </a:pPr>
            <a:r>
              <a:rPr lang="en-US" sz="1400" b="1" dirty="0">
                <a:solidFill>
                  <a:srgbClr val="175D7C"/>
                </a:solidFill>
                <a:latin typeface="Aptos" pitchFamily="34" charset="0"/>
                <a:ea typeface="Aptos" pitchFamily="34" charset="-122"/>
                <a:cs typeface="Aptos" pitchFamily="34" charset="-120"/>
              </a:rPr>
              <a:t>Bước k</a:t>
            </a:r>
            <a:endParaRPr lang="en-US" sz="1400" dirty="0"/>
          </a:p>
        </p:txBody>
      </p:sp>
      <p:sp>
        <p:nvSpPr>
          <p:cNvPr id="29" name="Shape 27"/>
          <p:cNvSpPr/>
          <p:nvPr/>
        </p:nvSpPr>
        <p:spPr>
          <a:xfrm>
            <a:off x="2057400" y="2743200"/>
            <a:ext cx="502920" cy="0"/>
          </a:xfrm>
          <a:prstGeom prst="line">
            <a:avLst/>
          </a:prstGeom>
          <a:noFill/>
          <a:ln w="12700">
            <a:solidFill>
              <a:srgbClr val="AAB7C3"/>
            </a:solidFill>
            <a:prstDash val="solid"/>
            <a:headEnd type="none"/>
            <a:tailEnd type="triangle"/>
          </a:ln>
        </p:spPr>
      </p:sp>
      <p:sp>
        <p:nvSpPr>
          <p:cNvPr id="30" name="Shape 28"/>
          <p:cNvSpPr/>
          <p:nvPr/>
        </p:nvSpPr>
        <p:spPr>
          <a:xfrm>
            <a:off x="2697480" y="2331720"/>
            <a:ext cx="1828800" cy="822960"/>
          </a:xfrm>
          <a:prstGeom prst="roundRect">
            <a:avLst>
              <a:gd name="adj" fmla="val 13333"/>
            </a:avLst>
          </a:prstGeom>
          <a:solidFill>
            <a:srgbClr val="FFFFFF"/>
          </a:solidFill>
          <a:ln w="12700">
            <a:solidFill>
              <a:srgbClr val="6D5BD0"/>
            </a:solidFill>
            <a:prstDash val="solid"/>
          </a:ln>
        </p:spPr>
      </p:sp>
      <p:sp>
        <p:nvSpPr>
          <p:cNvPr id="31" name="Text 29"/>
          <p:cNvSpPr/>
          <p:nvPr/>
        </p:nvSpPr>
        <p:spPr>
          <a:xfrm>
            <a:off x="2761488" y="2377440"/>
            <a:ext cx="1700784" cy="731520"/>
          </a:xfrm>
          <a:prstGeom prst="rect">
            <a:avLst/>
          </a:prstGeom>
          <a:noFill/>
          <a:ln/>
        </p:spPr>
        <p:txBody>
          <a:bodyPr wrap="square" lIns="762" tIns="762" rIns="762" bIns="762" rtlCol="0" anchor="ctr">
            <a:normAutofit/>
          </a:bodyPr>
          <a:lstStyle/>
          <a:p>
            <a:pPr algn="ctr" indent="0" marL="0">
              <a:buNone/>
            </a:pPr>
            <a:r>
              <a:rPr lang="en-US" sz="1300" b="1" dirty="0">
                <a:solidFill>
                  <a:srgbClr val="6D5BD0"/>
                </a:solidFill>
                <a:latin typeface="Aptos" pitchFamily="34" charset="0"/>
                <a:ea typeface="Aptos" pitchFamily="34" charset="-122"/>
                <a:cs typeface="Aptos" pitchFamily="34" charset="-120"/>
              </a:rPr>
              <a:t>Decoder nhận</a:t>
            </a:r>
            <a:endParaRPr lang="en-US" sz="1300" dirty="0"/>
          </a:p>
          <a:p>
            <a:pPr algn="ctr" indent="0" marL="0">
              <a:buNone/>
            </a:pPr>
            <a:r>
              <a:rPr lang="en-US" sz="1300" b="1" dirty="0">
                <a:solidFill>
                  <a:srgbClr val="6D5BD0"/>
                </a:solidFill>
                <a:latin typeface="Aptos" pitchFamily="34" charset="0"/>
                <a:ea typeface="Aptos" pitchFamily="34" charset="-122"/>
                <a:cs typeface="Aptos" pitchFamily="34" charset="-120"/>
              </a:rPr>
              <a:t>token trước + audio</a:t>
            </a:r>
            <a:endParaRPr lang="en-US" sz="1300" dirty="0"/>
          </a:p>
        </p:txBody>
      </p:sp>
      <p:sp>
        <p:nvSpPr>
          <p:cNvPr id="32" name="Shape 30"/>
          <p:cNvSpPr/>
          <p:nvPr/>
        </p:nvSpPr>
        <p:spPr>
          <a:xfrm>
            <a:off x="4663440" y="2743200"/>
            <a:ext cx="502920" cy="0"/>
          </a:xfrm>
          <a:prstGeom prst="line">
            <a:avLst/>
          </a:prstGeom>
          <a:noFill/>
          <a:ln w="12700">
            <a:solidFill>
              <a:srgbClr val="AAB7C3"/>
            </a:solidFill>
            <a:prstDash val="solid"/>
            <a:headEnd type="none"/>
            <a:tailEnd type="triangle"/>
          </a:ln>
        </p:spPr>
      </p:sp>
      <p:sp>
        <p:nvSpPr>
          <p:cNvPr id="33" name="Shape 31"/>
          <p:cNvSpPr/>
          <p:nvPr/>
        </p:nvSpPr>
        <p:spPr>
          <a:xfrm>
            <a:off x="5303520" y="2331720"/>
            <a:ext cx="1508760" cy="822960"/>
          </a:xfrm>
          <a:prstGeom prst="roundRect">
            <a:avLst>
              <a:gd name="adj" fmla="val 13333"/>
            </a:avLst>
          </a:prstGeom>
          <a:solidFill>
            <a:srgbClr val="FFFFFF"/>
          </a:solidFill>
          <a:ln w="12700">
            <a:solidFill>
              <a:srgbClr val="E26D5A"/>
            </a:solidFill>
            <a:prstDash val="solid"/>
          </a:ln>
        </p:spPr>
      </p:sp>
      <p:sp>
        <p:nvSpPr>
          <p:cNvPr id="34" name="Text 32"/>
          <p:cNvSpPr/>
          <p:nvPr/>
        </p:nvSpPr>
        <p:spPr>
          <a:xfrm>
            <a:off x="5367528" y="2377440"/>
            <a:ext cx="1380744" cy="731520"/>
          </a:xfrm>
          <a:prstGeom prst="rect">
            <a:avLst/>
          </a:prstGeom>
          <a:noFill/>
          <a:ln/>
        </p:spPr>
        <p:txBody>
          <a:bodyPr wrap="square" lIns="762" tIns="762" rIns="762" bIns="762" rtlCol="0" anchor="ctr">
            <a:normAutofit/>
          </a:bodyPr>
          <a:lstStyle/>
          <a:p>
            <a:pPr algn="ctr" indent="0" marL="0">
              <a:buNone/>
            </a:pPr>
            <a:r>
              <a:rPr lang="en-US" sz="1300" b="1" dirty="0">
                <a:solidFill>
                  <a:srgbClr val="E26D5A"/>
                </a:solidFill>
                <a:latin typeface="Aptos" pitchFamily="34" charset="0"/>
                <a:ea typeface="Aptos" pitchFamily="34" charset="-122"/>
                <a:cs typeface="Aptos" pitchFamily="34" charset="-120"/>
              </a:rPr>
              <a:t>Logits giả lập</a:t>
            </a:r>
            <a:endParaRPr lang="en-US" sz="1300" dirty="0"/>
          </a:p>
          <a:p>
            <a:pPr algn="ctr" indent="0" marL="0">
              <a:buNone/>
            </a:pPr>
            <a:r>
              <a:rPr lang="en-US" sz="1300" b="1" dirty="0">
                <a:solidFill>
                  <a:srgbClr val="E26D5A"/>
                </a:solidFill>
                <a:latin typeface="Aptos" pitchFamily="34" charset="0"/>
                <a:ea typeface="Aptos" pitchFamily="34" charset="-122"/>
                <a:cs typeface="Aptos" pitchFamily="34" charset="-120"/>
              </a:rPr>
              <a:t>cho vocab</a:t>
            </a:r>
            <a:endParaRPr lang="en-US" sz="1300" dirty="0"/>
          </a:p>
        </p:txBody>
      </p:sp>
      <p:sp>
        <p:nvSpPr>
          <p:cNvPr id="35" name="Shape 33"/>
          <p:cNvSpPr/>
          <p:nvPr/>
        </p:nvSpPr>
        <p:spPr>
          <a:xfrm>
            <a:off x="6967728" y="2743200"/>
            <a:ext cx="502920" cy="0"/>
          </a:xfrm>
          <a:prstGeom prst="line">
            <a:avLst/>
          </a:prstGeom>
          <a:noFill/>
          <a:ln w="12700">
            <a:solidFill>
              <a:srgbClr val="AAB7C3"/>
            </a:solidFill>
            <a:prstDash val="solid"/>
            <a:headEnd type="none"/>
            <a:tailEnd type="triangle"/>
          </a:ln>
        </p:spPr>
      </p:sp>
      <p:sp>
        <p:nvSpPr>
          <p:cNvPr id="36" name="Shape 34"/>
          <p:cNvSpPr/>
          <p:nvPr/>
        </p:nvSpPr>
        <p:spPr>
          <a:xfrm>
            <a:off x="7607808" y="2331720"/>
            <a:ext cx="1600200" cy="822960"/>
          </a:xfrm>
          <a:prstGeom prst="roundRect">
            <a:avLst>
              <a:gd name="adj" fmla="val 13333"/>
            </a:avLst>
          </a:prstGeom>
          <a:solidFill>
            <a:srgbClr val="FFFFFF"/>
          </a:solidFill>
          <a:ln w="12700">
            <a:solidFill>
              <a:srgbClr val="2A67B1"/>
            </a:solidFill>
            <a:prstDash val="solid"/>
          </a:ln>
        </p:spPr>
      </p:sp>
      <p:sp>
        <p:nvSpPr>
          <p:cNvPr id="37" name="Text 35"/>
          <p:cNvSpPr/>
          <p:nvPr/>
        </p:nvSpPr>
        <p:spPr>
          <a:xfrm>
            <a:off x="7671816" y="2377440"/>
            <a:ext cx="1472184" cy="731520"/>
          </a:xfrm>
          <a:prstGeom prst="rect">
            <a:avLst/>
          </a:prstGeom>
          <a:noFill/>
          <a:ln/>
        </p:spPr>
        <p:txBody>
          <a:bodyPr wrap="square" lIns="762" tIns="762" rIns="762" bIns="762" rtlCol="0" anchor="ctr">
            <a:normAutofit/>
          </a:bodyPr>
          <a:lstStyle/>
          <a:p>
            <a:pPr algn="ctr" indent="0" marL="0">
              <a:buNone/>
            </a:pPr>
            <a:r>
              <a:rPr lang="en-US" sz="1300" b="1" dirty="0">
                <a:solidFill>
                  <a:srgbClr val="2A67B1"/>
                </a:solidFill>
                <a:latin typeface="Aptos" pitchFamily="34" charset="0"/>
                <a:ea typeface="Aptos" pitchFamily="34" charset="-122"/>
                <a:cs typeface="Aptos" pitchFamily="34" charset="-120"/>
              </a:rPr>
              <a:t>Chọn token</a:t>
            </a:r>
            <a:endParaRPr lang="en-US" sz="1300" dirty="0"/>
          </a:p>
          <a:p>
            <a:pPr algn="ctr" indent="0" marL="0">
              <a:buNone/>
            </a:pPr>
            <a:r>
              <a:rPr lang="en-US" sz="1300" b="1" dirty="0">
                <a:solidFill>
                  <a:srgbClr val="2A67B1"/>
                </a:solidFill>
                <a:latin typeface="Aptos" pitchFamily="34" charset="0"/>
                <a:ea typeface="Aptos" pitchFamily="34" charset="-122"/>
                <a:cs typeface="Aptos" pitchFamily="34" charset="-120"/>
              </a:rPr>
              <a:t>argmax/beam</a:t>
            </a:r>
            <a:endParaRPr lang="en-US" sz="1300" dirty="0"/>
          </a:p>
        </p:txBody>
      </p:sp>
      <p:sp>
        <p:nvSpPr>
          <p:cNvPr id="38" name="Shape 36"/>
          <p:cNvSpPr/>
          <p:nvPr/>
        </p:nvSpPr>
        <p:spPr>
          <a:xfrm>
            <a:off x="9345168" y="2743200"/>
            <a:ext cx="502920" cy="0"/>
          </a:xfrm>
          <a:prstGeom prst="line">
            <a:avLst/>
          </a:prstGeom>
          <a:noFill/>
          <a:ln w="12700">
            <a:solidFill>
              <a:srgbClr val="AAB7C3"/>
            </a:solidFill>
            <a:prstDash val="solid"/>
            <a:headEnd type="none"/>
            <a:tailEnd type="triangle"/>
          </a:ln>
        </p:spPr>
      </p:sp>
      <p:sp>
        <p:nvSpPr>
          <p:cNvPr id="39" name="Shape 37"/>
          <p:cNvSpPr/>
          <p:nvPr/>
        </p:nvSpPr>
        <p:spPr>
          <a:xfrm>
            <a:off x="9985248" y="2331720"/>
            <a:ext cx="1508760" cy="822960"/>
          </a:xfrm>
          <a:prstGeom prst="roundRect">
            <a:avLst>
              <a:gd name="adj" fmla="val 13333"/>
            </a:avLst>
          </a:prstGeom>
          <a:solidFill>
            <a:srgbClr val="FFFFFF"/>
          </a:solidFill>
          <a:ln w="12700">
            <a:solidFill>
              <a:srgbClr val="2F9E74"/>
            </a:solidFill>
            <a:prstDash val="solid"/>
          </a:ln>
        </p:spPr>
      </p:sp>
      <p:sp>
        <p:nvSpPr>
          <p:cNvPr id="40" name="Text 38"/>
          <p:cNvSpPr/>
          <p:nvPr/>
        </p:nvSpPr>
        <p:spPr>
          <a:xfrm>
            <a:off x="10049256" y="2377440"/>
            <a:ext cx="1380744" cy="731520"/>
          </a:xfrm>
          <a:prstGeom prst="rect">
            <a:avLst/>
          </a:prstGeom>
          <a:noFill/>
          <a:ln/>
        </p:spPr>
        <p:txBody>
          <a:bodyPr wrap="square" lIns="762" tIns="762" rIns="762" bIns="762" rtlCol="0" anchor="ctr">
            <a:normAutofit/>
          </a:bodyPr>
          <a:lstStyle/>
          <a:p>
            <a:pPr algn="ctr" indent="0" marL="0">
              <a:buNone/>
            </a:pPr>
            <a:r>
              <a:rPr lang="en-US" sz="1300" b="1" dirty="0">
                <a:solidFill>
                  <a:srgbClr val="2F9E74"/>
                </a:solidFill>
                <a:latin typeface="Aptos" pitchFamily="34" charset="0"/>
                <a:ea typeface="Aptos" pitchFamily="34" charset="-122"/>
                <a:cs typeface="Aptos" pitchFamily="34" charset="-120"/>
              </a:rPr>
              <a:t>Gắn vào chuỗi</a:t>
            </a:r>
            <a:endParaRPr lang="en-US" sz="1300" dirty="0"/>
          </a:p>
          <a:p>
            <a:pPr algn="ctr" indent="0" marL="0">
              <a:buNone/>
            </a:pPr>
            <a:r>
              <a:rPr lang="en-US" sz="1300" b="1" dirty="0">
                <a:solidFill>
                  <a:srgbClr val="2F9E74"/>
                </a:solidFill>
                <a:latin typeface="Aptos" pitchFamily="34" charset="0"/>
                <a:ea typeface="Aptos" pitchFamily="34" charset="-122"/>
                <a:cs typeface="Aptos" pitchFamily="34" charset="-120"/>
              </a:rPr>
              <a:t>rồi lặp lại</a:t>
            </a:r>
            <a:endParaRPr lang="en-US" sz="1300" dirty="0"/>
          </a:p>
        </p:txBody>
      </p:sp>
      <p:sp>
        <p:nvSpPr>
          <p:cNvPr id="41" name="Text 39"/>
          <p:cNvSpPr/>
          <p:nvPr/>
        </p:nvSpPr>
        <p:spPr>
          <a:xfrm>
            <a:off x="1097280" y="4297680"/>
            <a:ext cx="9692640" cy="914400"/>
          </a:xfrm>
          <a:prstGeom prst="rect">
            <a:avLst/>
          </a:prstGeom>
          <a:noFill/>
          <a:ln/>
        </p:spPr>
        <p:txBody>
          <a:bodyPr wrap="square" lIns="1016" tIns="1016" rIns="1016" bIns="1016" rtlCol="0" anchor="ctr">
            <a:normAutofit/>
          </a:bodyPr>
          <a:lstStyle/>
          <a:p>
            <a:r>
              <a:rPr lang="en-US" sz="1320" dirty="0">
                <a:solidFill>
                  <a:srgbClr val="12212B"/>
                </a:solidFill>
                <a:latin typeface="Aptos" pitchFamily="34" charset="0"/>
                <a:ea typeface="Aptos" pitchFamily="34" charset="-122"/>
                <a:cs typeface="Aptos" pitchFamily="34" charset="-120"/>
              </a:rPr>
              <a:t>Greedy: mỗi bước chọn token có xác suất cao nhất.</a:t>
            </a:r>
            <a:endParaRPr lang="en-US" sz="1320" dirty="0"/>
          </a:p>
          <a:p>
            <a:r>
              <a:rPr lang="en-US" sz="1320" dirty="0">
                <a:solidFill>
                  <a:srgbClr val="12212B"/>
                </a:solidFill>
                <a:latin typeface="Aptos" pitchFamily="34" charset="0"/>
                <a:ea typeface="Aptos" pitchFamily="34" charset="-122"/>
                <a:cs typeface="Aptos" pitchFamily="34" charset="-120"/>
              </a:rPr>
              <a:t>Beam search: giữ nhiều đường ứng viên rồi chọn chuỗi tốt hơn.</a:t>
            </a:r>
            <a:endParaRPr lang="en-US" sz="1320" dirty="0"/>
          </a:p>
          <a:p>
            <a:r>
              <a:rPr lang="en-US" sz="1320" dirty="0">
                <a:solidFill>
                  <a:srgbClr val="12212B"/>
                </a:solidFill>
                <a:latin typeface="Aptos" pitchFamily="34" charset="0"/>
                <a:ea typeface="Aptos" pitchFamily="34" charset="-122"/>
                <a:cs typeface="Aptos" pitchFamily="34" charset="-120"/>
              </a:rPr>
              <a:t>Temperature/logit filters có thể ảnh hưởng độ ổn định và hallucination.</a:t>
            </a:r>
            <a:endParaRPr lang="en-US" sz="1320" dirty="0"/>
          </a:p>
        </p:txBody>
      </p:sp>
      <p:sp>
        <p:nvSpPr>
          <p:cNvPr id="42" name="Shape 40"/>
          <p:cNvSpPr/>
          <p:nvPr/>
        </p:nvSpPr>
        <p:spPr>
          <a:xfrm>
            <a:off x="438912" y="6199632"/>
            <a:ext cx="2377440" cy="310896"/>
          </a:xfrm>
          <a:prstGeom prst="roundRect">
            <a:avLst>
              <a:gd name="adj" fmla="val 44118"/>
            </a:avLst>
          </a:prstGeom>
          <a:solidFill>
            <a:srgbClr val="E8F2F6"/>
          </a:solidFill>
          <a:ln w="12700">
            <a:solidFill>
              <a:srgbClr val="E8F2F6"/>
            </a:solidFill>
            <a:prstDash val="solid"/>
          </a:ln>
        </p:spPr>
      </p:sp>
      <p:sp>
        <p:nvSpPr>
          <p:cNvPr id="43" name="Text 41"/>
          <p:cNvSpPr/>
          <p:nvPr/>
        </p:nvSpPr>
        <p:spPr>
          <a:xfrm>
            <a:off x="512064" y="6259068"/>
            <a:ext cx="2231136" cy="201168"/>
          </a:xfrm>
          <a:prstGeom prst="rect">
            <a:avLst/>
          </a:prstGeom>
          <a:noFill/>
          <a:ln/>
        </p:spPr>
        <p:txBody>
          <a:bodyPr wrap="square" lIns="0" tIns="0" rIns="0" bIns="0" rtlCol="0" anchor="ctr">
            <a:normAutofit/>
          </a:bodyPr>
          <a:lstStyle/>
          <a:p>
            <a:pPr algn="ctr" indent="0" marL="0">
              <a:buNone/>
            </a:pPr>
            <a:r>
              <a:rPr lang="en-US" sz="950" b="1" dirty="0">
                <a:solidFill>
                  <a:srgbClr val="175D7C"/>
                </a:solidFill>
                <a:latin typeface="Aptos" pitchFamily="34" charset="0"/>
                <a:ea typeface="Aptos" pitchFamily="34" charset="-122"/>
                <a:cs typeface="Aptos" pitchFamily="34" charset="-120"/>
              </a:rPr>
              <a:t>Decoding</a:t>
            </a:r>
            <a:endParaRPr lang="en-US" sz="950" dirty="0"/>
          </a:p>
        </p:txBody>
      </p:sp>
      <p:sp>
        <p:nvSpPr>
          <p:cNvPr id="25" name="Slide Number Placeholder 0"/>
          <p:cNvSpPr>
            <a:spLocks noGrp="1"/>
          </p:cNvSpPr>
          <p:nvPr>
            <p:ph type="sldNum" sz="quarter" idx="4294967295"/>
          </p:nvPr>
        </p:nvSpPr>
        <p:spPr>
          <a:xfrm>
            <a:off x="11841480" y="6519672"/>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7C8794"/>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420624" y="256032"/>
            <a:ext cx="9875520" cy="384048"/>
          </a:xfrm>
          <a:prstGeom prst="rect">
            <a:avLst/>
          </a:prstGeom>
          <a:noFill/>
          <a:ln/>
        </p:spPr>
        <p:txBody>
          <a:bodyPr wrap="square" lIns="0" tIns="0" rIns="0" bIns="0" rtlCol="0" anchor="ctr"/>
          <a:lstStyle/>
          <a:p>
            <a:pPr indent="0" marL="0">
              <a:buNone/>
            </a:pPr>
            <a:r>
              <a:rPr lang="en-US" sz="2500" b="1" dirty="0">
                <a:solidFill>
                  <a:srgbClr val="12212B"/>
                </a:solidFill>
                <a:latin typeface="Aptos Display" pitchFamily="34" charset="0"/>
                <a:ea typeface="Aptos Display" pitchFamily="34" charset="-122"/>
                <a:cs typeface="Aptos Display" pitchFamily="34" charset="-120"/>
              </a:rPr>
              <a:t>Pretraining, fine-tuning, inference khác nhau ra sao?</a:t>
            </a:r>
            <a:endParaRPr lang="en-US" sz="2500" dirty="0"/>
          </a:p>
        </p:txBody>
      </p:sp>
      <p:sp>
        <p:nvSpPr>
          <p:cNvPr id="3" name="Text 1"/>
          <p:cNvSpPr/>
          <p:nvPr/>
        </p:nvSpPr>
        <p:spPr>
          <a:xfrm>
            <a:off x="438912" y="694944"/>
            <a:ext cx="9875520" cy="256032"/>
          </a:xfrm>
          <a:prstGeom prst="rect">
            <a:avLst/>
          </a:prstGeom>
          <a:noFill/>
          <a:ln/>
        </p:spPr>
        <p:txBody>
          <a:bodyPr wrap="square" lIns="0" tIns="0" rIns="0" bIns="0" rtlCol="0" anchor="ctr"/>
          <a:lstStyle/>
          <a:p>
            <a:pPr indent="0" marL="0">
              <a:buNone/>
            </a:pPr>
            <a:r>
              <a:rPr lang="en-US" sz="1050" dirty="0">
                <a:solidFill>
                  <a:srgbClr val="516271"/>
                </a:solidFill>
              </a:rPr>
              <a:t>Cùng kiến trúc, nhưng mục tiêu và dữ liệu khác nhau</a:t>
            </a:r>
            <a:endParaRPr lang="en-US" sz="1050" dirty="0"/>
          </a:p>
        </p:txBody>
      </p:sp>
      <p:sp>
        <p:nvSpPr>
          <p:cNvPr id="4" name="Shape 2"/>
          <p:cNvSpPr/>
          <p:nvPr/>
        </p:nvSpPr>
        <p:spPr>
          <a:xfrm>
            <a:off x="868680" y="1143000"/>
            <a:ext cx="2606040" cy="502920"/>
          </a:xfrm>
          <a:prstGeom prst="roundRect">
            <a:avLst>
              <a:gd name="adj" fmla="val 21818"/>
            </a:avLst>
          </a:prstGeom>
          <a:solidFill>
            <a:srgbClr val="FFFFFF"/>
          </a:solidFill>
          <a:ln w="12700">
            <a:solidFill>
              <a:srgbClr val="2A67B1"/>
            </a:solidFill>
            <a:prstDash val="solid"/>
          </a:ln>
        </p:spPr>
      </p:sp>
      <p:sp>
        <p:nvSpPr>
          <p:cNvPr id="5" name="Text 3"/>
          <p:cNvSpPr/>
          <p:nvPr/>
        </p:nvSpPr>
        <p:spPr>
          <a:xfrm>
            <a:off x="932688" y="1188720"/>
            <a:ext cx="2478024" cy="411480"/>
          </a:xfrm>
          <a:prstGeom prst="rect">
            <a:avLst/>
          </a:prstGeom>
          <a:noFill/>
          <a:ln/>
        </p:spPr>
        <p:txBody>
          <a:bodyPr wrap="square" lIns="762" tIns="762" rIns="762" bIns="762" rtlCol="0" anchor="ctr">
            <a:normAutofit/>
          </a:bodyPr>
          <a:lstStyle/>
          <a:p>
            <a:pPr algn="ctr" indent="0" marL="0">
              <a:buNone/>
            </a:pPr>
            <a:r>
              <a:rPr lang="en-US" sz="1700" b="1" dirty="0">
                <a:solidFill>
                  <a:srgbClr val="2A67B1"/>
                </a:solidFill>
                <a:latin typeface="Aptos" pitchFamily="34" charset="0"/>
                <a:ea typeface="Aptos" pitchFamily="34" charset="-122"/>
                <a:cs typeface="Aptos" pitchFamily="34" charset="-120"/>
              </a:rPr>
              <a:t>Pretraining</a:t>
            </a:r>
            <a:endParaRPr lang="en-US" sz="1700" dirty="0"/>
          </a:p>
        </p:txBody>
      </p:sp>
      <p:sp>
        <p:nvSpPr>
          <p:cNvPr id="6" name="Text 4"/>
          <p:cNvSpPr/>
          <p:nvPr/>
        </p:nvSpPr>
        <p:spPr>
          <a:xfrm>
            <a:off x="1005840" y="1920240"/>
            <a:ext cx="2331720" cy="594360"/>
          </a:xfrm>
          <a:prstGeom prst="rect">
            <a:avLst/>
          </a:prstGeom>
          <a:noFill/>
          <a:ln/>
        </p:spPr>
        <p:txBody>
          <a:bodyPr wrap="square" lIns="762" tIns="762" rIns="762" bIns="762" rtlCol="0" anchor="ctr">
            <a:normAutofit/>
          </a:bodyPr>
          <a:lstStyle/>
          <a:p>
            <a:pPr algn="ctr" indent="0" marL="0">
              <a:buNone/>
            </a:pPr>
            <a:r>
              <a:rPr lang="en-US" sz="1400" b="1" dirty="0">
                <a:solidFill>
                  <a:srgbClr val="12212B"/>
                </a:solidFill>
                <a:latin typeface="Aptos" pitchFamily="34" charset="0"/>
                <a:ea typeface="Aptos" pitchFamily="34" charset="-122"/>
                <a:cs typeface="Aptos" pitchFamily="34" charset="-120"/>
              </a:rPr>
              <a:t>Huấn luyện nền trên dữ liệu lớn đa nhiệm</a:t>
            </a:r>
            <a:endParaRPr lang="en-US" sz="1400" dirty="0"/>
          </a:p>
        </p:txBody>
      </p:sp>
      <p:sp>
        <p:nvSpPr>
          <p:cNvPr id="7" name="Text 5"/>
          <p:cNvSpPr/>
          <p:nvPr/>
        </p:nvSpPr>
        <p:spPr>
          <a:xfrm>
            <a:off x="960120" y="2926080"/>
            <a:ext cx="2423160" cy="658368"/>
          </a:xfrm>
          <a:prstGeom prst="rect">
            <a:avLst/>
          </a:prstGeom>
          <a:noFill/>
          <a:ln/>
        </p:spPr>
        <p:txBody>
          <a:bodyPr wrap="square" lIns="762" tIns="762" rIns="762" bIns="762" rtlCol="0" anchor="ctr">
            <a:normAutofit/>
          </a:bodyPr>
          <a:lstStyle/>
          <a:p>
            <a:pPr algn="ctr" indent="0" marL="0">
              <a:buNone/>
            </a:pPr>
            <a:r>
              <a:rPr lang="en-US" sz="1220" dirty="0">
                <a:solidFill>
                  <a:srgbClr val="516271"/>
                </a:solidFill>
                <a:latin typeface="Aptos" pitchFamily="34" charset="0"/>
                <a:ea typeface="Aptos" pitchFamily="34" charset="-122"/>
                <a:cs typeface="Aptos" pitchFamily="34" charset="-120"/>
              </a:rPr>
              <a:t>Học khả năng nghe-ngôn ngữ tổng quát</a:t>
            </a:r>
            <a:endParaRPr lang="en-US" sz="1220" dirty="0"/>
          </a:p>
        </p:txBody>
      </p:sp>
      <p:sp>
        <p:nvSpPr>
          <p:cNvPr id="8" name="Shape 6"/>
          <p:cNvSpPr/>
          <p:nvPr/>
        </p:nvSpPr>
        <p:spPr>
          <a:xfrm>
            <a:off x="4526280" y="1143000"/>
            <a:ext cx="2606040" cy="502920"/>
          </a:xfrm>
          <a:prstGeom prst="roundRect">
            <a:avLst>
              <a:gd name="adj" fmla="val 21818"/>
            </a:avLst>
          </a:prstGeom>
          <a:solidFill>
            <a:srgbClr val="FFFFFF"/>
          </a:solidFill>
          <a:ln w="12700">
            <a:solidFill>
              <a:srgbClr val="2F9E74"/>
            </a:solidFill>
            <a:prstDash val="solid"/>
          </a:ln>
        </p:spPr>
      </p:sp>
      <p:sp>
        <p:nvSpPr>
          <p:cNvPr id="9" name="Text 7"/>
          <p:cNvSpPr/>
          <p:nvPr/>
        </p:nvSpPr>
        <p:spPr>
          <a:xfrm>
            <a:off x="4590288" y="1188720"/>
            <a:ext cx="2478024" cy="411480"/>
          </a:xfrm>
          <a:prstGeom prst="rect">
            <a:avLst/>
          </a:prstGeom>
          <a:noFill/>
          <a:ln/>
        </p:spPr>
        <p:txBody>
          <a:bodyPr wrap="square" lIns="762" tIns="762" rIns="762" bIns="762" rtlCol="0" anchor="ctr">
            <a:normAutofit/>
          </a:bodyPr>
          <a:lstStyle/>
          <a:p>
            <a:pPr algn="ctr" indent="0" marL="0">
              <a:buNone/>
            </a:pPr>
            <a:r>
              <a:rPr lang="en-US" sz="1700" b="1" dirty="0">
                <a:solidFill>
                  <a:srgbClr val="2F9E74"/>
                </a:solidFill>
                <a:latin typeface="Aptos" pitchFamily="34" charset="0"/>
                <a:ea typeface="Aptos" pitchFamily="34" charset="-122"/>
                <a:cs typeface="Aptos" pitchFamily="34" charset="-120"/>
              </a:rPr>
              <a:t>Fine-tuning</a:t>
            </a:r>
            <a:endParaRPr lang="en-US" sz="1700" dirty="0"/>
          </a:p>
        </p:txBody>
      </p:sp>
      <p:sp>
        <p:nvSpPr>
          <p:cNvPr id="10" name="Text 8"/>
          <p:cNvSpPr/>
          <p:nvPr/>
        </p:nvSpPr>
        <p:spPr>
          <a:xfrm>
            <a:off x="4663440" y="1920240"/>
            <a:ext cx="2331720" cy="594360"/>
          </a:xfrm>
          <a:prstGeom prst="rect">
            <a:avLst/>
          </a:prstGeom>
          <a:noFill/>
          <a:ln/>
        </p:spPr>
        <p:txBody>
          <a:bodyPr wrap="square" lIns="762" tIns="762" rIns="762" bIns="762" rtlCol="0" anchor="ctr">
            <a:normAutofit/>
          </a:bodyPr>
          <a:lstStyle/>
          <a:p>
            <a:pPr algn="ctr" indent="0" marL="0">
              <a:buNone/>
            </a:pPr>
            <a:r>
              <a:rPr lang="en-US" sz="1400" b="1" dirty="0">
                <a:solidFill>
                  <a:srgbClr val="12212B"/>
                </a:solidFill>
                <a:latin typeface="Aptos" pitchFamily="34" charset="0"/>
                <a:ea typeface="Aptos" pitchFamily="34" charset="-122"/>
                <a:cs typeface="Aptos" pitchFamily="34" charset="-120"/>
              </a:rPr>
              <a:t>Điều chỉnh trọng số bằng dữ liệu tiếng Việt</a:t>
            </a:r>
            <a:endParaRPr lang="en-US" sz="1400" dirty="0"/>
          </a:p>
        </p:txBody>
      </p:sp>
      <p:sp>
        <p:nvSpPr>
          <p:cNvPr id="11" name="Text 9"/>
          <p:cNvSpPr/>
          <p:nvPr/>
        </p:nvSpPr>
        <p:spPr>
          <a:xfrm>
            <a:off x="4617720" y="2926080"/>
            <a:ext cx="2423160" cy="658368"/>
          </a:xfrm>
          <a:prstGeom prst="rect">
            <a:avLst/>
          </a:prstGeom>
          <a:noFill/>
          <a:ln/>
        </p:spPr>
        <p:txBody>
          <a:bodyPr wrap="square" lIns="762" tIns="762" rIns="762" bIns="762" rtlCol="0" anchor="ctr">
            <a:normAutofit/>
          </a:bodyPr>
          <a:lstStyle/>
          <a:p>
            <a:pPr algn="ctr" indent="0" marL="0">
              <a:buNone/>
            </a:pPr>
            <a:r>
              <a:rPr lang="en-US" sz="1220" dirty="0">
                <a:solidFill>
                  <a:srgbClr val="516271"/>
                </a:solidFill>
                <a:latin typeface="Aptos" pitchFamily="34" charset="0"/>
                <a:ea typeface="Aptos" pitchFamily="34" charset="-122"/>
                <a:cs typeface="Aptos" pitchFamily="34" charset="-120"/>
              </a:rPr>
              <a:t>Thích nghi giọng, từ vựng, cách nói</a:t>
            </a:r>
            <a:endParaRPr lang="en-US" sz="1220" dirty="0"/>
          </a:p>
        </p:txBody>
      </p:sp>
      <p:sp>
        <p:nvSpPr>
          <p:cNvPr id="12" name="Shape 10"/>
          <p:cNvSpPr/>
          <p:nvPr/>
        </p:nvSpPr>
        <p:spPr>
          <a:xfrm>
            <a:off x="8183880" y="1143000"/>
            <a:ext cx="2606040" cy="502920"/>
          </a:xfrm>
          <a:prstGeom prst="roundRect">
            <a:avLst>
              <a:gd name="adj" fmla="val 21818"/>
            </a:avLst>
          </a:prstGeom>
          <a:solidFill>
            <a:srgbClr val="FFFFFF"/>
          </a:solidFill>
          <a:ln w="12700">
            <a:solidFill>
              <a:srgbClr val="175D7C"/>
            </a:solidFill>
            <a:prstDash val="solid"/>
          </a:ln>
        </p:spPr>
      </p:sp>
      <p:sp>
        <p:nvSpPr>
          <p:cNvPr id="13" name="Text 11"/>
          <p:cNvSpPr/>
          <p:nvPr/>
        </p:nvSpPr>
        <p:spPr>
          <a:xfrm>
            <a:off x="8247888" y="1188720"/>
            <a:ext cx="2478024" cy="411480"/>
          </a:xfrm>
          <a:prstGeom prst="rect">
            <a:avLst/>
          </a:prstGeom>
          <a:noFill/>
          <a:ln/>
        </p:spPr>
        <p:txBody>
          <a:bodyPr wrap="square" lIns="762" tIns="762" rIns="762" bIns="762" rtlCol="0" anchor="ctr">
            <a:normAutofit/>
          </a:bodyPr>
          <a:lstStyle/>
          <a:p>
            <a:pPr algn="ctr" indent="0" marL="0">
              <a:buNone/>
            </a:pPr>
            <a:r>
              <a:rPr lang="en-US" sz="1700" b="1" dirty="0">
                <a:solidFill>
                  <a:srgbClr val="175D7C"/>
                </a:solidFill>
                <a:latin typeface="Aptos" pitchFamily="34" charset="0"/>
                <a:ea typeface="Aptos" pitchFamily="34" charset="-122"/>
                <a:cs typeface="Aptos" pitchFamily="34" charset="-120"/>
              </a:rPr>
              <a:t>Inference</a:t>
            </a:r>
            <a:endParaRPr lang="en-US" sz="1700" dirty="0"/>
          </a:p>
        </p:txBody>
      </p:sp>
      <p:sp>
        <p:nvSpPr>
          <p:cNvPr id="14" name="Text 12"/>
          <p:cNvSpPr/>
          <p:nvPr/>
        </p:nvSpPr>
        <p:spPr>
          <a:xfrm>
            <a:off x="8321040" y="1920240"/>
            <a:ext cx="2331720" cy="594360"/>
          </a:xfrm>
          <a:prstGeom prst="rect">
            <a:avLst/>
          </a:prstGeom>
          <a:noFill/>
          <a:ln/>
        </p:spPr>
        <p:txBody>
          <a:bodyPr wrap="square" lIns="762" tIns="762" rIns="762" bIns="762" rtlCol="0" anchor="ctr">
            <a:normAutofit/>
          </a:bodyPr>
          <a:lstStyle/>
          <a:p>
            <a:pPr algn="ctr" indent="0" marL="0">
              <a:buNone/>
            </a:pPr>
            <a:r>
              <a:rPr lang="en-US" sz="1400" b="1" dirty="0">
                <a:solidFill>
                  <a:srgbClr val="12212B"/>
                </a:solidFill>
                <a:latin typeface="Aptos" pitchFamily="34" charset="0"/>
                <a:ea typeface="Aptos" pitchFamily="34" charset="-122"/>
                <a:cs typeface="Aptos" pitchFamily="34" charset="-120"/>
              </a:rPr>
              <a:t>Chạy mô hình đã học trên audio mới</a:t>
            </a:r>
            <a:endParaRPr lang="en-US" sz="1400" dirty="0"/>
          </a:p>
        </p:txBody>
      </p:sp>
      <p:sp>
        <p:nvSpPr>
          <p:cNvPr id="15" name="Text 13"/>
          <p:cNvSpPr/>
          <p:nvPr/>
        </p:nvSpPr>
        <p:spPr>
          <a:xfrm>
            <a:off x="8275320" y="2926080"/>
            <a:ext cx="2423160" cy="658368"/>
          </a:xfrm>
          <a:prstGeom prst="rect">
            <a:avLst/>
          </a:prstGeom>
          <a:noFill/>
          <a:ln/>
        </p:spPr>
        <p:txBody>
          <a:bodyPr wrap="square" lIns="762" tIns="762" rIns="762" bIns="762" rtlCol="0" anchor="ctr">
            <a:normAutofit/>
          </a:bodyPr>
          <a:lstStyle/>
          <a:p>
            <a:pPr algn="ctr" indent="0" marL="0">
              <a:buNone/>
            </a:pPr>
            <a:r>
              <a:rPr lang="en-US" sz="1220" dirty="0">
                <a:solidFill>
                  <a:srgbClr val="516271"/>
                </a:solidFill>
                <a:latin typeface="Aptos" pitchFamily="34" charset="0"/>
                <a:ea typeface="Aptos" pitchFamily="34" charset="-122"/>
                <a:cs typeface="Aptos" pitchFamily="34" charset="-120"/>
              </a:rPr>
              <a:t>Sinh transcript</a:t>
            </a:r>
            <a:endParaRPr lang="en-US" sz="1220" dirty="0"/>
          </a:p>
        </p:txBody>
      </p:sp>
      <p:sp>
        <p:nvSpPr>
          <p:cNvPr id="16" name="Shape 14"/>
          <p:cNvSpPr/>
          <p:nvPr/>
        </p:nvSpPr>
        <p:spPr>
          <a:xfrm>
            <a:off x="1920240" y="4617720"/>
            <a:ext cx="8321040" cy="713232"/>
          </a:xfrm>
          <a:prstGeom prst="roundRect">
            <a:avLst>
              <a:gd name="adj" fmla="val 15385"/>
            </a:avLst>
          </a:prstGeom>
          <a:solidFill>
            <a:srgbClr val="FFFFFF"/>
          </a:solidFill>
          <a:ln w="12700">
            <a:solidFill>
              <a:srgbClr val="175D7C"/>
            </a:solidFill>
            <a:prstDash val="solid"/>
          </a:ln>
        </p:spPr>
      </p:sp>
      <p:sp>
        <p:nvSpPr>
          <p:cNvPr id="17" name="Text 15"/>
          <p:cNvSpPr/>
          <p:nvPr/>
        </p:nvSpPr>
        <p:spPr>
          <a:xfrm>
            <a:off x="1984248" y="4663440"/>
            <a:ext cx="8193024" cy="621792"/>
          </a:xfrm>
          <a:prstGeom prst="rect">
            <a:avLst/>
          </a:prstGeom>
          <a:noFill/>
          <a:ln/>
        </p:spPr>
        <p:txBody>
          <a:bodyPr wrap="square" lIns="762" tIns="762" rIns="762" bIns="762" rtlCol="0" anchor="ctr">
            <a:normAutofit/>
          </a:bodyPr>
          <a:lstStyle/>
          <a:p>
            <a:pPr algn="ctr" indent="0" marL="0">
              <a:buNone/>
            </a:pPr>
            <a:r>
              <a:rPr lang="en-US" sz="1800" b="1" dirty="0">
                <a:solidFill>
                  <a:srgbClr val="175D7C"/>
                </a:solidFill>
                <a:latin typeface="Aptos" pitchFamily="34" charset="0"/>
                <a:ea typeface="Aptos" pitchFamily="34" charset="-122"/>
                <a:cs typeface="Aptos" pitchFamily="34" charset="-120"/>
              </a:rPr>
              <a:t>Trong bài thuyết trình này, phần “chạy thật khi nhận dạng” = inference.</a:t>
            </a:r>
            <a:endParaRPr lang="en-US" sz="1800" dirty="0"/>
          </a:p>
        </p:txBody>
      </p:sp>
      <p:sp>
        <p:nvSpPr>
          <p:cNvPr id="18" name="Text 16"/>
          <p:cNvSpPr/>
          <p:nvPr/>
        </p:nvSpPr>
        <p:spPr>
          <a:xfrm>
            <a:off x="2011680" y="5504688"/>
            <a:ext cx="8138160" cy="237744"/>
          </a:xfrm>
          <a:prstGeom prst="rect">
            <a:avLst/>
          </a:prstGeom>
          <a:noFill/>
          <a:ln/>
        </p:spPr>
        <p:txBody>
          <a:bodyPr wrap="square" lIns="762" tIns="762" rIns="762" bIns="762" rtlCol="0" anchor="ctr">
            <a:normAutofit/>
          </a:bodyPr>
          <a:lstStyle/>
          <a:p>
            <a:pPr algn="ctr" indent="0" marL="0">
              <a:buNone/>
            </a:pPr>
            <a:r>
              <a:rPr lang="en-US" sz="1200" dirty="0">
                <a:solidFill>
                  <a:srgbClr val="516271"/>
                </a:solidFill>
                <a:latin typeface="Aptos" pitchFamily="34" charset="0"/>
                <a:ea typeface="Aptos" pitchFamily="34" charset="-122"/>
                <a:cs typeface="Aptos" pitchFamily="34" charset="-120"/>
              </a:rPr>
              <a:t>Huấn luyện có loss, nhãn transcript và cập nhật trọng số. Inference không cập nhật trọng số.</a:t>
            </a:r>
            <a:endParaRPr lang="en-US" sz="1200" dirty="0"/>
          </a:p>
        </p:txBody>
      </p:sp>
      <p:sp>
        <p:nvSpPr>
          <p:cNvPr id="19" name="Shape 17"/>
          <p:cNvSpPr/>
          <p:nvPr/>
        </p:nvSpPr>
        <p:spPr>
          <a:xfrm>
            <a:off x="438912" y="6199632"/>
            <a:ext cx="2377440" cy="310896"/>
          </a:xfrm>
          <a:prstGeom prst="roundRect">
            <a:avLst>
              <a:gd name="adj" fmla="val 44118"/>
            </a:avLst>
          </a:prstGeom>
          <a:solidFill>
            <a:srgbClr val="E8F2F6"/>
          </a:solidFill>
          <a:ln w="12700">
            <a:solidFill>
              <a:srgbClr val="E8F2F6"/>
            </a:solidFill>
            <a:prstDash val="solid"/>
          </a:ln>
        </p:spPr>
      </p:sp>
      <p:sp>
        <p:nvSpPr>
          <p:cNvPr id="20" name="Text 18"/>
          <p:cNvSpPr/>
          <p:nvPr/>
        </p:nvSpPr>
        <p:spPr>
          <a:xfrm>
            <a:off x="512064" y="6259068"/>
            <a:ext cx="2231136" cy="201168"/>
          </a:xfrm>
          <a:prstGeom prst="rect">
            <a:avLst/>
          </a:prstGeom>
          <a:noFill/>
          <a:ln/>
        </p:spPr>
        <p:txBody>
          <a:bodyPr wrap="square" lIns="0" tIns="0" rIns="0" bIns="0" rtlCol="0" anchor="ctr">
            <a:normAutofit/>
          </a:bodyPr>
          <a:lstStyle/>
          <a:p>
            <a:pPr algn="ctr" indent="0" marL="0">
              <a:buNone/>
            </a:pPr>
            <a:r>
              <a:rPr lang="en-US" sz="950" b="1" dirty="0">
                <a:solidFill>
                  <a:srgbClr val="175D7C"/>
                </a:solidFill>
                <a:latin typeface="Aptos" pitchFamily="34" charset="0"/>
                <a:ea typeface="Aptos" pitchFamily="34" charset="-122"/>
                <a:cs typeface="Aptos" pitchFamily="34" charset="-120"/>
              </a:rPr>
              <a:t>Training vs inference</a:t>
            </a:r>
            <a:endParaRPr lang="en-US" sz="950" dirty="0"/>
          </a:p>
        </p:txBody>
      </p:sp>
      <p:sp>
        <p:nvSpPr>
          <p:cNvPr id="25" name="Slide Number Placeholder 0"/>
          <p:cNvSpPr>
            <a:spLocks noGrp="1"/>
          </p:cNvSpPr>
          <p:nvPr>
            <p:ph type="sldNum" sz="quarter" idx="4294967295"/>
          </p:nvPr>
        </p:nvSpPr>
        <p:spPr>
          <a:xfrm>
            <a:off x="11841480" y="6519672"/>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7C8794"/>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420624" y="256032"/>
            <a:ext cx="9875520" cy="384048"/>
          </a:xfrm>
          <a:prstGeom prst="rect">
            <a:avLst/>
          </a:prstGeom>
          <a:noFill/>
          <a:ln/>
        </p:spPr>
        <p:txBody>
          <a:bodyPr wrap="square" lIns="0" tIns="0" rIns="0" bIns="0" rtlCol="0" anchor="ctr"/>
          <a:lstStyle/>
          <a:p>
            <a:pPr indent="0" marL="0">
              <a:buNone/>
            </a:pPr>
            <a:r>
              <a:rPr lang="en-US" sz="2500" b="1" dirty="0">
                <a:solidFill>
                  <a:srgbClr val="12212B"/>
                </a:solidFill>
                <a:latin typeface="Aptos Display" pitchFamily="34" charset="0"/>
                <a:ea typeface="Aptos Display" pitchFamily="34" charset="-122"/>
                <a:cs typeface="Aptos Display" pitchFamily="34" charset="-120"/>
              </a:rPr>
              <a:t>PhoWhisper: Whisper thích nghi cho tiếng Việt</a:t>
            </a:r>
            <a:endParaRPr lang="en-US" sz="2500" dirty="0"/>
          </a:p>
        </p:txBody>
      </p:sp>
      <p:sp>
        <p:nvSpPr>
          <p:cNvPr id="3" name="Text 1"/>
          <p:cNvSpPr/>
          <p:nvPr/>
        </p:nvSpPr>
        <p:spPr>
          <a:xfrm>
            <a:off x="438912" y="694944"/>
            <a:ext cx="9875520" cy="256032"/>
          </a:xfrm>
          <a:prstGeom prst="rect">
            <a:avLst/>
          </a:prstGeom>
          <a:noFill/>
          <a:ln/>
        </p:spPr>
        <p:txBody>
          <a:bodyPr wrap="square" lIns="0" tIns="0" rIns="0" bIns="0" rtlCol="0" anchor="ctr"/>
          <a:lstStyle/>
          <a:p>
            <a:pPr indent="0" marL="0">
              <a:buNone/>
            </a:pPr>
            <a:r>
              <a:rPr lang="en-US" sz="1050" dirty="0">
                <a:solidFill>
                  <a:srgbClr val="516271"/>
                </a:solidFill>
              </a:rPr>
              <a:t>Không phải kiến trúc mới hoàn toàn; chủ yếu là fine-tuning trọng số cho tiếng Việt</a:t>
            </a:r>
            <a:endParaRPr lang="en-US" sz="1050" dirty="0"/>
          </a:p>
        </p:txBody>
      </p:sp>
      <p:sp>
        <p:nvSpPr>
          <p:cNvPr id="4" name="Shape 2"/>
          <p:cNvSpPr/>
          <p:nvPr/>
        </p:nvSpPr>
        <p:spPr>
          <a:xfrm>
            <a:off x="822960" y="1325880"/>
            <a:ext cx="2240280" cy="731520"/>
          </a:xfrm>
          <a:prstGeom prst="roundRect">
            <a:avLst>
              <a:gd name="adj" fmla="val 15000"/>
            </a:avLst>
          </a:prstGeom>
          <a:solidFill>
            <a:srgbClr val="FFFFFF"/>
          </a:solidFill>
          <a:ln w="12700">
            <a:solidFill>
              <a:srgbClr val="2A67B1"/>
            </a:solidFill>
            <a:prstDash val="solid"/>
          </a:ln>
        </p:spPr>
      </p:sp>
      <p:sp>
        <p:nvSpPr>
          <p:cNvPr id="5" name="Text 3"/>
          <p:cNvSpPr/>
          <p:nvPr/>
        </p:nvSpPr>
        <p:spPr>
          <a:xfrm>
            <a:off x="886968" y="1371600"/>
            <a:ext cx="2112264" cy="640080"/>
          </a:xfrm>
          <a:prstGeom prst="rect">
            <a:avLst/>
          </a:prstGeom>
          <a:noFill/>
          <a:ln/>
        </p:spPr>
        <p:txBody>
          <a:bodyPr wrap="square" lIns="762" tIns="762" rIns="762" bIns="762" rtlCol="0" anchor="ctr">
            <a:normAutofit/>
          </a:bodyPr>
          <a:lstStyle/>
          <a:p>
            <a:pPr algn="ctr" indent="0" marL="0">
              <a:buNone/>
            </a:pPr>
            <a:r>
              <a:rPr lang="en-US" sz="1500" b="1" dirty="0">
                <a:solidFill>
                  <a:srgbClr val="2A67B1"/>
                </a:solidFill>
                <a:latin typeface="Aptos" pitchFamily="34" charset="0"/>
                <a:ea typeface="Aptos" pitchFamily="34" charset="-122"/>
                <a:cs typeface="Aptos" pitchFamily="34" charset="-120"/>
              </a:rPr>
              <a:t>Whisper multilingual</a:t>
            </a:r>
            <a:endParaRPr lang="en-US" sz="1500" dirty="0"/>
          </a:p>
          <a:p>
            <a:pPr algn="ctr" indent="0" marL="0">
              <a:buNone/>
            </a:pPr>
            <a:r>
              <a:rPr lang="en-US" sz="1500" b="1" dirty="0">
                <a:solidFill>
                  <a:srgbClr val="2A67B1"/>
                </a:solidFill>
                <a:latin typeface="Aptos" pitchFamily="34" charset="0"/>
                <a:ea typeface="Aptos" pitchFamily="34" charset="-122"/>
                <a:cs typeface="Aptos" pitchFamily="34" charset="-120"/>
              </a:rPr>
              <a:t>kiến trúc nền</a:t>
            </a:r>
            <a:endParaRPr lang="en-US" sz="1500" dirty="0"/>
          </a:p>
        </p:txBody>
      </p:sp>
      <p:sp>
        <p:nvSpPr>
          <p:cNvPr id="6" name="Shape 4"/>
          <p:cNvSpPr/>
          <p:nvPr/>
        </p:nvSpPr>
        <p:spPr>
          <a:xfrm>
            <a:off x="3246120" y="1691640"/>
            <a:ext cx="640080" cy="0"/>
          </a:xfrm>
          <a:prstGeom prst="line">
            <a:avLst/>
          </a:prstGeom>
          <a:noFill/>
          <a:ln w="17780">
            <a:solidFill>
              <a:srgbClr val="AAB7C3"/>
            </a:solidFill>
            <a:prstDash val="solid"/>
            <a:headEnd type="none"/>
            <a:tailEnd type="triangle"/>
          </a:ln>
        </p:spPr>
      </p:sp>
      <p:sp>
        <p:nvSpPr>
          <p:cNvPr id="7" name="Shape 5"/>
          <p:cNvSpPr/>
          <p:nvPr/>
        </p:nvSpPr>
        <p:spPr>
          <a:xfrm>
            <a:off x="4069080" y="1325880"/>
            <a:ext cx="2286000" cy="731520"/>
          </a:xfrm>
          <a:prstGeom prst="roundRect">
            <a:avLst>
              <a:gd name="adj" fmla="val 15000"/>
            </a:avLst>
          </a:prstGeom>
          <a:solidFill>
            <a:srgbClr val="FFFFFF"/>
          </a:solidFill>
          <a:ln w="12700">
            <a:solidFill>
              <a:srgbClr val="2F9E74"/>
            </a:solidFill>
            <a:prstDash val="solid"/>
          </a:ln>
        </p:spPr>
      </p:sp>
      <p:sp>
        <p:nvSpPr>
          <p:cNvPr id="8" name="Text 6"/>
          <p:cNvSpPr/>
          <p:nvPr/>
        </p:nvSpPr>
        <p:spPr>
          <a:xfrm>
            <a:off x="4133088" y="1371600"/>
            <a:ext cx="2157984" cy="640080"/>
          </a:xfrm>
          <a:prstGeom prst="rect">
            <a:avLst/>
          </a:prstGeom>
          <a:noFill/>
          <a:ln/>
        </p:spPr>
        <p:txBody>
          <a:bodyPr wrap="square" lIns="762" tIns="762" rIns="762" bIns="762" rtlCol="0" anchor="ctr">
            <a:normAutofit/>
          </a:bodyPr>
          <a:lstStyle/>
          <a:p>
            <a:pPr algn="ctr" indent="0" marL="0">
              <a:buNone/>
            </a:pPr>
            <a:r>
              <a:rPr lang="en-US" sz="1500" b="1" dirty="0">
                <a:solidFill>
                  <a:srgbClr val="2F9E74"/>
                </a:solidFill>
                <a:latin typeface="Aptos" pitchFamily="34" charset="0"/>
                <a:ea typeface="Aptos" pitchFamily="34" charset="-122"/>
                <a:cs typeface="Aptos" pitchFamily="34" charset="-120"/>
              </a:rPr>
              <a:t>Dữ liệu tiếng Việt</a:t>
            </a:r>
            <a:endParaRPr lang="en-US" sz="1500" dirty="0"/>
          </a:p>
          <a:p>
            <a:pPr algn="ctr" indent="0" marL="0">
              <a:buNone/>
            </a:pPr>
            <a:r>
              <a:rPr lang="en-US" sz="1500" b="1" dirty="0">
                <a:solidFill>
                  <a:srgbClr val="2F9E74"/>
                </a:solidFill>
                <a:latin typeface="Aptos" pitchFamily="34" charset="0"/>
                <a:ea typeface="Aptos" pitchFamily="34" charset="-122"/>
                <a:cs typeface="Aptos" pitchFamily="34" charset="-120"/>
              </a:rPr>
              <a:t>844 giờ, đa giọng</a:t>
            </a:r>
            <a:endParaRPr lang="en-US" sz="1500" dirty="0"/>
          </a:p>
        </p:txBody>
      </p:sp>
      <p:sp>
        <p:nvSpPr>
          <p:cNvPr id="9" name="Shape 7"/>
          <p:cNvSpPr/>
          <p:nvPr/>
        </p:nvSpPr>
        <p:spPr>
          <a:xfrm>
            <a:off x="6537960" y="1691640"/>
            <a:ext cx="640080" cy="0"/>
          </a:xfrm>
          <a:prstGeom prst="line">
            <a:avLst/>
          </a:prstGeom>
          <a:noFill/>
          <a:ln w="17780">
            <a:solidFill>
              <a:srgbClr val="AAB7C3"/>
            </a:solidFill>
            <a:prstDash val="solid"/>
            <a:headEnd type="none"/>
            <a:tailEnd type="triangle"/>
          </a:ln>
        </p:spPr>
      </p:sp>
      <p:sp>
        <p:nvSpPr>
          <p:cNvPr id="10" name="Shape 8"/>
          <p:cNvSpPr/>
          <p:nvPr/>
        </p:nvSpPr>
        <p:spPr>
          <a:xfrm>
            <a:off x="7360920" y="1325880"/>
            <a:ext cx="2560320" cy="731520"/>
          </a:xfrm>
          <a:prstGeom prst="roundRect">
            <a:avLst>
              <a:gd name="adj" fmla="val 15000"/>
            </a:avLst>
          </a:prstGeom>
          <a:solidFill>
            <a:srgbClr val="FFFFFF"/>
          </a:solidFill>
          <a:ln w="12700">
            <a:solidFill>
              <a:srgbClr val="175D7C"/>
            </a:solidFill>
            <a:prstDash val="solid"/>
          </a:ln>
        </p:spPr>
      </p:sp>
      <p:sp>
        <p:nvSpPr>
          <p:cNvPr id="11" name="Text 9"/>
          <p:cNvSpPr/>
          <p:nvPr/>
        </p:nvSpPr>
        <p:spPr>
          <a:xfrm>
            <a:off x="7424928" y="1371600"/>
            <a:ext cx="2432304" cy="640080"/>
          </a:xfrm>
          <a:prstGeom prst="rect">
            <a:avLst/>
          </a:prstGeom>
          <a:noFill/>
          <a:ln/>
        </p:spPr>
        <p:txBody>
          <a:bodyPr wrap="square" lIns="762" tIns="762" rIns="762" bIns="762" rtlCol="0" anchor="ctr">
            <a:normAutofit/>
          </a:bodyPr>
          <a:lstStyle/>
          <a:p>
            <a:pPr algn="ctr" indent="0" marL="0">
              <a:buNone/>
            </a:pPr>
            <a:r>
              <a:rPr lang="en-US" sz="1500" b="1" dirty="0">
                <a:solidFill>
                  <a:srgbClr val="175D7C"/>
                </a:solidFill>
                <a:latin typeface="Aptos" pitchFamily="34" charset="0"/>
                <a:ea typeface="Aptos" pitchFamily="34" charset="-122"/>
                <a:cs typeface="Aptos" pitchFamily="34" charset="-120"/>
              </a:rPr>
              <a:t>PhoWhisper</a:t>
            </a:r>
            <a:endParaRPr lang="en-US" sz="1500" dirty="0"/>
          </a:p>
          <a:p>
            <a:pPr algn="ctr" indent="0" marL="0">
              <a:buNone/>
            </a:pPr>
            <a:r>
              <a:rPr lang="en-US" sz="1500" b="1" dirty="0">
                <a:solidFill>
                  <a:srgbClr val="175D7C"/>
                </a:solidFill>
                <a:latin typeface="Aptos" pitchFamily="34" charset="0"/>
                <a:ea typeface="Aptos" pitchFamily="34" charset="-122"/>
                <a:cs typeface="Aptos" pitchFamily="34" charset="-120"/>
              </a:rPr>
              <a:t>checkpoint tiếng Việt</a:t>
            </a:r>
            <a:endParaRPr lang="en-US" sz="1500" dirty="0"/>
          </a:p>
        </p:txBody>
      </p:sp>
      <p:sp>
        <p:nvSpPr>
          <p:cNvPr id="12" name="Text 10"/>
          <p:cNvSpPr/>
          <p:nvPr/>
        </p:nvSpPr>
        <p:spPr>
          <a:xfrm>
            <a:off x="914400" y="2971800"/>
            <a:ext cx="4983480" cy="1737360"/>
          </a:xfrm>
          <a:prstGeom prst="rect">
            <a:avLst/>
          </a:prstGeom>
          <a:noFill/>
          <a:ln/>
        </p:spPr>
        <p:txBody>
          <a:bodyPr wrap="square" lIns="1016" tIns="1016" rIns="1016" bIns="1016" rtlCol="0" anchor="ctr">
            <a:normAutofit/>
          </a:bodyPr>
          <a:lstStyle/>
          <a:p>
            <a:r>
              <a:rPr lang="en-US" sz="1320" dirty="0">
                <a:solidFill>
                  <a:srgbClr val="12212B"/>
                </a:solidFill>
                <a:latin typeface="Aptos" pitchFamily="34" charset="0"/>
                <a:ea typeface="Aptos" pitchFamily="34" charset="-122"/>
                <a:cs typeface="Aptos" pitchFamily="34" charset="-120"/>
              </a:rPr>
              <a:t>Giữ cơ chế encoder–decoder của Whisper.</a:t>
            </a:r>
            <a:endParaRPr lang="en-US" sz="1320" dirty="0"/>
          </a:p>
          <a:p>
            <a:r>
              <a:rPr lang="en-US" sz="1320" dirty="0">
                <a:solidFill>
                  <a:srgbClr val="12212B"/>
                </a:solidFill>
                <a:latin typeface="Aptos" pitchFamily="34" charset="0"/>
                <a:ea typeface="Aptos" pitchFamily="34" charset="-122"/>
                <a:cs typeface="Aptos" pitchFamily="34" charset="-120"/>
              </a:rPr>
              <a:t>Trọng số được điều chỉnh để phù hợp tiếng Việt hơn.</a:t>
            </a:r>
            <a:endParaRPr lang="en-US" sz="1320" dirty="0"/>
          </a:p>
          <a:p>
            <a:r>
              <a:rPr lang="en-US" sz="1320" dirty="0">
                <a:solidFill>
                  <a:srgbClr val="12212B"/>
                </a:solidFill>
                <a:latin typeface="Aptos" pitchFamily="34" charset="0"/>
                <a:ea typeface="Aptos" pitchFamily="34" charset="-122"/>
                <a:cs typeface="Aptos" pitchFamily="34" charset="-120"/>
              </a:rPr>
              <a:t>Có 5 phiên bản PhoWhisper theo model card/paper.</a:t>
            </a:r>
            <a:endParaRPr lang="en-US" sz="1320" dirty="0"/>
          </a:p>
          <a:p>
            <a:r>
              <a:rPr lang="en-US" sz="1320" dirty="0">
                <a:solidFill>
                  <a:srgbClr val="12212B"/>
                </a:solidFill>
                <a:latin typeface="Aptos" pitchFamily="34" charset="0"/>
                <a:ea typeface="Aptos" pitchFamily="34" charset="-122"/>
                <a:cs typeface="Aptos" pitchFamily="34" charset="-120"/>
              </a:rPr>
              <a:t>Không được suy ra chất lượng call center chỉ từ tên model; cần benchmark nội bộ.</a:t>
            </a:r>
            <a:endParaRPr lang="en-US" sz="1320" dirty="0"/>
          </a:p>
        </p:txBody>
      </p:sp>
      <p:sp>
        <p:nvSpPr>
          <p:cNvPr id="13" name="Shape 11"/>
          <p:cNvSpPr/>
          <p:nvPr/>
        </p:nvSpPr>
        <p:spPr>
          <a:xfrm>
            <a:off x="6309360" y="3154680"/>
            <a:ext cx="4846320" cy="1097280"/>
          </a:xfrm>
          <a:prstGeom prst="roundRect">
            <a:avLst>
              <a:gd name="adj" fmla="val 10000"/>
            </a:avLst>
          </a:prstGeom>
          <a:solidFill>
            <a:srgbClr val="FFFFFF"/>
          </a:solidFill>
          <a:ln w="12700">
            <a:solidFill>
              <a:srgbClr val="E26D5A"/>
            </a:solidFill>
            <a:prstDash val="solid"/>
          </a:ln>
        </p:spPr>
      </p:sp>
      <p:sp>
        <p:nvSpPr>
          <p:cNvPr id="14" name="Text 12"/>
          <p:cNvSpPr/>
          <p:nvPr/>
        </p:nvSpPr>
        <p:spPr>
          <a:xfrm>
            <a:off x="6373368" y="3200400"/>
            <a:ext cx="4718304" cy="1005840"/>
          </a:xfrm>
          <a:prstGeom prst="rect">
            <a:avLst/>
          </a:prstGeom>
          <a:noFill/>
          <a:ln/>
        </p:spPr>
        <p:txBody>
          <a:bodyPr wrap="square" lIns="762" tIns="762" rIns="762" bIns="762" rtlCol="0" anchor="ctr">
            <a:normAutofit/>
          </a:bodyPr>
          <a:lstStyle/>
          <a:p>
            <a:pPr algn="ctr" indent="0" marL="0">
              <a:buNone/>
            </a:pPr>
            <a:r>
              <a:rPr lang="en-US" sz="1450" b="1" dirty="0">
                <a:solidFill>
                  <a:srgbClr val="E26D5A"/>
                </a:solidFill>
                <a:latin typeface="Aptos" pitchFamily="34" charset="0"/>
                <a:ea typeface="Aptos" pitchFamily="34" charset="-122"/>
                <a:cs typeface="Aptos" pitchFamily="34" charset="-120"/>
              </a:rPr>
              <a:t>Bối cảnh Dai-ichi Life VN: nên đánh giá trên audio thật/được phép dùng, có nhiễu, tên riêng, số tiền, mã hợp đồng.</a:t>
            </a:r>
            <a:endParaRPr lang="en-US" sz="1450" dirty="0"/>
          </a:p>
        </p:txBody>
      </p:sp>
      <p:sp>
        <p:nvSpPr>
          <p:cNvPr id="15" name="Shape 13"/>
          <p:cNvSpPr/>
          <p:nvPr/>
        </p:nvSpPr>
        <p:spPr>
          <a:xfrm>
            <a:off x="438912" y="6199632"/>
            <a:ext cx="2377440" cy="310896"/>
          </a:xfrm>
          <a:prstGeom prst="roundRect">
            <a:avLst>
              <a:gd name="adj" fmla="val 44118"/>
            </a:avLst>
          </a:prstGeom>
          <a:solidFill>
            <a:srgbClr val="E8F2F6"/>
          </a:solidFill>
          <a:ln w="12700">
            <a:solidFill>
              <a:srgbClr val="E8F2F6"/>
            </a:solidFill>
            <a:prstDash val="solid"/>
          </a:ln>
        </p:spPr>
      </p:sp>
      <p:sp>
        <p:nvSpPr>
          <p:cNvPr id="16" name="Text 14"/>
          <p:cNvSpPr/>
          <p:nvPr/>
        </p:nvSpPr>
        <p:spPr>
          <a:xfrm>
            <a:off x="512064" y="6259068"/>
            <a:ext cx="2231136" cy="201168"/>
          </a:xfrm>
          <a:prstGeom prst="rect">
            <a:avLst/>
          </a:prstGeom>
          <a:noFill/>
          <a:ln/>
        </p:spPr>
        <p:txBody>
          <a:bodyPr wrap="square" lIns="0" tIns="0" rIns="0" bIns="0" rtlCol="0" anchor="ctr">
            <a:normAutofit/>
          </a:bodyPr>
          <a:lstStyle/>
          <a:p>
            <a:pPr algn="ctr" indent="0" marL="0">
              <a:buNone/>
            </a:pPr>
            <a:r>
              <a:rPr lang="en-US" sz="950" b="1" dirty="0">
                <a:solidFill>
                  <a:srgbClr val="175D7C"/>
                </a:solidFill>
                <a:latin typeface="Aptos" pitchFamily="34" charset="0"/>
                <a:ea typeface="Aptos" pitchFamily="34" charset="-122"/>
                <a:cs typeface="Aptos" pitchFamily="34" charset="-120"/>
              </a:rPr>
              <a:t>PhoWhisper</a:t>
            </a:r>
            <a:endParaRPr lang="en-US" sz="950" dirty="0"/>
          </a:p>
        </p:txBody>
      </p:sp>
      <p:sp>
        <p:nvSpPr>
          <p:cNvPr id="25" name="Slide Number Placeholder 0"/>
          <p:cNvSpPr>
            <a:spLocks noGrp="1"/>
          </p:cNvSpPr>
          <p:nvPr>
            <p:ph type="sldNum" sz="quarter" idx="4294967295"/>
          </p:nvPr>
        </p:nvSpPr>
        <p:spPr>
          <a:xfrm>
            <a:off x="11841480" y="6519672"/>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7C8794"/>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420624" y="256032"/>
            <a:ext cx="9875520" cy="384048"/>
          </a:xfrm>
          <a:prstGeom prst="rect">
            <a:avLst/>
          </a:prstGeom>
          <a:noFill/>
          <a:ln/>
        </p:spPr>
        <p:txBody>
          <a:bodyPr wrap="square" lIns="0" tIns="0" rIns="0" bIns="0" rtlCol="0" anchor="ctr"/>
          <a:lstStyle/>
          <a:p>
            <a:pPr indent="0" marL="0">
              <a:buNone/>
            </a:pPr>
            <a:r>
              <a:rPr lang="en-US" sz="2500" b="1" dirty="0">
                <a:solidFill>
                  <a:srgbClr val="12212B"/>
                </a:solidFill>
                <a:latin typeface="Aptos Display" pitchFamily="34" charset="0"/>
                <a:ea typeface="Aptos Display" pitchFamily="34" charset="-122"/>
                <a:cs typeface="Aptos Display" pitchFamily="34" charset="-120"/>
              </a:rPr>
              <a:t>Thành phần nào chạy khi nhận dạng?</a:t>
            </a:r>
            <a:endParaRPr lang="en-US" sz="2500" dirty="0"/>
          </a:p>
        </p:txBody>
      </p:sp>
      <p:sp>
        <p:nvSpPr>
          <p:cNvPr id="3" name="Text 1"/>
          <p:cNvSpPr/>
          <p:nvPr/>
        </p:nvSpPr>
        <p:spPr>
          <a:xfrm>
            <a:off x="438912" y="694944"/>
            <a:ext cx="9875520" cy="256032"/>
          </a:xfrm>
          <a:prstGeom prst="rect">
            <a:avLst/>
          </a:prstGeom>
          <a:noFill/>
          <a:ln/>
        </p:spPr>
        <p:txBody>
          <a:bodyPr wrap="square" lIns="0" tIns="0" rIns="0" bIns="0" rtlCol="0" anchor="ctr"/>
          <a:lstStyle/>
          <a:p>
            <a:pPr indent="0" marL="0">
              <a:buNone/>
            </a:pPr>
            <a:r>
              <a:rPr lang="en-US" sz="1050" dirty="0">
                <a:solidFill>
                  <a:srgbClr val="516271"/>
                </a:solidFill>
              </a:rPr>
              <a:t>Inference chỉ chạy các bước cần để tạo transcript</a:t>
            </a:r>
            <a:endParaRPr lang="en-US" sz="1050" dirty="0"/>
          </a:p>
        </p:txBody>
      </p:sp>
      <p:sp>
        <p:nvSpPr>
          <p:cNvPr id="4" name="Shape 2"/>
          <p:cNvSpPr/>
          <p:nvPr/>
        </p:nvSpPr>
        <p:spPr>
          <a:xfrm>
            <a:off x="914400" y="960120"/>
            <a:ext cx="4297680" cy="384048"/>
          </a:xfrm>
          <a:prstGeom prst="roundRect">
            <a:avLst>
              <a:gd name="adj" fmla="val 28571"/>
            </a:avLst>
          </a:prstGeom>
          <a:solidFill>
            <a:srgbClr val="E8F4EE"/>
          </a:solidFill>
          <a:ln w="12700">
            <a:solidFill>
              <a:srgbClr val="2F9E74"/>
            </a:solidFill>
            <a:prstDash val="solid"/>
          </a:ln>
        </p:spPr>
      </p:sp>
      <p:sp>
        <p:nvSpPr>
          <p:cNvPr id="5" name="Text 3"/>
          <p:cNvSpPr/>
          <p:nvPr/>
        </p:nvSpPr>
        <p:spPr>
          <a:xfrm>
            <a:off x="978408" y="1005840"/>
            <a:ext cx="4169664" cy="292608"/>
          </a:xfrm>
          <a:prstGeom prst="rect">
            <a:avLst/>
          </a:prstGeom>
          <a:noFill/>
          <a:ln/>
        </p:spPr>
        <p:txBody>
          <a:bodyPr wrap="square" lIns="762" tIns="762" rIns="762" bIns="762" rtlCol="0" anchor="ctr">
            <a:normAutofit/>
          </a:bodyPr>
          <a:lstStyle/>
          <a:p>
            <a:pPr algn="l" indent="0" marL="0">
              <a:buNone/>
            </a:pPr>
            <a:r>
              <a:rPr lang="en-US" sz="1400" b="1" dirty="0">
                <a:solidFill>
                  <a:srgbClr val="2F9E74"/>
                </a:solidFill>
                <a:latin typeface="Aptos" pitchFamily="34" charset="0"/>
                <a:ea typeface="Aptos" pitchFamily="34" charset="-122"/>
                <a:cs typeface="Aptos" pitchFamily="34" charset="-120"/>
              </a:rPr>
              <a:t>Chạy khi inference</a:t>
            </a:r>
            <a:endParaRPr lang="en-US" sz="1400" dirty="0"/>
          </a:p>
        </p:txBody>
      </p:sp>
      <p:sp>
        <p:nvSpPr>
          <p:cNvPr id="6" name="Shape 4"/>
          <p:cNvSpPr/>
          <p:nvPr/>
        </p:nvSpPr>
        <p:spPr>
          <a:xfrm>
            <a:off x="914400" y="1490472"/>
            <a:ext cx="4297680" cy="384048"/>
          </a:xfrm>
          <a:prstGeom prst="roundRect">
            <a:avLst>
              <a:gd name="adj" fmla="val 28571"/>
            </a:avLst>
          </a:prstGeom>
          <a:solidFill>
            <a:srgbClr val="FFFFFF"/>
          </a:solidFill>
          <a:ln w="12700">
            <a:solidFill>
              <a:srgbClr val="2F9E74"/>
            </a:solidFill>
            <a:prstDash val="solid"/>
          </a:ln>
        </p:spPr>
      </p:sp>
      <p:sp>
        <p:nvSpPr>
          <p:cNvPr id="7" name="Text 5"/>
          <p:cNvSpPr/>
          <p:nvPr/>
        </p:nvSpPr>
        <p:spPr>
          <a:xfrm>
            <a:off x="978408" y="1536192"/>
            <a:ext cx="4169664" cy="292608"/>
          </a:xfrm>
          <a:prstGeom prst="rect">
            <a:avLst/>
          </a:prstGeom>
          <a:noFill/>
          <a:ln/>
        </p:spPr>
        <p:txBody>
          <a:bodyPr wrap="square" lIns="762" tIns="762" rIns="762" bIns="762" rtlCol="0" anchor="ctr">
            <a:normAutofit/>
          </a:bodyPr>
          <a:lstStyle/>
          <a:p>
            <a:pPr algn="l" indent="0" marL="0">
              <a:buNone/>
            </a:pPr>
            <a:r>
              <a:rPr lang="en-US" sz="1250" dirty="0">
                <a:solidFill>
                  <a:srgbClr val="2F9E74"/>
                </a:solidFill>
                <a:latin typeface="Aptos" pitchFamily="34" charset="0"/>
                <a:ea typeface="Aptos" pitchFamily="34" charset="-122"/>
                <a:cs typeface="Aptos" pitchFamily="34" charset="-120"/>
              </a:rPr>
              <a:t>Chuẩn hóa audio</a:t>
            </a:r>
            <a:endParaRPr lang="en-US" sz="1250" dirty="0"/>
          </a:p>
        </p:txBody>
      </p:sp>
      <p:sp>
        <p:nvSpPr>
          <p:cNvPr id="8" name="Shape 6"/>
          <p:cNvSpPr/>
          <p:nvPr/>
        </p:nvSpPr>
        <p:spPr>
          <a:xfrm>
            <a:off x="914400" y="2020824"/>
            <a:ext cx="4297680" cy="384048"/>
          </a:xfrm>
          <a:prstGeom prst="roundRect">
            <a:avLst>
              <a:gd name="adj" fmla="val 28571"/>
            </a:avLst>
          </a:prstGeom>
          <a:solidFill>
            <a:srgbClr val="FFFFFF"/>
          </a:solidFill>
          <a:ln w="12700">
            <a:solidFill>
              <a:srgbClr val="2F9E74"/>
            </a:solidFill>
            <a:prstDash val="solid"/>
          </a:ln>
        </p:spPr>
      </p:sp>
      <p:sp>
        <p:nvSpPr>
          <p:cNvPr id="9" name="Text 7"/>
          <p:cNvSpPr/>
          <p:nvPr/>
        </p:nvSpPr>
        <p:spPr>
          <a:xfrm>
            <a:off x="978408" y="2066544"/>
            <a:ext cx="4169664" cy="292608"/>
          </a:xfrm>
          <a:prstGeom prst="rect">
            <a:avLst/>
          </a:prstGeom>
          <a:noFill/>
          <a:ln/>
        </p:spPr>
        <p:txBody>
          <a:bodyPr wrap="square" lIns="762" tIns="762" rIns="762" bIns="762" rtlCol="0" anchor="ctr">
            <a:normAutofit/>
          </a:bodyPr>
          <a:lstStyle/>
          <a:p>
            <a:pPr algn="l" indent="0" marL="0">
              <a:buNone/>
            </a:pPr>
            <a:r>
              <a:rPr lang="en-US" sz="1250" dirty="0">
                <a:solidFill>
                  <a:srgbClr val="2F9E74"/>
                </a:solidFill>
                <a:latin typeface="Aptos" pitchFamily="34" charset="0"/>
                <a:ea typeface="Aptos" pitchFamily="34" charset="-122"/>
                <a:cs typeface="Aptos" pitchFamily="34" charset="-120"/>
              </a:rPr>
              <a:t>Log-Mel spectrogram</a:t>
            </a:r>
            <a:endParaRPr lang="en-US" sz="1250" dirty="0"/>
          </a:p>
        </p:txBody>
      </p:sp>
      <p:sp>
        <p:nvSpPr>
          <p:cNvPr id="10" name="Shape 8"/>
          <p:cNvSpPr/>
          <p:nvPr/>
        </p:nvSpPr>
        <p:spPr>
          <a:xfrm>
            <a:off x="914400" y="2551176"/>
            <a:ext cx="4297680" cy="384048"/>
          </a:xfrm>
          <a:prstGeom prst="roundRect">
            <a:avLst>
              <a:gd name="adj" fmla="val 28571"/>
            </a:avLst>
          </a:prstGeom>
          <a:solidFill>
            <a:srgbClr val="FFFFFF"/>
          </a:solidFill>
          <a:ln w="12700">
            <a:solidFill>
              <a:srgbClr val="2F9E74"/>
            </a:solidFill>
            <a:prstDash val="solid"/>
          </a:ln>
        </p:spPr>
      </p:sp>
      <p:sp>
        <p:nvSpPr>
          <p:cNvPr id="11" name="Text 9"/>
          <p:cNvSpPr/>
          <p:nvPr/>
        </p:nvSpPr>
        <p:spPr>
          <a:xfrm>
            <a:off x="978408" y="2596896"/>
            <a:ext cx="4169664" cy="292608"/>
          </a:xfrm>
          <a:prstGeom prst="rect">
            <a:avLst/>
          </a:prstGeom>
          <a:noFill/>
          <a:ln/>
        </p:spPr>
        <p:txBody>
          <a:bodyPr wrap="square" lIns="762" tIns="762" rIns="762" bIns="762" rtlCol="0" anchor="ctr">
            <a:normAutofit/>
          </a:bodyPr>
          <a:lstStyle/>
          <a:p>
            <a:pPr algn="l" indent="0" marL="0">
              <a:buNone/>
            </a:pPr>
            <a:r>
              <a:rPr lang="en-US" sz="1250" dirty="0">
                <a:solidFill>
                  <a:srgbClr val="2F9E74"/>
                </a:solidFill>
                <a:latin typeface="Aptos" pitchFamily="34" charset="0"/>
                <a:ea typeface="Aptos" pitchFamily="34" charset="-122"/>
                <a:cs typeface="Aptos" pitchFamily="34" charset="-120"/>
              </a:rPr>
              <a:t>Encoder</a:t>
            </a:r>
            <a:endParaRPr lang="en-US" sz="1250" dirty="0"/>
          </a:p>
        </p:txBody>
      </p:sp>
      <p:sp>
        <p:nvSpPr>
          <p:cNvPr id="12" name="Shape 10"/>
          <p:cNvSpPr/>
          <p:nvPr/>
        </p:nvSpPr>
        <p:spPr>
          <a:xfrm>
            <a:off x="914400" y="3081528"/>
            <a:ext cx="4297680" cy="384048"/>
          </a:xfrm>
          <a:prstGeom prst="roundRect">
            <a:avLst>
              <a:gd name="adj" fmla="val 28571"/>
            </a:avLst>
          </a:prstGeom>
          <a:solidFill>
            <a:srgbClr val="FFFFFF"/>
          </a:solidFill>
          <a:ln w="12700">
            <a:solidFill>
              <a:srgbClr val="2F9E74"/>
            </a:solidFill>
            <a:prstDash val="solid"/>
          </a:ln>
        </p:spPr>
      </p:sp>
      <p:sp>
        <p:nvSpPr>
          <p:cNvPr id="13" name="Text 11"/>
          <p:cNvSpPr/>
          <p:nvPr/>
        </p:nvSpPr>
        <p:spPr>
          <a:xfrm>
            <a:off x="978408" y="3127248"/>
            <a:ext cx="4169664" cy="292608"/>
          </a:xfrm>
          <a:prstGeom prst="rect">
            <a:avLst/>
          </a:prstGeom>
          <a:noFill/>
          <a:ln/>
        </p:spPr>
        <p:txBody>
          <a:bodyPr wrap="square" lIns="762" tIns="762" rIns="762" bIns="762" rtlCol="0" anchor="ctr">
            <a:normAutofit/>
          </a:bodyPr>
          <a:lstStyle/>
          <a:p>
            <a:pPr algn="l" indent="0" marL="0">
              <a:buNone/>
            </a:pPr>
            <a:r>
              <a:rPr lang="en-US" sz="1250" dirty="0">
                <a:solidFill>
                  <a:srgbClr val="2F9E74"/>
                </a:solidFill>
                <a:latin typeface="Aptos" pitchFamily="34" charset="0"/>
                <a:ea typeface="Aptos" pitchFamily="34" charset="-122"/>
                <a:cs typeface="Aptos" pitchFamily="34" charset="-120"/>
              </a:rPr>
              <a:t>Decoder + decoding</a:t>
            </a:r>
            <a:endParaRPr lang="en-US" sz="1250" dirty="0"/>
          </a:p>
        </p:txBody>
      </p:sp>
      <p:sp>
        <p:nvSpPr>
          <p:cNvPr id="14" name="Shape 12"/>
          <p:cNvSpPr/>
          <p:nvPr/>
        </p:nvSpPr>
        <p:spPr>
          <a:xfrm>
            <a:off x="914400" y="3611880"/>
            <a:ext cx="4297680" cy="384048"/>
          </a:xfrm>
          <a:prstGeom prst="roundRect">
            <a:avLst>
              <a:gd name="adj" fmla="val 28571"/>
            </a:avLst>
          </a:prstGeom>
          <a:solidFill>
            <a:srgbClr val="FFFFFF"/>
          </a:solidFill>
          <a:ln w="12700">
            <a:solidFill>
              <a:srgbClr val="2F9E74"/>
            </a:solidFill>
            <a:prstDash val="solid"/>
          </a:ln>
        </p:spPr>
      </p:sp>
      <p:sp>
        <p:nvSpPr>
          <p:cNvPr id="15" name="Text 13"/>
          <p:cNvSpPr/>
          <p:nvPr/>
        </p:nvSpPr>
        <p:spPr>
          <a:xfrm>
            <a:off x="978408" y="3657600"/>
            <a:ext cx="4169664" cy="292608"/>
          </a:xfrm>
          <a:prstGeom prst="rect">
            <a:avLst/>
          </a:prstGeom>
          <a:noFill/>
          <a:ln/>
        </p:spPr>
        <p:txBody>
          <a:bodyPr wrap="square" lIns="762" tIns="762" rIns="762" bIns="762" rtlCol="0" anchor="ctr">
            <a:normAutofit/>
          </a:bodyPr>
          <a:lstStyle/>
          <a:p>
            <a:pPr algn="l" indent="0" marL="0">
              <a:buNone/>
            </a:pPr>
            <a:r>
              <a:rPr lang="en-US" sz="1250" dirty="0">
                <a:solidFill>
                  <a:srgbClr val="2F9E74"/>
                </a:solidFill>
                <a:latin typeface="Aptos" pitchFamily="34" charset="0"/>
                <a:ea typeface="Aptos" pitchFamily="34" charset="-122"/>
                <a:cs typeface="Aptos" pitchFamily="34" charset="-120"/>
              </a:rPr>
              <a:t>Tokenizer decode</a:t>
            </a:r>
            <a:endParaRPr lang="en-US" sz="1250" dirty="0"/>
          </a:p>
        </p:txBody>
      </p:sp>
      <p:sp>
        <p:nvSpPr>
          <p:cNvPr id="16" name="Shape 14"/>
          <p:cNvSpPr/>
          <p:nvPr/>
        </p:nvSpPr>
        <p:spPr>
          <a:xfrm>
            <a:off x="6400800" y="960120"/>
            <a:ext cx="4297680" cy="384048"/>
          </a:xfrm>
          <a:prstGeom prst="roundRect">
            <a:avLst>
              <a:gd name="adj" fmla="val 28571"/>
            </a:avLst>
          </a:prstGeom>
          <a:solidFill>
            <a:srgbClr val="FFF5E3"/>
          </a:solidFill>
          <a:ln w="12700">
            <a:solidFill>
              <a:srgbClr val="E26D5A"/>
            </a:solidFill>
            <a:prstDash val="solid"/>
          </a:ln>
        </p:spPr>
      </p:sp>
      <p:sp>
        <p:nvSpPr>
          <p:cNvPr id="17" name="Text 15"/>
          <p:cNvSpPr/>
          <p:nvPr/>
        </p:nvSpPr>
        <p:spPr>
          <a:xfrm>
            <a:off x="6464808" y="1005840"/>
            <a:ext cx="4169664" cy="292608"/>
          </a:xfrm>
          <a:prstGeom prst="rect">
            <a:avLst/>
          </a:prstGeom>
          <a:noFill/>
          <a:ln/>
        </p:spPr>
        <p:txBody>
          <a:bodyPr wrap="square" lIns="762" tIns="762" rIns="762" bIns="762" rtlCol="0" anchor="ctr">
            <a:normAutofit/>
          </a:bodyPr>
          <a:lstStyle/>
          <a:p>
            <a:pPr algn="l" indent="0" marL="0">
              <a:buNone/>
            </a:pPr>
            <a:r>
              <a:rPr lang="en-US" sz="1400" b="1" dirty="0">
                <a:solidFill>
                  <a:srgbClr val="E26D5A"/>
                </a:solidFill>
                <a:latin typeface="Aptos" pitchFamily="34" charset="0"/>
                <a:ea typeface="Aptos" pitchFamily="34" charset="-122"/>
                <a:cs typeface="Aptos" pitchFamily="34" charset="-120"/>
              </a:rPr>
              <a:t>Chỉ khi training/fine-tuning</a:t>
            </a:r>
            <a:endParaRPr lang="en-US" sz="1400" dirty="0"/>
          </a:p>
        </p:txBody>
      </p:sp>
      <p:sp>
        <p:nvSpPr>
          <p:cNvPr id="18" name="Shape 16"/>
          <p:cNvSpPr/>
          <p:nvPr/>
        </p:nvSpPr>
        <p:spPr>
          <a:xfrm>
            <a:off x="6400800" y="1490472"/>
            <a:ext cx="4297680" cy="384048"/>
          </a:xfrm>
          <a:prstGeom prst="roundRect">
            <a:avLst>
              <a:gd name="adj" fmla="val 28571"/>
            </a:avLst>
          </a:prstGeom>
          <a:solidFill>
            <a:srgbClr val="FFFFFF"/>
          </a:solidFill>
          <a:ln w="12700">
            <a:solidFill>
              <a:srgbClr val="E26D5A"/>
            </a:solidFill>
            <a:prstDash val="solid"/>
          </a:ln>
        </p:spPr>
      </p:sp>
      <p:sp>
        <p:nvSpPr>
          <p:cNvPr id="19" name="Text 17"/>
          <p:cNvSpPr/>
          <p:nvPr/>
        </p:nvSpPr>
        <p:spPr>
          <a:xfrm>
            <a:off x="6464808" y="1536192"/>
            <a:ext cx="4169664" cy="292608"/>
          </a:xfrm>
          <a:prstGeom prst="rect">
            <a:avLst/>
          </a:prstGeom>
          <a:noFill/>
          <a:ln/>
        </p:spPr>
        <p:txBody>
          <a:bodyPr wrap="square" lIns="762" tIns="762" rIns="762" bIns="762" rtlCol="0" anchor="ctr">
            <a:normAutofit/>
          </a:bodyPr>
          <a:lstStyle/>
          <a:p>
            <a:pPr algn="l" indent="0" marL="0">
              <a:buNone/>
            </a:pPr>
            <a:r>
              <a:rPr lang="en-US" sz="1250" dirty="0">
                <a:solidFill>
                  <a:srgbClr val="E26D5A"/>
                </a:solidFill>
                <a:latin typeface="Aptos" pitchFamily="34" charset="0"/>
                <a:ea typeface="Aptos" pitchFamily="34" charset="-122"/>
                <a:cs typeface="Aptos" pitchFamily="34" charset="-120"/>
              </a:rPr>
              <a:t>Loss function</a:t>
            </a:r>
            <a:endParaRPr lang="en-US" sz="1250" dirty="0"/>
          </a:p>
        </p:txBody>
      </p:sp>
      <p:sp>
        <p:nvSpPr>
          <p:cNvPr id="20" name="Shape 18"/>
          <p:cNvSpPr/>
          <p:nvPr/>
        </p:nvSpPr>
        <p:spPr>
          <a:xfrm>
            <a:off x="6400800" y="2020824"/>
            <a:ext cx="4297680" cy="384048"/>
          </a:xfrm>
          <a:prstGeom prst="roundRect">
            <a:avLst>
              <a:gd name="adj" fmla="val 28571"/>
            </a:avLst>
          </a:prstGeom>
          <a:solidFill>
            <a:srgbClr val="FFFFFF"/>
          </a:solidFill>
          <a:ln w="12700">
            <a:solidFill>
              <a:srgbClr val="E26D5A"/>
            </a:solidFill>
            <a:prstDash val="solid"/>
          </a:ln>
        </p:spPr>
      </p:sp>
      <p:sp>
        <p:nvSpPr>
          <p:cNvPr id="21" name="Text 19"/>
          <p:cNvSpPr/>
          <p:nvPr/>
        </p:nvSpPr>
        <p:spPr>
          <a:xfrm>
            <a:off x="6464808" y="2066544"/>
            <a:ext cx="4169664" cy="292608"/>
          </a:xfrm>
          <a:prstGeom prst="rect">
            <a:avLst/>
          </a:prstGeom>
          <a:noFill/>
          <a:ln/>
        </p:spPr>
        <p:txBody>
          <a:bodyPr wrap="square" lIns="762" tIns="762" rIns="762" bIns="762" rtlCol="0" anchor="ctr">
            <a:normAutofit/>
          </a:bodyPr>
          <a:lstStyle/>
          <a:p>
            <a:pPr algn="l" indent="0" marL="0">
              <a:buNone/>
            </a:pPr>
            <a:r>
              <a:rPr lang="en-US" sz="1250" dirty="0">
                <a:solidFill>
                  <a:srgbClr val="E26D5A"/>
                </a:solidFill>
                <a:latin typeface="Aptos" pitchFamily="34" charset="0"/>
                <a:ea typeface="Aptos" pitchFamily="34" charset="-122"/>
                <a:cs typeface="Aptos" pitchFamily="34" charset="-120"/>
              </a:rPr>
              <a:t>Backpropagation</a:t>
            </a:r>
            <a:endParaRPr lang="en-US" sz="1250" dirty="0"/>
          </a:p>
        </p:txBody>
      </p:sp>
      <p:sp>
        <p:nvSpPr>
          <p:cNvPr id="22" name="Shape 20"/>
          <p:cNvSpPr/>
          <p:nvPr/>
        </p:nvSpPr>
        <p:spPr>
          <a:xfrm>
            <a:off x="6400800" y="2551176"/>
            <a:ext cx="4297680" cy="384048"/>
          </a:xfrm>
          <a:prstGeom prst="roundRect">
            <a:avLst>
              <a:gd name="adj" fmla="val 28571"/>
            </a:avLst>
          </a:prstGeom>
          <a:solidFill>
            <a:srgbClr val="FFFFFF"/>
          </a:solidFill>
          <a:ln w="12700">
            <a:solidFill>
              <a:srgbClr val="E26D5A"/>
            </a:solidFill>
            <a:prstDash val="solid"/>
          </a:ln>
        </p:spPr>
      </p:sp>
      <p:sp>
        <p:nvSpPr>
          <p:cNvPr id="23" name="Text 21"/>
          <p:cNvSpPr/>
          <p:nvPr/>
        </p:nvSpPr>
        <p:spPr>
          <a:xfrm>
            <a:off x="6464808" y="2596896"/>
            <a:ext cx="4169664" cy="292608"/>
          </a:xfrm>
          <a:prstGeom prst="rect">
            <a:avLst/>
          </a:prstGeom>
          <a:noFill/>
          <a:ln/>
        </p:spPr>
        <p:txBody>
          <a:bodyPr wrap="square" lIns="762" tIns="762" rIns="762" bIns="762" rtlCol="0" anchor="ctr">
            <a:normAutofit/>
          </a:bodyPr>
          <a:lstStyle/>
          <a:p>
            <a:pPr algn="l" indent="0" marL="0">
              <a:buNone/>
            </a:pPr>
            <a:r>
              <a:rPr lang="en-US" sz="1250" dirty="0">
                <a:solidFill>
                  <a:srgbClr val="E26D5A"/>
                </a:solidFill>
                <a:latin typeface="Aptos" pitchFamily="34" charset="0"/>
                <a:ea typeface="Aptos" pitchFamily="34" charset="-122"/>
                <a:cs typeface="Aptos" pitchFamily="34" charset="-120"/>
              </a:rPr>
              <a:t>Optimizer cập nhật trọng số</a:t>
            </a:r>
            <a:endParaRPr lang="en-US" sz="1250" dirty="0"/>
          </a:p>
        </p:txBody>
      </p:sp>
      <p:sp>
        <p:nvSpPr>
          <p:cNvPr id="24" name="Shape 22"/>
          <p:cNvSpPr/>
          <p:nvPr/>
        </p:nvSpPr>
        <p:spPr>
          <a:xfrm>
            <a:off x="6400800" y="3081528"/>
            <a:ext cx="4297680" cy="384048"/>
          </a:xfrm>
          <a:prstGeom prst="roundRect">
            <a:avLst>
              <a:gd name="adj" fmla="val 28571"/>
            </a:avLst>
          </a:prstGeom>
          <a:solidFill>
            <a:srgbClr val="FFFFFF"/>
          </a:solidFill>
          <a:ln w="12700">
            <a:solidFill>
              <a:srgbClr val="E26D5A"/>
            </a:solidFill>
            <a:prstDash val="solid"/>
          </a:ln>
        </p:spPr>
      </p:sp>
      <p:sp>
        <p:nvSpPr>
          <p:cNvPr id="25" name="Text 23"/>
          <p:cNvSpPr/>
          <p:nvPr/>
        </p:nvSpPr>
        <p:spPr>
          <a:xfrm>
            <a:off x="6464808" y="3127248"/>
            <a:ext cx="4169664" cy="292608"/>
          </a:xfrm>
          <a:prstGeom prst="rect">
            <a:avLst/>
          </a:prstGeom>
          <a:noFill/>
          <a:ln/>
        </p:spPr>
        <p:txBody>
          <a:bodyPr wrap="square" lIns="762" tIns="762" rIns="762" bIns="762" rtlCol="0" anchor="ctr">
            <a:normAutofit/>
          </a:bodyPr>
          <a:lstStyle/>
          <a:p>
            <a:pPr algn="l" indent="0" marL="0">
              <a:buNone/>
            </a:pPr>
            <a:r>
              <a:rPr lang="en-US" sz="1250" dirty="0">
                <a:solidFill>
                  <a:srgbClr val="E26D5A"/>
                </a:solidFill>
                <a:latin typeface="Aptos" pitchFamily="34" charset="0"/>
                <a:ea typeface="Aptos" pitchFamily="34" charset="-122"/>
                <a:cs typeface="Aptos" pitchFamily="34" charset="-120"/>
              </a:rPr>
              <a:t>Teacher forcing với transcript đúng</a:t>
            </a:r>
            <a:endParaRPr lang="en-US" sz="1250" dirty="0"/>
          </a:p>
        </p:txBody>
      </p:sp>
      <p:sp>
        <p:nvSpPr>
          <p:cNvPr id="26" name="Shape 24"/>
          <p:cNvSpPr/>
          <p:nvPr/>
        </p:nvSpPr>
        <p:spPr>
          <a:xfrm>
            <a:off x="6400800" y="3611880"/>
            <a:ext cx="4297680" cy="384048"/>
          </a:xfrm>
          <a:prstGeom prst="roundRect">
            <a:avLst>
              <a:gd name="adj" fmla="val 28571"/>
            </a:avLst>
          </a:prstGeom>
          <a:solidFill>
            <a:srgbClr val="FFFFFF"/>
          </a:solidFill>
          <a:ln w="12700">
            <a:solidFill>
              <a:srgbClr val="E26D5A"/>
            </a:solidFill>
            <a:prstDash val="solid"/>
          </a:ln>
        </p:spPr>
      </p:sp>
      <p:sp>
        <p:nvSpPr>
          <p:cNvPr id="27" name="Text 25"/>
          <p:cNvSpPr/>
          <p:nvPr/>
        </p:nvSpPr>
        <p:spPr>
          <a:xfrm>
            <a:off x="6464808" y="3657600"/>
            <a:ext cx="4169664" cy="292608"/>
          </a:xfrm>
          <a:prstGeom prst="rect">
            <a:avLst/>
          </a:prstGeom>
          <a:noFill/>
          <a:ln/>
        </p:spPr>
        <p:txBody>
          <a:bodyPr wrap="square" lIns="762" tIns="762" rIns="762" bIns="762" rtlCol="0" anchor="ctr">
            <a:normAutofit/>
          </a:bodyPr>
          <a:lstStyle/>
          <a:p>
            <a:pPr algn="l" indent="0" marL="0">
              <a:buNone/>
            </a:pPr>
            <a:r>
              <a:rPr lang="en-US" sz="1250" dirty="0">
                <a:solidFill>
                  <a:srgbClr val="E26D5A"/>
                </a:solidFill>
                <a:latin typeface="Aptos" pitchFamily="34" charset="0"/>
                <a:ea typeface="Aptos" pitchFamily="34" charset="-122"/>
                <a:cs typeface="Aptos" pitchFamily="34" charset="-120"/>
              </a:rPr>
              <a:t>Data augmentation training</a:t>
            </a:r>
            <a:endParaRPr lang="en-US" sz="1250" dirty="0"/>
          </a:p>
        </p:txBody>
      </p:sp>
      <p:sp>
        <p:nvSpPr>
          <p:cNvPr id="28" name="Text 26"/>
          <p:cNvSpPr/>
          <p:nvPr/>
        </p:nvSpPr>
        <p:spPr>
          <a:xfrm>
            <a:off x="1051560" y="5166360"/>
            <a:ext cx="9692640" cy="402336"/>
          </a:xfrm>
          <a:prstGeom prst="rect">
            <a:avLst/>
          </a:prstGeom>
          <a:noFill/>
          <a:ln/>
        </p:spPr>
        <p:txBody>
          <a:bodyPr wrap="square" lIns="762" tIns="762" rIns="762" bIns="762" rtlCol="0" anchor="ctr">
            <a:normAutofit/>
          </a:bodyPr>
          <a:lstStyle/>
          <a:p>
            <a:pPr algn="ctr" indent="0" marL="0">
              <a:buNone/>
            </a:pPr>
            <a:r>
              <a:rPr lang="en-US" sz="1700" b="1" dirty="0">
                <a:solidFill>
                  <a:srgbClr val="12212B"/>
                </a:solidFill>
                <a:latin typeface="Aptos" pitchFamily="34" charset="0"/>
                <a:ea typeface="Aptos" pitchFamily="34" charset="-122"/>
                <a:cs typeface="Aptos" pitchFamily="34" charset="-120"/>
              </a:rPr>
              <a:t>Điểm cần nhớ: khi call center gửi audio vào model, trọng số không tự học thêm từ cuộc gọi đó.</a:t>
            </a:r>
            <a:endParaRPr lang="en-US" sz="1700" dirty="0"/>
          </a:p>
        </p:txBody>
      </p:sp>
      <p:sp>
        <p:nvSpPr>
          <p:cNvPr id="29" name="Shape 27"/>
          <p:cNvSpPr/>
          <p:nvPr/>
        </p:nvSpPr>
        <p:spPr>
          <a:xfrm>
            <a:off x="438912" y="6199632"/>
            <a:ext cx="2377440" cy="310896"/>
          </a:xfrm>
          <a:prstGeom prst="roundRect">
            <a:avLst>
              <a:gd name="adj" fmla="val 44118"/>
            </a:avLst>
          </a:prstGeom>
          <a:solidFill>
            <a:srgbClr val="E8F2F6"/>
          </a:solidFill>
          <a:ln w="12700">
            <a:solidFill>
              <a:srgbClr val="E8F2F6"/>
            </a:solidFill>
            <a:prstDash val="solid"/>
          </a:ln>
        </p:spPr>
      </p:sp>
      <p:sp>
        <p:nvSpPr>
          <p:cNvPr id="30" name="Text 28"/>
          <p:cNvSpPr/>
          <p:nvPr/>
        </p:nvSpPr>
        <p:spPr>
          <a:xfrm>
            <a:off x="512064" y="6259068"/>
            <a:ext cx="2231136" cy="201168"/>
          </a:xfrm>
          <a:prstGeom prst="rect">
            <a:avLst/>
          </a:prstGeom>
          <a:noFill/>
          <a:ln/>
        </p:spPr>
        <p:txBody>
          <a:bodyPr wrap="square" lIns="0" tIns="0" rIns="0" bIns="0" rtlCol="0" anchor="ctr">
            <a:normAutofit/>
          </a:bodyPr>
          <a:lstStyle/>
          <a:p>
            <a:pPr algn="ctr" indent="0" marL="0">
              <a:buNone/>
            </a:pPr>
            <a:r>
              <a:rPr lang="en-US" sz="950" b="1" dirty="0">
                <a:solidFill>
                  <a:srgbClr val="175D7C"/>
                </a:solidFill>
                <a:latin typeface="Aptos" pitchFamily="34" charset="0"/>
                <a:ea typeface="Aptos" pitchFamily="34" charset="-122"/>
                <a:cs typeface="Aptos" pitchFamily="34" charset="-120"/>
              </a:rPr>
              <a:t>Runtime</a:t>
            </a:r>
            <a:endParaRPr lang="en-US" sz="950" dirty="0"/>
          </a:p>
        </p:txBody>
      </p:sp>
      <p:sp>
        <p:nvSpPr>
          <p:cNvPr id="25" name="Slide Number Placeholder 0"/>
          <p:cNvSpPr>
            <a:spLocks noGrp="1"/>
          </p:cNvSpPr>
          <p:nvPr>
            <p:ph type="sldNum" sz="quarter" idx="4294967295"/>
          </p:nvPr>
        </p:nvSpPr>
        <p:spPr>
          <a:xfrm>
            <a:off x="11841480" y="6519672"/>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7C8794"/>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420624" y="256032"/>
            <a:ext cx="9875520" cy="384048"/>
          </a:xfrm>
          <a:prstGeom prst="rect">
            <a:avLst/>
          </a:prstGeom>
          <a:noFill/>
          <a:ln/>
        </p:spPr>
        <p:txBody>
          <a:bodyPr wrap="square" lIns="0" tIns="0" rIns="0" bIns="0" rtlCol="0" anchor="ctr"/>
          <a:lstStyle/>
          <a:p>
            <a:pPr indent="0" marL="0">
              <a:buNone/>
            </a:pPr>
            <a:r>
              <a:rPr lang="en-US" sz="2500" b="1" dirty="0">
                <a:solidFill>
                  <a:srgbClr val="12212B"/>
                </a:solidFill>
                <a:latin typeface="Aptos Display" pitchFamily="34" charset="0"/>
                <a:ea typeface="Aptos Display" pitchFamily="34" charset="-122"/>
                <a:cs typeface="Aptos Display" pitchFamily="34" charset="-120"/>
              </a:rPr>
              <a:t>Timestamp, diarization, dấu câu, streaming</a:t>
            </a:r>
            <a:endParaRPr lang="en-US" sz="2500" dirty="0"/>
          </a:p>
        </p:txBody>
      </p:sp>
      <p:sp>
        <p:nvSpPr>
          <p:cNvPr id="3" name="Text 1"/>
          <p:cNvSpPr/>
          <p:nvPr/>
        </p:nvSpPr>
        <p:spPr>
          <a:xfrm>
            <a:off x="438912" y="694944"/>
            <a:ext cx="9875520" cy="256032"/>
          </a:xfrm>
          <a:prstGeom prst="rect">
            <a:avLst/>
          </a:prstGeom>
          <a:noFill/>
          <a:ln/>
        </p:spPr>
        <p:txBody>
          <a:bodyPr wrap="square" lIns="0" tIns="0" rIns="0" bIns="0" rtlCol="0" anchor="ctr"/>
          <a:lstStyle/>
          <a:p>
            <a:pPr indent="0" marL="0">
              <a:buNone/>
            </a:pPr>
            <a:r>
              <a:rPr lang="en-US" sz="1050" dirty="0">
                <a:solidFill>
                  <a:srgbClr val="516271"/>
                </a:solidFill>
              </a:rPr>
              <a:t>Không phải tính năng nào cũng nằm bên trong model checkpoint</a:t>
            </a:r>
            <a:endParaRPr lang="en-US" sz="1050" dirty="0"/>
          </a:p>
        </p:txBody>
      </p:sp>
      <p:sp>
        <p:nvSpPr>
          <p:cNvPr id="4" name="Shape 2"/>
          <p:cNvSpPr/>
          <p:nvPr/>
        </p:nvSpPr>
        <p:spPr>
          <a:xfrm>
            <a:off x="914400" y="1143000"/>
            <a:ext cx="1828800" cy="502920"/>
          </a:xfrm>
          <a:prstGeom prst="roundRect">
            <a:avLst>
              <a:gd name="adj" fmla="val 21818"/>
            </a:avLst>
          </a:prstGeom>
          <a:solidFill>
            <a:srgbClr val="FFFFFF"/>
          </a:solidFill>
          <a:ln w="12700">
            <a:solidFill>
              <a:srgbClr val="175D7C"/>
            </a:solidFill>
            <a:prstDash val="solid"/>
          </a:ln>
        </p:spPr>
      </p:sp>
      <p:sp>
        <p:nvSpPr>
          <p:cNvPr id="5" name="Text 3"/>
          <p:cNvSpPr/>
          <p:nvPr/>
        </p:nvSpPr>
        <p:spPr>
          <a:xfrm>
            <a:off x="978408" y="1188720"/>
            <a:ext cx="1700784" cy="411480"/>
          </a:xfrm>
          <a:prstGeom prst="rect">
            <a:avLst/>
          </a:prstGeom>
          <a:noFill/>
          <a:ln/>
        </p:spPr>
        <p:txBody>
          <a:bodyPr wrap="square" lIns="762" tIns="762" rIns="762" bIns="762" rtlCol="0" anchor="ctr">
            <a:normAutofit/>
          </a:bodyPr>
          <a:lstStyle/>
          <a:p>
            <a:pPr algn="ctr" indent="0" marL="0">
              <a:buNone/>
            </a:pPr>
            <a:r>
              <a:rPr lang="en-US" sz="1600" b="1" dirty="0">
                <a:solidFill>
                  <a:srgbClr val="175D7C"/>
                </a:solidFill>
                <a:latin typeface="Aptos" pitchFamily="34" charset="0"/>
                <a:ea typeface="Aptos" pitchFamily="34" charset="-122"/>
                <a:cs typeface="Aptos" pitchFamily="34" charset="-120"/>
              </a:rPr>
              <a:t>Timestamp</a:t>
            </a:r>
            <a:endParaRPr lang="en-US" sz="1600" dirty="0"/>
          </a:p>
        </p:txBody>
      </p:sp>
      <p:sp>
        <p:nvSpPr>
          <p:cNvPr id="6" name="Text 4"/>
          <p:cNvSpPr/>
          <p:nvPr/>
        </p:nvSpPr>
        <p:spPr>
          <a:xfrm>
            <a:off x="2971800" y="1188720"/>
            <a:ext cx="3063240" cy="438912"/>
          </a:xfrm>
          <a:prstGeom prst="rect">
            <a:avLst/>
          </a:prstGeom>
          <a:noFill/>
          <a:ln/>
        </p:spPr>
        <p:txBody>
          <a:bodyPr wrap="square" lIns="762" tIns="762" rIns="762" bIns="762" rtlCol="0" anchor="ctr">
            <a:normAutofit/>
          </a:bodyPr>
          <a:lstStyle/>
          <a:p>
            <a:pPr algn="l" indent="0" marL="0">
              <a:buNone/>
            </a:pPr>
            <a:r>
              <a:rPr lang="en-US" sz="1240" dirty="0">
                <a:solidFill>
                  <a:srgbClr val="12212B"/>
                </a:solidFill>
                <a:latin typeface="Aptos" pitchFamily="34" charset="0"/>
                <a:ea typeface="Aptos" pitchFamily="34" charset="-122"/>
                <a:cs typeface="Aptos" pitchFamily="34" charset="-120"/>
              </a:rPr>
              <a:t>Whisper có token timestamp; pipeline có thể bật/tắt hoặc hậu xử lý.</a:t>
            </a:r>
            <a:endParaRPr lang="en-US" sz="1240" dirty="0"/>
          </a:p>
        </p:txBody>
      </p:sp>
      <p:sp>
        <p:nvSpPr>
          <p:cNvPr id="7" name="Shape 5"/>
          <p:cNvSpPr/>
          <p:nvPr/>
        </p:nvSpPr>
        <p:spPr>
          <a:xfrm>
            <a:off x="914400" y="3108960"/>
            <a:ext cx="1828800" cy="502920"/>
          </a:xfrm>
          <a:prstGeom prst="roundRect">
            <a:avLst>
              <a:gd name="adj" fmla="val 21818"/>
            </a:avLst>
          </a:prstGeom>
          <a:solidFill>
            <a:srgbClr val="FFFFFF"/>
          </a:solidFill>
          <a:ln w="12700">
            <a:solidFill>
              <a:srgbClr val="E26D5A"/>
            </a:solidFill>
            <a:prstDash val="solid"/>
          </a:ln>
        </p:spPr>
      </p:sp>
      <p:sp>
        <p:nvSpPr>
          <p:cNvPr id="8" name="Text 6"/>
          <p:cNvSpPr/>
          <p:nvPr/>
        </p:nvSpPr>
        <p:spPr>
          <a:xfrm>
            <a:off x="978408" y="3154680"/>
            <a:ext cx="1700784" cy="411480"/>
          </a:xfrm>
          <a:prstGeom prst="rect">
            <a:avLst/>
          </a:prstGeom>
          <a:noFill/>
          <a:ln/>
        </p:spPr>
        <p:txBody>
          <a:bodyPr wrap="square" lIns="762" tIns="762" rIns="762" bIns="762" rtlCol="0" anchor="ctr">
            <a:normAutofit/>
          </a:bodyPr>
          <a:lstStyle/>
          <a:p>
            <a:pPr algn="ctr" indent="0" marL="0">
              <a:buNone/>
            </a:pPr>
            <a:r>
              <a:rPr lang="en-US" sz="1600" b="1" dirty="0">
                <a:solidFill>
                  <a:srgbClr val="E26D5A"/>
                </a:solidFill>
                <a:latin typeface="Aptos" pitchFamily="34" charset="0"/>
                <a:ea typeface="Aptos" pitchFamily="34" charset="-122"/>
                <a:cs typeface="Aptos" pitchFamily="34" charset="-120"/>
              </a:rPr>
              <a:t>Diarization</a:t>
            </a:r>
            <a:endParaRPr lang="en-US" sz="1600" dirty="0"/>
          </a:p>
        </p:txBody>
      </p:sp>
      <p:sp>
        <p:nvSpPr>
          <p:cNvPr id="9" name="Text 7"/>
          <p:cNvSpPr/>
          <p:nvPr/>
        </p:nvSpPr>
        <p:spPr>
          <a:xfrm>
            <a:off x="2971800" y="3154680"/>
            <a:ext cx="3063240" cy="438912"/>
          </a:xfrm>
          <a:prstGeom prst="rect">
            <a:avLst/>
          </a:prstGeom>
          <a:noFill/>
          <a:ln/>
        </p:spPr>
        <p:txBody>
          <a:bodyPr wrap="square" lIns="762" tIns="762" rIns="762" bIns="762" rtlCol="0" anchor="ctr">
            <a:normAutofit/>
          </a:bodyPr>
          <a:lstStyle/>
          <a:p>
            <a:pPr algn="l" indent="0" marL="0">
              <a:buNone/>
            </a:pPr>
            <a:r>
              <a:rPr lang="en-US" sz="1240" dirty="0">
                <a:solidFill>
                  <a:srgbClr val="12212B"/>
                </a:solidFill>
                <a:latin typeface="Aptos" pitchFamily="34" charset="0"/>
                <a:ea typeface="Aptos" pitchFamily="34" charset="-122"/>
                <a:cs typeface="Aptos" pitchFamily="34" charset="-120"/>
              </a:rPr>
              <a:t>Tách người nói thường cần model ngoài như speaker diarization.</a:t>
            </a:r>
            <a:endParaRPr lang="en-US" sz="1240" dirty="0"/>
          </a:p>
        </p:txBody>
      </p:sp>
      <p:sp>
        <p:nvSpPr>
          <p:cNvPr id="10" name="Shape 8"/>
          <p:cNvSpPr/>
          <p:nvPr/>
        </p:nvSpPr>
        <p:spPr>
          <a:xfrm>
            <a:off x="6400800" y="1143000"/>
            <a:ext cx="1828800" cy="502920"/>
          </a:xfrm>
          <a:prstGeom prst="roundRect">
            <a:avLst>
              <a:gd name="adj" fmla="val 21818"/>
            </a:avLst>
          </a:prstGeom>
          <a:solidFill>
            <a:srgbClr val="FFFFFF"/>
          </a:solidFill>
          <a:ln w="12700">
            <a:solidFill>
              <a:srgbClr val="2A67B1"/>
            </a:solidFill>
            <a:prstDash val="solid"/>
          </a:ln>
        </p:spPr>
      </p:sp>
      <p:sp>
        <p:nvSpPr>
          <p:cNvPr id="11" name="Text 9"/>
          <p:cNvSpPr/>
          <p:nvPr/>
        </p:nvSpPr>
        <p:spPr>
          <a:xfrm>
            <a:off x="6464808" y="1188720"/>
            <a:ext cx="1700784" cy="411480"/>
          </a:xfrm>
          <a:prstGeom prst="rect">
            <a:avLst/>
          </a:prstGeom>
          <a:noFill/>
          <a:ln/>
        </p:spPr>
        <p:txBody>
          <a:bodyPr wrap="square" lIns="762" tIns="762" rIns="762" bIns="762" rtlCol="0" anchor="ctr">
            <a:normAutofit/>
          </a:bodyPr>
          <a:lstStyle/>
          <a:p>
            <a:pPr algn="ctr" indent="0" marL="0">
              <a:buNone/>
            </a:pPr>
            <a:r>
              <a:rPr lang="en-US" sz="1600" b="1" dirty="0">
                <a:solidFill>
                  <a:srgbClr val="2A67B1"/>
                </a:solidFill>
                <a:latin typeface="Aptos" pitchFamily="34" charset="0"/>
                <a:ea typeface="Aptos" pitchFamily="34" charset="-122"/>
                <a:cs typeface="Aptos" pitchFamily="34" charset="-120"/>
              </a:rPr>
              <a:t>Dấu câu</a:t>
            </a:r>
            <a:endParaRPr lang="en-US" sz="1600" dirty="0"/>
          </a:p>
        </p:txBody>
      </p:sp>
      <p:sp>
        <p:nvSpPr>
          <p:cNvPr id="12" name="Text 10"/>
          <p:cNvSpPr/>
          <p:nvPr/>
        </p:nvSpPr>
        <p:spPr>
          <a:xfrm>
            <a:off x="8458200" y="1188720"/>
            <a:ext cx="3063240" cy="438912"/>
          </a:xfrm>
          <a:prstGeom prst="rect">
            <a:avLst/>
          </a:prstGeom>
          <a:noFill/>
          <a:ln/>
        </p:spPr>
        <p:txBody>
          <a:bodyPr wrap="square" lIns="762" tIns="762" rIns="762" bIns="762" rtlCol="0" anchor="ctr">
            <a:normAutofit/>
          </a:bodyPr>
          <a:lstStyle/>
          <a:p>
            <a:pPr algn="l" indent="0" marL="0">
              <a:buNone/>
            </a:pPr>
            <a:r>
              <a:rPr lang="en-US" sz="1240" dirty="0">
                <a:solidFill>
                  <a:srgbClr val="12212B"/>
                </a:solidFill>
                <a:latin typeface="Aptos" pitchFamily="34" charset="0"/>
                <a:ea typeface="Aptos" pitchFamily="34" charset="-122"/>
                <a:cs typeface="Aptos" pitchFamily="34" charset="-120"/>
              </a:rPr>
              <a:t>Có thể do model sinh trong transcript, nhưng cần kiểm tra chất lượng thực tế.</a:t>
            </a:r>
            <a:endParaRPr lang="en-US" sz="1240" dirty="0"/>
          </a:p>
        </p:txBody>
      </p:sp>
      <p:sp>
        <p:nvSpPr>
          <p:cNvPr id="13" name="Shape 11"/>
          <p:cNvSpPr/>
          <p:nvPr/>
        </p:nvSpPr>
        <p:spPr>
          <a:xfrm>
            <a:off x="6400800" y="3108960"/>
            <a:ext cx="1828800" cy="502920"/>
          </a:xfrm>
          <a:prstGeom prst="roundRect">
            <a:avLst>
              <a:gd name="adj" fmla="val 21818"/>
            </a:avLst>
          </a:prstGeom>
          <a:solidFill>
            <a:srgbClr val="FFFFFF"/>
          </a:solidFill>
          <a:ln w="12700">
            <a:solidFill>
              <a:srgbClr val="6D5BD0"/>
            </a:solidFill>
            <a:prstDash val="solid"/>
          </a:ln>
        </p:spPr>
      </p:sp>
      <p:sp>
        <p:nvSpPr>
          <p:cNvPr id="14" name="Text 12"/>
          <p:cNvSpPr/>
          <p:nvPr/>
        </p:nvSpPr>
        <p:spPr>
          <a:xfrm>
            <a:off x="6464808" y="3154680"/>
            <a:ext cx="1700784" cy="411480"/>
          </a:xfrm>
          <a:prstGeom prst="rect">
            <a:avLst/>
          </a:prstGeom>
          <a:noFill/>
          <a:ln/>
        </p:spPr>
        <p:txBody>
          <a:bodyPr wrap="square" lIns="762" tIns="762" rIns="762" bIns="762" rtlCol="0" anchor="ctr">
            <a:normAutofit/>
          </a:bodyPr>
          <a:lstStyle/>
          <a:p>
            <a:pPr algn="ctr" indent="0" marL="0">
              <a:buNone/>
            </a:pPr>
            <a:r>
              <a:rPr lang="en-US" sz="1600" b="1" dirty="0">
                <a:solidFill>
                  <a:srgbClr val="6D5BD0"/>
                </a:solidFill>
                <a:latin typeface="Aptos" pitchFamily="34" charset="0"/>
                <a:ea typeface="Aptos" pitchFamily="34" charset="-122"/>
                <a:cs typeface="Aptos" pitchFamily="34" charset="-120"/>
              </a:rPr>
              <a:t>Streaming</a:t>
            </a:r>
            <a:endParaRPr lang="en-US" sz="1600" dirty="0"/>
          </a:p>
        </p:txBody>
      </p:sp>
      <p:sp>
        <p:nvSpPr>
          <p:cNvPr id="15" name="Text 13"/>
          <p:cNvSpPr/>
          <p:nvPr/>
        </p:nvSpPr>
        <p:spPr>
          <a:xfrm>
            <a:off x="8458200" y="3154680"/>
            <a:ext cx="3063240" cy="438912"/>
          </a:xfrm>
          <a:prstGeom prst="rect">
            <a:avLst/>
          </a:prstGeom>
          <a:noFill/>
          <a:ln/>
        </p:spPr>
        <p:txBody>
          <a:bodyPr wrap="square" lIns="762" tIns="762" rIns="762" bIns="762" rtlCol="0" anchor="ctr">
            <a:normAutofit/>
          </a:bodyPr>
          <a:lstStyle/>
          <a:p>
            <a:pPr algn="l" indent="0" marL="0">
              <a:buNone/>
            </a:pPr>
            <a:r>
              <a:rPr lang="en-US" sz="1240" dirty="0">
                <a:solidFill>
                  <a:srgbClr val="12212B"/>
                </a:solidFill>
                <a:latin typeface="Aptos" pitchFamily="34" charset="0"/>
                <a:ea typeface="Aptos" pitchFamily="34" charset="-122"/>
                <a:cs typeface="Aptos" pitchFamily="34" charset="-120"/>
              </a:rPr>
              <a:t>Whisper gốc xử lý theo cửa sổ; realtime thường là kỹ thuật pipeline/chunking.</a:t>
            </a:r>
            <a:endParaRPr lang="en-US" sz="1240" dirty="0"/>
          </a:p>
        </p:txBody>
      </p:sp>
      <p:sp>
        <p:nvSpPr>
          <p:cNvPr id="16" name="Shape 14"/>
          <p:cNvSpPr/>
          <p:nvPr/>
        </p:nvSpPr>
        <p:spPr>
          <a:xfrm>
            <a:off x="1828800" y="5257800"/>
            <a:ext cx="8503920" cy="594360"/>
          </a:xfrm>
          <a:prstGeom prst="roundRect">
            <a:avLst>
              <a:gd name="adj" fmla="val 18462"/>
            </a:avLst>
          </a:prstGeom>
          <a:solidFill>
            <a:srgbClr val="FFFFFF"/>
          </a:solidFill>
          <a:ln w="12700">
            <a:solidFill>
              <a:srgbClr val="175D7C"/>
            </a:solidFill>
            <a:prstDash val="solid"/>
          </a:ln>
        </p:spPr>
      </p:sp>
      <p:sp>
        <p:nvSpPr>
          <p:cNvPr id="17" name="Text 15"/>
          <p:cNvSpPr/>
          <p:nvPr/>
        </p:nvSpPr>
        <p:spPr>
          <a:xfrm>
            <a:off x="1892808" y="5303520"/>
            <a:ext cx="8375904" cy="502920"/>
          </a:xfrm>
          <a:prstGeom prst="rect">
            <a:avLst/>
          </a:prstGeom>
          <a:noFill/>
          <a:ln/>
        </p:spPr>
        <p:txBody>
          <a:bodyPr wrap="square" lIns="762" tIns="762" rIns="762" bIns="762" rtlCol="0" anchor="ctr">
            <a:normAutofit/>
          </a:bodyPr>
          <a:lstStyle/>
          <a:p>
            <a:pPr algn="ctr" indent="0" marL="0">
              <a:buNone/>
            </a:pPr>
            <a:r>
              <a:rPr lang="en-US" sz="1700" b="1" dirty="0">
                <a:solidFill>
                  <a:srgbClr val="175D7C"/>
                </a:solidFill>
                <a:latin typeface="Aptos" pitchFamily="34" charset="0"/>
                <a:ea typeface="Aptos" pitchFamily="34" charset="-122"/>
                <a:cs typeface="Aptos" pitchFamily="34" charset="-120"/>
              </a:rPr>
              <a:t>Call center cần xác định rõ yêu cầu: transcript đủ hay cần ai nói, nói lúc nào, nói realtime?</a:t>
            </a:r>
            <a:endParaRPr lang="en-US" sz="1700" dirty="0"/>
          </a:p>
        </p:txBody>
      </p:sp>
      <p:sp>
        <p:nvSpPr>
          <p:cNvPr id="18" name="Shape 16"/>
          <p:cNvSpPr/>
          <p:nvPr/>
        </p:nvSpPr>
        <p:spPr>
          <a:xfrm>
            <a:off x="438912" y="6199632"/>
            <a:ext cx="2377440" cy="310896"/>
          </a:xfrm>
          <a:prstGeom prst="roundRect">
            <a:avLst>
              <a:gd name="adj" fmla="val 44118"/>
            </a:avLst>
          </a:prstGeom>
          <a:solidFill>
            <a:srgbClr val="E8F2F6"/>
          </a:solidFill>
          <a:ln w="12700">
            <a:solidFill>
              <a:srgbClr val="E8F2F6"/>
            </a:solidFill>
            <a:prstDash val="solid"/>
          </a:ln>
        </p:spPr>
      </p:sp>
      <p:sp>
        <p:nvSpPr>
          <p:cNvPr id="19" name="Text 17"/>
          <p:cNvSpPr/>
          <p:nvPr/>
        </p:nvSpPr>
        <p:spPr>
          <a:xfrm>
            <a:off x="512064" y="6259068"/>
            <a:ext cx="2231136" cy="201168"/>
          </a:xfrm>
          <a:prstGeom prst="rect">
            <a:avLst/>
          </a:prstGeom>
          <a:noFill/>
          <a:ln/>
        </p:spPr>
        <p:txBody>
          <a:bodyPr wrap="square" lIns="0" tIns="0" rIns="0" bIns="0" rtlCol="0" anchor="ctr">
            <a:normAutofit/>
          </a:bodyPr>
          <a:lstStyle/>
          <a:p>
            <a:pPr algn="ctr" indent="0" marL="0">
              <a:buNone/>
            </a:pPr>
            <a:r>
              <a:rPr lang="en-US" sz="950" b="1" dirty="0">
                <a:solidFill>
                  <a:srgbClr val="175D7C"/>
                </a:solidFill>
                <a:latin typeface="Aptos" pitchFamily="34" charset="0"/>
                <a:ea typeface="Aptos" pitchFamily="34" charset="-122"/>
                <a:cs typeface="Aptos" pitchFamily="34" charset="-120"/>
              </a:rPr>
              <a:t>Capabilities</a:t>
            </a:r>
            <a:endParaRPr lang="en-US" sz="950" dirty="0"/>
          </a:p>
        </p:txBody>
      </p:sp>
      <p:sp>
        <p:nvSpPr>
          <p:cNvPr id="25" name="Slide Number Placeholder 0"/>
          <p:cNvSpPr>
            <a:spLocks noGrp="1"/>
          </p:cNvSpPr>
          <p:nvPr>
            <p:ph type="sldNum" sz="quarter" idx="4294967295"/>
          </p:nvPr>
        </p:nvSpPr>
        <p:spPr>
          <a:xfrm>
            <a:off x="11841480" y="6519672"/>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7C8794"/>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420624" y="256032"/>
            <a:ext cx="9875520" cy="384048"/>
          </a:xfrm>
          <a:prstGeom prst="rect">
            <a:avLst/>
          </a:prstGeom>
          <a:noFill/>
          <a:ln/>
        </p:spPr>
        <p:txBody>
          <a:bodyPr wrap="square" lIns="0" tIns="0" rIns="0" bIns="0" rtlCol="0" anchor="ctr"/>
          <a:lstStyle/>
          <a:p>
            <a:pPr indent="0" marL="0">
              <a:buNone/>
            </a:pPr>
            <a:r>
              <a:rPr lang="en-US" sz="2500" b="1" dirty="0">
                <a:solidFill>
                  <a:srgbClr val="12212B"/>
                </a:solidFill>
                <a:latin typeface="Aptos Display" pitchFamily="34" charset="0"/>
                <a:ea typeface="Aptos Display" pitchFamily="34" charset="-122"/>
                <a:cs typeface="Aptos Display" pitchFamily="34" charset="-120"/>
              </a:rPr>
              <a:t>Kiến trúc đề xuất cho Dai-ichi Life VN Call Center</a:t>
            </a:r>
            <a:endParaRPr lang="en-US" sz="2500" dirty="0"/>
          </a:p>
        </p:txBody>
      </p:sp>
      <p:sp>
        <p:nvSpPr>
          <p:cNvPr id="3" name="Text 1"/>
          <p:cNvSpPr/>
          <p:nvPr/>
        </p:nvSpPr>
        <p:spPr>
          <a:xfrm>
            <a:off x="438912" y="694944"/>
            <a:ext cx="9875520" cy="256032"/>
          </a:xfrm>
          <a:prstGeom prst="rect">
            <a:avLst/>
          </a:prstGeom>
          <a:noFill/>
          <a:ln/>
        </p:spPr>
        <p:txBody>
          <a:bodyPr wrap="square" lIns="0" tIns="0" rIns="0" bIns="0" rtlCol="0" anchor="ctr"/>
          <a:lstStyle/>
          <a:p>
            <a:pPr indent="0" marL="0">
              <a:buNone/>
            </a:pPr>
            <a:r>
              <a:rPr lang="en-US" sz="1050" dirty="0">
                <a:solidFill>
                  <a:srgbClr val="516271"/>
                </a:solidFill>
              </a:rPr>
              <a:t>Tách rõ lõi ASR và các lớp nghiệp vụ xung quanh</a:t>
            </a:r>
            <a:endParaRPr lang="en-US" sz="1050" dirty="0"/>
          </a:p>
        </p:txBody>
      </p:sp>
      <p:sp>
        <p:nvSpPr>
          <p:cNvPr id="4" name="Shape 2"/>
          <p:cNvSpPr/>
          <p:nvPr/>
        </p:nvSpPr>
        <p:spPr>
          <a:xfrm>
            <a:off x="685800" y="1188720"/>
            <a:ext cx="1417320" cy="530352"/>
          </a:xfrm>
          <a:prstGeom prst="roundRect">
            <a:avLst>
              <a:gd name="adj" fmla="val 20690"/>
            </a:avLst>
          </a:prstGeom>
          <a:solidFill>
            <a:srgbClr val="FFFFFF"/>
          </a:solidFill>
          <a:ln w="12700">
            <a:solidFill>
              <a:srgbClr val="175D7C"/>
            </a:solidFill>
            <a:prstDash val="solid"/>
          </a:ln>
        </p:spPr>
      </p:sp>
      <p:sp>
        <p:nvSpPr>
          <p:cNvPr id="5" name="Text 3"/>
          <p:cNvSpPr/>
          <p:nvPr/>
        </p:nvSpPr>
        <p:spPr>
          <a:xfrm>
            <a:off x="749808" y="1234440"/>
            <a:ext cx="1289304" cy="438912"/>
          </a:xfrm>
          <a:prstGeom prst="rect">
            <a:avLst/>
          </a:prstGeom>
          <a:noFill/>
          <a:ln/>
        </p:spPr>
        <p:txBody>
          <a:bodyPr wrap="square" lIns="762" tIns="762" rIns="762" bIns="762" rtlCol="0" anchor="ctr">
            <a:normAutofit/>
          </a:bodyPr>
          <a:lstStyle/>
          <a:p>
            <a:pPr algn="ctr" indent="0" marL="0">
              <a:buNone/>
            </a:pPr>
            <a:r>
              <a:rPr lang="en-US" sz="1250" b="1" dirty="0">
                <a:solidFill>
                  <a:srgbClr val="12212B"/>
                </a:solidFill>
                <a:latin typeface="Aptos" pitchFamily="34" charset="0"/>
                <a:ea typeface="Aptos" pitchFamily="34" charset="-122"/>
                <a:cs typeface="Aptos" pitchFamily="34" charset="-120"/>
              </a:rPr>
              <a:t>Audio cuộc gọi</a:t>
            </a:r>
            <a:endParaRPr lang="en-US" sz="1250" dirty="0"/>
          </a:p>
        </p:txBody>
      </p:sp>
      <p:sp>
        <p:nvSpPr>
          <p:cNvPr id="6" name="Shape 4"/>
          <p:cNvSpPr/>
          <p:nvPr/>
        </p:nvSpPr>
        <p:spPr>
          <a:xfrm>
            <a:off x="2240280" y="1453896"/>
            <a:ext cx="393192" cy="0"/>
          </a:xfrm>
          <a:prstGeom prst="line">
            <a:avLst/>
          </a:prstGeom>
          <a:noFill/>
          <a:ln w="12700">
            <a:solidFill>
              <a:srgbClr val="AAB7C3"/>
            </a:solidFill>
            <a:prstDash val="solid"/>
            <a:headEnd type="none"/>
            <a:tailEnd type="triangle"/>
          </a:ln>
        </p:spPr>
      </p:sp>
      <p:sp>
        <p:nvSpPr>
          <p:cNvPr id="7" name="Shape 5"/>
          <p:cNvSpPr/>
          <p:nvPr/>
        </p:nvSpPr>
        <p:spPr>
          <a:xfrm>
            <a:off x="2743200" y="1188720"/>
            <a:ext cx="1325880" cy="530352"/>
          </a:xfrm>
          <a:prstGeom prst="roundRect">
            <a:avLst>
              <a:gd name="adj" fmla="val 20690"/>
            </a:avLst>
          </a:prstGeom>
          <a:solidFill>
            <a:srgbClr val="FFFFFF"/>
          </a:solidFill>
          <a:ln w="12700">
            <a:solidFill>
              <a:srgbClr val="2A67B1"/>
            </a:solidFill>
            <a:prstDash val="solid"/>
          </a:ln>
        </p:spPr>
      </p:sp>
      <p:sp>
        <p:nvSpPr>
          <p:cNvPr id="8" name="Text 6"/>
          <p:cNvSpPr/>
          <p:nvPr/>
        </p:nvSpPr>
        <p:spPr>
          <a:xfrm>
            <a:off x="2807208" y="1234440"/>
            <a:ext cx="1197864" cy="438912"/>
          </a:xfrm>
          <a:prstGeom prst="rect">
            <a:avLst/>
          </a:prstGeom>
          <a:noFill/>
          <a:ln/>
        </p:spPr>
        <p:txBody>
          <a:bodyPr wrap="square" lIns="762" tIns="762" rIns="762" bIns="762" rtlCol="0" anchor="ctr">
            <a:normAutofit/>
          </a:bodyPr>
          <a:lstStyle/>
          <a:p>
            <a:pPr algn="ctr" indent="0" marL="0">
              <a:buNone/>
            </a:pPr>
            <a:r>
              <a:rPr lang="en-US" sz="1150" b="1" dirty="0">
                <a:solidFill>
                  <a:srgbClr val="12212B"/>
                </a:solidFill>
                <a:latin typeface="Aptos" pitchFamily="34" charset="0"/>
                <a:ea typeface="Aptos" pitchFamily="34" charset="-122"/>
                <a:cs typeface="Aptos" pitchFamily="34" charset="-120"/>
              </a:rPr>
              <a:t>Chuẩn hóa</a:t>
            </a:r>
            <a:endParaRPr lang="en-US" sz="1150" dirty="0"/>
          </a:p>
          <a:p>
            <a:pPr algn="ctr" indent="0" marL="0">
              <a:buNone/>
            </a:pPr>
            <a:r>
              <a:rPr lang="en-US" sz="1150" b="1" dirty="0">
                <a:solidFill>
                  <a:srgbClr val="12212B"/>
                </a:solidFill>
                <a:latin typeface="Aptos" pitchFamily="34" charset="0"/>
                <a:ea typeface="Aptos" pitchFamily="34" charset="-122"/>
                <a:cs typeface="Aptos" pitchFamily="34" charset="-120"/>
              </a:rPr>
              <a:t>16k mono</a:t>
            </a:r>
            <a:endParaRPr lang="en-US" sz="1150" dirty="0"/>
          </a:p>
        </p:txBody>
      </p:sp>
      <p:sp>
        <p:nvSpPr>
          <p:cNvPr id="9" name="Shape 7"/>
          <p:cNvSpPr/>
          <p:nvPr/>
        </p:nvSpPr>
        <p:spPr>
          <a:xfrm>
            <a:off x="4206240" y="1453896"/>
            <a:ext cx="393192" cy="0"/>
          </a:xfrm>
          <a:prstGeom prst="line">
            <a:avLst/>
          </a:prstGeom>
          <a:noFill/>
          <a:ln w="12700">
            <a:solidFill>
              <a:srgbClr val="AAB7C3"/>
            </a:solidFill>
            <a:prstDash val="solid"/>
            <a:headEnd type="none"/>
            <a:tailEnd type="triangle"/>
          </a:ln>
        </p:spPr>
      </p:sp>
      <p:sp>
        <p:nvSpPr>
          <p:cNvPr id="10" name="Shape 8"/>
          <p:cNvSpPr/>
          <p:nvPr/>
        </p:nvSpPr>
        <p:spPr>
          <a:xfrm>
            <a:off x="4709160" y="1188720"/>
            <a:ext cx="1417320" cy="530352"/>
          </a:xfrm>
          <a:prstGeom prst="roundRect">
            <a:avLst>
              <a:gd name="adj" fmla="val 20690"/>
            </a:avLst>
          </a:prstGeom>
          <a:solidFill>
            <a:srgbClr val="FFFFFF"/>
          </a:solidFill>
          <a:ln w="12700">
            <a:solidFill>
              <a:srgbClr val="E26D5A"/>
            </a:solidFill>
            <a:prstDash val="solid"/>
          </a:ln>
        </p:spPr>
      </p:sp>
      <p:sp>
        <p:nvSpPr>
          <p:cNvPr id="11" name="Text 9"/>
          <p:cNvSpPr/>
          <p:nvPr/>
        </p:nvSpPr>
        <p:spPr>
          <a:xfrm>
            <a:off x="4773168" y="1234440"/>
            <a:ext cx="1289304" cy="438912"/>
          </a:xfrm>
          <a:prstGeom prst="rect">
            <a:avLst/>
          </a:prstGeom>
          <a:noFill/>
          <a:ln/>
        </p:spPr>
        <p:txBody>
          <a:bodyPr wrap="square" lIns="762" tIns="762" rIns="762" bIns="762" rtlCol="0" anchor="ctr">
            <a:normAutofit/>
          </a:bodyPr>
          <a:lstStyle/>
          <a:p>
            <a:pPr algn="ctr" indent="0" marL="0">
              <a:buNone/>
            </a:pPr>
            <a:r>
              <a:rPr lang="en-US" sz="1150" b="1" dirty="0">
                <a:solidFill>
                  <a:srgbClr val="12212B"/>
                </a:solidFill>
                <a:latin typeface="Aptos" pitchFamily="34" charset="0"/>
                <a:ea typeface="Aptos" pitchFamily="34" charset="-122"/>
                <a:cs typeface="Aptos" pitchFamily="34" charset="-120"/>
              </a:rPr>
              <a:t>VAD / cắt đoạn</a:t>
            </a:r>
            <a:endParaRPr lang="en-US" sz="1150" dirty="0"/>
          </a:p>
          <a:p>
            <a:pPr algn="ctr" indent="0" marL="0">
              <a:buNone/>
            </a:pPr>
            <a:r>
              <a:rPr lang="en-US" sz="1150" b="1" dirty="0">
                <a:solidFill>
                  <a:srgbClr val="12212B"/>
                </a:solidFill>
                <a:latin typeface="Aptos" pitchFamily="34" charset="0"/>
                <a:ea typeface="Aptos" pitchFamily="34" charset="-122"/>
                <a:cs typeface="Aptos" pitchFamily="34" charset="-120"/>
              </a:rPr>
              <a:t>ngoài model</a:t>
            </a:r>
            <a:endParaRPr lang="en-US" sz="1150" dirty="0"/>
          </a:p>
        </p:txBody>
      </p:sp>
      <p:sp>
        <p:nvSpPr>
          <p:cNvPr id="12" name="Shape 10"/>
          <p:cNvSpPr/>
          <p:nvPr/>
        </p:nvSpPr>
        <p:spPr>
          <a:xfrm>
            <a:off x="6263640" y="1453896"/>
            <a:ext cx="393192" cy="0"/>
          </a:xfrm>
          <a:prstGeom prst="line">
            <a:avLst/>
          </a:prstGeom>
          <a:noFill/>
          <a:ln w="12700">
            <a:solidFill>
              <a:srgbClr val="AAB7C3"/>
            </a:solidFill>
            <a:prstDash val="solid"/>
            <a:headEnd type="none"/>
            <a:tailEnd type="triangle"/>
          </a:ln>
        </p:spPr>
      </p:sp>
      <p:sp>
        <p:nvSpPr>
          <p:cNvPr id="13" name="Shape 11"/>
          <p:cNvSpPr/>
          <p:nvPr/>
        </p:nvSpPr>
        <p:spPr>
          <a:xfrm>
            <a:off x="6766560" y="1188720"/>
            <a:ext cx="2011680" cy="530352"/>
          </a:xfrm>
          <a:prstGeom prst="roundRect">
            <a:avLst>
              <a:gd name="adj" fmla="val 20690"/>
            </a:avLst>
          </a:prstGeom>
          <a:solidFill>
            <a:srgbClr val="FFFFFF"/>
          </a:solidFill>
          <a:ln w="12700">
            <a:solidFill>
              <a:srgbClr val="2F9E74"/>
            </a:solidFill>
            <a:prstDash val="solid"/>
          </a:ln>
        </p:spPr>
      </p:sp>
      <p:sp>
        <p:nvSpPr>
          <p:cNvPr id="14" name="Text 12"/>
          <p:cNvSpPr/>
          <p:nvPr/>
        </p:nvSpPr>
        <p:spPr>
          <a:xfrm>
            <a:off x="6830568" y="1234440"/>
            <a:ext cx="1883664" cy="438912"/>
          </a:xfrm>
          <a:prstGeom prst="rect">
            <a:avLst/>
          </a:prstGeom>
          <a:noFill/>
          <a:ln/>
        </p:spPr>
        <p:txBody>
          <a:bodyPr wrap="square" lIns="762" tIns="762" rIns="762" bIns="762" rtlCol="0" anchor="ctr">
            <a:normAutofit/>
          </a:bodyPr>
          <a:lstStyle/>
          <a:p>
            <a:pPr algn="ctr" indent="0" marL="0">
              <a:buNone/>
            </a:pPr>
            <a:r>
              <a:rPr lang="en-US" sz="1150" b="1" dirty="0">
                <a:solidFill>
                  <a:srgbClr val="12212B"/>
                </a:solidFill>
                <a:latin typeface="Aptos" pitchFamily="34" charset="0"/>
                <a:ea typeface="Aptos" pitchFamily="34" charset="-122"/>
                <a:cs typeface="Aptos" pitchFamily="34" charset="-120"/>
              </a:rPr>
              <a:t>PhoWhisper ASR</a:t>
            </a:r>
            <a:endParaRPr lang="en-US" sz="1150" dirty="0"/>
          </a:p>
          <a:p>
            <a:pPr algn="ctr" indent="0" marL="0">
              <a:buNone/>
            </a:pPr>
            <a:r>
              <a:rPr lang="en-US" sz="1150" b="1" dirty="0">
                <a:solidFill>
                  <a:srgbClr val="12212B"/>
                </a:solidFill>
                <a:latin typeface="Aptos" pitchFamily="34" charset="0"/>
                <a:ea typeface="Aptos" pitchFamily="34" charset="-122"/>
                <a:cs typeface="Aptos" pitchFamily="34" charset="-120"/>
              </a:rPr>
              <a:t>log-Mel → transcript</a:t>
            </a:r>
            <a:endParaRPr lang="en-US" sz="1150" dirty="0"/>
          </a:p>
        </p:txBody>
      </p:sp>
      <p:sp>
        <p:nvSpPr>
          <p:cNvPr id="15" name="Shape 13"/>
          <p:cNvSpPr/>
          <p:nvPr/>
        </p:nvSpPr>
        <p:spPr>
          <a:xfrm>
            <a:off x="8915400" y="1453896"/>
            <a:ext cx="393192" cy="0"/>
          </a:xfrm>
          <a:prstGeom prst="line">
            <a:avLst/>
          </a:prstGeom>
          <a:noFill/>
          <a:ln w="12700">
            <a:solidFill>
              <a:srgbClr val="AAB7C3"/>
            </a:solidFill>
            <a:prstDash val="solid"/>
            <a:headEnd type="none"/>
            <a:tailEnd type="triangle"/>
          </a:ln>
        </p:spPr>
      </p:sp>
      <p:sp>
        <p:nvSpPr>
          <p:cNvPr id="16" name="Shape 14"/>
          <p:cNvSpPr/>
          <p:nvPr/>
        </p:nvSpPr>
        <p:spPr>
          <a:xfrm>
            <a:off x="9418320" y="1188720"/>
            <a:ext cx="1508760" cy="530352"/>
          </a:xfrm>
          <a:prstGeom prst="roundRect">
            <a:avLst>
              <a:gd name="adj" fmla="val 20690"/>
            </a:avLst>
          </a:prstGeom>
          <a:solidFill>
            <a:srgbClr val="FFFFFF"/>
          </a:solidFill>
          <a:ln w="12700">
            <a:solidFill>
              <a:srgbClr val="6D5BD0"/>
            </a:solidFill>
            <a:prstDash val="solid"/>
          </a:ln>
        </p:spPr>
      </p:sp>
      <p:sp>
        <p:nvSpPr>
          <p:cNvPr id="17" name="Text 15"/>
          <p:cNvSpPr/>
          <p:nvPr/>
        </p:nvSpPr>
        <p:spPr>
          <a:xfrm>
            <a:off x="9482328" y="1234440"/>
            <a:ext cx="1380744" cy="438912"/>
          </a:xfrm>
          <a:prstGeom prst="rect">
            <a:avLst/>
          </a:prstGeom>
          <a:noFill/>
          <a:ln/>
        </p:spPr>
        <p:txBody>
          <a:bodyPr wrap="square" lIns="762" tIns="762" rIns="762" bIns="762" rtlCol="0" anchor="ctr">
            <a:normAutofit/>
          </a:bodyPr>
          <a:lstStyle/>
          <a:p>
            <a:pPr algn="ctr" indent="0" marL="0">
              <a:buNone/>
            </a:pPr>
            <a:r>
              <a:rPr lang="en-US" sz="1150" b="1" dirty="0">
                <a:solidFill>
                  <a:srgbClr val="12212B"/>
                </a:solidFill>
                <a:latin typeface="Aptos" pitchFamily="34" charset="0"/>
                <a:ea typeface="Aptos" pitchFamily="34" charset="-122"/>
                <a:cs typeface="Aptos" pitchFamily="34" charset="-120"/>
              </a:rPr>
              <a:t>Hậu xử lý</a:t>
            </a:r>
            <a:endParaRPr lang="en-US" sz="1150" dirty="0"/>
          </a:p>
          <a:p>
            <a:pPr algn="ctr" indent="0" marL="0">
              <a:buNone/>
            </a:pPr>
            <a:r>
              <a:rPr lang="en-US" sz="1150" b="1" dirty="0">
                <a:solidFill>
                  <a:srgbClr val="12212B"/>
                </a:solidFill>
                <a:latin typeface="Aptos" pitchFamily="34" charset="0"/>
                <a:ea typeface="Aptos" pitchFamily="34" charset="-122"/>
                <a:cs typeface="Aptos" pitchFamily="34" charset="-120"/>
              </a:rPr>
              <a:t>chuẩn hóa text</a:t>
            </a:r>
            <a:endParaRPr lang="en-US" sz="1150" dirty="0"/>
          </a:p>
        </p:txBody>
      </p:sp>
      <p:sp>
        <p:nvSpPr>
          <p:cNvPr id="18" name="Shape 16"/>
          <p:cNvSpPr/>
          <p:nvPr/>
        </p:nvSpPr>
        <p:spPr>
          <a:xfrm>
            <a:off x="10149840" y="1810512"/>
            <a:ext cx="0" cy="429768"/>
          </a:xfrm>
          <a:prstGeom prst="line">
            <a:avLst/>
          </a:prstGeom>
          <a:noFill/>
          <a:ln w="12700">
            <a:solidFill>
              <a:srgbClr val="AAB7C3"/>
            </a:solidFill>
            <a:prstDash val="solid"/>
            <a:headEnd type="none"/>
            <a:tailEnd type="triangle"/>
          </a:ln>
        </p:spPr>
      </p:sp>
      <p:sp>
        <p:nvSpPr>
          <p:cNvPr id="19" name="Shape 17"/>
          <p:cNvSpPr/>
          <p:nvPr/>
        </p:nvSpPr>
        <p:spPr>
          <a:xfrm>
            <a:off x="8778240" y="2377440"/>
            <a:ext cx="2468880" cy="530352"/>
          </a:xfrm>
          <a:prstGeom prst="roundRect">
            <a:avLst>
              <a:gd name="adj" fmla="val 20690"/>
            </a:avLst>
          </a:prstGeom>
          <a:solidFill>
            <a:srgbClr val="FFFFFF"/>
          </a:solidFill>
          <a:ln w="12700">
            <a:solidFill>
              <a:srgbClr val="175D7C"/>
            </a:solidFill>
            <a:prstDash val="solid"/>
          </a:ln>
        </p:spPr>
      </p:sp>
      <p:sp>
        <p:nvSpPr>
          <p:cNvPr id="20" name="Text 18"/>
          <p:cNvSpPr/>
          <p:nvPr/>
        </p:nvSpPr>
        <p:spPr>
          <a:xfrm>
            <a:off x="8842248" y="2423160"/>
            <a:ext cx="2340864" cy="438912"/>
          </a:xfrm>
          <a:prstGeom prst="rect">
            <a:avLst/>
          </a:prstGeom>
          <a:noFill/>
          <a:ln/>
        </p:spPr>
        <p:txBody>
          <a:bodyPr wrap="square" lIns="762" tIns="762" rIns="762" bIns="762" rtlCol="0" anchor="ctr">
            <a:normAutofit/>
          </a:bodyPr>
          <a:lstStyle/>
          <a:p>
            <a:pPr algn="ctr" indent="0" marL="0">
              <a:buNone/>
            </a:pPr>
            <a:r>
              <a:rPr lang="en-US" sz="1200" b="1" dirty="0">
                <a:solidFill>
                  <a:srgbClr val="12212B"/>
                </a:solidFill>
                <a:latin typeface="Aptos" pitchFamily="34" charset="0"/>
                <a:ea typeface="Aptos" pitchFamily="34" charset="-122"/>
                <a:cs typeface="Aptos" pitchFamily="34" charset="-120"/>
              </a:rPr>
              <a:t>Lưu trữ bảo mật</a:t>
            </a:r>
            <a:endParaRPr lang="en-US" sz="1200" dirty="0"/>
          </a:p>
          <a:p>
            <a:pPr algn="ctr" indent="0" marL="0">
              <a:buNone/>
            </a:pPr>
            <a:r>
              <a:rPr lang="en-US" sz="1200" b="1" dirty="0">
                <a:solidFill>
                  <a:srgbClr val="12212B"/>
                </a:solidFill>
                <a:latin typeface="Aptos" pitchFamily="34" charset="0"/>
                <a:ea typeface="Aptos" pitchFamily="34" charset="-122"/>
                <a:cs typeface="Aptos" pitchFamily="34" charset="-120"/>
              </a:rPr>
              <a:t>transcript + metadata</a:t>
            </a:r>
            <a:endParaRPr lang="en-US" sz="1200" dirty="0"/>
          </a:p>
        </p:txBody>
      </p:sp>
      <p:sp>
        <p:nvSpPr>
          <p:cNvPr id="21" name="Shape 19"/>
          <p:cNvSpPr/>
          <p:nvPr/>
        </p:nvSpPr>
        <p:spPr>
          <a:xfrm>
            <a:off x="8732520" y="2642616"/>
            <a:ext cx="-777240" cy="0"/>
          </a:xfrm>
          <a:prstGeom prst="line">
            <a:avLst/>
          </a:prstGeom>
          <a:noFill/>
          <a:ln w="12700">
            <a:solidFill>
              <a:srgbClr val="AAB7C3"/>
            </a:solidFill>
            <a:prstDash val="solid"/>
            <a:headEnd type="none"/>
            <a:tailEnd type="triangle"/>
          </a:ln>
        </p:spPr>
      </p:sp>
      <p:sp>
        <p:nvSpPr>
          <p:cNvPr id="22" name="Shape 20"/>
          <p:cNvSpPr/>
          <p:nvPr/>
        </p:nvSpPr>
        <p:spPr>
          <a:xfrm>
            <a:off x="5852160" y="2377440"/>
            <a:ext cx="2514600" cy="530352"/>
          </a:xfrm>
          <a:prstGeom prst="roundRect">
            <a:avLst>
              <a:gd name="adj" fmla="val 20690"/>
            </a:avLst>
          </a:prstGeom>
          <a:solidFill>
            <a:srgbClr val="FFFFFF"/>
          </a:solidFill>
          <a:ln w="12700">
            <a:solidFill>
              <a:srgbClr val="2A67B1"/>
            </a:solidFill>
            <a:prstDash val="solid"/>
          </a:ln>
        </p:spPr>
      </p:sp>
      <p:sp>
        <p:nvSpPr>
          <p:cNvPr id="23" name="Text 21"/>
          <p:cNvSpPr/>
          <p:nvPr/>
        </p:nvSpPr>
        <p:spPr>
          <a:xfrm>
            <a:off x="5916168" y="2423160"/>
            <a:ext cx="2386584" cy="438912"/>
          </a:xfrm>
          <a:prstGeom prst="rect">
            <a:avLst/>
          </a:prstGeom>
          <a:noFill/>
          <a:ln/>
        </p:spPr>
        <p:txBody>
          <a:bodyPr wrap="square" lIns="762" tIns="762" rIns="762" bIns="762" rtlCol="0" anchor="ctr">
            <a:normAutofit/>
          </a:bodyPr>
          <a:lstStyle/>
          <a:p>
            <a:pPr algn="ctr" indent="0" marL="0">
              <a:buNone/>
            </a:pPr>
            <a:r>
              <a:rPr lang="en-US" sz="1200" b="1" dirty="0">
                <a:solidFill>
                  <a:srgbClr val="12212B"/>
                </a:solidFill>
                <a:latin typeface="Aptos" pitchFamily="34" charset="0"/>
                <a:ea typeface="Aptos" pitchFamily="34" charset="-122"/>
                <a:cs typeface="Aptos" pitchFamily="34" charset="-120"/>
              </a:rPr>
              <a:t>Tìm kiếm / QA</a:t>
            </a:r>
            <a:endParaRPr lang="en-US" sz="1200" dirty="0"/>
          </a:p>
          <a:p>
            <a:pPr algn="ctr" indent="0" marL="0">
              <a:buNone/>
            </a:pPr>
            <a:r>
              <a:rPr lang="en-US" sz="1200" b="1" dirty="0">
                <a:solidFill>
                  <a:srgbClr val="12212B"/>
                </a:solidFill>
                <a:latin typeface="Aptos" pitchFamily="34" charset="0"/>
                <a:ea typeface="Aptos" pitchFamily="34" charset="-122"/>
                <a:cs typeface="Aptos" pitchFamily="34" charset="-120"/>
              </a:rPr>
              <a:t>keyword, compliance</a:t>
            </a:r>
            <a:endParaRPr lang="en-US" sz="1200" dirty="0"/>
          </a:p>
        </p:txBody>
      </p:sp>
      <p:sp>
        <p:nvSpPr>
          <p:cNvPr id="24" name="Shape 22"/>
          <p:cNvSpPr/>
          <p:nvPr/>
        </p:nvSpPr>
        <p:spPr>
          <a:xfrm>
            <a:off x="5806440" y="2642616"/>
            <a:ext cx="-777240" cy="0"/>
          </a:xfrm>
          <a:prstGeom prst="line">
            <a:avLst/>
          </a:prstGeom>
          <a:noFill/>
          <a:ln w="12700">
            <a:solidFill>
              <a:srgbClr val="AAB7C3"/>
            </a:solidFill>
            <a:prstDash val="solid"/>
            <a:headEnd type="none"/>
            <a:tailEnd type="triangle"/>
          </a:ln>
        </p:spPr>
      </p:sp>
      <p:sp>
        <p:nvSpPr>
          <p:cNvPr id="25" name="Shape 23"/>
          <p:cNvSpPr/>
          <p:nvPr/>
        </p:nvSpPr>
        <p:spPr>
          <a:xfrm>
            <a:off x="2743200" y="2377440"/>
            <a:ext cx="2697480" cy="530352"/>
          </a:xfrm>
          <a:prstGeom prst="roundRect">
            <a:avLst>
              <a:gd name="adj" fmla="val 20690"/>
            </a:avLst>
          </a:prstGeom>
          <a:solidFill>
            <a:srgbClr val="FFFFFF"/>
          </a:solidFill>
          <a:ln w="12700">
            <a:solidFill>
              <a:srgbClr val="2F9E74"/>
            </a:solidFill>
            <a:prstDash val="solid"/>
          </a:ln>
        </p:spPr>
      </p:sp>
      <p:sp>
        <p:nvSpPr>
          <p:cNvPr id="26" name="Text 24"/>
          <p:cNvSpPr/>
          <p:nvPr/>
        </p:nvSpPr>
        <p:spPr>
          <a:xfrm>
            <a:off x="2807208" y="2423160"/>
            <a:ext cx="2569464" cy="438912"/>
          </a:xfrm>
          <a:prstGeom prst="rect">
            <a:avLst/>
          </a:prstGeom>
          <a:noFill/>
          <a:ln/>
        </p:spPr>
        <p:txBody>
          <a:bodyPr wrap="square" lIns="762" tIns="762" rIns="762" bIns="762" rtlCol="0" anchor="ctr">
            <a:normAutofit/>
          </a:bodyPr>
          <a:lstStyle/>
          <a:p>
            <a:pPr algn="ctr" indent="0" marL="0">
              <a:buNone/>
            </a:pPr>
            <a:r>
              <a:rPr lang="en-US" sz="1200" b="1" dirty="0">
                <a:solidFill>
                  <a:srgbClr val="12212B"/>
                </a:solidFill>
                <a:latin typeface="Aptos" pitchFamily="34" charset="0"/>
                <a:ea typeface="Aptos" pitchFamily="34" charset="-122"/>
                <a:cs typeface="Aptos" pitchFamily="34" charset="-120"/>
              </a:rPr>
              <a:t>Dashboard / báo cáo</a:t>
            </a:r>
            <a:endParaRPr lang="en-US" sz="1200" dirty="0"/>
          </a:p>
          <a:p>
            <a:pPr algn="ctr" indent="0" marL="0">
              <a:buNone/>
            </a:pPr>
            <a:r>
              <a:rPr lang="en-US" sz="1200" b="1" dirty="0">
                <a:solidFill>
                  <a:srgbClr val="12212B"/>
                </a:solidFill>
                <a:latin typeface="Aptos" pitchFamily="34" charset="0"/>
                <a:ea typeface="Aptos" pitchFamily="34" charset="-122"/>
                <a:cs typeface="Aptos" pitchFamily="34" charset="-120"/>
              </a:rPr>
              <a:t>cho quản lý</a:t>
            </a:r>
            <a:endParaRPr lang="en-US" sz="1200" dirty="0"/>
          </a:p>
        </p:txBody>
      </p:sp>
      <p:sp>
        <p:nvSpPr>
          <p:cNvPr id="27" name="Text 25"/>
          <p:cNvSpPr/>
          <p:nvPr/>
        </p:nvSpPr>
        <p:spPr>
          <a:xfrm>
            <a:off x="960120" y="4251960"/>
            <a:ext cx="9875520" cy="960120"/>
          </a:xfrm>
          <a:prstGeom prst="rect">
            <a:avLst/>
          </a:prstGeom>
          <a:noFill/>
          <a:ln/>
        </p:spPr>
        <p:txBody>
          <a:bodyPr wrap="square" lIns="1016" tIns="1016" rIns="1016" bIns="1016" rtlCol="0" anchor="ctr">
            <a:normAutofit/>
          </a:bodyPr>
          <a:lstStyle/>
          <a:p>
            <a:r>
              <a:rPr lang="en-US" sz="1320" dirty="0">
                <a:solidFill>
                  <a:srgbClr val="12212B"/>
                </a:solidFill>
                <a:latin typeface="Aptos" pitchFamily="34" charset="0"/>
                <a:ea typeface="Aptos" pitchFamily="34" charset="-122"/>
                <a:cs typeface="Aptos" pitchFamily="34" charset="-120"/>
              </a:rPr>
              <a:t>ASR không nên lưu audio nhạy cảm ra ngoài nếu chưa có chính sách dữ liệu.</a:t>
            </a:r>
            <a:endParaRPr lang="en-US" sz="1320" dirty="0"/>
          </a:p>
          <a:p>
            <a:r>
              <a:rPr lang="en-US" sz="1320" dirty="0">
                <a:solidFill>
                  <a:srgbClr val="12212B"/>
                </a:solidFill>
                <a:latin typeface="Aptos" pitchFamily="34" charset="0"/>
                <a:ea typeface="Aptos" pitchFamily="34" charset="-122"/>
                <a:cs typeface="Aptos" pitchFamily="34" charset="-120"/>
              </a:rPr>
              <a:t>Benchmark model trên audio đại diện trước khi chọn large/medium/small.</a:t>
            </a:r>
            <a:endParaRPr lang="en-US" sz="1320" dirty="0"/>
          </a:p>
          <a:p>
            <a:r>
              <a:rPr lang="en-US" sz="1320" dirty="0">
                <a:solidFill>
                  <a:srgbClr val="12212B"/>
                </a:solidFill>
                <a:latin typeface="Aptos" pitchFamily="34" charset="0"/>
                <a:ea typeface="Aptos" pitchFamily="34" charset="-122"/>
                <a:cs typeface="Aptos" pitchFamily="34" charset="-120"/>
              </a:rPr>
              <a:t>Diarization, VAD, post-processing là module riêng để dễ thay thế.</a:t>
            </a:r>
            <a:endParaRPr lang="en-US" sz="1320" dirty="0"/>
          </a:p>
        </p:txBody>
      </p:sp>
      <p:sp>
        <p:nvSpPr>
          <p:cNvPr id="28" name="Shape 26"/>
          <p:cNvSpPr/>
          <p:nvPr/>
        </p:nvSpPr>
        <p:spPr>
          <a:xfrm>
            <a:off x="438912" y="6199632"/>
            <a:ext cx="2377440" cy="310896"/>
          </a:xfrm>
          <a:prstGeom prst="roundRect">
            <a:avLst>
              <a:gd name="adj" fmla="val 44118"/>
            </a:avLst>
          </a:prstGeom>
          <a:solidFill>
            <a:srgbClr val="E8F2F6"/>
          </a:solidFill>
          <a:ln w="12700">
            <a:solidFill>
              <a:srgbClr val="E8F2F6"/>
            </a:solidFill>
            <a:prstDash val="solid"/>
          </a:ln>
        </p:spPr>
      </p:sp>
      <p:sp>
        <p:nvSpPr>
          <p:cNvPr id="29" name="Text 27"/>
          <p:cNvSpPr/>
          <p:nvPr/>
        </p:nvSpPr>
        <p:spPr>
          <a:xfrm>
            <a:off x="512064" y="6259068"/>
            <a:ext cx="2231136" cy="201168"/>
          </a:xfrm>
          <a:prstGeom prst="rect">
            <a:avLst/>
          </a:prstGeom>
          <a:noFill/>
          <a:ln/>
        </p:spPr>
        <p:txBody>
          <a:bodyPr wrap="square" lIns="0" tIns="0" rIns="0" bIns="0" rtlCol="0" anchor="ctr">
            <a:normAutofit/>
          </a:bodyPr>
          <a:lstStyle/>
          <a:p>
            <a:pPr algn="ctr" indent="0" marL="0">
              <a:buNone/>
            </a:pPr>
            <a:r>
              <a:rPr lang="en-US" sz="950" b="1" dirty="0">
                <a:solidFill>
                  <a:srgbClr val="175D7C"/>
                </a:solidFill>
                <a:latin typeface="Aptos" pitchFamily="34" charset="0"/>
                <a:ea typeface="Aptos" pitchFamily="34" charset="-122"/>
                <a:cs typeface="Aptos" pitchFamily="34" charset="-120"/>
              </a:rPr>
              <a:t>Production flow</a:t>
            </a:r>
            <a:endParaRPr lang="en-US" sz="950" dirty="0"/>
          </a:p>
        </p:txBody>
      </p:sp>
      <p:sp>
        <p:nvSpPr>
          <p:cNvPr id="25" name="Slide Number Placeholder 0"/>
          <p:cNvSpPr>
            <a:spLocks noGrp="1"/>
          </p:cNvSpPr>
          <p:nvPr>
            <p:ph type="sldNum" sz="quarter" idx="4294967295"/>
          </p:nvPr>
        </p:nvSpPr>
        <p:spPr>
          <a:xfrm>
            <a:off x="11841480" y="6519672"/>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7C8794"/>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420624" y="256032"/>
            <a:ext cx="9875520" cy="384048"/>
          </a:xfrm>
          <a:prstGeom prst="rect">
            <a:avLst/>
          </a:prstGeom>
          <a:noFill/>
          <a:ln/>
        </p:spPr>
        <p:txBody>
          <a:bodyPr wrap="square" lIns="0" tIns="0" rIns="0" bIns="0" rtlCol="0" anchor="ctr"/>
          <a:lstStyle/>
          <a:p>
            <a:pPr indent="0" marL="0">
              <a:buNone/>
            </a:pPr>
            <a:r>
              <a:rPr lang="en-US" sz="2500" b="1" dirty="0">
                <a:solidFill>
                  <a:srgbClr val="12212B"/>
                </a:solidFill>
                <a:latin typeface="Aptos Display" pitchFamily="34" charset="0"/>
                <a:ea typeface="Aptos Display" pitchFamily="34" charset="-122"/>
                <a:cs typeface="Aptos Display" pitchFamily="34" charset="-120"/>
              </a:rPr>
              <a:t>Giới hạn cần kiểm tra trước khi dùng doanh nghiệp</a:t>
            </a:r>
            <a:endParaRPr lang="en-US" sz="2500" dirty="0"/>
          </a:p>
        </p:txBody>
      </p:sp>
      <p:sp>
        <p:nvSpPr>
          <p:cNvPr id="3" name="Text 1"/>
          <p:cNvSpPr/>
          <p:nvPr/>
        </p:nvSpPr>
        <p:spPr>
          <a:xfrm>
            <a:off x="438912" y="694944"/>
            <a:ext cx="9875520" cy="256032"/>
          </a:xfrm>
          <a:prstGeom prst="rect">
            <a:avLst/>
          </a:prstGeom>
          <a:noFill/>
          <a:ln/>
        </p:spPr>
        <p:txBody>
          <a:bodyPr wrap="square" lIns="0" tIns="0" rIns="0" bIns="0" rtlCol="0" anchor="ctr"/>
          <a:lstStyle/>
          <a:p>
            <a:pPr indent="0" marL="0">
              <a:buNone/>
            </a:pPr>
            <a:r>
              <a:rPr lang="en-US" sz="1050" dirty="0">
                <a:solidFill>
                  <a:srgbClr val="516271"/>
                </a:solidFill>
              </a:rPr>
              <a:t>Không suy ra chất lượng từ tên model; phải đo trên dữ liệu call center</a:t>
            </a:r>
            <a:endParaRPr lang="en-US" sz="1050" dirty="0"/>
          </a:p>
        </p:txBody>
      </p:sp>
      <p:sp>
        <p:nvSpPr>
          <p:cNvPr id="4" name="Shape 2"/>
          <p:cNvSpPr/>
          <p:nvPr/>
        </p:nvSpPr>
        <p:spPr>
          <a:xfrm>
            <a:off x="822960" y="1005840"/>
            <a:ext cx="1920240" cy="438912"/>
          </a:xfrm>
          <a:prstGeom prst="roundRect">
            <a:avLst>
              <a:gd name="adj" fmla="val 25000"/>
            </a:avLst>
          </a:prstGeom>
          <a:solidFill>
            <a:srgbClr val="FFFFFF"/>
          </a:solidFill>
          <a:ln w="12700">
            <a:solidFill>
              <a:srgbClr val="175D7C"/>
            </a:solidFill>
            <a:prstDash val="solid"/>
          </a:ln>
        </p:spPr>
      </p:sp>
      <p:sp>
        <p:nvSpPr>
          <p:cNvPr id="5" name="Text 3"/>
          <p:cNvSpPr/>
          <p:nvPr/>
        </p:nvSpPr>
        <p:spPr>
          <a:xfrm>
            <a:off x="886968" y="1051560"/>
            <a:ext cx="1792224" cy="347472"/>
          </a:xfrm>
          <a:prstGeom prst="rect">
            <a:avLst/>
          </a:prstGeom>
          <a:noFill/>
          <a:ln/>
        </p:spPr>
        <p:txBody>
          <a:bodyPr wrap="square" lIns="762" tIns="762" rIns="762" bIns="762" rtlCol="0" anchor="ctr">
            <a:normAutofit/>
          </a:bodyPr>
          <a:lstStyle/>
          <a:p>
            <a:pPr algn="ctr" indent="0" marL="0">
              <a:buNone/>
            </a:pPr>
            <a:r>
              <a:rPr lang="en-US" sz="1350" b="1" dirty="0">
                <a:solidFill>
                  <a:srgbClr val="175D7C"/>
                </a:solidFill>
                <a:latin typeface="Aptos" pitchFamily="34" charset="0"/>
                <a:ea typeface="Aptos" pitchFamily="34" charset="-122"/>
                <a:cs typeface="Aptos" pitchFamily="34" charset="-120"/>
              </a:rPr>
              <a:t>Audio dài</a:t>
            </a:r>
            <a:endParaRPr lang="en-US" sz="1350" dirty="0"/>
          </a:p>
        </p:txBody>
      </p:sp>
      <p:sp>
        <p:nvSpPr>
          <p:cNvPr id="6" name="Text 4"/>
          <p:cNvSpPr/>
          <p:nvPr/>
        </p:nvSpPr>
        <p:spPr>
          <a:xfrm>
            <a:off x="2880360" y="1024128"/>
            <a:ext cx="2926080" cy="384048"/>
          </a:xfrm>
          <a:prstGeom prst="rect">
            <a:avLst/>
          </a:prstGeom>
          <a:noFill/>
          <a:ln/>
        </p:spPr>
        <p:txBody>
          <a:bodyPr wrap="square" lIns="762" tIns="762" rIns="762" bIns="762" rtlCol="0" anchor="ctr">
            <a:normAutofit/>
          </a:bodyPr>
          <a:lstStyle/>
          <a:p>
            <a:pPr algn="l" indent="0" marL="0">
              <a:buNone/>
            </a:pPr>
            <a:r>
              <a:rPr lang="en-US" sz="1150" dirty="0">
                <a:solidFill>
                  <a:srgbClr val="12212B"/>
                </a:solidFill>
                <a:latin typeface="Aptos" pitchFamily="34" charset="0"/>
                <a:ea typeface="Aptos" pitchFamily="34" charset="-122"/>
                <a:cs typeface="Aptos" pitchFamily="34" charset="-120"/>
              </a:rPr>
              <a:t>Whisper xử lý theo cửa sổ; ghép đoạn có thể lỗi ngữ cảnh.</a:t>
            </a:r>
            <a:endParaRPr lang="en-US" sz="1150" dirty="0"/>
          </a:p>
        </p:txBody>
      </p:sp>
      <p:sp>
        <p:nvSpPr>
          <p:cNvPr id="7" name="Shape 5"/>
          <p:cNvSpPr/>
          <p:nvPr/>
        </p:nvSpPr>
        <p:spPr>
          <a:xfrm>
            <a:off x="6400800" y="1005840"/>
            <a:ext cx="1920240" cy="438912"/>
          </a:xfrm>
          <a:prstGeom prst="roundRect">
            <a:avLst>
              <a:gd name="adj" fmla="val 25000"/>
            </a:avLst>
          </a:prstGeom>
          <a:solidFill>
            <a:srgbClr val="FFFFFF"/>
          </a:solidFill>
          <a:ln w="12700">
            <a:solidFill>
              <a:srgbClr val="E26D5A"/>
            </a:solidFill>
            <a:prstDash val="solid"/>
          </a:ln>
        </p:spPr>
      </p:sp>
      <p:sp>
        <p:nvSpPr>
          <p:cNvPr id="8" name="Text 6"/>
          <p:cNvSpPr/>
          <p:nvPr/>
        </p:nvSpPr>
        <p:spPr>
          <a:xfrm>
            <a:off x="6464808" y="1051560"/>
            <a:ext cx="1792224" cy="347472"/>
          </a:xfrm>
          <a:prstGeom prst="rect">
            <a:avLst/>
          </a:prstGeom>
          <a:noFill/>
          <a:ln/>
        </p:spPr>
        <p:txBody>
          <a:bodyPr wrap="square" lIns="762" tIns="762" rIns="762" bIns="762" rtlCol="0" anchor="ctr">
            <a:normAutofit/>
          </a:bodyPr>
          <a:lstStyle/>
          <a:p>
            <a:pPr algn="ctr" indent="0" marL="0">
              <a:buNone/>
            </a:pPr>
            <a:r>
              <a:rPr lang="en-US" sz="1350" b="1" dirty="0">
                <a:solidFill>
                  <a:srgbClr val="E26D5A"/>
                </a:solidFill>
                <a:latin typeface="Aptos" pitchFamily="34" charset="0"/>
                <a:ea typeface="Aptos" pitchFamily="34" charset="-122"/>
                <a:cs typeface="Aptos" pitchFamily="34" charset="-120"/>
              </a:rPr>
              <a:t>Nhiễu điện thoại</a:t>
            </a:r>
            <a:endParaRPr lang="en-US" sz="1350" dirty="0"/>
          </a:p>
        </p:txBody>
      </p:sp>
      <p:sp>
        <p:nvSpPr>
          <p:cNvPr id="9" name="Text 7"/>
          <p:cNvSpPr/>
          <p:nvPr/>
        </p:nvSpPr>
        <p:spPr>
          <a:xfrm>
            <a:off x="8458200" y="1024128"/>
            <a:ext cx="2926080" cy="384048"/>
          </a:xfrm>
          <a:prstGeom prst="rect">
            <a:avLst/>
          </a:prstGeom>
          <a:noFill/>
          <a:ln/>
        </p:spPr>
        <p:txBody>
          <a:bodyPr wrap="square" lIns="762" tIns="762" rIns="762" bIns="762" rtlCol="0" anchor="ctr">
            <a:normAutofit/>
          </a:bodyPr>
          <a:lstStyle/>
          <a:p>
            <a:pPr algn="l" indent="0" marL="0">
              <a:buNone/>
            </a:pPr>
            <a:r>
              <a:rPr lang="en-US" sz="1150" dirty="0">
                <a:solidFill>
                  <a:srgbClr val="12212B"/>
                </a:solidFill>
                <a:latin typeface="Aptos" pitchFamily="34" charset="0"/>
                <a:ea typeface="Aptos" pitchFamily="34" charset="-122"/>
                <a:cs typeface="Aptos" pitchFamily="34" charset="-120"/>
              </a:rPr>
              <a:t>8 kHz, tiếng nền, vang phòng, giọng nhỏ làm WER tăng.</a:t>
            </a:r>
            <a:endParaRPr lang="en-US" sz="1150" dirty="0"/>
          </a:p>
        </p:txBody>
      </p:sp>
      <p:sp>
        <p:nvSpPr>
          <p:cNvPr id="10" name="Shape 8"/>
          <p:cNvSpPr/>
          <p:nvPr/>
        </p:nvSpPr>
        <p:spPr>
          <a:xfrm>
            <a:off x="822960" y="2194560"/>
            <a:ext cx="1920240" cy="438912"/>
          </a:xfrm>
          <a:prstGeom prst="roundRect">
            <a:avLst>
              <a:gd name="adj" fmla="val 25000"/>
            </a:avLst>
          </a:prstGeom>
          <a:solidFill>
            <a:srgbClr val="FFFFFF"/>
          </a:solidFill>
          <a:ln w="12700">
            <a:solidFill>
              <a:srgbClr val="175D7C"/>
            </a:solidFill>
            <a:prstDash val="solid"/>
          </a:ln>
        </p:spPr>
      </p:sp>
      <p:sp>
        <p:nvSpPr>
          <p:cNvPr id="11" name="Text 9"/>
          <p:cNvSpPr/>
          <p:nvPr/>
        </p:nvSpPr>
        <p:spPr>
          <a:xfrm>
            <a:off x="886968" y="2240280"/>
            <a:ext cx="1792224" cy="347472"/>
          </a:xfrm>
          <a:prstGeom prst="rect">
            <a:avLst/>
          </a:prstGeom>
          <a:noFill/>
          <a:ln/>
        </p:spPr>
        <p:txBody>
          <a:bodyPr wrap="square" lIns="762" tIns="762" rIns="762" bIns="762" rtlCol="0" anchor="ctr">
            <a:normAutofit/>
          </a:bodyPr>
          <a:lstStyle/>
          <a:p>
            <a:pPr algn="ctr" indent="0" marL="0">
              <a:buNone/>
            </a:pPr>
            <a:r>
              <a:rPr lang="en-US" sz="1350" b="1" dirty="0">
                <a:solidFill>
                  <a:srgbClr val="175D7C"/>
                </a:solidFill>
                <a:latin typeface="Aptos" pitchFamily="34" charset="0"/>
                <a:ea typeface="Aptos" pitchFamily="34" charset="-122"/>
                <a:cs typeface="Aptos" pitchFamily="34" charset="-120"/>
              </a:rPr>
              <a:t>Giọng vùng miền</a:t>
            </a:r>
            <a:endParaRPr lang="en-US" sz="1350" dirty="0"/>
          </a:p>
        </p:txBody>
      </p:sp>
      <p:sp>
        <p:nvSpPr>
          <p:cNvPr id="12" name="Text 10"/>
          <p:cNvSpPr/>
          <p:nvPr/>
        </p:nvSpPr>
        <p:spPr>
          <a:xfrm>
            <a:off x="2880360" y="2212848"/>
            <a:ext cx="2926080" cy="384048"/>
          </a:xfrm>
          <a:prstGeom prst="rect">
            <a:avLst/>
          </a:prstGeom>
          <a:noFill/>
          <a:ln/>
        </p:spPr>
        <p:txBody>
          <a:bodyPr wrap="square" lIns="762" tIns="762" rIns="762" bIns="762" rtlCol="0" anchor="ctr">
            <a:normAutofit/>
          </a:bodyPr>
          <a:lstStyle/>
          <a:p>
            <a:pPr algn="l" indent="0" marL="0">
              <a:buNone/>
            </a:pPr>
            <a:r>
              <a:rPr lang="en-US" sz="1150" dirty="0">
                <a:solidFill>
                  <a:srgbClr val="12212B"/>
                </a:solidFill>
                <a:latin typeface="Aptos" pitchFamily="34" charset="0"/>
                <a:ea typeface="Aptos" pitchFamily="34" charset="-122"/>
                <a:cs typeface="Aptos" pitchFamily="34" charset="-120"/>
              </a:rPr>
              <a:t>PhoWhisper có dữ liệu đa giọng nhưng vẫn cần test thực tế.</a:t>
            </a:r>
            <a:endParaRPr lang="en-US" sz="1150" dirty="0"/>
          </a:p>
        </p:txBody>
      </p:sp>
      <p:sp>
        <p:nvSpPr>
          <p:cNvPr id="13" name="Shape 11"/>
          <p:cNvSpPr/>
          <p:nvPr/>
        </p:nvSpPr>
        <p:spPr>
          <a:xfrm>
            <a:off x="6400800" y="2194560"/>
            <a:ext cx="1920240" cy="438912"/>
          </a:xfrm>
          <a:prstGeom prst="roundRect">
            <a:avLst>
              <a:gd name="adj" fmla="val 25000"/>
            </a:avLst>
          </a:prstGeom>
          <a:solidFill>
            <a:srgbClr val="FFFFFF"/>
          </a:solidFill>
          <a:ln w="12700">
            <a:solidFill>
              <a:srgbClr val="E26D5A"/>
            </a:solidFill>
            <a:prstDash val="solid"/>
          </a:ln>
        </p:spPr>
      </p:sp>
      <p:sp>
        <p:nvSpPr>
          <p:cNvPr id="14" name="Text 12"/>
          <p:cNvSpPr/>
          <p:nvPr/>
        </p:nvSpPr>
        <p:spPr>
          <a:xfrm>
            <a:off x="6464808" y="2240280"/>
            <a:ext cx="1792224" cy="347472"/>
          </a:xfrm>
          <a:prstGeom prst="rect">
            <a:avLst/>
          </a:prstGeom>
          <a:noFill/>
          <a:ln/>
        </p:spPr>
        <p:txBody>
          <a:bodyPr wrap="square" lIns="762" tIns="762" rIns="762" bIns="762" rtlCol="0" anchor="ctr">
            <a:normAutofit/>
          </a:bodyPr>
          <a:lstStyle/>
          <a:p>
            <a:pPr algn="ctr" indent="0" marL="0">
              <a:buNone/>
            </a:pPr>
            <a:r>
              <a:rPr lang="en-US" sz="1350" b="1" dirty="0">
                <a:solidFill>
                  <a:srgbClr val="E26D5A"/>
                </a:solidFill>
                <a:latin typeface="Aptos" pitchFamily="34" charset="0"/>
                <a:ea typeface="Aptos" pitchFamily="34" charset="-122"/>
                <a:cs typeface="Aptos" pitchFamily="34" charset="-120"/>
              </a:rPr>
              <a:t>Tên riêng / mã HĐ</a:t>
            </a:r>
            <a:endParaRPr lang="en-US" sz="1350" dirty="0"/>
          </a:p>
        </p:txBody>
      </p:sp>
      <p:sp>
        <p:nvSpPr>
          <p:cNvPr id="15" name="Text 13"/>
          <p:cNvSpPr/>
          <p:nvPr/>
        </p:nvSpPr>
        <p:spPr>
          <a:xfrm>
            <a:off x="8458200" y="2212848"/>
            <a:ext cx="2926080" cy="384048"/>
          </a:xfrm>
          <a:prstGeom prst="rect">
            <a:avLst/>
          </a:prstGeom>
          <a:noFill/>
          <a:ln/>
        </p:spPr>
        <p:txBody>
          <a:bodyPr wrap="square" lIns="762" tIns="762" rIns="762" bIns="762" rtlCol="0" anchor="ctr">
            <a:normAutofit/>
          </a:bodyPr>
          <a:lstStyle/>
          <a:p>
            <a:pPr algn="l" indent="0" marL="0">
              <a:buNone/>
            </a:pPr>
            <a:r>
              <a:rPr lang="en-US" sz="1150" dirty="0">
                <a:solidFill>
                  <a:srgbClr val="12212B"/>
                </a:solidFill>
                <a:latin typeface="Aptos" pitchFamily="34" charset="0"/>
                <a:ea typeface="Aptos" pitchFamily="34" charset="-122"/>
                <a:cs typeface="Aptos" pitchFamily="34" charset="-120"/>
              </a:rPr>
              <a:t>Token có thể sai ở chuỗi hiếm, số, mã hợp đồng.</a:t>
            </a:r>
            <a:endParaRPr lang="en-US" sz="1150" dirty="0"/>
          </a:p>
        </p:txBody>
      </p:sp>
      <p:sp>
        <p:nvSpPr>
          <p:cNvPr id="16" name="Shape 14"/>
          <p:cNvSpPr/>
          <p:nvPr/>
        </p:nvSpPr>
        <p:spPr>
          <a:xfrm>
            <a:off x="822960" y="3383280"/>
            <a:ext cx="1920240" cy="438912"/>
          </a:xfrm>
          <a:prstGeom prst="roundRect">
            <a:avLst>
              <a:gd name="adj" fmla="val 25000"/>
            </a:avLst>
          </a:prstGeom>
          <a:solidFill>
            <a:srgbClr val="FFFFFF"/>
          </a:solidFill>
          <a:ln w="12700">
            <a:solidFill>
              <a:srgbClr val="175D7C"/>
            </a:solidFill>
            <a:prstDash val="solid"/>
          </a:ln>
        </p:spPr>
      </p:sp>
      <p:sp>
        <p:nvSpPr>
          <p:cNvPr id="17" name="Text 15"/>
          <p:cNvSpPr/>
          <p:nvPr/>
        </p:nvSpPr>
        <p:spPr>
          <a:xfrm>
            <a:off x="886968" y="3429000"/>
            <a:ext cx="1792224" cy="347472"/>
          </a:xfrm>
          <a:prstGeom prst="rect">
            <a:avLst/>
          </a:prstGeom>
          <a:noFill/>
          <a:ln/>
        </p:spPr>
        <p:txBody>
          <a:bodyPr wrap="square" lIns="762" tIns="762" rIns="762" bIns="762" rtlCol="0" anchor="ctr">
            <a:normAutofit/>
          </a:bodyPr>
          <a:lstStyle/>
          <a:p>
            <a:pPr algn="ctr" indent="0" marL="0">
              <a:buNone/>
            </a:pPr>
            <a:r>
              <a:rPr lang="en-US" sz="1350" b="1" dirty="0">
                <a:solidFill>
                  <a:srgbClr val="175D7C"/>
                </a:solidFill>
                <a:latin typeface="Aptos" pitchFamily="34" charset="0"/>
                <a:ea typeface="Aptos" pitchFamily="34" charset="-122"/>
                <a:cs typeface="Aptos" pitchFamily="34" charset="-120"/>
              </a:rPr>
              <a:t>Code-switching</a:t>
            </a:r>
            <a:endParaRPr lang="en-US" sz="1350" dirty="0"/>
          </a:p>
        </p:txBody>
      </p:sp>
      <p:sp>
        <p:nvSpPr>
          <p:cNvPr id="18" name="Text 16"/>
          <p:cNvSpPr/>
          <p:nvPr/>
        </p:nvSpPr>
        <p:spPr>
          <a:xfrm>
            <a:off x="2880360" y="3401568"/>
            <a:ext cx="2926080" cy="384048"/>
          </a:xfrm>
          <a:prstGeom prst="rect">
            <a:avLst/>
          </a:prstGeom>
          <a:noFill/>
          <a:ln/>
        </p:spPr>
        <p:txBody>
          <a:bodyPr wrap="square" lIns="762" tIns="762" rIns="762" bIns="762" rtlCol="0" anchor="ctr">
            <a:normAutofit/>
          </a:bodyPr>
          <a:lstStyle/>
          <a:p>
            <a:pPr algn="l" indent="0" marL="0">
              <a:buNone/>
            </a:pPr>
            <a:r>
              <a:rPr lang="en-US" sz="1150" dirty="0">
                <a:solidFill>
                  <a:srgbClr val="12212B"/>
                </a:solidFill>
                <a:latin typeface="Aptos" pitchFamily="34" charset="0"/>
                <a:ea typeface="Aptos" pitchFamily="34" charset="-122"/>
                <a:cs typeface="Aptos" pitchFamily="34" charset="-120"/>
              </a:rPr>
              <a:t>Tiếng Việt xen Anh: premium, policy, claim… cần đánh giá riêng.</a:t>
            </a:r>
            <a:endParaRPr lang="en-US" sz="1150" dirty="0"/>
          </a:p>
        </p:txBody>
      </p:sp>
      <p:sp>
        <p:nvSpPr>
          <p:cNvPr id="19" name="Shape 17"/>
          <p:cNvSpPr/>
          <p:nvPr/>
        </p:nvSpPr>
        <p:spPr>
          <a:xfrm>
            <a:off x="6400800" y="3383280"/>
            <a:ext cx="1920240" cy="438912"/>
          </a:xfrm>
          <a:prstGeom prst="roundRect">
            <a:avLst>
              <a:gd name="adj" fmla="val 25000"/>
            </a:avLst>
          </a:prstGeom>
          <a:solidFill>
            <a:srgbClr val="FFFFFF"/>
          </a:solidFill>
          <a:ln w="12700">
            <a:solidFill>
              <a:srgbClr val="E26D5A"/>
            </a:solidFill>
            <a:prstDash val="solid"/>
          </a:ln>
        </p:spPr>
      </p:sp>
      <p:sp>
        <p:nvSpPr>
          <p:cNvPr id="20" name="Text 18"/>
          <p:cNvSpPr/>
          <p:nvPr/>
        </p:nvSpPr>
        <p:spPr>
          <a:xfrm>
            <a:off x="6464808" y="3429000"/>
            <a:ext cx="1792224" cy="347472"/>
          </a:xfrm>
          <a:prstGeom prst="rect">
            <a:avLst/>
          </a:prstGeom>
          <a:noFill/>
          <a:ln/>
        </p:spPr>
        <p:txBody>
          <a:bodyPr wrap="square" lIns="762" tIns="762" rIns="762" bIns="762" rtlCol="0" anchor="ctr">
            <a:normAutofit/>
          </a:bodyPr>
          <a:lstStyle/>
          <a:p>
            <a:pPr algn="ctr" indent="0" marL="0">
              <a:buNone/>
            </a:pPr>
            <a:r>
              <a:rPr lang="en-US" sz="1350" b="1" dirty="0">
                <a:solidFill>
                  <a:srgbClr val="E26D5A"/>
                </a:solidFill>
                <a:latin typeface="Aptos" pitchFamily="34" charset="0"/>
                <a:ea typeface="Aptos" pitchFamily="34" charset="-122"/>
                <a:cs typeface="Aptos" pitchFamily="34" charset="-120"/>
              </a:rPr>
              <a:t>Hallucination</a:t>
            </a:r>
            <a:endParaRPr lang="en-US" sz="1350" dirty="0"/>
          </a:p>
        </p:txBody>
      </p:sp>
      <p:sp>
        <p:nvSpPr>
          <p:cNvPr id="21" name="Text 19"/>
          <p:cNvSpPr/>
          <p:nvPr/>
        </p:nvSpPr>
        <p:spPr>
          <a:xfrm>
            <a:off x="8458200" y="3401568"/>
            <a:ext cx="2926080" cy="384048"/>
          </a:xfrm>
          <a:prstGeom prst="rect">
            <a:avLst/>
          </a:prstGeom>
          <a:noFill/>
          <a:ln/>
        </p:spPr>
        <p:txBody>
          <a:bodyPr wrap="square" lIns="762" tIns="762" rIns="762" bIns="762" rtlCol="0" anchor="ctr">
            <a:normAutofit/>
          </a:bodyPr>
          <a:lstStyle/>
          <a:p>
            <a:pPr algn="l" indent="0" marL="0">
              <a:buNone/>
            </a:pPr>
            <a:r>
              <a:rPr lang="en-US" sz="1150" dirty="0">
                <a:solidFill>
                  <a:srgbClr val="12212B"/>
                </a:solidFill>
                <a:latin typeface="Aptos" pitchFamily="34" charset="0"/>
                <a:ea typeface="Aptos" pitchFamily="34" charset="-122"/>
                <a:cs typeface="Aptos" pitchFamily="34" charset="-120"/>
              </a:rPr>
              <a:t>Đoạn im lặng/nhiễu có thể sinh chữ không có thật.</a:t>
            </a:r>
            <a:endParaRPr lang="en-US" sz="1150" dirty="0"/>
          </a:p>
        </p:txBody>
      </p:sp>
      <p:sp>
        <p:nvSpPr>
          <p:cNvPr id="22" name="Text 20"/>
          <p:cNvSpPr/>
          <p:nvPr/>
        </p:nvSpPr>
        <p:spPr>
          <a:xfrm>
            <a:off x="1005840" y="5349240"/>
            <a:ext cx="10149840" cy="329184"/>
          </a:xfrm>
          <a:prstGeom prst="rect">
            <a:avLst/>
          </a:prstGeom>
          <a:noFill/>
          <a:ln/>
        </p:spPr>
        <p:txBody>
          <a:bodyPr wrap="square" lIns="762" tIns="762" rIns="762" bIns="762" rtlCol="0" anchor="ctr">
            <a:normAutofit/>
          </a:bodyPr>
          <a:lstStyle/>
          <a:p>
            <a:pPr algn="ctr" indent="0" marL="0">
              <a:buNone/>
            </a:pPr>
            <a:r>
              <a:rPr lang="en-US" sz="1500" b="1" dirty="0">
                <a:solidFill>
                  <a:srgbClr val="12212B"/>
                </a:solidFill>
                <a:latin typeface="Aptos" pitchFamily="34" charset="0"/>
                <a:ea typeface="Aptos" pitchFamily="34" charset="-122"/>
                <a:cs typeface="Aptos" pitchFamily="34" charset="-120"/>
              </a:rPr>
              <a:t>Chỉ số nên đo: WER, CER, lỗi số tiền/mã hợp đồng, lỗi tên riêng, hallucination rate, RTF, VRAM.</a:t>
            </a:r>
            <a:endParaRPr lang="en-US" sz="1500" dirty="0"/>
          </a:p>
        </p:txBody>
      </p:sp>
      <p:sp>
        <p:nvSpPr>
          <p:cNvPr id="23" name="Shape 21"/>
          <p:cNvSpPr/>
          <p:nvPr/>
        </p:nvSpPr>
        <p:spPr>
          <a:xfrm>
            <a:off x="438912" y="6199632"/>
            <a:ext cx="2377440" cy="310896"/>
          </a:xfrm>
          <a:prstGeom prst="roundRect">
            <a:avLst>
              <a:gd name="adj" fmla="val 44118"/>
            </a:avLst>
          </a:prstGeom>
          <a:solidFill>
            <a:srgbClr val="E8F2F6"/>
          </a:solidFill>
          <a:ln w="12700">
            <a:solidFill>
              <a:srgbClr val="E8F2F6"/>
            </a:solidFill>
            <a:prstDash val="solid"/>
          </a:ln>
        </p:spPr>
      </p:sp>
      <p:sp>
        <p:nvSpPr>
          <p:cNvPr id="24" name="Text 22"/>
          <p:cNvSpPr/>
          <p:nvPr/>
        </p:nvSpPr>
        <p:spPr>
          <a:xfrm>
            <a:off x="512064" y="6259068"/>
            <a:ext cx="2231136" cy="201168"/>
          </a:xfrm>
          <a:prstGeom prst="rect">
            <a:avLst/>
          </a:prstGeom>
          <a:noFill/>
          <a:ln/>
        </p:spPr>
        <p:txBody>
          <a:bodyPr wrap="square" lIns="0" tIns="0" rIns="0" bIns="0" rtlCol="0" anchor="ctr">
            <a:normAutofit/>
          </a:bodyPr>
          <a:lstStyle/>
          <a:p>
            <a:pPr algn="ctr" indent="0" marL="0">
              <a:buNone/>
            </a:pPr>
            <a:r>
              <a:rPr lang="en-US" sz="950" b="1" dirty="0">
                <a:solidFill>
                  <a:srgbClr val="175D7C"/>
                </a:solidFill>
                <a:latin typeface="Aptos" pitchFamily="34" charset="0"/>
                <a:ea typeface="Aptos" pitchFamily="34" charset="-122"/>
                <a:cs typeface="Aptos" pitchFamily="34" charset="-120"/>
              </a:rPr>
              <a:t>Limitations</a:t>
            </a:r>
            <a:endParaRPr lang="en-US" sz="950" dirty="0"/>
          </a:p>
        </p:txBody>
      </p:sp>
      <p:sp>
        <p:nvSpPr>
          <p:cNvPr id="25" name="Slide Number Placeholder 0"/>
          <p:cNvSpPr>
            <a:spLocks noGrp="1"/>
          </p:cNvSpPr>
          <p:nvPr>
            <p:ph type="sldNum" sz="quarter" idx="4294967295"/>
          </p:nvPr>
        </p:nvSpPr>
        <p:spPr>
          <a:xfrm>
            <a:off x="11841480" y="6519672"/>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7C8794"/>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420624" y="256032"/>
            <a:ext cx="9875520" cy="384048"/>
          </a:xfrm>
          <a:prstGeom prst="rect">
            <a:avLst/>
          </a:prstGeom>
          <a:noFill/>
          <a:ln/>
        </p:spPr>
        <p:txBody>
          <a:bodyPr wrap="square" lIns="0" tIns="0" rIns="0" bIns="0" rtlCol="0" anchor="ctr"/>
          <a:lstStyle/>
          <a:p>
            <a:pPr indent="0" marL="0">
              <a:buNone/>
            </a:pPr>
            <a:r>
              <a:rPr lang="en-US" sz="2500" b="1" dirty="0">
                <a:solidFill>
                  <a:srgbClr val="12212B"/>
                </a:solidFill>
                <a:latin typeface="Aptos Display" pitchFamily="34" charset="0"/>
                <a:ea typeface="Aptos Display" pitchFamily="34" charset="-122"/>
                <a:cs typeface="Aptos Display" pitchFamily="34" charset="-120"/>
              </a:rPr>
              <a:t>Câu hỏi kiểm tra nhanh</a:t>
            </a:r>
            <a:endParaRPr lang="en-US" sz="2500" dirty="0"/>
          </a:p>
        </p:txBody>
      </p:sp>
      <p:sp>
        <p:nvSpPr>
          <p:cNvPr id="3" name="Text 1"/>
          <p:cNvSpPr/>
          <p:nvPr/>
        </p:nvSpPr>
        <p:spPr>
          <a:xfrm>
            <a:off x="438912" y="694944"/>
            <a:ext cx="9875520" cy="256032"/>
          </a:xfrm>
          <a:prstGeom prst="rect">
            <a:avLst/>
          </a:prstGeom>
          <a:noFill/>
          <a:ln/>
        </p:spPr>
        <p:txBody>
          <a:bodyPr wrap="square" lIns="0" tIns="0" rIns="0" bIns="0" rtlCol="0" anchor="ctr"/>
          <a:lstStyle/>
          <a:p>
            <a:pPr indent="0" marL="0">
              <a:buNone/>
            </a:pPr>
            <a:r>
              <a:rPr lang="en-US" sz="1050" dirty="0">
                <a:solidFill>
                  <a:srgbClr val="516271"/>
                </a:solidFill>
              </a:rPr>
              <a:t>Dừng 1 phút: người nghe trả lời trước, đáp án ở Speaker Notes</a:t>
            </a:r>
            <a:endParaRPr lang="en-US" sz="1050" dirty="0"/>
          </a:p>
        </p:txBody>
      </p:sp>
      <p:sp>
        <p:nvSpPr>
          <p:cNvPr id="4" name="Text 2"/>
          <p:cNvSpPr/>
          <p:nvPr/>
        </p:nvSpPr>
        <p:spPr>
          <a:xfrm>
            <a:off x="822960" y="1143000"/>
            <a:ext cx="1005840" cy="274320"/>
          </a:xfrm>
          <a:prstGeom prst="rect">
            <a:avLst/>
          </a:prstGeom>
          <a:noFill/>
          <a:ln/>
        </p:spPr>
        <p:txBody>
          <a:bodyPr wrap="square" lIns="762" tIns="762" rIns="762" bIns="762" rtlCol="0" anchor="ctr">
            <a:normAutofit/>
          </a:bodyPr>
          <a:lstStyle/>
          <a:p>
            <a:pPr algn="l" indent="0" marL="0">
              <a:buNone/>
            </a:pPr>
            <a:r>
              <a:rPr lang="en-US" sz="1500" b="1" dirty="0">
                <a:solidFill>
                  <a:srgbClr val="175D7C"/>
                </a:solidFill>
                <a:latin typeface="Aptos" pitchFamily="34" charset="0"/>
                <a:ea typeface="Aptos" pitchFamily="34" charset="-122"/>
                <a:cs typeface="Aptos" pitchFamily="34" charset="-120"/>
              </a:rPr>
              <a:t>Câu 1</a:t>
            </a:r>
            <a:endParaRPr lang="en-US" sz="1500" dirty="0"/>
          </a:p>
        </p:txBody>
      </p:sp>
      <p:sp>
        <p:nvSpPr>
          <p:cNvPr id="5" name="Text 3"/>
          <p:cNvSpPr/>
          <p:nvPr/>
        </p:nvSpPr>
        <p:spPr>
          <a:xfrm>
            <a:off x="1920240" y="1124712"/>
            <a:ext cx="9052560" cy="292608"/>
          </a:xfrm>
          <a:prstGeom prst="rect">
            <a:avLst/>
          </a:prstGeom>
          <a:noFill/>
          <a:ln/>
        </p:spPr>
        <p:txBody>
          <a:bodyPr wrap="square" lIns="762" tIns="762" rIns="762" bIns="762" rtlCol="0" anchor="ctr">
            <a:normAutofit/>
          </a:bodyPr>
          <a:lstStyle/>
          <a:p>
            <a:pPr algn="l" indent="0" marL="0">
              <a:buNone/>
            </a:pPr>
            <a:r>
              <a:rPr lang="en-US" sz="1500" b="1" dirty="0">
                <a:solidFill>
                  <a:srgbClr val="12212B"/>
                </a:solidFill>
                <a:latin typeface="Aptos" pitchFamily="34" charset="0"/>
                <a:ea typeface="Aptos" pitchFamily="34" charset="-122"/>
                <a:cs typeface="Aptos" pitchFamily="34" charset="-120"/>
              </a:rPr>
              <a:t>Encoder của Whisper nhận waveform thô trực tiếp hay nhận log-Mel spectrogram?</a:t>
            </a:r>
            <a:endParaRPr lang="en-US" sz="1500" dirty="0"/>
          </a:p>
        </p:txBody>
      </p:sp>
      <p:sp>
        <p:nvSpPr>
          <p:cNvPr id="6" name="Text 4"/>
          <p:cNvSpPr/>
          <p:nvPr/>
        </p:nvSpPr>
        <p:spPr>
          <a:xfrm>
            <a:off x="822960" y="2194560"/>
            <a:ext cx="1005840" cy="274320"/>
          </a:xfrm>
          <a:prstGeom prst="rect">
            <a:avLst/>
          </a:prstGeom>
          <a:noFill/>
          <a:ln/>
        </p:spPr>
        <p:txBody>
          <a:bodyPr wrap="square" lIns="762" tIns="762" rIns="762" bIns="762" rtlCol="0" anchor="ctr">
            <a:normAutofit/>
          </a:bodyPr>
          <a:lstStyle/>
          <a:p>
            <a:pPr algn="l" indent="0" marL="0">
              <a:buNone/>
            </a:pPr>
            <a:r>
              <a:rPr lang="en-US" sz="1500" b="1" dirty="0">
                <a:solidFill>
                  <a:srgbClr val="175D7C"/>
                </a:solidFill>
                <a:latin typeface="Aptos" pitchFamily="34" charset="0"/>
                <a:ea typeface="Aptos" pitchFamily="34" charset="-122"/>
                <a:cs typeface="Aptos" pitchFamily="34" charset="-120"/>
              </a:rPr>
              <a:t>Câu 2</a:t>
            </a:r>
            <a:endParaRPr lang="en-US" sz="1500" dirty="0"/>
          </a:p>
        </p:txBody>
      </p:sp>
      <p:sp>
        <p:nvSpPr>
          <p:cNvPr id="7" name="Text 5"/>
          <p:cNvSpPr/>
          <p:nvPr/>
        </p:nvSpPr>
        <p:spPr>
          <a:xfrm>
            <a:off x="1920240" y="2176272"/>
            <a:ext cx="9052560" cy="292608"/>
          </a:xfrm>
          <a:prstGeom prst="rect">
            <a:avLst/>
          </a:prstGeom>
          <a:noFill/>
          <a:ln/>
        </p:spPr>
        <p:txBody>
          <a:bodyPr wrap="square" lIns="762" tIns="762" rIns="762" bIns="762" rtlCol="0" anchor="ctr">
            <a:normAutofit/>
          </a:bodyPr>
          <a:lstStyle/>
          <a:p>
            <a:pPr algn="l" indent="0" marL="0">
              <a:buNone/>
            </a:pPr>
            <a:r>
              <a:rPr lang="en-US" sz="1500" b="1" dirty="0">
                <a:solidFill>
                  <a:srgbClr val="12212B"/>
                </a:solidFill>
                <a:latin typeface="Aptos" pitchFamily="34" charset="0"/>
                <a:ea typeface="Aptos" pitchFamily="34" charset="-122"/>
                <a:cs typeface="Aptos" pitchFamily="34" charset="-120"/>
              </a:rPr>
              <a:t>Diarization có phải chức năng mặc định của PhoWhisper checkpoint không?</a:t>
            </a:r>
            <a:endParaRPr lang="en-US" sz="1500" dirty="0"/>
          </a:p>
        </p:txBody>
      </p:sp>
      <p:sp>
        <p:nvSpPr>
          <p:cNvPr id="8" name="Text 6"/>
          <p:cNvSpPr/>
          <p:nvPr/>
        </p:nvSpPr>
        <p:spPr>
          <a:xfrm>
            <a:off x="822960" y="3246120"/>
            <a:ext cx="1005840" cy="274320"/>
          </a:xfrm>
          <a:prstGeom prst="rect">
            <a:avLst/>
          </a:prstGeom>
          <a:noFill/>
          <a:ln/>
        </p:spPr>
        <p:txBody>
          <a:bodyPr wrap="square" lIns="762" tIns="762" rIns="762" bIns="762" rtlCol="0" anchor="ctr">
            <a:normAutofit/>
          </a:bodyPr>
          <a:lstStyle/>
          <a:p>
            <a:pPr algn="l" indent="0" marL="0">
              <a:buNone/>
            </a:pPr>
            <a:r>
              <a:rPr lang="en-US" sz="1500" b="1" dirty="0">
                <a:solidFill>
                  <a:srgbClr val="175D7C"/>
                </a:solidFill>
                <a:latin typeface="Aptos" pitchFamily="34" charset="0"/>
                <a:ea typeface="Aptos" pitchFamily="34" charset="-122"/>
                <a:cs typeface="Aptos" pitchFamily="34" charset="-120"/>
              </a:rPr>
              <a:t>Câu 3</a:t>
            </a:r>
            <a:endParaRPr lang="en-US" sz="1500" dirty="0"/>
          </a:p>
        </p:txBody>
      </p:sp>
      <p:sp>
        <p:nvSpPr>
          <p:cNvPr id="9" name="Text 7"/>
          <p:cNvSpPr/>
          <p:nvPr/>
        </p:nvSpPr>
        <p:spPr>
          <a:xfrm>
            <a:off x="1920240" y="3227832"/>
            <a:ext cx="9052560" cy="292608"/>
          </a:xfrm>
          <a:prstGeom prst="rect">
            <a:avLst/>
          </a:prstGeom>
          <a:noFill/>
          <a:ln/>
        </p:spPr>
        <p:txBody>
          <a:bodyPr wrap="square" lIns="762" tIns="762" rIns="762" bIns="762" rtlCol="0" anchor="ctr">
            <a:normAutofit/>
          </a:bodyPr>
          <a:lstStyle/>
          <a:p>
            <a:pPr algn="l" indent="0" marL="0">
              <a:buNone/>
            </a:pPr>
            <a:r>
              <a:rPr lang="en-US" sz="1500" b="1" dirty="0">
                <a:solidFill>
                  <a:srgbClr val="12212B"/>
                </a:solidFill>
                <a:latin typeface="Aptos" pitchFamily="34" charset="0"/>
                <a:ea typeface="Aptos" pitchFamily="34" charset="-122"/>
                <a:cs typeface="Aptos" pitchFamily="34" charset="-120"/>
              </a:rPr>
              <a:t>Pretraining, fine-tuning và inference khác nhau ở điểm nào?</a:t>
            </a:r>
            <a:endParaRPr lang="en-US" sz="1500" dirty="0"/>
          </a:p>
        </p:txBody>
      </p:sp>
      <p:sp>
        <p:nvSpPr>
          <p:cNvPr id="10" name="Shape 8"/>
          <p:cNvSpPr/>
          <p:nvPr/>
        </p:nvSpPr>
        <p:spPr>
          <a:xfrm>
            <a:off x="2103120" y="4754880"/>
            <a:ext cx="7955280" cy="640080"/>
          </a:xfrm>
          <a:prstGeom prst="roundRect">
            <a:avLst>
              <a:gd name="adj" fmla="val 17143"/>
            </a:avLst>
          </a:prstGeom>
          <a:solidFill>
            <a:srgbClr val="FFFFFF"/>
          </a:solidFill>
          <a:ln w="12700">
            <a:solidFill>
              <a:srgbClr val="E26D5A"/>
            </a:solidFill>
            <a:prstDash val="solid"/>
          </a:ln>
        </p:spPr>
      </p:sp>
      <p:sp>
        <p:nvSpPr>
          <p:cNvPr id="11" name="Text 9"/>
          <p:cNvSpPr/>
          <p:nvPr/>
        </p:nvSpPr>
        <p:spPr>
          <a:xfrm>
            <a:off x="2167128" y="4800600"/>
            <a:ext cx="7827264" cy="548640"/>
          </a:xfrm>
          <a:prstGeom prst="rect">
            <a:avLst/>
          </a:prstGeom>
          <a:noFill/>
          <a:ln/>
        </p:spPr>
        <p:txBody>
          <a:bodyPr wrap="square" lIns="762" tIns="762" rIns="762" bIns="762" rtlCol="0" anchor="ctr">
            <a:normAutofit/>
          </a:bodyPr>
          <a:lstStyle/>
          <a:p>
            <a:pPr algn="ctr" indent="0" marL="0">
              <a:buNone/>
            </a:pPr>
            <a:r>
              <a:rPr lang="en-US" sz="1700" b="1" dirty="0">
                <a:solidFill>
                  <a:srgbClr val="E26D5A"/>
                </a:solidFill>
                <a:latin typeface="Aptos" pitchFamily="34" charset="0"/>
                <a:ea typeface="Aptos" pitchFamily="34" charset="-122"/>
                <a:cs typeface="Aptos" pitchFamily="34" charset="-120"/>
              </a:rPr>
              <a:t>Gợi ý: hãy trả lời bằng luồng dữ liệu, không trả lời bằng tên thư viện.</a:t>
            </a:r>
            <a:endParaRPr lang="en-US" sz="1700" dirty="0"/>
          </a:p>
        </p:txBody>
      </p:sp>
      <p:sp>
        <p:nvSpPr>
          <p:cNvPr id="12" name="Shape 10"/>
          <p:cNvSpPr/>
          <p:nvPr/>
        </p:nvSpPr>
        <p:spPr>
          <a:xfrm>
            <a:off x="438912" y="6199632"/>
            <a:ext cx="2377440" cy="310896"/>
          </a:xfrm>
          <a:prstGeom prst="roundRect">
            <a:avLst>
              <a:gd name="adj" fmla="val 44118"/>
            </a:avLst>
          </a:prstGeom>
          <a:solidFill>
            <a:srgbClr val="E8F2F6"/>
          </a:solidFill>
          <a:ln w="12700">
            <a:solidFill>
              <a:srgbClr val="E8F2F6"/>
            </a:solidFill>
            <a:prstDash val="solid"/>
          </a:ln>
        </p:spPr>
      </p:sp>
      <p:sp>
        <p:nvSpPr>
          <p:cNvPr id="13" name="Text 11"/>
          <p:cNvSpPr/>
          <p:nvPr/>
        </p:nvSpPr>
        <p:spPr>
          <a:xfrm>
            <a:off x="512064" y="6259068"/>
            <a:ext cx="2231136" cy="201168"/>
          </a:xfrm>
          <a:prstGeom prst="rect">
            <a:avLst/>
          </a:prstGeom>
          <a:noFill/>
          <a:ln/>
        </p:spPr>
        <p:txBody>
          <a:bodyPr wrap="square" lIns="0" tIns="0" rIns="0" bIns="0" rtlCol="0" anchor="ctr">
            <a:normAutofit/>
          </a:bodyPr>
          <a:lstStyle/>
          <a:p>
            <a:pPr algn="ctr" indent="0" marL="0">
              <a:buNone/>
            </a:pPr>
            <a:r>
              <a:rPr lang="en-US" sz="950" b="1" dirty="0">
                <a:solidFill>
                  <a:srgbClr val="175D7C"/>
                </a:solidFill>
                <a:latin typeface="Aptos" pitchFamily="34" charset="0"/>
                <a:ea typeface="Aptos" pitchFamily="34" charset="-122"/>
                <a:cs typeface="Aptos" pitchFamily="34" charset="-120"/>
              </a:rPr>
              <a:t>Quiz</a:t>
            </a:r>
            <a:endParaRPr lang="en-US" sz="950" dirty="0"/>
          </a:p>
        </p:txBody>
      </p:sp>
      <p:sp>
        <p:nvSpPr>
          <p:cNvPr id="25" name="Slide Number Placeholder 0"/>
          <p:cNvSpPr>
            <a:spLocks noGrp="1"/>
          </p:cNvSpPr>
          <p:nvPr>
            <p:ph type="sldNum" sz="quarter" idx="4294967295"/>
          </p:nvPr>
        </p:nvSpPr>
        <p:spPr>
          <a:xfrm>
            <a:off x="11841480" y="6519672"/>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7C8794"/>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420624" y="256032"/>
            <a:ext cx="9875520" cy="384048"/>
          </a:xfrm>
          <a:prstGeom prst="rect">
            <a:avLst/>
          </a:prstGeom>
          <a:noFill/>
          <a:ln/>
        </p:spPr>
        <p:txBody>
          <a:bodyPr wrap="square" lIns="0" tIns="0" rIns="0" bIns="0" rtlCol="0" anchor="ctr"/>
          <a:lstStyle/>
          <a:p>
            <a:pPr indent="0" marL="0">
              <a:buNone/>
            </a:pPr>
            <a:r>
              <a:rPr lang="en-US" sz="2500" b="1" dirty="0">
                <a:solidFill>
                  <a:srgbClr val="12212B"/>
                </a:solidFill>
                <a:latin typeface="Aptos Display" pitchFamily="34" charset="0"/>
                <a:ea typeface="Aptos Display" pitchFamily="34" charset="-122"/>
                <a:cs typeface="Aptos Display" pitchFamily="34" charset="-120"/>
              </a:rPr>
              <a:t>Kết luận &amp; nguồn tham khảo</a:t>
            </a:r>
            <a:endParaRPr lang="en-US" sz="2500" dirty="0"/>
          </a:p>
        </p:txBody>
      </p:sp>
      <p:sp>
        <p:nvSpPr>
          <p:cNvPr id="3" name="Text 1"/>
          <p:cNvSpPr/>
          <p:nvPr/>
        </p:nvSpPr>
        <p:spPr>
          <a:xfrm>
            <a:off x="438912" y="694944"/>
            <a:ext cx="9875520" cy="256032"/>
          </a:xfrm>
          <a:prstGeom prst="rect">
            <a:avLst/>
          </a:prstGeom>
          <a:noFill/>
          <a:ln/>
        </p:spPr>
        <p:txBody>
          <a:bodyPr wrap="square" lIns="0" tIns="0" rIns="0" bIns="0" rtlCol="0" anchor="ctr"/>
          <a:lstStyle/>
          <a:p>
            <a:pPr indent="0" marL="0">
              <a:buNone/>
            </a:pPr>
            <a:r>
              <a:rPr lang="en-US" sz="1050" dirty="0">
                <a:solidFill>
                  <a:srgbClr val="516271"/>
                </a:solidFill>
              </a:rPr>
              <a:t>Hiểu đúng mô hình để chọn đúng checkpoint và pipeline</a:t>
            </a:r>
            <a:endParaRPr lang="en-US" sz="1050" dirty="0"/>
          </a:p>
        </p:txBody>
      </p:sp>
      <p:sp>
        <p:nvSpPr>
          <p:cNvPr id="4" name="Text 2"/>
          <p:cNvSpPr/>
          <p:nvPr/>
        </p:nvSpPr>
        <p:spPr>
          <a:xfrm>
            <a:off x="777240" y="1005840"/>
            <a:ext cx="10698480" cy="1645920"/>
          </a:xfrm>
          <a:prstGeom prst="rect">
            <a:avLst/>
          </a:prstGeom>
          <a:noFill/>
          <a:ln/>
        </p:spPr>
        <p:txBody>
          <a:bodyPr wrap="square" lIns="1016" tIns="1016" rIns="1016" bIns="1016" rtlCol="0" anchor="ctr">
            <a:normAutofit/>
          </a:bodyPr>
          <a:lstStyle/>
          <a:p>
            <a:r>
              <a:rPr lang="en-US" sz="1350" dirty="0">
                <a:solidFill>
                  <a:srgbClr val="12212B"/>
                </a:solidFill>
                <a:latin typeface="Aptos" pitchFamily="34" charset="0"/>
                <a:ea typeface="Aptos" pitchFamily="34" charset="-122"/>
                <a:cs typeface="Aptos" pitchFamily="34" charset="-120"/>
              </a:rPr>
              <a:t>Whisper/PhoWhisper là mô hình encoder–decoder Transformer cho speech-to-text.</a:t>
            </a:r>
            <a:endParaRPr lang="en-US" sz="1350" dirty="0"/>
          </a:p>
          <a:p>
            <a:r>
              <a:rPr lang="en-US" sz="1350" dirty="0">
                <a:solidFill>
                  <a:srgbClr val="12212B"/>
                </a:solidFill>
                <a:latin typeface="Aptos" pitchFamily="34" charset="0"/>
                <a:ea typeface="Aptos" pitchFamily="34" charset="-122"/>
                <a:cs typeface="Aptos" pitchFamily="34" charset="-120"/>
              </a:rPr>
              <a:t>Luồng inference cốt lõi: waveform → log-Mel → encoder → decoder → token → transcript.</a:t>
            </a:r>
            <a:endParaRPr lang="en-US" sz="1350" dirty="0"/>
          </a:p>
          <a:p>
            <a:r>
              <a:rPr lang="en-US" sz="1350" dirty="0">
                <a:solidFill>
                  <a:srgbClr val="12212B"/>
                </a:solidFill>
                <a:latin typeface="Aptos" pitchFamily="34" charset="0"/>
                <a:ea typeface="Aptos" pitchFamily="34" charset="-122"/>
                <a:cs typeface="Aptos" pitchFamily="34" charset="-120"/>
              </a:rPr>
              <a:t>PhoWhisper kế thừa Whisper và được fine-tune cho tiếng Việt; vẫn cần benchmark call center.</a:t>
            </a:r>
            <a:endParaRPr lang="en-US" sz="1350" dirty="0"/>
          </a:p>
          <a:p>
            <a:r>
              <a:rPr lang="en-US" sz="1350" dirty="0">
                <a:solidFill>
                  <a:srgbClr val="12212B"/>
                </a:solidFill>
                <a:latin typeface="Aptos" pitchFamily="34" charset="0"/>
                <a:ea typeface="Aptos" pitchFamily="34" charset="-122"/>
                <a:cs typeface="Aptos" pitchFamily="34" charset="-120"/>
              </a:rPr>
              <a:t>Diarization, streaming và hậu xử lý nên xem là module pipeline, không gộp nhầm vào checkpoint.</a:t>
            </a:r>
            <a:endParaRPr lang="en-US" sz="1350" dirty="0"/>
          </a:p>
        </p:txBody>
      </p:sp>
      <p:sp>
        <p:nvSpPr>
          <p:cNvPr id="5" name="Text 3"/>
          <p:cNvSpPr/>
          <p:nvPr/>
        </p:nvSpPr>
        <p:spPr>
          <a:xfrm>
            <a:off x="822960" y="3154680"/>
            <a:ext cx="1828800" cy="274320"/>
          </a:xfrm>
          <a:prstGeom prst="rect">
            <a:avLst/>
          </a:prstGeom>
          <a:noFill/>
          <a:ln/>
        </p:spPr>
        <p:txBody>
          <a:bodyPr wrap="square" lIns="762" tIns="762" rIns="762" bIns="762" rtlCol="0" anchor="ctr">
            <a:normAutofit/>
          </a:bodyPr>
          <a:lstStyle/>
          <a:p>
            <a:pPr algn="l" indent="0" marL="0">
              <a:buNone/>
            </a:pPr>
            <a:r>
              <a:rPr lang="en-US" sz="1700" b="1" dirty="0">
                <a:solidFill>
                  <a:srgbClr val="12212B"/>
                </a:solidFill>
                <a:latin typeface="Aptos" pitchFamily="34" charset="0"/>
                <a:ea typeface="Aptos" pitchFamily="34" charset="-122"/>
                <a:cs typeface="Aptos" pitchFamily="34" charset="-120"/>
              </a:rPr>
              <a:t>Nguồn chính</a:t>
            </a:r>
            <a:endParaRPr lang="en-US" sz="1700" dirty="0"/>
          </a:p>
        </p:txBody>
      </p:sp>
      <p:sp>
        <p:nvSpPr>
          <p:cNvPr id="6" name="Text 4"/>
          <p:cNvSpPr/>
          <p:nvPr/>
        </p:nvSpPr>
        <p:spPr>
          <a:xfrm>
            <a:off x="868680" y="3566160"/>
            <a:ext cx="10515600" cy="1645920"/>
          </a:xfrm>
          <a:prstGeom prst="rect">
            <a:avLst/>
          </a:prstGeom>
          <a:noFill/>
          <a:ln/>
        </p:spPr>
        <p:txBody>
          <a:bodyPr wrap="square" lIns="1016" tIns="1016" rIns="1016" bIns="1016" rtlCol="0" anchor="ctr">
            <a:normAutofit/>
          </a:bodyPr>
          <a:lstStyle/>
          <a:p>
            <a:r>
              <a:rPr lang="en-US" sz="1150" dirty="0">
                <a:solidFill>
                  <a:srgbClr val="12212B"/>
                </a:solidFill>
                <a:latin typeface="Aptos" pitchFamily="34" charset="0"/>
                <a:ea typeface="Aptos" pitchFamily="34" charset="-122"/>
                <a:cs typeface="Aptos" pitchFamily="34" charset="-120"/>
              </a:rPr>
              <a:t>OpenAI Whisper paper: Robust Speech Recognition via Large-Scale Weak Supervision — arXiv:2212.04356</a:t>
            </a:r>
            <a:endParaRPr lang="en-US" sz="1150" dirty="0"/>
          </a:p>
          <a:p>
            <a:r>
              <a:rPr lang="en-US" sz="1150" dirty="0">
                <a:solidFill>
                  <a:srgbClr val="12212B"/>
                </a:solidFill>
                <a:latin typeface="Aptos" pitchFamily="34" charset="0"/>
                <a:ea typeface="Aptos" pitchFamily="34" charset="-122"/>
                <a:cs typeface="Aptos" pitchFamily="34" charset="-120"/>
              </a:rPr>
              <a:t>OpenAI Whisper GitHub README &amp; model card — github.com/openai/whisper</a:t>
            </a:r>
            <a:endParaRPr lang="en-US" sz="1150" dirty="0"/>
          </a:p>
          <a:p>
            <a:r>
              <a:rPr lang="en-US" sz="1150" dirty="0">
                <a:solidFill>
                  <a:srgbClr val="12212B"/>
                </a:solidFill>
                <a:latin typeface="Aptos" pitchFamily="34" charset="0"/>
                <a:ea typeface="Aptos" pitchFamily="34" charset="-122"/>
                <a:cs typeface="Aptos" pitchFamily="34" charset="-120"/>
              </a:rPr>
              <a:t>PhoWhisper paper: Automatic Speech Recognition for Vietnamese — arXiv:2406.02555</a:t>
            </a:r>
            <a:endParaRPr lang="en-US" sz="1150" dirty="0"/>
          </a:p>
          <a:p>
            <a:r>
              <a:rPr lang="en-US" sz="1150" dirty="0">
                <a:solidFill>
                  <a:srgbClr val="12212B"/>
                </a:solidFill>
                <a:latin typeface="Aptos" pitchFamily="34" charset="0"/>
                <a:ea typeface="Aptos" pitchFamily="34" charset="-122"/>
                <a:cs typeface="Aptos" pitchFamily="34" charset="-120"/>
              </a:rPr>
              <a:t>Hugging Face model card: vinai/PhoWhisper-large</a:t>
            </a:r>
            <a:endParaRPr lang="en-US" sz="1150" dirty="0"/>
          </a:p>
          <a:p>
            <a:r>
              <a:rPr lang="en-US" sz="1150" dirty="0">
                <a:solidFill>
                  <a:srgbClr val="12212B"/>
                </a:solidFill>
                <a:latin typeface="Aptos" pitchFamily="34" charset="0"/>
                <a:ea typeface="Aptos" pitchFamily="34" charset="-122"/>
                <a:cs typeface="Aptos" pitchFamily="34" charset="-120"/>
              </a:rPr>
              <a:t>Hugging Face generation_config.json: language/task/timestamp token configuration</a:t>
            </a:r>
            <a:endParaRPr lang="en-US" sz="1150" dirty="0"/>
          </a:p>
        </p:txBody>
      </p:sp>
      <p:sp>
        <p:nvSpPr>
          <p:cNvPr id="7" name="Shape 5"/>
          <p:cNvSpPr/>
          <p:nvPr/>
        </p:nvSpPr>
        <p:spPr>
          <a:xfrm>
            <a:off x="2103120" y="5486400"/>
            <a:ext cx="7955280" cy="502920"/>
          </a:xfrm>
          <a:prstGeom prst="roundRect">
            <a:avLst>
              <a:gd name="adj" fmla="val 21818"/>
            </a:avLst>
          </a:prstGeom>
          <a:solidFill>
            <a:srgbClr val="FFFFFF"/>
          </a:solidFill>
          <a:ln w="12700">
            <a:solidFill>
              <a:srgbClr val="175D7C"/>
            </a:solidFill>
            <a:prstDash val="solid"/>
          </a:ln>
        </p:spPr>
      </p:sp>
      <p:sp>
        <p:nvSpPr>
          <p:cNvPr id="8" name="Text 6"/>
          <p:cNvSpPr/>
          <p:nvPr/>
        </p:nvSpPr>
        <p:spPr>
          <a:xfrm>
            <a:off x="2167128" y="5532120"/>
            <a:ext cx="7827264" cy="411480"/>
          </a:xfrm>
          <a:prstGeom prst="rect">
            <a:avLst/>
          </a:prstGeom>
          <a:noFill/>
          <a:ln/>
        </p:spPr>
        <p:txBody>
          <a:bodyPr wrap="square" lIns="762" tIns="762" rIns="762" bIns="762" rtlCol="0" anchor="ctr">
            <a:normAutofit/>
          </a:bodyPr>
          <a:lstStyle/>
          <a:p>
            <a:pPr algn="ctr" indent="0" marL="0">
              <a:buNone/>
            </a:pPr>
            <a:r>
              <a:rPr lang="en-US" sz="1800" b="1" dirty="0">
                <a:solidFill>
                  <a:srgbClr val="175D7C"/>
                </a:solidFill>
                <a:latin typeface="Aptos" pitchFamily="34" charset="0"/>
                <a:ea typeface="Aptos" pitchFamily="34" charset="-122"/>
                <a:cs typeface="Aptos" pitchFamily="34" charset="-120"/>
              </a:rPr>
              <a:t>Thông điệp cuối: chọn model bằng benchmark thực tế, không bằng cảm giác.</a:t>
            </a:r>
            <a:endParaRPr lang="en-US" sz="1800" dirty="0"/>
          </a:p>
        </p:txBody>
      </p:sp>
      <p:sp>
        <p:nvSpPr>
          <p:cNvPr id="9" name="Shape 7"/>
          <p:cNvSpPr/>
          <p:nvPr/>
        </p:nvSpPr>
        <p:spPr>
          <a:xfrm>
            <a:off x="438912" y="6199632"/>
            <a:ext cx="2377440" cy="310896"/>
          </a:xfrm>
          <a:prstGeom prst="roundRect">
            <a:avLst>
              <a:gd name="adj" fmla="val 44118"/>
            </a:avLst>
          </a:prstGeom>
          <a:solidFill>
            <a:srgbClr val="E8F2F6"/>
          </a:solidFill>
          <a:ln w="12700">
            <a:solidFill>
              <a:srgbClr val="E8F2F6"/>
            </a:solidFill>
            <a:prstDash val="solid"/>
          </a:ln>
        </p:spPr>
      </p:sp>
      <p:sp>
        <p:nvSpPr>
          <p:cNvPr id="10" name="Text 8"/>
          <p:cNvSpPr/>
          <p:nvPr/>
        </p:nvSpPr>
        <p:spPr>
          <a:xfrm>
            <a:off x="512064" y="6259068"/>
            <a:ext cx="2231136" cy="201168"/>
          </a:xfrm>
          <a:prstGeom prst="rect">
            <a:avLst/>
          </a:prstGeom>
          <a:noFill/>
          <a:ln/>
        </p:spPr>
        <p:txBody>
          <a:bodyPr wrap="square" lIns="0" tIns="0" rIns="0" bIns="0" rtlCol="0" anchor="ctr">
            <a:normAutofit/>
          </a:bodyPr>
          <a:lstStyle/>
          <a:p>
            <a:pPr algn="ctr" indent="0" marL="0">
              <a:buNone/>
            </a:pPr>
            <a:r>
              <a:rPr lang="en-US" sz="950" b="1" dirty="0">
                <a:solidFill>
                  <a:srgbClr val="175D7C"/>
                </a:solidFill>
                <a:latin typeface="Aptos" pitchFamily="34" charset="0"/>
                <a:ea typeface="Aptos" pitchFamily="34" charset="-122"/>
                <a:cs typeface="Aptos" pitchFamily="34" charset="-120"/>
              </a:rPr>
              <a:t>References</a:t>
            </a:r>
            <a:endParaRPr lang="en-US" sz="950" dirty="0"/>
          </a:p>
        </p:txBody>
      </p:sp>
      <p:sp>
        <p:nvSpPr>
          <p:cNvPr id="25" name="Slide Number Placeholder 0"/>
          <p:cNvSpPr>
            <a:spLocks noGrp="1"/>
          </p:cNvSpPr>
          <p:nvPr>
            <p:ph type="sldNum" sz="quarter" idx="4294967295"/>
          </p:nvPr>
        </p:nvSpPr>
        <p:spPr>
          <a:xfrm>
            <a:off x="11841480" y="6519672"/>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7C8794"/>
                </a:solidFill>
              </a:defRPr>
            </a:lvl1pPr>
          </a:lstStyle>
          <a:p>
            <a:pPr algn="l"/>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OpenAI / VinAI research-based presentation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Whisper &amp; PhoWhisper - Dai-ichi Life VN Call Center</dc:title>
  <dc:subject>Whisper và PhoWhisper - cấu trúc và cơ chế chuyển giọng nói thành văn bản</dc:subject>
  <dc:creator>Phát Đàm</dc:creator>
  <cp:lastModifiedBy>Phát Đàm</cp:lastModifiedBy>
  <cp:revision>1</cp:revision>
  <dcterms:created xsi:type="dcterms:W3CDTF">2026-10-07T04:01:38Z</dcterms:created>
  <dcterms:modified xsi:type="dcterms:W3CDTF">2026-10-07T04:01:38Z</dcterms:modified>
</cp:coreProperties>
</file>